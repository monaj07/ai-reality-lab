
<file path=[Content_Types].xml><?xml version="1.0" encoding="utf-8"?>
<Types xmlns="http://schemas.openxmlformats.org/package/2006/content-types">
  <Default Extension="xml" ContentType="application/vnd.openxmlformats-package.core-properties+xml"/>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c5cf92878f4e13" /><Relationship Type="http://schemas.openxmlformats.org/officeDocument/2006/relationships/extended-properties" Target="/docProps/app.xml" Id="Rf7efe81435d346fb" /><Relationship Type="http://schemas.openxmlformats.org/officeDocument/2006/relationships/officeDocument" Target="/ppt/presentation.xml" Id="R5bc919a812484e5e" /></Relationships>
</file>

<file path=ppt/presentation.xml><?xml version="1.0" encoding="utf-8"?>
<p:presentation xmlns:p="http://schemas.openxmlformats.org/presentationml/2006/main">
  <p:sldMasterIdLst>
    <p:sldMasterId xmlns:r="http://schemas.openxmlformats.org/officeDocument/2006/relationships" id="2147483648" r:id="Rfa48d75fa5004f35"/>
  </p:sldMasterIdLst>
  <p:notesMasterIdLst>
    <p:notesMasterId xmlns:r="http://schemas.openxmlformats.org/officeDocument/2006/relationships" r:id="R81e1c17aa7f0430d"/>
  </p:notesMasterIdLst>
  <p:sldIdLst>
    <p:sldId xmlns:r="http://schemas.openxmlformats.org/officeDocument/2006/relationships" id="256" r:id="R12bd6f2705d64cd8"/>
    <p:sldId xmlns:r="http://schemas.openxmlformats.org/officeDocument/2006/relationships" id="257" r:id="Re096b02b45e5447a"/>
    <p:sldId xmlns:r="http://schemas.openxmlformats.org/officeDocument/2006/relationships" id="258" r:id="R150192e95f6c4a87"/>
    <p:sldId xmlns:r="http://schemas.openxmlformats.org/officeDocument/2006/relationships" id="259" r:id="R40595d2c21f24c77"/>
    <p:sldId xmlns:r="http://schemas.openxmlformats.org/officeDocument/2006/relationships" id="260" r:id="R1823c3d201f44734"/>
    <p:sldId xmlns:r="http://schemas.openxmlformats.org/officeDocument/2006/relationships" id="261" r:id="Re46124786a3e4cbc"/>
    <p:sldId xmlns:r="http://schemas.openxmlformats.org/officeDocument/2006/relationships" id="262" r:id="R6a5614eb120d4cc2"/>
    <p:sldId xmlns:r="http://schemas.openxmlformats.org/officeDocument/2006/relationships" id="263" r:id="R80ce4142f0934fc6"/>
    <p:sldId xmlns:r="http://schemas.openxmlformats.org/officeDocument/2006/relationships" id="264" r:id="Rf3d37d3eee2a44fa"/>
    <p:sldId xmlns:r="http://schemas.openxmlformats.org/officeDocument/2006/relationships" id="265" r:id="R13f2d6baa5624f28"/>
    <p:sldId xmlns:r="http://schemas.openxmlformats.org/officeDocument/2006/relationships" id="266" r:id="R9605a26588ef4c11"/>
    <p:sldId xmlns:r="http://schemas.openxmlformats.org/officeDocument/2006/relationships" id="267" r:id="R0f00ab38fcae411e"/>
    <p:sldId xmlns:r="http://schemas.openxmlformats.org/officeDocument/2006/relationships" id="268" r:id="R7a04842a425f44d6"/>
    <p:sldId xmlns:r="http://schemas.openxmlformats.org/officeDocument/2006/relationships" id="269" r:id="R716536e5c99242d6"/>
    <p:sldId xmlns:r="http://schemas.openxmlformats.org/officeDocument/2006/relationships" id="270" r:id="Re0e1432be20a418c"/>
    <p:sldId xmlns:r="http://schemas.openxmlformats.org/officeDocument/2006/relationships" id="271" r:id="R6c32787178b04173"/>
    <p:sldId xmlns:r="http://schemas.openxmlformats.org/officeDocument/2006/relationships" id="272" r:id="R40afe782c37745b7"/>
    <p:sldId xmlns:r="http://schemas.openxmlformats.org/officeDocument/2006/relationships" id="273" r:id="R873d6b6eee844895"/>
    <p:sldId xmlns:r="http://schemas.openxmlformats.org/officeDocument/2006/relationships" id="274" r:id="R51c4d0eb501e4eb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fa48d75fa5004f35" /><Relationship Type="http://schemas.openxmlformats.org/officeDocument/2006/relationships/theme" Target="/ppt/theme/theme1.xml" Id="R600ddaad3bab413d" /><Relationship Type="http://schemas.openxmlformats.org/officeDocument/2006/relationships/notesMaster" Target="/ppt/notesMasters/notesMaster1.xml" Id="R81e1c17aa7f0430d" /><Relationship Type="http://schemas.openxmlformats.org/officeDocument/2006/relationships/presProps" Target="/ppt/presProps.xml" Id="R1e367dd80d134746" /><Relationship Type="http://schemas.openxmlformats.org/officeDocument/2006/relationships/viewProps" Target="/ppt/viewProps.xml" Id="R42d77084a69642fa" /><Relationship Type="http://schemas.openxmlformats.org/officeDocument/2006/relationships/tableStyles" Target="/ppt/tableStyles.xml" Id="R88eef3d0ccbe464c" /><Relationship Type="http://schemas.openxmlformats.org/officeDocument/2006/relationships/slide" Target="/ppt/slides/slide1.xml" Id="R12bd6f2705d64cd8" /><Relationship Type="http://schemas.openxmlformats.org/officeDocument/2006/relationships/slide" Target="/ppt/slides/slide2.xml" Id="Re096b02b45e5447a" /><Relationship Type="http://schemas.openxmlformats.org/officeDocument/2006/relationships/slide" Target="/ppt/slides/slide3.xml" Id="R150192e95f6c4a87" /><Relationship Type="http://schemas.openxmlformats.org/officeDocument/2006/relationships/slide" Target="/ppt/slides/slide4.xml" Id="R40595d2c21f24c77" /><Relationship Type="http://schemas.openxmlformats.org/officeDocument/2006/relationships/slide" Target="/ppt/slides/slide5.xml" Id="R1823c3d201f44734" /><Relationship Type="http://schemas.openxmlformats.org/officeDocument/2006/relationships/slide" Target="/ppt/slides/slide6.xml" Id="Re46124786a3e4cbc" /><Relationship Type="http://schemas.openxmlformats.org/officeDocument/2006/relationships/slide" Target="/ppt/slides/slide7.xml" Id="R6a5614eb120d4cc2" /><Relationship Type="http://schemas.openxmlformats.org/officeDocument/2006/relationships/slide" Target="/ppt/slides/slide8.xml" Id="R80ce4142f0934fc6" /><Relationship Type="http://schemas.openxmlformats.org/officeDocument/2006/relationships/slide" Target="/ppt/slides/slide9.xml" Id="Rf3d37d3eee2a44fa" /><Relationship Type="http://schemas.openxmlformats.org/officeDocument/2006/relationships/slide" Target="/ppt/slides/slide10.xml" Id="R13f2d6baa5624f28" /><Relationship Type="http://schemas.openxmlformats.org/officeDocument/2006/relationships/slide" Target="/ppt/slides/slide11.xml" Id="R9605a26588ef4c11" /><Relationship Type="http://schemas.openxmlformats.org/officeDocument/2006/relationships/slide" Target="/ppt/slides/slide12.xml" Id="R0f00ab38fcae411e" /><Relationship Type="http://schemas.openxmlformats.org/officeDocument/2006/relationships/slide" Target="/ppt/slides/slide13.xml" Id="R7a04842a425f44d6" /><Relationship Type="http://schemas.openxmlformats.org/officeDocument/2006/relationships/slide" Target="/ppt/slides/slide14.xml" Id="R716536e5c99242d6" /><Relationship Type="http://schemas.openxmlformats.org/officeDocument/2006/relationships/slide" Target="/ppt/slides/slide15.xml" Id="Re0e1432be20a418c" /><Relationship Type="http://schemas.openxmlformats.org/officeDocument/2006/relationships/slide" Target="/ppt/slides/slide16.xml" Id="R6c32787178b04173" /><Relationship Type="http://schemas.openxmlformats.org/officeDocument/2006/relationships/slide" Target="/ppt/slides/slide17.xml" Id="R40afe782c37745b7" /><Relationship Type="http://schemas.openxmlformats.org/officeDocument/2006/relationships/slide" Target="/ppt/slides/slide18.xml" Id="R873d6b6eee844895" /><Relationship Type="http://schemas.openxmlformats.org/officeDocument/2006/relationships/slide" Target="/ppt/slides/slide19.xml" Id="R51c4d0eb501e4e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dbfde08bbe7149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18927957e9470c" /><Relationship Type="http://schemas.openxmlformats.org/officeDocument/2006/relationships/notesMaster" Target="/ppt/notesMasters/notesMaster1.xml" Id="R3bef815bc8a341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175deb29974ff7" /><Relationship Type="http://schemas.openxmlformats.org/officeDocument/2006/relationships/notesMaster" Target="/ppt/notesMasters/notesMaster1.xml" Id="R5d23578034d54e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31c07a2c76446a" /><Relationship Type="http://schemas.openxmlformats.org/officeDocument/2006/relationships/notesMaster" Target="/ppt/notesMasters/notesMaster1.xml" Id="Ra0002b2328fc4f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707f2a331e4e26" /><Relationship Type="http://schemas.openxmlformats.org/officeDocument/2006/relationships/notesMaster" Target="/ppt/notesMasters/notesMaster1.xml" Id="R26d57f2eaa1448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ea715fdc144aaa" /><Relationship Type="http://schemas.openxmlformats.org/officeDocument/2006/relationships/notesMaster" Target="/ppt/notesMasters/notesMaster1.xml" Id="R2df026fe04a345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a35bb074b64739" /><Relationship Type="http://schemas.openxmlformats.org/officeDocument/2006/relationships/notesMaster" Target="/ppt/notesMasters/notesMaster1.xml" Id="R80b5edc364c24c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472ec1d1a3413d" /><Relationship Type="http://schemas.openxmlformats.org/officeDocument/2006/relationships/notesMaster" Target="/ppt/notesMasters/notesMaster1.xml" Id="R7a5c8b8b77914c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ba2361491a4323" /><Relationship Type="http://schemas.openxmlformats.org/officeDocument/2006/relationships/notesMaster" Target="/ppt/notesMasters/notesMaster1.xml" Id="R6197cb2688b84a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eec9a163d64464" /><Relationship Type="http://schemas.openxmlformats.org/officeDocument/2006/relationships/notesMaster" Target="/ppt/notesMasters/notesMaster1.xml" Id="Re8ff209ed88840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7f00e98edf4d42" /><Relationship Type="http://schemas.openxmlformats.org/officeDocument/2006/relationships/notesMaster" Target="/ppt/notesMasters/notesMaster1.xml" Id="R97bdf2e842354d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3cd913b0994808" /><Relationship Type="http://schemas.openxmlformats.org/officeDocument/2006/relationships/notesMaster" Target="/ppt/notesMasters/notesMaster1.xml" Id="Rc738558f6af34c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f0659f29744d4b" /><Relationship Type="http://schemas.openxmlformats.org/officeDocument/2006/relationships/notesMaster" Target="/ppt/notesMasters/notesMaster1.xml" Id="Rf1fab85db89840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a19683784f470e" /><Relationship Type="http://schemas.openxmlformats.org/officeDocument/2006/relationships/notesMaster" Target="/ppt/notesMasters/notesMaster1.xml" Id="R6c7f8c181eda40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6f994d9c42f4325" /><Relationship Type="http://schemas.openxmlformats.org/officeDocument/2006/relationships/notesMaster" Target="/ppt/notesMasters/notesMaster1.xml" Id="Rd611b40d73cd4eb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d3fa3106db466f" /><Relationship Type="http://schemas.openxmlformats.org/officeDocument/2006/relationships/notesMaster" Target="/ppt/notesMasters/notesMaster1.xml" Id="R39d5bb41007240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0b9ebf5ede4b2c" /><Relationship Type="http://schemas.openxmlformats.org/officeDocument/2006/relationships/notesMaster" Target="/ppt/notesMasters/notesMaster1.xml" Id="R438f9477943e48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465a97859542a8" /><Relationship Type="http://schemas.openxmlformats.org/officeDocument/2006/relationships/notesMaster" Target="/ppt/notesMasters/notesMaster1.xml" Id="Rd6345678b0b84f1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480296b1cb41f7" /><Relationship Type="http://schemas.openxmlformats.org/officeDocument/2006/relationships/notesMaster" Target="/ppt/notesMasters/notesMaster1.xml" Id="R4f5c4067641c42a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9399f7a02d44823" /><Relationship Type="http://schemas.openxmlformats.org/officeDocument/2006/relationships/notesMaster" Target="/ppt/notesMasters/notesMaster1.xml" Id="R7ecc1eee054446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premise: we are not building a football oracle. We are building a prediction agent that behaves like an engineering system: validate the world, retrieve sources, call deterministic tools, cite claims, disclose uncertainty, and evaluate itself. Promise the audience an exciting World Cup 2026 demo, but anchor the hook in reliability rather than pundit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in a familiar way: sports talk rewards confidence, but agent engineering rewards traceability. The cold open should show what we are avoiding: fluent claims that skip validation, source policy, and uncertainty. Use this slide to explain why the episode uses football for energy but judges the agent as software.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viewer through the promise of the tutorial: every step is inspectable. The LLM does not get to freestyle a champion. It has to pass pre-flight, use the source index, call MCP tools, and survive claim verification. This is the backbone that will reappear on every experiment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division of responsibility crisp. The LLM is valuable because it reads intent and narrates the result. But the numbers come from deterministic code. MCP gives the model a narrow, typed interface to that code. The verifier and evaluation harness then check whether the final answer respected the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engineering concept: pre-flight validation. A prediction agent should not answer until it knows which world it is forecasting. In this repo that means 12 groups, 48 teams, feature rows for all 48, and a generated evidence index. The warnings are part of the product, not an apology.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source adapter pattern. Adapters turn messy external or local inputs into compact evidence documents. This lets retrieval, citations, and claim verification operate over a consistent shape. The live API adapter is intentionally opt-in because the tutorial wants reproducible offline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good moment to demystify MCP. The MCP server is not the brain. It exposes typed tools. The AI client and model translate user intent into a structured call. That separation keeps execution in Python while retaining a natural-language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USA versus Australia as the match-level demo. The key teaching point is not the exact percentage; it is the boundary. The model output contains probabilities and warnings. The agent can explain those numbers, but it cannot pretend they came from fresh lineups or official odds.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run the first simulation experiment. USA is the favorite to win Group D in the bundled demo priors, but nearly half the simulations produce a different group winner. This is the easiest way to show why probabilities beat pundit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de-vig in plain English: odds include margin, so the raw implied probabilities usually add to more than 100 percent. The adapter normalizes them before comparison. Then repeat the guardrail: this is an illustrative baseline, not betting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big YouTube moment. Let the animation play while explaining Monte Carlo: run many possible tournaments, count how often each team wins, and divide by the number of simulations. Then call out the approximation: the knockout bracket is seeded for education, not a full official FIFA path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agent state. If a match has already happened, the agent should not resimulate it as unknown. The rolling forecast locks the completed USA-Australia result and samples the remaining Group D fixtures. This is also a place to mention that the completed result is user-supplied in the demo, not pulled from a live feed.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extra experiment that makes the tutorial feel hands-on. Show how a fatigue penalty, form boost, or tactical adjustment shifts Group D. The engineering lesson is that assumptions must be explicit inputs, not invisible reasoning inside the model's prose.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where the agent-engineering story becomes testable. If a claim says the field has 48 teams, it needs field support. If a claim gives model output, it needs model-input and model-logic support. The verifier is deliberately simple, but it demonstrates the product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before and after. The baseline sounds like a chatbot. The grounded mock behaves like an engineered agent: it uses tools, selects skills, cites, abstains when needed, and keeps probabilities sane. The harness is what prevents the demo from being just a nice anecdote.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trust slide. The system can forecast with bundled demo priors, but a public prediction workflow needs fresher and properly licensed sources. Good agent engineering is partly about knowing when to say: this source family is weak or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for producing the YouTube episode. Use the visible timing grid to guide pacing. The MP4 loops can be dropped into the final edit as B-roll or used to replace the animated GIFs if the editor prefers video assets.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main story by generalizing the pattern. The audience should leave knowing how to build any high-stakes prediction or analysis agent: do not trust fluent answers by default; build the tool boundary, evidence layer, verifier, and eval harness.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ethical and practical close. The deck intentionally avoids official logos and does not present demo priors as live official forecasts. If the episode will be published, refresh sources and confirm media licensing one more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b20d40c9e945e5"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8ff56a5938e44e1" /><Relationship Type="http://schemas.openxmlformats.org/officeDocument/2006/relationships/slideLayout" Target="/ppt/slideLayouts/slideLayout2.xml" Id="R8ffd26a80ca149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fd26a80ca149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b1515413f7f34ebf" /><Relationship Type="http://schemas.openxmlformats.org/officeDocument/2006/relationships/image" Target="/ppt/media/image.jpeg" Id="R034a982a741a4a91" /><Relationship Type="http://schemas.openxmlformats.org/officeDocument/2006/relationships/image" Target="/ppt/media/image.gif" Id="Re06e68dfe3ee43a1" /><Relationship Type="http://schemas.openxmlformats.org/officeDocument/2006/relationships/notesSlide" Target="/ppt/notesSlides/notesSlide1.xml" Id="R77a88aa6964e49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74a41896ffd4a66" /><Relationship Type="http://schemas.openxmlformats.org/officeDocument/2006/relationships/image" Target="/ppt/media/image2.jpeg" Id="R9ca6a22e7d2f4e84" /><Relationship Type="http://schemas.openxmlformats.org/officeDocument/2006/relationships/notesSlide" Target="/ppt/notesSlides/notesSlide2.xml" Id="Re55e4ae3417048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5710cc08ab542ea" /><Relationship Type="http://schemas.openxmlformats.org/officeDocument/2006/relationships/image" Target="/ppt/media/image2.gif" Id="R0fefd41832ca41ae" /><Relationship Type="http://schemas.openxmlformats.org/officeDocument/2006/relationships/notesSlide" Target="/ppt/notesSlides/notesSlide3.xml" Id="Rd7bb6b7fa53e49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947c50164534768" /><Relationship Type="http://schemas.openxmlformats.org/officeDocument/2006/relationships/notesSlide" Target="/ppt/notesSlides/notesSlide4.xml" Id="Rad4503590aa146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90a04cc344d4040" /><Relationship Type="http://schemas.openxmlformats.org/officeDocument/2006/relationships/notesSlide" Target="/ppt/notesSlides/notesSlide5.xml" Id="R8bb7735470b44c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ed1b07e6f384675" /><Relationship Type="http://schemas.openxmlformats.org/officeDocument/2006/relationships/image" Target="/ppt/media/image3.jpeg" Id="R5da4b9c760da4572" /><Relationship Type="http://schemas.openxmlformats.org/officeDocument/2006/relationships/notesSlide" Target="/ppt/notesSlides/notesSlide6.xml" Id="R521dd2da9b9649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6ac0be970f34733" /><Relationship Type="http://schemas.openxmlformats.org/officeDocument/2006/relationships/notesSlide" Target="/ppt/notesSlides/notesSlide7.xml" Id="R2b67887908b740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3eb290d7f3d484f" /><Relationship Type="http://schemas.openxmlformats.org/officeDocument/2006/relationships/image" Target="/ppt/media/image4.jpeg" Id="R8b3dd711f79a45b3" /><Relationship Type="http://schemas.openxmlformats.org/officeDocument/2006/relationships/notesSlide" Target="/ppt/notesSlides/notesSlide8.xml" Id="R8695f72499b34d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a9db17e60924bed" /><Relationship Type="http://schemas.openxmlformats.org/officeDocument/2006/relationships/notesSlide" Target="/ppt/notesSlides/notesSlide9.xml" Id="R545affbf1dc147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1d5222107084d35" /><Relationship Type="http://schemas.openxmlformats.org/officeDocument/2006/relationships/notesSlide" Target="/ppt/notesSlides/notesSlide10.xml" Id="R0142ba2f645343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02381b98b864a85" /><Relationship Type="http://schemas.openxmlformats.org/officeDocument/2006/relationships/image" Target="/ppt/media/image5.jpeg" Id="Racbd414c77624cdd" /><Relationship Type="http://schemas.openxmlformats.org/officeDocument/2006/relationships/image" Target="/ppt/media/image3.gif" Id="R8a551c8f24b94579" /><Relationship Type="http://schemas.openxmlformats.org/officeDocument/2006/relationships/notesSlide" Target="/ppt/notesSlides/notesSlide11.xml" Id="R86f8a0ea527f40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cfc347fbcb5444fd" /><Relationship Type="http://schemas.openxmlformats.org/officeDocument/2006/relationships/image" Target="/ppt/media/image6.jpeg" Id="Rb5c8cdfded954706" /><Relationship Type="http://schemas.openxmlformats.org/officeDocument/2006/relationships/image" Target="/ppt/media/image4.gif" Id="Rcee07a40fdb64568" /><Relationship Type="http://schemas.openxmlformats.org/officeDocument/2006/relationships/notesSlide" Target="/ppt/notesSlides/notesSlide12.xml" Id="Re189091eb39440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41dfdfec70f4859" /><Relationship Type="http://schemas.openxmlformats.org/officeDocument/2006/relationships/notesSlide" Target="/ppt/notesSlides/notesSlide13.xml" Id="R2dbc854df7f6410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981f7b6edfb4041" /><Relationship Type="http://schemas.openxmlformats.org/officeDocument/2006/relationships/image" Target="/ppt/media/image5.gif" Id="R9313393f742d4e58" /><Relationship Type="http://schemas.openxmlformats.org/officeDocument/2006/relationships/notesSlide" Target="/ppt/notesSlides/notesSlide14.xml" Id="Rceaa11334b9642d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7ba1d0d24cd426a" /><Relationship Type="http://schemas.openxmlformats.org/officeDocument/2006/relationships/notesSlide" Target="/ppt/notesSlides/notesSlide15.xml" Id="R7bf9e09d81a5478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8a5c1fcf224d4611" /><Relationship Type="http://schemas.openxmlformats.org/officeDocument/2006/relationships/image" Target="/ppt/media/image7.jpeg" Id="Rb1b299587ba444d2" /><Relationship Type="http://schemas.openxmlformats.org/officeDocument/2006/relationships/notesSlide" Target="/ppt/notesSlides/notesSlide16.xml" Id="R5c486377c9f3468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f55aa70039f4304" /><Relationship Type="http://schemas.openxmlformats.org/officeDocument/2006/relationships/notesSlide" Target="/ppt/notesSlides/notesSlide17.xml" Id="R0d8eb924abf541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95ab29fee5a645f1" /><Relationship Type="http://schemas.openxmlformats.org/officeDocument/2006/relationships/image" Target="/ppt/media/image8.jpeg" Id="R675469517fd04117" /><Relationship Type="http://schemas.openxmlformats.org/officeDocument/2006/relationships/notesSlide" Target="/ppt/notesSlides/notesSlide18.xml" Id="R326f643ad7db4f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223f7ca8161b4628" /><Relationship Type="http://schemas.openxmlformats.org/officeDocument/2006/relationships/notesSlide" Target="/ppt/notesSlides/notesSlide19.xml" Id="R53c290b657714c7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034a982a741a4a9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3C978A-6735-4990-A642-9BADADC4F9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41961"/>
            </a:srgbClr>
          </a:solidFill>
          <a:ln xmlns:a="http://schemas.openxmlformats.org/drawingml/2006/main" w="14288">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AB75E9C-6EA1-4EEC-ACBF-1E5B0F0CF292}"/>
              </a:ext>
            </a:extLst>
          </p:cNvPr>
          <p:cNvSpPr>
            <a:spLocks xmlns:a="http://schemas.openxmlformats.org/drawingml/2006/main" noGrp="1"/>
          </p:cNvSpPr>
          <p:nvPr/>
        </p:nvSpPr>
        <p:spPr>
          <a:xfrm xmlns:a="http://schemas.openxmlformats.org/drawingml/2006/main">
            <a:off x="609600" y="781050"/>
            <a:ext cx="66675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025" b="1">
                <a:solidFill>
                  <a:srgbClr val="F6F1DF"/>
                </a:solidFill>
                <a:latin typeface="Aptos Display"/>
                <a:ea typeface="Aptos Display"/>
                <a:cs typeface="Aptos Display"/>
              </a:defRPr>
            </a:pPr>
            <a:r>
              <a:rPr sz="5025" b="1">
                <a:solidFill>
                  <a:srgbClr val="F6F1DF"/>
                </a:solidFill>
                <a:latin typeface="Aptos Display"/>
                <a:ea typeface="Aptos Display"/>
                <a:cs typeface="Aptos Display"/>
              </a:rPr>
              <a:t>Forecast VAR</a:t>
            </a:r>
          </a:p>
        </p:txBody>
      </p:sp>
      <p:sp>
        <p:nvSpPr>
          <p:cNvPr id="4" name="">
            <a:extLst xmlns:a="http://schemas.openxmlformats.org/drawingml/2006/main">
              <a:ext uri="{FF2B5EF4-FFF2-40B4-BE49-F238E27FC236}">
                <a16:creationId xmlns:a16="http://schemas.microsoft.com/office/drawing/2014/main" id="{D8A2C9B3-2D74-41DC-8EF2-2A232C30031B}"/>
              </a:ext>
            </a:extLst>
          </p:cNvPr>
          <p:cNvSpPr>
            <a:spLocks xmlns:a="http://schemas.openxmlformats.org/drawingml/2006/main" noGrp="1"/>
          </p:cNvSpPr>
          <p:nvPr/>
        </p:nvSpPr>
        <p:spPr>
          <a:xfrm xmlns:a="http://schemas.openxmlformats.org/drawingml/2006/main">
            <a:off x="647700" y="1581150"/>
            <a:ext cx="6191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0">
                <a:solidFill>
                  <a:srgbClr val="B6C1AD"/>
                </a:solidFill>
                <a:latin typeface="Aptos"/>
                <a:ea typeface="Aptos"/>
                <a:cs typeface="Aptos"/>
              </a:defRPr>
            </a:pPr>
            <a:r>
              <a:rPr sz="2025" b="0">
                <a:solidFill>
                  <a:srgbClr val="B6C1AD"/>
                </a:solidFill>
                <a:latin typeface="Aptos"/>
                <a:ea typeface="Aptos"/>
                <a:cs typeface="Aptos"/>
              </a:rPr>
              <a:t>Agent engineering tutorial through a World Cup 2026 prediction lab</a:t>
            </a:r>
          </a:p>
        </p:txBody>
      </p:sp>
      <p:sp>
        <p:nvSpPr>
          <p:cNvPr id="5" name="">
            <a:extLst xmlns:a="http://schemas.openxmlformats.org/drawingml/2006/main">
              <a:ext uri="{FF2B5EF4-FFF2-40B4-BE49-F238E27FC236}">
                <a16:creationId xmlns:a16="http://schemas.microsoft.com/office/drawing/2014/main" id="{C5CC848A-4B32-4106-8BEC-072ED659FBA1}"/>
              </a:ext>
            </a:extLst>
          </p:cNvPr>
          <p:cNvSpPr>
            <a:spLocks xmlns:a="http://schemas.openxmlformats.org/drawingml/2006/main" noGrp="1"/>
          </p:cNvSpPr>
          <p:nvPr/>
        </p:nvSpPr>
        <p:spPr>
          <a:xfrm xmlns:a="http://schemas.openxmlformats.org/drawingml/2006/main">
            <a:off x="666750" y="2381250"/>
            <a:ext cx="3429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EE39A"/>
                </a:solidFill>
                <a:latin typeface="Aptos"/>
                <a:ea typeface="Aptos"/>
                <a:cs typeface="Aptos"/>
              </a:defRPr>
            </a:pPr>
            <a:r>
              <a:rPr sz="1500" b="1">
                <a:solidFill>
                  <a:srgbClr val="5EE39A"/>
                </a:solidFill>
                <a:latin typeface="Aptos"/>
                <a:ea typeface="Aptos"/>
                <a:cs typeface="Aptos"/>
              </a:rPr>
              <a:t>30-minute YouTube slideshow</a:t>
            </a:r>
          </a:p>
        </p:txBody>
      </p:sp>
      <p:sp>
        <p:nvSpPr>
          <p:cNvPr id="6" name="">
            <a:extLst xmlns:a="http://schemas.openxmlformats.org/drawingml/2006/main">
              <a:ext uri="{FF2B5EF4-FFF2-40B4-BE49-F238E27FC236}">
                <a16:creationId xmlns:a16="http://schemas.microsoft.com/office/drawing/2014/main" id="{11708BBF-B0C0-44DB-B747-D0C052F49409}"/>
              </a:ext>
            </a:extLst>
          </p:cNvPr>
          <p:cNvSpPr>
            <a:spLocks xmlns:a="http://schemas.openxmlformats.org/drawingml/2006/main" noGrp="1"/>
          </p:cNvSpPr>
          <p:nvPr/>
        </p:nvSpPr>
        <p:spPr>
          <a:xfrm xmlns:a="http://schemas.openxmlformats.org/drawingml/2006/main">
            <a:off x="666750" y="5334000"/>
            <a:ext cx="1238250" cy="914400"/>
          </a:xfrm>
          <a:prstGeom xmlns:a="http://schemas.openxmlformats.org/drawingml/2006/main" prst="rect">
            <a:avLst/>
          </a:prstGeom>
          <a:solidFill xmlns:a="http://schemas.openxmlformats.org/drawingml/2006/main">
            <a:srgbClr val="101C16"/>
          </a:solidFill>
          <a:ln xmlns:a="http://schemas.openxmlformats.org/drawingml/2006/main" w="14288">
            <a:solidFill>
              <a:srgbClr val="5EE39A"/>
            </a:solidFill>
            <a:prstDash val="solid"/>
          </a:ln>
        </p:spPr>
      </p:sp>
      <p:sp>
        <p:nvSpPr>
          <p:cNvPr id="7" name="">
            <a:extLst xmlns:a="http://schemas.openxmlformats.org/drawingml/2006/main">
              <a:ext uri="{FF2B5EF4-FFF2-40B4-BE49-F238E27FC236}">
                <a16:creationId xmlns:a16="http://schemas.microsoft.com/office/drawing/2014/main" id="{0E2C43F9-B433-4DAD-9D96-DDB0826807F0}"/>
              </a:ext>
            </a:extLst>
          </p:cNvPr>
          <p:cNvSpPr>
            <a:spLocks xmlns:a="http://schemas.openxmlformats.org/drawingml/2006/main" noGrp="1"/>
          </p:cNvSpPr>
          <p:nvPr/>
        </p:nvSpPr>
        <p:spPr>
          <a:xfrm xmlns:a="http://schemas.openxmlformats.org/drawingml/2006/main">
            <a:off x="819150" y="5448300"/>
            <a:ext cx="9334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5EE39A"/>
                </a:solidFill>
                <a:latin typeface="Aptos"/>
                <a:ea typeface="Aptos"/>
                <a:cs typeface="Aptos"/>
              </a:defRPr>
            </a:pPr>
            <a:r>
              <a:rPr sz="2475" b="1">
                <a:solidFill>
                  <a:srgbClr val="5EE39A"/>
                </a:solidFill>
                <a:latin typeface="Aptos"/>
                <a:ea typeface="Aptos"/>
                <a:cs typeface="Aptos"/>
              </a:rPr>
              <a:t>12</a:t>
            </a:r>
          </a:p>
        </p:txBody>
      </p:sp>
      <p:sp>
        <p:nvSpPr>
          <p:cNvPr id="8" name="">
            <a:extLst xmlns:a="http://schemas.openxmlformats.org/drawingml/2006/main">
              <a:ext uri="{FF2B5EF4-FFF2-40B4-BE49-F238E27FC236}">
                <a16:creationId xmlns:a16="http://schemas.microsoft.com/office/drawing/2014/main" id="{39F24A1D-25FD-410F-B4CF-AD7043A2C689}"/>
              </a:ext>
            </a:extLst>
          </p:cNvPr>
          <p:cNvSpPr>
            <a:spLocks xmlns:a="http://schemas.openxmlformats.org/drawingml/2006/main" noGrp="1"/>
          </p:cNvSpPr>
          <p:nvPr/>
        </p:nvSpPr>
        <p:spPr>
          <a:xfrm xmlns:a="http://schemas.openxmlformats.org/drawingml/2006/main">
            <a:off x="819150" y="5867400"/>
            <a:ext cx="9334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groups</a:t>
            </a:r>
          </a:p>
        </p:txBody>
      </p:sp>
      <p:sp>
        <p:nvSpPr>
          <p:cNvPr id="9" name="">
            <a:extLst xmlns:a="http://schemas.openxmlformats.org/drawingml/2006/main">
              <a:ext uri="{FF2B5EF4-FFF2-40B4-BE49-F238E27FC236}">
                <a16:creationId xmlns:a16="http://schemas.microsoft.com/office/drawing/2014/main" id="{B9AC87D0-E444-41BF-97FF-EF16BCB476EE}"/>
              </a:ext>
            </a:extLst>
          </p:cNvPr>
          <p:cNvSpPr>
            <a:spLocks xmlns:a="http://schemas.openxmlformats.org/drawingml/2006/main" noGrp="1"/>
          </p:cNvSpPr>
          <p:nvPr/>
        </p:nvSpPr>
        <p:spPr>
          <a:xfrm xmlns:a="http://schemas.openxmlformats.org/drawingml/2006/main">
            <a:off x="2095500" y="5334000"/>
            <a:ext cx="1238250" cy="914400"/>
          </a:xfrm>
          <a:prstGeom xmlns:a="http://schemas.openxmlformats.org/drawingml/2006/main" prst="rect">
            <a:avLst/>
          </a:prstGeom>
          <a:solidFill xmlns:a="http://schemas.openxmlformats.org/drawingml/2006/main">
            <a:srgbClr val="101C16"/>
          </a:solidFill>
          <a:ln xmlns:a="http://schemas.openxmlformats.org/drawingml/2006/main" w="14288">
            <a:solidFill>
              <a:srgbClr val="7CC7FF"/>
            </a:solidFill>
            <a:prstDash val="solid"/>
          </a:ln>
        </p:spPr>
      </p:sp>
      <p:sp>
        <p:nvSpPr>
          <p:cNvPr id="10" name="">
            <a:extLst xmlns:a="http://schemas.openxmlformats.org/drawingml/2006/main">
              <a:ext uri="{FF2B5EF4-FFF2-40B4-BE49-F238E27FC236}">
                <a16:creationId xmlns:a16="http://schemas.microsoft.com/office/drawing/2014/main" id="{210D5A11-6E04-48ED-9872-E3D943DB2143}"/>
              </a:ext>
            </a:extLst>
          </p:cNvPr>
          <p:cNvSpPr>
            <a:spLocks xmlns:a="http://schemas.openxmlformats.org/drawingml/2006/main" noGrp="1"/>
          </p:cNvSpPr>
          <p:nvPr/>
        </p:nvSpPr>
        <p:spPr>
          <a:xfrm xmlns:a="http://schemas.openxmlformats.org/drawingml/2006/main">
            <a:off x="2247900" y="5448300"/>
            <a:ext cx="9334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7CC7FF"/>
                </a:solidFill>
                <a:latin typeface="Aptos"/>
                <a:ea typeface="Aptos"/>
                <a:cs typeface="Aptos"/>
              </a:defRPr>
            </a:pPr>
            <a:r>
              <a:rPr sz="2475" b="1">
                <a:solidFill>
                  <a:srgbClr val="7CC7FF"/>
                </a:solidFill>
                <a:latin typeface="Aptos"/>
                <a:ea typeface="Aptos"/>
                <a:cs typeface="Aptos"/>
              </a:rPr>
              <a:t>48</a:t>
            </a:r>
          </a:p>
        </p:txBody>
      </p:sp>
      <p:sp>
        <p:nvSpPr>
          <p:cNvPr id="11" name="">
            <a:extLst xmlns:a="http://schemas.openxmlformats.org/drawingml/2006/main">
              <a:ext uri="{FF2B5EF4-FFF2-40B4-BE49-F238E27FC236}">
                <a16:creationId xmlns:a16="http://schemas.microsoft.com/office/drawing/2014/main" id="{614D6F2D-D6B4-43A0-AD7F-7E9F526BFD28}"/>
              </a:ext>
            </a:extLst>
          </p:cNvPr>
          <p:cNvSpPr>
            <a:spLocks xmlns:a="http://schemas.openxmlformats.org/drawingml/2006/main" noGrp="1"/>
          </p:cNvSpPr>
          <p:nvPr/>
        </p:nvSpPr>
        <p:spPr>
          <a:xfrm xmlns:a="http://schemas.openxmlformats.org/drawingml/2006/main">
            <a:off x="2247900" y="5867400"/>
            <a:ext cx="9334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teams</a:t>
            </a:r>
          </a:p>
        </p:txBody>
      </p:sp>
      <p:sp>
        <p:nvSpPr>
          <p:cNvPr id="12" name="">
            <a:extLst xmlns:a="http://schemas.openxmlformats.org/drawingml/2006/main">
              <a:ext uri="{FF2B5EF4-FFF2-40B4-BE49-F238E27FC236}">
                <a16:creationId xmlns:a16="http://schemas.microsoft.com/office/drawing/2014/main" id="{869DDB62-71D0-4BC6-8A81-5C23A914D3BC}"/>
              </a:ext>
            </a:extLst>
          </p:cNvPr>
          <p:cNvSpPr>
            <a:spLocks xmlns:a="http://schemas.openxmlformats.org/drawingml/2006/main" noGrp="1"/>
          </p:cNvSpPr>
          <p:nvPr/>
        </p:nvSpPr>
        <p:spPr>
          <a:xfrm xmlns:a="http://schemas.openxmlformats.org/drawingml/2006/main">
            <a:off x="3524250" y="5334000"/>
            <a:ext cx="1238250" cy="914400"/>
          </a:xfrm>
          <a:prstGeom xmlns:a="http://schemas.openxmlformats.org/drawingml/2006/main" prst="rect">
            <a:avLst/>
          </a:prstGeom>
          <a:solidFill xmlns:a="http://schemas.openxmlformats.org/drawingml/2006/main">
            <a:srgbClr val="101C16"/>
          </a:solidFill>
          <a:ln xmlns:a="http://schemas.openxmlformats.org/drawingml/2006/main" w="14288">
            <a:solidFill>
              <a:srgbClr val="FFD166"/>
            </a:solidFill>
            <a:prstDash val="solid"/>
          </a:ln>
        </p:spPr>
      </p:sp>
      <p:sp>
        <p:nvSpPr>
          <p:cNvPr id="13" name="">
            <a:extLst xmlns:a="http://schemas.openxmlformats.org/drawingml/2006/main">
              <a:ext uri="{FF2B5EF4-FFF2-40B4-BE49-F238E27FC236}">
                <a16:creationId xmlns:a16="http://schemas.microsoft.com/office/drawing/2014/main" id="{CAFE4F44-E418-47BF-9C53-8AB1B16B807F}"/>
              </a:ext>
            </a:extLst>
          </p:cNvPr>
          <p:cNvSpPr>
            <a:spLocks xmlns:a="http://schemas.openxmlformats.org/drawingml/2006/main" noGrp="1"/>
          </p:cNvSpPr>
          <p:nvPr/>
        </p:nvSpPr>
        <p:spPr>
          <a:xfrm xmlns:a="http://schemas.openxmlformats.org/drawingml/2006/main">
            <a:off x="3676650" y="5448300"/>
            <a:ext cx="9334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FFD166"/>
                </a:solidFill>
                <a:latin typeface="Aptos"/>
                <a:ea typeface="Aptos"/>
                <a:cs typeface="Aptos"/>
              </a:defRPr>
            </a:pPr>
            <a:r>
              <a:rPr sz="2475" b="1">
                <a:solidFill>
                  <a:srgbClr val="FFD166"/>
                </a:solidFill>
                <a:latin typeface="Aptos"/>
                <a:ea typeface="Aptos"/>
                <a:cs typeface="Aptos"/>
              </a:rPr>
              <a:t>73</a:t>
            </a:r>
          </a:p>
        </p:txBody>
      </p:sp>
      <p:sp>
        <p:nvSpPr>
          <p:cNvPr id="14" name="">
            <a:extLst xmlns:a="http://schemas.openxmlformats.org/drawingml/2006/main">
              <a:ext uri="{FF2B5EF4-FFF2-40B4-BE49-F238E27FC236}">
                <a16:creationId xmlns:a16="http://schemas.microsoft.com/office/drawing/2014/main" id="{556D5894-2D92-4142-9325-923D5FC12B14}"/>
              </a:ext>
            </a:extLst>
          </p:cNvPr>
          <p:cNvSpPr>
            <a:spLocks xmlns:a="http://schemas.openxmlformats.org/drawingml/2006/main" noGrp="1"/>
          </p:cNvSpPr>
          <p:nvPr/>
        </p:nvSpPr>
        <p:spPr>
          <a:xfrm xmlns:a="http://schemas.openxmlformats.org/drawingml/2006/main">
            <a:off x="3676650" y="5867400"/>
            <a:ext cx="9334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evidence docs</a:t>
            </a:r>
          </a:p>
        </p:txBody>
      </p:sp>
      <p:sp>
        <p:nvSpPr>
          <p:cNvPr id="15" name="">
            <a:extLst xmlns:a="http://schemas.openxmlformats.org/drawingml/2006/main">
              <a:ext uri="{FF2B5EF4-FFF2-40B4-BE49-F238E27FC236}">
                <a16:creationId xmlns:a16="http://schemas.microsoft.com/office/drawing/2014/main" id="{EB1892FA-7B78-4FEF-A3FC-7FCBBA157E6E}"/>
              </a:ext>
            </a:extLst>
          </p:cNvPr>
          <p:cNvSpPr>
            <a:spLocks xmlns:a="http://schemas.openxmlformats.org/drawingml/2006/main" noGrp="1"/>
          </p:cNvSpPr>
          <p:nvPr/>
        </p:nvSpPr>
        <p:spPr>
          <a:xfrm xmlns:a="http://schemas.openxmlformats.org/drawingml/2006/main">
            <a:off x="4953000" y="5334000"/>
            <a:ext cx="1238250" cy="914400"/>
          </a:xfrm>
          <a:prstGeom xmlns:a="http://schemas.openxmlformats.org/drawingml/2006/main" prst="rect">
            <a:avLst/>
          </a:prstGeom>
          <a:solidFill xmlns:a="http://schemas.openxmlformats.org/drawingml/2006/main">
            <a:srgbClr val="101C16"/>
          </a:solidFill>
          <a:ln xmlns:a="http://schemas.openxmlformats.org/drawingml/2006/main" w="14288">
            <a:solidFill>
              <a:srgbClr val="FF9F1C"/>
            </a:solidFill>
            <a:prstDash val="solid"/>
          </a:ln>
        </p:spPr>
      </p:sp>
      <p:sp>
        <p:nvSpPr>
          <p:cNvPr id="16" name="">
            <a:extLst xmlns:a="http://schemas.openxmlformats.org/drawingml/2006/main">
              <a:ext uri="{FF2B5EF4-FFF2-40B4-BE49-F238E27FC236}">
                <a16:creationId xmlns:a16="http://schemas.microsoft.com/office/drawing/2014/main" id="{CEABE503-0841-4505-ACE7-55B0D082ADAB}"/>
              </a:ext>
            </a:extLst>
          </p:cNvPr>
          <p:cNvSpPr>
            <a:spLocks xmlns:a="http://schemas.openxmlformats.org/drawingml/2006/main" noGrp="1"/>
          </p:cNvSpPr>
          <p:nvPr/>
        </p:nvSpPr>
        <p:spPr>
          <a:xfrm xmlns:a="http://schemas.openxmlformats.org/drawingml/2006/main">
            <a:off x="5105400" y="5448300"/>
            <a:ext cx="9334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FF9F1C"/>
                </a:solidFill>
                <a:latin typeface="Aptos"/>
                <a:ea typeface="Aptos"/>
                <a:cs typeface="Aptos"/>
              </a:defRPr>
            </a:pPr>
            <a:r>
              <a:rPr sz="2475" b="1">
                <a:solidFill>
                  <a:srgbClr val="FF9F1C"/>
                </a:solidFill>
                <a:latin typeface="Aptos"/>
                <a:ea typeface="Aptos"/>
                <a:cs typeface="Aptos"/>
              </a:rPr>
              <a:t>3k</a:t>
            </a:r>
          </a:p>
        </p:txBody>
      </p:sp>
      <p:sp>
        <p:nvSpPr>
          <p:cNvPr id="17" name="">
            <a:extLst xmlns:a="http://schemas.openxmlformats.org/drawingml/2006/main">
              <a:ext uri="{FF2B5EF4-FFF2-40B4-BE49-F238E27FC236}">
                <a16:creationId xmlns:a16="http://schemas.microsoft.com/office/drawing/2014/main" id="{194A81C9-3B14-4DB8-81F0-DC30D7688EBE}"/>
              </a:ext>
            </a:extLst>
          </p:cNvPr>
          <p:cNvSpPr>
            <a:spLocks xmlns:a="http://schemas.openxmlformats.org/drawingml/2006/main" noGrp="1"/>
          </p:cNvSpPr>
          <p:nvPr/>
        </p:nvSpPr>
        <p:spPr>
          <a:xfrm xmlns:a="http://schemas.openxmlformats.org/drawingml/2006/main">
            <a:off x="5105400" y="5867400"/>
            <a:ext cx="9334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Monte Carlo sims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06e68dfe3ee43a1"/>
          <a:srcRect xmlns:a="http://schemas.openxmlformats.org/drawingml/2006/main" l="142" t="0" r="142" b="0"/>
          <a:stretch xmlns:a="http://schemas.openxmlformats.org/drawingml/2006/main">
            <a:fillRect l="0" t="0" r="0" b="0"/>
          </a:stretch>
        </p:blipFill>
        <p:spPr>
          <a:xfrm xmlns:a="http://schemas.openxmlformats.org/drawingml/2006/main">
            <a:off x="7524750" y="4000500"/>
            <a:ext cx="3714750" cy="20955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54944E68-0A21-42C6-82DB-D657B876E692}"/>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01</a:t>
            </a:r>
          </a:p>
        </p:txBody>
      </p:sp>
      <p:sp>
        <p:nvSpPr>
          <p:cNvPr id="20" name="">
            <a:extLst xmlns:a="http://schemas.openxmlformats.org/drawingml/2006/main">
              <a:ext uri="{FF2B5EF4-FFF2-40B4-BE49-F238E27FC236}">
                <a16:creationId xmlns:a16="http://schemas.microsoft.com/office/drawing/2014/main" id="{CB6DEFC2-E214-4492-8BE7-628EFE2A67C6}"/>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Hero image: Wikimedia Commons CC0 • animation generated locally</a:t>
            </a:r>
          </a:p>
        </p:txBody>
      </p:sp>
    </p:spTree>
    <p:extLst>
      <p:ext uri="{BB962C8B-B14F-4D97-AF65-F5344CB8AC3E}">
        <p14:creationId xmlns:p14="http://schemas.microsoft.com/office/powerpoint/2010/main" val="34605707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9ca6a22e7d2f4e8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14B3BB-9111-4480-9EBE-C12FF5C7BA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50196"/>
            </a:srgbClr>
          </a:solidFill>
          <a:ln xmlns:a="http://schemas.openxmlformats.org/drawingml/2006/main" w="14288">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1231BCF-9A57-4855-B94D-B66EBDB23DAB}"/>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4" name="kicker-label">
            <a:extLst xmlns:a="http://schemas.openxmlformats.org/drawingml/2006/main">
              <a:ext uri="{FF2B5EF4-FFF2-40B4-BE49-F238E27FC236}">
                <a16:creationId xmlns:a16="http://schemas.microsoft.com/office/drawing/2014/main" id="{B6637DF3-2E58-4195-9F88-F38556A47F7A}"/>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5" name="">
            <a:extLst xmlns:a="http://schemas.openxmlformats.org/drawingml/2006/main">
              <a:ext uri="{FF2B5EF4-FFF2-40B4-BE49-F238E27FC236}">
                <a16:creationId xmlns:a16="http://schemas.microsoft.com/office/drawing/2014/main" id="{A9D706AF-D31A-4C57-A0C1-0BFCA7C717EE}"/>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01:00</a:t>
            </a:r>
          </a:p>
        </p:txBody>
      </p:sp>
      <p:sp>
        <p:nvSpPr>
          <p:cNvPr id="6" name="">
            <a:extLst xmlns:a="http://schemas.openxmlformats.org/drawingml/2006/main">
              <a:ext uri="{FF2B5EF4-FFF2-40B4-BE49-F238E27FC236}">
                <a16:creationId xmlns:a16="http://schemas.microsoft.com/office/drawing/2014/main" id="{283C87A7-BBFA-495C-A858-460CFDC33949}"/>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Confident football takes are cheap. Auditable forecasts are engineered.</a:t>
            </a:r>
          </a:p>
        </p:txBody>
      </p:sp>
      <p:sp>
        <p:nvSpPr>
          <p:cNvPr id="7" name="">
            <a:extLst xmlns:a="http://schemas.openxmlformats.org/drawingml/2006/main">
              <a:ext uri="{FF2B5EF4-FFF2-40B4-BE49-F238E27FC236}">
                <a16:creationId xmlns:a16="http://schemas.microsoft.com/office/drawing/2014/main" id="{2482A9DF-98D5-44A6-A122-A4B5B6399554}"/>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The episode starts with a naive prediction agent and then puts it in the VAR booth.</a:t>
            </a:r>
          </a:p>
        </p:txBody>
      </p:sp>
      <p:sp>
        <p:nvSpPr>
          <p:cNvPr id="8" name="">
            <a:extLst xmlns:a="http://schemas.openxmlformats.org/drawingml/2006/main">
              <a:ext uri="{FF2B5EF4-FFF2-40B4-BE49-F238E27FC236}">
                <a16:creationId xmlns:a16="http://schemas.microsoft.com/office/drawing/2014/main" id="{BF4FA805-E6BC-42FC-9DF2-D98FA032AECB}"/>
              </a:ext>
            </a:extLst>
          </p:cNvPr>
          <p:cNvSpPr>
            <a:spLocks xmlns:a="http://schemas.openxmlformats.org/drawingml/2006/main" noGrp="1"/>
          </p:cNvSpPr>
          <p:nvPr/>
        </p:nvSpPr>
        <p:spPr>
          <a:xfrm xmlns:a="http://schemas.openxmlformats.org/drawingml/2006/main">
            <a:off x="7715250" y="1476375"/>
            <a:ext cx="3143250" cy="819150"/>
          </a:xfrm>
          <a:prstGeom xmlns:a="http://schemas.openxmlformats.org/drawingml/2006/main" prst="rect">
            <a:avLst/>
          </a:prstGeom>
          <a:solidFill xmlns:a="http://schemas.openxmlformats.org/drawingml/2006/main">
            <a:srgbClr val="2B1216"/>
          </a:solidFill>
          <a:ln xmlns:a="http://schemas.openxmlformats.org/drawingml/2006/main" w="14288">
            <a:solidFill>
              <a:srgbClr val="F45B69"/>
            </a:solidFill>
            <a:prstDash val="solid"/>
          </a:ln>
        </p:spPr>
      </p:sp>
      <p:sp>
        <p:nvSpPr>
          <p:cNvPr id="9" name="">
            <a:extLst xmlns:a="http://schemas.openxmlformats.org/drawingml/2006/main">
              <a:ext uri="{FF2B5EF4-FFF2-40B4-BE49-F238E27FC236}">
                <a16:creationId xmlns:a16="http://schemas.microsoft.com/office/drawing/2014/main" id="{D6EAD7E4-CEBB-4358-AAFA-7C9F40B09D20}"/>
              </a:ext>
            </a:extLst>
          </p:cNvPr>
          <p:cNvSpPr>
            <a:spLocks xmlns:a="http://schemas.openxmlformats.org/drawingml/2006/main" noGrp="1"/>
          </p:cNvSpPr>
          <p:nvPr/>
        </p:nvSpPr>
        <p:spPr>
          <a:xfrm xmlns:a="http://schemas.openxmlformats.org/drawingml/2006/main">
            <a:off x="7943850" y="16383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6F1DF"/>
                </a:solidFill>
                <a:latin typeface="Aptos"/>
                <a:ea typeface="Aptos"/>
                <a:cs typeface="Aptos"/>
              </a:defRPr>
            </a:pPr>
            <a:r>
              <a:rPr sz="1725" b="1">
                <a:solidFill>
                  <a:srgbClr val="F6F1DF"/>
                </a:solidFill>
                <a:latin typeface="Aptos"/>
                <a:ea typeface="Aptos"/>
                <a:cs typeface="Aptos"/>
              </a:rPr>
              <a:t>USA are a lock</a:t>
            </a:r>
          </a:p>
        </p:txBody>
      </p:sp>
      <p:sp>
        <p:nvSpPr>
          <p:cNvPr id="10" name="">
            <a:extLst xmlns:a="http://schemas.openxmlformats.org/drawingml/2006/main">
              <a:ext uri="{FF2B5EF4-FFF2-40B4-BE49-F238E27FC236}">
                <a16:creationId xmlns:a16="http://schemas.microsoft.com/office/drawing/2014/main" id="{35F8B15F-4266-4D18-95E9-4CA71EDA0351}"/>
              </a:ext>
            </a:extLst>
          </p:cNvPr>
          <p:cNvSpPr>
            <a:spLocks xmlns:a="http://schemas.openxmlformats.org/drawingml/2006/main" noGrp="1"/>
          </p:cNvSpPr>
          <p:nvPr/>
        </p:nvSpPr>
        <p:spPr>
          <a:xfrm xmlns:a="http://schemas.openxmlformats.org/drawingml/2006/main">
            <a:off x="7953375" y="1971675"/>
            <a:ext cx="21907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8A7AE"/>
                </a:solidFill>
                <a:latin typeface="Aptos"/>
                <a:ea typeface="Aptos"/>
                <a:cs typeface="Aptos"/>
              </a:defRPr>
            </a:pPr>
            <a:r>
              <a:rPr sz="1050" b="0">
                <a:solidFill>
                  <a:srgbClr val="F8A7AE"/>
                </a:solidFill>
                <a:latin typeface="Aptos"/>
                <a:ea typeface="Aptos"/>
                <a:cs typeface="Aptos"/>
              </a:rPr>
              <a:t>unsupported certainty</a:t>
            </a:r>
          </a:p>
        </p:txBody>
      </p:sp>
      <p:sp>
        <p:nvSpPr>
          <p:cNvPr id="11" name="">
            <a:extLst xmlns:a="http://schemas.openxmlformats.org/drawingml/2006/main">
              <a:ext uri="{FF2B5EF4-FFF2-40B4-BE49-F238E27FC236}">
                <a16:creationId xmlns:a16="http://schemas.microsoft.com/office/drawing/2014/main" id="{921D5244-B903-4649-A560-CE90A53BC64C}"/>
              </a:ext>
            </a:extLst>
          </p:cNvPr>
          <p:cNvSpPr>
            <a:spLocks xmlns:a="http://schemas.openxmlformats.org/drawingml/2006/main" noGrp="1"/>
          </p:cNvSpPr>
          <p:nvPr/>
        </p:nvSpPr>
        <p:spPr>
          <a:xfrm xmlns:a="http://schemas.openxmlformats.org/drawingml/2006/main">
            <a:off x="7715250" y="2676525"/>
            <a:ext cx="3143250" cy="819150"/>
          </a:xfrm>
          <a:prstGeom xmlns:a="http://schemas.openxmlformats.org/drawingml/2006/main" prst="rect">
            <a:avLst/>
          </a:prstGeom>
          <a:solidFill xmlns:a="http://schemas.openxmlformats.org/drawingml/2006/main">
            <a:srgbClr val="2B1216"/>
          </a:solidFill>
          <a:ln xmlns:a="http://schemas.openxmlformats.org/drawingml/2006/main" w="14288">
            <a:solidFill>
              <a:srgbClr val="F45B69"/>
            </a:solidFill>
            <a:prstDash val="solid"/>
          </a:ln>
        </p:spPr>
      </p:sp>
      <p:sp>
        <p:nvSpPr>
          <p:cNvPr id="12" name="">
            <a:extLst xmlns:a="http://schemas.openxmlformats.org/drawingml/2006/main">
              <a:ext uri="{FF2B5EF4-FFF2-40B4-BE49-F238E27FC236}">
                <a16:creationId xmlns:a16="http://schemas.microsoft.com/office/drawing/2014/main" id="{AC47F605-4201-4F8D-9A49-FCDDA37D9BF1}"/>
              </a:ext>
            </a:extLst>
          </p:cNvPr>
          <p:cNvSpPr>
            <a:spLocks xmlns:a="http://schemas.openxmlformats.org/drawingml/2006/main" noGrp="1"/>
          </p:cNvSpPr>
          <p:nvPr/>
        </p:nvSpPr>
        <p:spPr>
          <a:xfrm xmlns:a="http://schemas.openxmlformats.org/drawingml/2006/main">
            <a:off x="7943850" y="283845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6F1DF"/>
                </a:solidFill>
                <a:latin typeface="Aptos"/>
                <a:ea typeface="Aptos"/>
                <a:cs typeface="Aptos"/>
              </a:defRPr>
            </a:pPr>
            <a:r>
              <a:rPr sz="1725" b="1">
                <a:solidFill>
                  <a:srgbClr val="F6F1DF"/>
                </a:solidFill>
                <a:latin typeface="Aptos"/>
                <a:ea typeface="Aptos"/>
                <a:cs typeface="Aptos"/>
              </a:rPr>
              <a:t>Sample odds prove it</a:t>
            </a:r>
          </a:p>
        </p:txBody>
      </p:sp>
      <p:sp>
        <p:nvSpPr>
          <p:cNvPr id="13" name="">
            <a:extLst xmlns:a="http://schemas.openxmlformats.org/drawingml/2006/main">
              <a:ext uri="{FF2B5EF4-FFF2-40B4-BE49-F238E27FC236}">
                <a16:creationId xmlns:a16="http://schemas.microsoft.com/office/drawing/2014/main" id="{B71E696E-9545-415D-B47F-E50234252E54}"/>
              </a:ext>
            </a:extLst>
          </p:cNvPr>
          <p:cNvSpPr>
            <a:spLocks xmlns:a="http://schemas.openxmlformats.org/drawingml/2006/main" noGrp="1"/>
          </p:cNvSpPr>
          <p:nvPr/>
        </p:nvSpPr>
        <p:spPr>
          <a:xfrm xmlns:a="http://schemas.openxmlformats.org/drawingml/2006/main">
            <a:off x="7953375" y="3171825"/>
            <a:ext cx="21907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8A7AE"/>
                </a:solidFill>
                <a:latin typeface="Aptos"/>
                <a:ea typeface="Aptos"/>
                <a:cs typeface="Aptos"/>
              </a:defRPr>
            </a:pPr>
            <a:r>
              <a:rPr sz="1050" b="0">
                <a:solidFill>
                  <a:srgbClr val="F8A7AE"/>
                </a:solidFill>
                <a:latin typeface="Aptos"/>
                <a:ea typeface="Aptos"/>
                <a:cs typeface="Aptos"/>
              </a:rPr>
              <a:t>source misuse</a:t>
            </a:r>
          </a:p>
        </p:txBody>
      </p:sp>
      <p:sp>
        <p:nvSpPr>
          <p:cNvPr id="14" name="">
            <a:extLst xmlns:a="http://schemas.openxmlformats.org/drawingml/2006/main">
              <a:ext uri="{FF2B5EF4-FFF2-40B4-BE49-F238E27FC236}">
                <a16:creationId xmlns:a16="http://schemas.microsoft.com/office/drawing/2014/main" id="{22AE1876-5B1B-45FD-BAE0-1CF7B5617D4D}"/>
              </a:ext>
            </a:extLst>
          </p:cNvPr>
          <p:cNvSpPr>
            <a:spLocks xmlns:a="http://schemas.openxmlformats.org/drawingml/2006/main" noGrp="1"/>
          </p:cNvSpPr>
          <p:nvPr/>
        </p:nvSpPr>
        <p:spPr>
          <a:xfrm xmlns:a="http://schemas.openxmlformats.org/drawingml/2006/main">
            <a:off x="7715250" y="3876675"/>
            <a:ext cx="3143250" cy="819150"/>
          </a:xfrm>
          <a:prstGeom xmlns:a="http://schemas.openxmlformats.org/drawingml/2006/main" prst="rect">
            <a:avLst/>
          </a:prstGeom>
          <a:solidFill xmlns:a="http://schemas.openxmlformats.org/drawingml/2006/main">
            <a:srgbClr val="2B1216"/>
          </a:solidFill>
          <a:ln xmlns:a="http://schemas.openxmlformats.org/drawingml/2006/main" w="14288">
            <a:solidFill>
              <a:srgbClr val="F45B69"/>
            </a:solidFill>
            <a:prstDash val="solid"/>
          </a:ln>
        </p:spPr>
      </p:sp>
      <p:sp>
        <p:nvSpPr>
          <p:cNvPr id="15" name="">
            <a:extLst xmlns:a="http://schemas.openxmlformats.org/drawingml/2006/main">
              <a:ext uri="{FF2B5EF4-FFF2-40B4-BE49-F238E27FC236}">
                <a16:creationId xmlns:a16="http://schemas.microsoft.com/office/drawing/2014/main" id="{CD29B648-36E7-48F2-876F-38485EBD2F91}"/>
              </a:ext>
            </a:extLst>
          </p:cNvPr>
          <p:cNvSpPr>
            <a:spLocks xmlns:a="http://schemas.openxmlformats.org/drawingml/2006/main" noGrp="1"/>
          </p:cNvSpPr>
          <p:nvPr/>
        </p:nvSpPr>
        <p:spPr>
          <a:xfrm xmlns:a="http://schemas.openxmlformats.org/drawingml/2006/main">
            <a:off x="7943850" y="40386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6F1DF"/>
                </a:solidFill>
                <a:latin typeface="Aptos"/>
                <a:ea typeface="Aptos"/>
                <a:cs typeface="Aptos"/>
              </a:defRPr>
            </a:pPr>
            <a:r>
              <a:rPr sz="1725" b="1">
                <a:solidFill>
                  <a:srgbClr val="F6F1DF"/>
                </a:solidFill>
                <a:latin typeface="Aptos"/>
                <a:ea typeface="Aptos"/>
                <a:cs typeface="Aptos"/>
              </a:rPr>
              <a:t>No validation needed</a:t>
            </a:r>
          </a:p>
        </p:txBody>
      </p:sp>
      <p:sp>
        <p:nvSpPr>
          <p:cNvPr id="16" name="">
            <a:extLst xmlns:a="http://schemas.openxmlformats.org/drawingml/2006/main">
              <a:ext uri="{FF2B5EF4-FFF2-40B4-BE49-F238E27FC236}">
                <a16:creationId xmlns:a16="http://schemas.microsoft.com/office/drawing/2014/main" id="{F94E4A91-DA1C-4C9C-AB20-4597738FE35A}"/>
              </a:ext>
            </a:extLst>
          </p:cNvPr>
          <p:cNvSpPr>
            <a:spLocks xmlns:a="http://schemas.openxmlformats.org/drawingml/2006/main" noGrp="1"/>
          </p:cNvSpPr>
          <p:nvPr/>
        </p:nvSpPr>
        <p:spPr>
          <a:xfrm xmlns:a="http://schemas.openxmlformats.org/drawingml/2006/main">
            <a:off x="7953375" y="4371975"/>
            <a:ext cx="21907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8A7AE"/>
                </a:solidFill>
                <a:latin typeface="Aptos"/>
                <a:ea typeface="Aptos"/>
                <a:cs typeface="Aptos"/>
              </a:defRPr>
            </a:pPr>
            <a:r>
              <a:rPr sz="1050" b="0">
                <a:solidFill>
                  <a:srgbClr val="F8A7AE"/>
                </a:solidFill>
                <a:latin typeface="Aptos"/>
                <a:ea typeface="Aptos"/>
                <a:cs typeface="Aptos"/>
              </a:rPr>
              <a:t>tool skipped</a:t>
            </a:r>
          </a:p>
        </p:txBody>
      </p:sp>
      <p:sp>
        <p:nvSpPr>
          <p:cNvPr id="17" name="">
            <a:extLst xmlns:a="http://schemas.openxmlformats.org/drawingml/2006/main">
              <a:ext uri="{FF2B5EF4-FFF2-40B4-BE49-F238E27FC236}">
                <a16:creationId xmlns:a16="http://schemas.microsoft.com/office/drawing/2014/main" id="{CD027A79-59D3-419D-9B37-859BD459A6B9}"/>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02</a:t>
            </a:r>
          </a:p>
        </p:txBody>
      </p:sp>
      <p:sp>
        <p:nvSpPr>
          <p:cNvPr id="18" name="">
            <a:extLst xmlns:a="http://schemas.openxmlformats.org/drawingml/2006/main">
              <a:ext uri="{FF2B5EF4-FFF2-40B4-BE49-F238E27FC236}">
                <a16:creationId xmlns:a16="http://schemas.microsoft.com/office/drawing/2014/main" id="{62645E06-53C7-4CBF-8AC9-A5D0E681B7C9}"/>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Real match image: Agencia Brasil / Wikimedia Commons CC BY 3.0</a:t>
            </a:r>
          </a:p>
        </p:txBody>
      </p:sp>
    </p:spTree>
    <p:extLst>
      <p:ext uri="{BB962C8B-B14F-4D97-AF65-F5344CB8AC3E}">
        <p14:creationId xmlns:p14="http://schemas.microsoft.com/office/powerpoint/2010/main" val="150884691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5E278B-E5FB-42BB-BB24-0F0D5919FA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30F"/>
          </a:solidFill>
          <a:ln xmlns:a="http://schemas.openxmlformats.org/drawingml/2006/main" w="14288">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1EA663E-22C3-4276-9E3A-AD2588437E12}"/>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3" name="kicker-label">
            <a:extLst xmlns:a="http://schemas.openxmlformats.org/drawingml/2006/main">
              <a:ext uri="{FF2B5EF4-FFF2-40B4-BE49-F238E27FC236}">
                <a16:creationId xmlns:a16="http://schemas.microsoft.com/office/drawing/2014/main" id="{24D1AD68-2751-4E52-B39C-B0DA688FA15D}"/>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4" name="">
            <a:extLst xmlns:a="http://schemas.openxmlformats.org/drawingml/2006/main">
              <a:ext uri="{FF2B5EF4-FFF2-40B4-BE49-F238E27FC236}">
                <a16:creationId xmlns:a16="http://schemas.microsoft.com/office/drawing/2014/main" id="{6D645F23-B4DC-4673-8289-6C3A2E116500}"/>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02:30</a:t>
            </a:r>
          </a:p>
        </p:txBody>
      </p:sp>
      <p:sp>
        <p:nvSpPr>
          <p:cNvPr id="5" name="">
            <a:extLst xmlns:a="http://schemas.openxmlformats.org/drawingml/2006/main">
              <a:ext uri="{FF2B5EF4-FFF2-40B4-BE49-F238E27FC236}">
                <a16:creationId xmlns:a16="http://schemas.microsoft.com/office/drawing/2014/main" id="{FD930B75-6E41-41AC-8DD8-76B0EC4C1705}"/>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The tutorial arc is a controlled forecast pipeline.</a:t>
            </a:r>
          </a:p>
        </p:txBody>
      </p:sp>
      <p:sp>
        <p:nvSpPr>
          <p:cNvPr id="6" name="">
            <a:extLst xmlns:a="http://schemas.openxmlformats.org/drawingml/2006/main">
              <a:ext uri="{FF2B5EF4-FFF2-40B4-BE49-F238E27FC236}">
                <a16:creationId xmlns:a16="http://schemas.microsoft.com/office/drawing/2014/main" id="{1D697FC7-4C84-4210-B1C8-A48929D41D4E}"/>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A natural-language question becomes a validated, cited, reproducible simulation result.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fefd41832ca41ae"/>
          <a:srcRect xmlns:a="http://schemas.openxmlformats.org/drawingml/2006/main" l="0" t="85" r="0" b="85"/>
          <a:stretch xmlns:a="http://schemas.openxmlformats.org/drawingml/2006/main">
            <a:fillRect l="0" t="0" r="0" b="0"/>
          </a:stretch>
        </p:blipFill>
        <p:spPr>
          <a:xfrm xmlns:a="http://schemas.openxmlformats.org/drawingml/2006/main">
            <a:off x="6191250" y="1200150"/>
            <a:ext cx="4953000" cy="2781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27BE0AB-09FE-4079-8B3B-8C0738385F3B}"/>
              </a:ext>
            </a:extLst>
          </p:cNvPr>
          <p:cNvSpPr>
            <a:spLocks xmlns:a="http://schemas.openxmlformats.org/drawingml/2006/main" noGrp="1"/>
          </p:cNvSpPr>
          <p:nvPr/>
        </p:nvSpPr>
        <p:spPr>
          <a:xfrm xmlns:a="http://schemas.openxmlformats.org/drawingml/2006/main">
            <a:off x="742950" y="4476750"/>
            <a:ext cx="1676400" cy="1047750"/>
          </a:xfrm>
          <a:prstGeom xmlns:a="http://schemas.openxmlformats.org/drawingml/2006/main" prst="rect">
            <a:avLst/>
          </a:prstGeom>
          <a:solidFill xmlns:a="http://schemas.openxmlformats.org/drawingml/2006/main">
            <a:srgbClr val="0F2219"/>
          </a:solidFill>
          <a:ln xmlns:a="http://schemas.openxmlformats.org/drawingml/2006/main" w="14288">
            <a:solidFill>
              <a:srgbClr val="5EE39A"/>
            </a:solidFill>
            <a:prstDash val="solid"/>
          </a:ln>
        </p:spPr>
      </p:sp>
      <p:sp>
        <p:nvSpPr>
          <p:cNvPr id="9" name="">
            <a:extLst xmlns:a="http://schemas.openxmlformats.org/drawingml/2006/main">
              <a:ext uri="{FF2B5EF4-FFF2-40B4-BE49-F238E27FC236}">
                <a16:creationId xmlns:a16="http://schemas.microsoft.com/office/drawing/2014/main" id="{8C5EBFCD-1E88-4B8E-B9E1-FDF91B1E66B3}"/>
              </a:ext>
            </a:extLst>
          </p:cNvPr>
          <p:cNvSpPr>
            <a:spLocks xmlns:a="http://schemas.openxmlformats.org/drawingml/2006/main" noGrp="1"/>
          </p:cNvSpPr>
          <p:nvPr/>
        </p:nvSpPr>
        <p:spPr>
          <a:xfrm xmlns:a="http://schemas.openxmlformats.org/drawingml/2006/main">
            <a:off x="895350" y="4629150"/>
            <a:ext cx="304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5EE39A"/>
                </a:solidFill>
                <a:latin typeface="Aptos"/>
                <a:ea typeface="Aptos"/>
                <a:cs typeface="Aptos"/>
              </a:defRPr>
            </a:pPr>
            <a:r>
              <a:rPr sz="1800" b="1">
                <a:solidFill>
                  <a:srgbClr val="5EE39A"/>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CC99E988-2D01-4201-9B1C-FCF44D22D9B4}"/>
              </a:ext>
            </a:extLst>
          </p:cNvPr>
          <p:cNvSpPr>
            <a:spLocks xmlns:a="http://schemas.openxmlformats.org/drawingml/2006/main" noGrp="1"/>
          </p:cNvSpPr>
          <p:nvPr/>
        </p:nvSpPr>
        <p:spPr>
          <a:xfrm xmlns:a="http://schemas.openxmlformats.org/drawingml/2006/main">
            <a:off x="1257300" y="4648200"/>
            <a:ext cx="1047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6F1DF"/>
                </a:solidFill>
                <a:latin typeface="Aptos"/>
                <a:ea typeface="Aptos"/>
                <a:cs typeface="Aptos"/>
              </a:defRPr>
            </a:pPr>
            <a:r>
              <a:rPr sz="1575" b="1">
                <a:solidFill>
                  <a:srgbClr val="F6F1DF"/>
                </a:solidFill>
                <a:latin typeface="Aptos"/>
                <a:ea typeface="Aptos"/>
                <a:cs typeface="Aptos"/>
              </a:rPr>
              <a:t>Pre-flight</a:t>
            </a:r>
          </a:p>
        </p:txBody>
      </p:sp>
      <p:sp>
        <p:nvSpPr>
          <p:cNvPr id="11" name="">
            <a:extLst xmlns:a="http://schemas.openxmlformats.org/drawingml/2006/main">
              <a:ext uri="{FF2B5EF4-FFF2-40B4-BE49-F238E27FC236}">
                <a16:creationId xmlns:a16="http://schemas.microsoft.com/office/drawing/2014/main" id="{62040A91-FBE5-4924-B808-6A8372567091}"/>
              </a:ext>
            </a:extLst>
          </p:cNvPr>
          <p:cNvSpPr>
            <a:spLocks xmlns:a="http://schemas.openxmlformats.org/drawingml/2006/main" noGrp="1"/>
          </p:cNvSpPr>
          <p:nvPr/>
        </p:nvSpPr>
        <p:spPr>
          <a:xfrm xmlns:a="http://schemas.openxmlformats.org/drawingml/2006/main">
            <a:off x="914400" y="5048250"/>
            <a:ext cx="13144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B6C1AD"/>
                </a:solidFill>
                <a:latin typeface="Aptos"/>
                <a:ea typeface="Aptos"/>
                <a:cs typeface="Aptos"/>
              </a:defRPr>
            </a:pPr>
            <a:r>
              <a:rPr sz="1050" b="0">
                <a:solidFill>
                  <a:srgbClr val="B6C1AD"/>
                </a:solidFill>
                <a:latin typeface="Aptos"/>
                <a:ea typeface="Aptos"/>
                <a:cs typeface="Aptos"/>
              </a:rPr>
              <a:t>field + inputs</a:t>
            </a:r>
          </a:p>
        </p:txBody>
      </p:sp>
      <p:sp>
        <p:nvSpPr>
          <p:cNvPr id="12" name="">
            <a:extLst xmlns:a="http://schemas.openxmlformats.org/drawingml/2006/main">
              <a:ext uri="{FF2B5EF4-FFF2-40B4-BE49-F238E27FC236}">
                <a16:creationId xmlns:a16="http://schemas.microsoft.com/office/drawing/2014/main" id="{B8DE2E1A-6B18-4A9A-979F-23CDD028C456}"/>
              </a:ext>
            </a:extLst>
          </p:cNvPr>
          <p:cNvSpPr>
            <a:spLocks xmlns:a="http://schemas.openxmlformats.org/drawingml/2006/main" noGrp="1"/>
          </p:cNvSpPr>
          <p:nvPr/>
        </p:nvSpPr>
        <p:spPr>
          <a:xfrm xmlns:a="http://schemas.openxmlformats.org/drawingml/2006/main">
            <a:off x="2457450" y="4991100"/>
            <a:ext cx="400050" cy="28575"/>
          </a:xfrm>
          <a:prstGeom xmlns:a="http://schemas.openxmlformats.org/drawingml/2006/main" prst="rect">
            <a:avLst/>
          </a:prstGeom>
          <a:solidFill xmlns:a="http://schemas.openxmlformats.org/drawingml/2006/main">
            <a:srgbClr val="2C4A3B"/>
          </a:solidFill>
          <a:ln xmlns:a="http://schemas.openxmlformats.org/drawingml/2006/main" w="0">
            <a:solidFill>
              <a:srgbClr val="2C4A3B"/>
            </a:solidFill>
            <a:prstDash val="solid"/>
          </a:ln>
        </p:spPr>
      </p:sp>
      <p:sp>
        <p:nvSpPr>
          <p:cNvPr id="13" name="">
            <a:extLst xmlns:a="http://schemas.openxmlformats.org/drawingml/2006/main">
              <a:ext uri="{FF2B5EF4-FFF2-40B4-BE49-F238E27FC236}">
                <a16:creationId xmlns:a16="http://schemas.microsoft.com/office/drawing/2014/main" id="{8A51CC18-81F6-47A5-98AF-82A240060B4E}"/>
              </a:ext>
            </a:extLst>
          </p:cNvPr>
          <p:cNvSpPr>
            <a:spLocks xmlns:a="http://schemas.openxmlformats.org/drawingml/2006/main" noGrp="1"/>
          </p:cNvSpPr>
          <p:nvPr/>
        </p:nvSpPr>
        <p:spPr>
          <a:xfrm xmlns:a="http://schemas.openxmlformats.org/drawingml/2006/main">
            <a:off x="2895600" y="4476750"/>
            <a:ext cx="1676400" cy="1047750"/>
          </a:xfrm>
          <a:prstGeom xmlns:a="http://schemas.openxmlformats.org/drawingml/2006/main" prst="rect">
            <a:avLst/>
          </a:prstGeom>
          <a:solidFill xmlns:a="http://schemas.openxmlformats.org/drawingml/2006/main">
            <a:srgbClr val="0F2219"/>
          </a:solidFill>
          <a:ln xmlns:a="http://schemas.openxmlformats.org/drawingml/2006/main" w="14288">
            <a:solidFill>
              <a:srgbClr val="5EE39A"/>
            </a:solidFill>
            <a:prstDash val="solid"/>
          </a:ln>
        </p:spPr>
      </p:sp>
      <p:sp>
        <p:nvSpPr>
          <p:cNvPr id="14" name="">
            <a:extLst xmlns:a="http://schemas.openxmlformats.org/drawingml/2006/main">
              <a:ext uri="{FF2B5EF4-FFF2-40B4-BE49-F238E27FC236}">
                <a16:creationId xmlns:a16="http://schemas.microsoft.com/office/drawing/2014/main" id="{5A0DB411-866B-49E6-B0C8-FE8362FE69CD}"/>
              </a:ext>
            </a:extLst>
          </p:cNvPr>
          <p:cNvSpPr>
            <a:spLocks xmlns:a="http://schemas.openxmlformats.org/drawingml/2006/main" noGrp="1"/>
          </p:cNvSpPr>
          <p:nvPr/>
        </p:nvSpPr>
        <p:spPr>
          <a:xfrm xmlns:a="http://schemas.openxmlformats.org/drawingml/2006/main">
            <a:off x="3048000" y="4629150"/>
            <a:ext cx="304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5EE39A"/>
                </a:solidFill>
                <a:latin typeface="Aptos"/>
                <a:ea typeface="Aptos"/>
                <a:cs typeface="Aptos"/>
              </a:defRPr>
            </a:pPr>
            <a:r>
              <a:rPr sz="1800" b="1">
                <a:solidFill>
                  <a:srgbClr val="5EE39A"/>
                </a:solidFill>
                <a:latin typeface="Aptos"/>
                <a:ea typeface="Aptos"/>
                <a:cs typeface="Aptos"/>
              </a:rPr>
              <a:t>2</a:t>
            </a:r>
          </a:p>
        </p:txBody>
      </p:sp>
      <p:sp>
        <p:nvSpPr>
          <p:cNvPr id="15" name="">
            <a:extLst xmlns:a="http://schemas.openxmlformats.org/drawingml/2006/main">
              <a:ext uri="{FF2B5EF4-FFF2-40B4-BE49-F238E27FC236}">
                <a16:creationId xmlns:a16="http://schemas.microsoft.com/office/drawing/2014/main" id="{BCD03624-4CF6-42F5-8AAD-9954B81A3B7F}"/>
              </a:ext>
            </a:extLst>
          </p:cNvPr>
          <p:cNvSpPr>
            <a:spLocks xmlns:a="http://schemas.openxmlformats.org/drawingml/2006/main" noGrp="1"/>
          </p:cNvSpPr>
          <p:nvPr/>
        </p:nvSpPr>
        <p:spPr>
          <a:xfrm xmlns:a="http://schemas.openxmlformats.org/drawingml/2006/main">
            <a:off x="3409950" y="4648200"/>
            <a:ext cx="1047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6F1DF"/>
                </a:solidFill>
                <a:latin typeface="Aptos"/>
                <a:ea typeface="Aptos"/>
                <a:cs typeface="Aptos"/>
              </a:defRPr>
            </a:pPr>
            <a:r>
              <a:rPr sz="1575" b="1">
                <a:solidFill>
                  <a:srgbClr val="F6F1DF"/>
                </a:solidFill>
                <a:latin typeface="Aptos"/>
                <a:ea typeface="Aptos"/>
                <a:cs typeface="Aptos"/>
              </a:rPr>
              <a:t>Source index</a:t>
            </a:r>
          </a:p>
        </p:txBody>
      </p:sp>
      <p:sp>
        <p:nvSpPr>
          <p:cNvPr id="16" name="">
            <a:extLst xmlns:a="http://schemas.openxmlformats.org/drawingml/2006/main">
              <a:ext uri="{FF2B5EF4-FFF2-40B4-BE49-F238E27FC236}">
                <a16:creationId xmlns:a16="http://schemas.microsoft.com/office/drawing/2014/main" id="{23A9383C-2A35-4C28-81DF-CEF48AEAAB1B}"/>
              </a:ext>
            </a:extLst>
          </p:cNvPr>
          <p:cNvSpPr>
            <a:spLocks xmlns:a="http://schemas.openxmlformats.org/drawingml/2006/main" noGrp="1"/>
          </p:cNvSpPr>
          <p:nvPr/>
        </p:nvSpPr>
        <p:spPr>
          <a:xfrm xmlns:a="http://schemas.openxmlformats.org/drawingml/2006/main">
            <a:off x="3067050" y="5048250"/>
            <a:ext cx="13144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B6C1AD"/>
                </a:solidFill>
                <a:latin typeface="Aptos"/>
                <a:ea typeface="Aptos"/>
                <a:cs typeface="Aptos"/>
              </a:defRPr>
            </a:pPr>
            <a:r>
              <a:rPr sz="1050" b="0">
                <a:solidFill>
                  <a:srgbClr val="B6C1AD"/>
                </a:solidFill>
                <a:latin typeface="Aptos"/>
                <a:ea typeface="Aptos"/>
                <a:cs typeface="Aptos"/>
              </a:rPr>
              <a:t>evidence docs</a:t>
            </a:r>
          </a:p>
        </p:txBody>
      </p:sp>
      <p:sp>
        <p:nvSpPr>
          <p:cNvPr id="17" name="">
            <a:extLst xmlns:a="http://schemas.openxmlformats.org/drawingml/2006/main">
              <a:ext uri="{FF2B5EF4-FFF2-40B4-BE49-F238E27FC236}">
                <a16:creationId xmlns:a16="http://schemas.microsoft.com/office/drawing/2014/main" id="{4784BC12-D312-4D78-859C-58C8A8B3215C}"/>
              </a:ext>
            </a:extLst>
          </p:cNvPr>
          <p:cNvSpPr>
            <a:spLocks xmlns:a="http://schemas.openxmlformats.org/drawingml/2006/main" noGrp="1"/>
          </p:cNvSpPr>
          <p:nvPr/>
        </p:nvSpPr>
        <p:spPr>
          <a:xfrm xmlns:a="http://schemas.openxmlformats.org/drawingml/2006/main">
            <a:off x="4610100" y="4991100"/>
            <a:ext cx="400050" cy="28575"/>
          </a:xfrm>
          <a:prstGeom xmlns:a="http://schemas.openxmlformats.org/drawingml/2006/main" prst="rect">
            <a:avLst/>
          </a:prstGeom>
          <a:solidFill xmlns:a="http://schemas.openxmlformats.org/drawingml/2006/main">
            <a:srgbClr val="2C4A3B"/>
          </a:solidFill>
          <a:ln xmlns:a="http://schemas.openxmlformats.org/drawingml/2006/main" w="0">
            <a:solidFill>
              <a:srgbClr val="2C4A3B"/>
            </a:solidFill>
            <a:prstDash val="solid"/>
          </a:ln>
        </p:spPr>
      </p:sp>
      <p:sp>
        <p:nvSpPr>
          <p:cNvPr id="18" name="">
            <a:extLst xmlns:a="http://schemas.openxmlformats.org/drawingml/2006/main">
              <a:ext uri="{FF2B5EF4-FFF2-40B4-BE49-F238E27FC236}">
                <a16:creationId xmlns:a16="http://schemas.microsoft.com/office/drawing/2014/main" id="{5B2562BF-F158-4D3C-BD9A-C48642C4E711}"/>
              </a:ext>
            </a:extLst>
          </p:cNvPr>
          <p:cNvSpPr>
            <a:spLocks xmlns:a="http://schemas.openxmlformats.org/drawingml/2006/main" noGrp="1"/>
          </p:cNvSpPr>
          <p:nvPr/>
        </p:nvSpPr>
        <p:spPr>
          <a:xfrm xmlns:a="http://schemas.openxmlformats.org/drawingml/2006/main">
            <a:off x="5048250" y="4476750"/>
            <a:ext cx="1676400" cy="1047750"/>
          </a:xfrm>
          <a:prstGeom xmlns:a="http://schemas.openxmlformats.org/drawingml/2006/main" prst="rect">
            <a:avLst/>
          </a:prstGeom>
          <a:solidFill xmlns:a="http://schemas.openxmlformats.org/drawingml/2006/main">
            <a:srgbClr val="0F2219"/>
          </a:solidFill>
          <a:ln xmlns:a="http://schemas.openxmlformats.org/drawingml/2006/main" w="14288">
            <a:solidFill>
              <a:srgbClr val="7CC7FF"/>
            </a:solidFill>
            <a:prstDash val="solid"/>
          </a:ln>
        </p:spPr>
      </p:sp>
      <p:sp>
        <p:nvSpPr>
          <p:cNvPr id="19" name="">
            <a:extLst xmlns:a="http://schemas.openxmlformats.org/drawingml/2006/main">
              <a:ext uri="{FF2B5EF4-FFF2-40B4-BE49-F238E27FC236}">
                <a16:creationId xmlns:a16="http://schemas.microsoft.com/office/drawing/2014/main" id="{0CD27111-81C7-43AD-9D9A-AFB6C87307E2}"/>
              </a:ext>
            </a:extLst>
          </p:cNvPr>
          <p:cNvSpPr>
            <a:spLocks xmlns:a="http://schemas.openxmlformats.org/drawingml/2006/main" noGrp="1"/>
          </p:cNvSpPr>
          <p:nvPr/>
        </p:nvSpPr>
        <p:spPr>
          <a:xfrm xmlns:a="http://schemas.openxmlformats.org/drawingml/2006/main">
            <a:off x="5200650" y="4629150"/>
            <a:ext cx="304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7CC7FF"/>
                </a:solidFill>
                <a:latin typeface="Aptos"/>
                <a:ea typeface="Aptos"/>
                <a:cs typeface="Aptos"/>
              </a:defRPr>
            </a:pPr>
            <a:r>
              <a:rPr sz="1800" b="1">
                <a:solidFill>
                  <a:srgbClr val="7CC7FF"/>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E2D0DCA7-0F76-4972-9FAB-EDA1B8D689FB}"/>
              </a:ext>
            </a:extLst>
          </p:cNvPr>
          <p:cNvSpPr>
            <a:spLocks xmlns:a="http://schemas.openxmlformats.org/drawingml/2006/main" noGrp="1"/>
          </p:cNvSpPr>
          <p:nvPr/>
        </p:nvSpPr>
        <p:spPr>
          <a:xfrm xmlns:a="http://schemas.openxmlformats.org/drawingml/2006/main">
            <a:off x="5562600" y="4648200"/>
            <a:ext cx="1047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6F1DF"/>
                </a:solidFill>
                <a:latin typeface="Aptos"/>
                <a:ea typeface="Aptos"/>
                <a:cs typeface="Aptos"/>
              </a:defRPr>
            </a:pPr>
            <a:r>
              <a:rPr sz="1575" b="1">
                <a:solidFill>
                  <a:srgbClr val="F6F1DF"/>
                </a:solidFill>
                <a:latin typeface="Aptos"/>
                <a:ea typeface="Aptos"/>
                <a:cs typeface="Aptos"/>
              </a:rPr>
              <a:t>MCP tools</a:t>
            </a:r>
          </a:p>
        </p:txBody>
      </p:sp>
      <p:sp>
        <p:nvSpPr>
          <p:cNvPr id="21" name="">
            <a:extLst xmlns:a="http://schemas.openxmlformats.org/drawingml/2006/main">
              <a:ext uri="{FF2B5EF4-FFF2-40B4-BE49-F238E27FC236}">
                <a16:creationId xmlns:a16="http://schemas.microsoft.com/office/drawing/2014/main" id="{2C28CA99-5E6F-4826-9FEA-9447258A59DB}"/>
              </a:ext>
            </a:extLst>
          </p:cNvPr>
          <p:cNvSpPr>
            <a:spLocks xmlns:a="http://schemas.openxmlformats.org/drawingml/2006/main" noGrp="1"/>
          </p:cNvSpPr>
          <p:nvPr/>
        </p:nvSpPr>
        <p:spPr>
          <a:xfrm xmlns:a="http://schemas.openxmlformats.org/drawingml/2006/main">
            <a:off x="5219700" y="5048250"/>
            <a:ext cx="13144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B6C1AD"/>
                </a:solidFill>
                <a:latin typeface="Aptos"/>
                <a:ea typeface="Aptos"/>
                <a:cs typeface="Aptos"/>
              </a:defRPr>
            </a:pPr>
            <a:r>
              <a:rPr sz="1050" b="0">
                <a:solidFill>
                  <a:srgbClr val="B6C1AD"/>
                </a:solidFill>
                <a:latin typeface="Aptos"/>
                <a:ea typeface="Aptos"/>
                <a:cs typeface="Aptos"/>
              </a:rPr>
              <a:t>Python forecast</a:t>
            </a:r>
          </a:p>
        </p:txBody>
      </p:sp>
      <p:sp>
        <p:nvSpPr>
          <p:cNvPr id="22" name="">
            <a:extLst xmlns:a="http://schemas.openxmlformats.org/drawingml/2006/main">
              <a:ext uri="{FF2B5EF4-FFF2-40B4-BE49-F238E27FC236}">
                <a16:creationId xmlns:a16="http://schemas.microsoft.com/office/drawing/2014/main" id="{32A25A6C-0142-4CA2-9078-0696CE79B4A8}"/>
              </a:ext>
            </a:extLst>
          </p:cNvPr>
          <p:cNvSpPr>
            <a:spLocks xmlns:a="http://schemas.openxmlformats.org/drawingml/2006/main" noGrp="1"/>
          </p:cNvSpPr>
          <p:nvPr/>
        </p:nvSpPr>
        <p:spPr>
          <a:xfrm xmlns:a="http://schemas.openxmlformats.org/drawingml/2006/main">
            <a:off x="6762750" y="4991100"/>
            <a:ext cx="400050" cy="28575"/>
          </a:xfrm>
          <a:prstGeom xmlns:a="http://schemas.openxmlformats.org/drawingml/2006/main" prst="rect">
            <a:avLst/>
          </a:prstGeom>
          <a:solidFill xmlns:a="http://schemas.openxmlformats.org/drawingml/2006/main">
            <a:srgbClr val="2C4A3B"/>
          </a:solidFill>
          <a:ln xmlns:a="http://schemas.openxmlformats.org/drawingml/2006/main" w="0">
            <a:solidFill>
              <a:srgbClr val="2C4A3B"/>
            </a:solidFill>
            <a:prstDash val="solid"/>
          </a:ln>
        </p:spPr>
      </p:sp>
      <p:sp>
        <p:nvSpPr>
          <p:cNvPr id="23" name="">
            <a:extLst xmlns:a="http://schemas.openxmlformats.org/drawingml/2006/main">
              <a:ext uri="{FF2B5EF4-FFF2-40B4-BE49-F238E27FC236}">
                <a16:creationId xmlns:a16="http://schemas.microsoft.com/office/drawing/2014/main" id="{FBB524BA-B3BC-4C15-A9F9-519DEDC394F1}"/>
              </a:ext>
            </a:extLst>
          </p:cNvPr>
          <p:cNvSpPr>
            <a:spLocks xmlns:a="http://schemas.openxmlformats.org/drawingml/2006/main" noGrp="1"/>
          </p:cNvSpPr>
          <p:nvPr/>
        </p:nvSpPr>
        <p:spPr>
          <a:xfrm xmlns:a="http://schemas.openxmlformats.org/drawingml/2006/main">
            <a:off x="7200900" y="4476750"/>
            <a:ext cx="1676400" cy="1047750"/>
          </a:xfrm>
          <a:prstGeom xmlns:a="http://schemas.openxmlformats.org/drawingml/2006/main" prst="rect">
            <a:avLst/>
          </a:prstGeom>
          <a:solidFill xmlns:a="http://schemas.openxmlformats.org/drawingml/2006/main">
            <a:srgbClr val="0F2219"/>
          </a:solidFill>
          <a:ln xmlns:a="http://schemas.openxmlformats.org/drawingml/2006/main" w="14288">
            <a:solidFill>
              <a:srgbClr val="5EE39A"/>
            </a:solidFill>
            <a:prstDash val="solid"/>
          </a:ln>
        </p:spPr>
      </p:sp>
      <p:sp>
        <p:nvSpPr>
          <p:cNvPr id="24" name="">
            <a:extLst xmlns:a="http://schemas.openxmlformats.org/drawingml/2006/main">
              <a:ext uri="{FF2B5EF4-FFF2-40B4-BE49-F238E27FC236}">
                <a16:creationId xmlns:a16="http://schemas.microsoft.com/office/drawing/2014/main" id="{253A8C93-FF9D-43D4-A0D2-FFD64431EBB0}"/>
              </a:ext>
            </a:extLst>
          </p:cNvPr>
          <p:cNvSpPr>
            <a:spLocks xmlns:a="http://schemas.openxmlformats.org/drawingml/2006/main" noGrp="1"/>
          </p:cNvSpPr>
          <p:nvPr/>
        </p:nvSpPr>
        <p:spPr>
          <a:xfrm xmlns:a="http://schemas.openxmlformats.org/drawingml/2006/main">
            <a:off x="7353300" y="4629150"/>
            <a:ext cx="304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5EE39A"/>
                </a:solidFill>
                <a:latin typeface="Aptos"/>
                <a:ea typeface="Aptos"/>
                <a:cs typeface="Aptos"/>
              </a:defRPr>
            </a:pPr>
            <a:r>
              <a:rPr sz="1800" b="1">
                <a:solidFill>
                  <a:srgbClr val="5EE39A"/>
                </a:solidFill>
                <a:latin typeface="Aptos"/>
                <a:ea typeface="Aptos"/>
                <a:cs typeface="Aptos"/>
              </a:rPr>
              <a:t>4</a:t>
            </a:r>
          </a:p>
        </p:txBody>
      </p:sp>
      <p:sp>
        <p:nvSpPr>
          <p:cNvPr id="25" name="">
            <a:extLst xmlns:a="http://schemas.openxmlformats.org/drawingml/2006/main">
              <a:ext uri="{FF2B5EF4-FFF2-40B4-BE49-F238E27FC236}">
                <a16:creationId xmlns:a16="http://schemas.microsoft.com/office/drawing/2014/main" id="{6CADA4C7-8860-4ED3-BB81-EEFAF38DA150}"/>
              </a:ext>
            </a:extLst>
          </p:cNvPr>
          <p:cNvSpPr>
            <a:spLocks xmlns:a="http://schemas.openxmlformats.org/drawingml/2006/main" noGrp="1"/>
          </p:cNvSpPr>
          <p:nvPr/>
        </p:nvSpPr>
        <p:spPr>
          <a:xfrm xmlns:a="http://schemas.openxmlformats.org/drawingml/2006/main">
            <a:off x="7715250" y="4648200"/>
            <a:ext cx="1047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6F1DF"/>
                </a:solidFill>
                <a:latin typeface="Aptos"/>
                <a:ea typeface="Aptos"/>
                <a:cs typeface="Aptos"/>
              </a:defRPr>
            </a:pPr>
            <a:r>
              <a:rPr sz="1575" b="1">
                <a:solidFill>
                  <a:srgbClr val="F6F1DF"/>
                </a:solidFill>
                <a:latin typeface="Aptos"/>
                <a:ea typeface="Aptos"/>
                <a:cs typeface="Aptos"/>
              </a:rPr>
              <a:t>Claim verifier</a:t>
            </a:r>
          </a:p>
        </p:txBody>
      </p:sp>
      <p:sp>
        <p:nvSpPr>
          <p:cNvPr id="26" name="">
            <a:extLst xmlns:a="http://schemas.openxmlformats.org/drawingml/2006/main">
              <a:ext uri="{FF2B5EF4-FFF2-40B4-BE49-F238E27FC236}">
                <a16:creationId xmlns:a16="http://schemas.microsoft.com/office/drawing/2014/main" id="{66EABD18-87ED-4A36-AFC0-20C24F75D61C}"/>
              </a:ext>
            </a:extLst>
          </p:cNvPr>
          <p:cNvSpPr>
            <a:spLocks xmlns:a="http://schemas.openxmlformats.org/drawingml/2006/main" noGrp="1"/>
          </p:cNvSpPr>
          <p:nvPr/>
        </p:nvSpPr>
        <p:spPr>
          <a:xfrm xmlns:a="http://schemas.openxmlformats.org/drawingml/2006/main">
            <a:off x="7372350" y="5048250"/>
            <a:ext cx="13144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B6C1AD"/>
                </a:solidFill>
                <a:latin typeface="Aptos"/>
                <a:ea typeface="Aptos"/>
                <a:cs typeface="Aptos"/>
              </a:defRPr>
            </a:pPr>
            <a:r>
              <a:rPr sz="1050" b="0">
                <a:solidFill>
                  <a:srgbClr val="B6C1AD"/>
                </a:solidFill>
                <a:latin typeface="Aptos"/>
                <a:ea typeface="Aptos"/>
                <a:cs typeface="Aptos"/>
              </a:rPr>
              <a:t>typed support</a:t>
            </a:r>
          </a:p>
        </p:txBody>
      </p:sp>
      <p:sp>
        <p:nvSpPr>
          <p:cNvPr id="27" name="">
            <a:extLst xmlns:a="http://schemas.openxmlformats.org/drawingml/2006/main">
              <a:ext uri="{FF2B5EF4-FFF2-40B4-BE49-F238E27FC236}">
                <a16:creationId xmlns:a16="http://schemas.microsoft.com/office/drawing/2014/main" id="{0DD07816-A297-49DC-B9E9-B8CA705A5042}"/>
              </a:ext>
            </a:extLst>
          </p:cNvPr>
          <p:cNvSpPr>
            <a:spLocks xmlns:a="http://schemas.openxmlformats.org/drawingml/2006/main" noGrp="1"/>
          </p:cNvSpPr>
          <p:nvPr/>
        </p:nvSpPr>
        <p:spPr>
          <a:xfrm xmlns:a="http://schemas.openxmlformats.org/drawingml/2006/main">
            <a:off x="8915400" y="4991100"/>
            <a:ext cx="400050" cy="28575"/>
          </a:xfrm>
          <a:prstGeom xmlns:a="http://schemas.openxmlformats.org/drawingml/2006/main" prst="rect">
            <a:avLst/>
          </a:prstGeom>
          <a:solidFill xmlns:a="http://schemas.openxmlformats.org/drawingml/2006/main">
            <a:srgbClr val="2C4A3B"/>
          </a:solidFill>
          <a:ln xmlns:a="http://schemas.openxmlformats.org/drawingml/2006/main" w="0">
            <a:solidFill>
              <a:srgbClr val="2C4A3B"/>
            </a:solidFill>
            <a:prstDash val="solid"/>
          </a:ln>
        </p:spPr>
      </p:sp>
      <p:sp>
        <p:nvSpPr>
          <p:cNvPr id="28" name="">
            <a:extLst xmlns:a="http://schemas.openxmlformats.org/drawingml/2006/main">
              <a:ext uri="{FF2B5EF4-FFF2-40B4-BE49-F238E27FC236}">
                <a16:creationId xmlns:a16="http://schemas.microsoft.com/office/drawing/2014/main" id="{C49E27F7-0398-45CF-BA0F-963E1CEA559B}"/>
              </a:ext>
            </a:extLst>
          </p:cNvPr>
          <p:cNvSpPr>
            <a:spLocks xmlns:a="http://schemas.openxmlformats.org/drawingml/2006/main" noGrp="1"/>
          </p:cNvSpPr>
          <p:nvPr/>
        </p:nvSpPr>
        <p:spPr>
          <a:xfrm xmlns:a="http://schemas.openxmlformats.org/drawingml/2006/main">
            <a:off x="9353550" y="4476750"/>
            <a:ext cx="1676400" cy="1047750"/>
          </a:xfrm>
          <a:prstGeom xmlns:a="http://schemas.openxmlformats.org/drawingml/2006/main" prst="rect">
            <a:avLst/>
          </a:prstGeom>
          <a:solidFill xmlns:a="http://schemas.openxmlformats.org/drawingml/2006/main">
            <a:srgbClr val="0F2219"/>
          </a:solidFill>
          <a:ln xmlns:a="http://schemas.openxmlformats.org/drawingml/2006/main" w="14288">
            <a:solidFill>
              <a:srgbClr val="5EE39A"/>
            </a:solidFill>
            <a:prstDash val="solid"/>
          </a:ln>
        </p:spPr>
      </p:sp>
      <p:sp>
        <p:nvSpPr>
          <p:cNvPr id="29" name="">
            <a:extLst xmlns:a="http://schemas.openxmlformats.org/drawingml/2006/main">
              <a:ext uri="{FF2B5EF4-FFF2-40B4-BE49-F238E27FC236}">
                <a16:creationId xmlns:a16="http://schemas.microsoft.com/office/drawing/2014/main" id="{C83789D4-908D-4E64-B11D-073DCA39733F}"/>
              </a:ext>
            </a:extLst>
          </p:cNvPr>
          <p:cNvSpPr>
            <a:spLocks xmlns:a="http://schemas.openxmlformats.org/drawingml/2006/main" noGrp="1"/>
          </p:cNvSpPr>
          <p:nvPr/>
        </p:nvSpPr>
        <p:spPr>
          <a:xfrm xmlns:a="http://schemas.openxmlformats.org/drawingml/2006/main">
            <a:off x="9505950" y="4629150"/>
            <a:ext cx="304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5EE39A"/>
                </a:solidFill>
                <a:latin typeface="Aptos"/>
                <a:ea typeface="Aptos"/>
                <a:cs typeface="Aptos"/>
              </a:defRPr>
            </a:pPr>
            <a:r>
              <a:rPr sz="1800" b="1">
                <a:solidFill>
                  <a:srgbClr val="5EE39A"/>
                </a:solidFill>
                <a:latin typeface="Aptos"/>
                <a:ea typeface="Aptos"/>
                <a:cs typeface="Aptos"/>
              </a:rPr>
              <a:t>5</a:t>
            </a:r>
          </a:p>
        </p:txBody>
      </p:sp>
      <p:sp>
        <p:nvSpPr>
          <p:cNvPr id="30" name="">
            <a:extLst xmlns:a="http://schemas.openxmlformats.org/drawingml/2006/main">
              <a:ext uri="{FF2B5EF4-FFF2-40B4-BE49-F238E27FC236}">
                <a16:creationId xmlns:a16="http://schemas.microsoft.com/office/drawing/2014/main" id="{9C4851BD-EB76-40DB-A77C-2699071EDFEA}"/>
              </a:ext>
            </a:extLst>
          </p:cNvPr>
          <p:cNvSpPr>
            <a:spLocks xmlns:a="http://schemas.openxmlformats.org/drawingml/2006/main" noGrp="1"/>
          </p:cNvSpPr>
          <p:nvPr/>
        </p:nvSpPr>
        <p:spPr>
          <a:xfrm xmlns:a="http://schemas.openxmlformats.org/drawingml/2006/main">
            <a:off x="9867900" y="4648200"/>
            <a:ext cx="1047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6F1DF"/>
                </a:solidFill>
                <a:latin typeface="Aptos"/>
                <a:ea typeface="Aptos"/>
                <a:cs typeface="Aptos"/>
              </a:defRPr>
            </a:pPr>
            <a:r>
              <a:rPr sz="1575" b="1">
                <a:solidFill>
                  <a:srgbClr val="F6F1DF"/>
                </a:solidFill>
                <a:latin typeface="Aptos"/>
                <a:ea typeface="Aptos"/>
                <a:cs typeface="Aptos"/>
              </a:rPr>
              <a:t>Eval harness</a:t>
            </a:r>
          </a:p>
        </p:txBody>
      </p:sp>
      <p:sp>
        <p:nvSpPr>
          <p:cNvPr id="31" name="">
            <a:extLst xmlns:a="http://schemas.openxmlformats.org/drawingml/2006/main">
              <a:ext uri="{FF2B5EF4-FFF2-40B4-BE49-F238E27FC236}">
                <a16:creationId xmlns:a16="http://schemas.microsoft.com/office/drawing/2014/main" id="{2D1AD11B-4AC0-49B1-8B74-78690AB93DF0}"/>
              </a:ext>
            </a:extLst>
          </p:cNvPr>
          <p:cNvSpPr>
            <a:spLocks xmlns:a="http://schemas.openxmlformats.org/drawingml/2006/main" noGrp="1"/>
          </p:cNvSpPr>
          <p:nvPr/>
        </p:nvSpPr>
        <p:spPr>
          <a:xfrm xmlns:a="http://schemas.openxmlformats.org/drawingml/2006/main">
            <a:off x="9525000" y="5048250"/>
            <a:ext cx="13144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B6C1AD"/>
                </a:solidFill>
                <a:latin typeface="Aptos"/>
                <a:ea typeface="Aptos"/>
                <a:cs typeface="Aptos"/>
              </a:defRPr>
            </a:pPr>
            <a:r>
              <a:rPr sz="1050" b="0">
                <a:solidFill>
                  <a:srgbClr val="B6C1AD"/>
                </a:solidFill>
                <a:latin typeface="Aptos"/>
                <a:ea typeface="Aptos"/>
                <a:cs typeface="Aptos"/>
              </a:rPr>
              <a:t>quality gates</a:t>
            </a:r>
          </a:p>
        </p:txBody>
      </p:sp>
      <p:sp>
        <p:nvSpPr>
          <p:cNvPr id="32" name="">
            <a:extLst xmlns:a="http://schemas.openxmlformats.org/drawingml/2006/main">
              <a:ext uri="{FF2B5EF4-FFF2-40B4-BE49-F238E27FC236}">
                <a16:creationId xmlns:a16="http://schemas.microsoft.com/office/drawing/2014/main" id="{4BB11368-5220-4E5C-B260-EF57E65CDF0D}"/>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03</a:t>
            </a:r>
          </a:p>
        </p:txBody>
      </p:sp>
      <p:sp>
        <p:nvSpPr>
          <p:cNvPr id="33" name="">
            <a:extLst xmlns:a="http://schemas.openxmlformats.org/drawingml/2006/main">
              <a:ext uri="{FF2B5EF4-FFF2-40B4-BE49-F238E27FC236}">
                <a16:creationId xmlns:a16="http://schemas.microsoft.com/office/drawing/2014/main" id="{A72E7C11-50BB-44B6-8DA4-F1314E44B3C5}"/>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GIF and pipeline derived from Episode 2 README/docs</a:t>
            </a:r>
          </a:p>
        </p:txBody>
      </p:sp>
    </p:spTree>
    <p:extLst>
      <p:ext uri="{BB962C8B-B14F-4D97-AF65-F5344CB8AC3E}">
        <p14:creationId xmlns:p14="http://schemas.microsoft.com/office/powerpoint/2010/main" val="4910099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1BD270-2F36-4479-9894-DF149A93C9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018"/>
          </a:solidFill>
          <a:ln xmlns:a="http://schemas.openxmlformats.org/drawingml/2006/main" w="14288">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99E90C8-D321-4CCF-B46B-1E4B7829A30D}"/>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3" name="kicker-label">
            <a:extLst xmlns:a="http://schemas.openxmlformats.org/drawingml/2006/main">
              <a:ext uri="{FF2B5EF4-FFF2-40B4-BE49-F238E27FC236}">
                <a16:creationId xmlns:a16="http://schemas.microsoft.com/office/drawing/2014/main" id="{B98C7BCA-2304-4CAA-BE0E-31E7A4D38872}"/>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4" name="">
            <a:extLst xmlns:a="http://schemas.openxmlformats.org/drawingml/2006/main">
              <a:ext uri="{FF2B5EF4-FFF2-40B4-BE49-F238E27FC236}">
                <a16:creationId xmlns:a16="http://schemas.microsoft.com/office/drawing/2014/main" id="{20D5381A-0E91-40CB-B717-DE5EC9C1FAB6}"/>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04:00</a:t>
            </a:r>
          </a:p>
        </p:txBody>
      </p:sp>
      <p:sp>
        <p:nvSpPr>
          <p:cNvPr id="5" name="">
            <a:extLst xmlns:a="http://schemas.openxmlformats.org/drawingml/2006/main">
              <a:ext uri="{FF2B5EF4-FFF2-40B4-BE49-F238E27FC236}">
                <a16:creationId xmlns:a16="http://schemas.microsoft.com/office/drawing/2014/main" id="{B7ACD3F4-46FC-4D89-8A87-A8FA14198095}"/>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Forecast VAR separates narration from computation.</a:t>
            </a:r>
          </a:p>
        </p:txBody>
      </p:sp>
      <p:sp>
        <p:nvSpPr>
          <p:cNvPr id="6" name="">
            <a:extLst xmlns:a="http://schemas.openxmlformats.org/drawingml/2006/main">
              <a:ext uri="{FF2B5EF4-FFF2-40B4-BE49-F238E27FC236}">
                <a16:creationId xmlns:a16="http://schemas.microsoft.com/office/drawing/2014/main" id="{C3AE27CE-E780-4432-ADBF-35C4E05431AF}"/>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The agent is the presenter; the simulator is the stats department; MCP is the controlled phone line.</a:t>
            </a:r>
          </a:p>
        </p:txBody>
      </p:sp>
      <p:sp>
        <p:nvSpPr>
          <p:cNvPr id="7" name="">
            <a:extLst xmlns:a="http://schemas.openxmlformats.org/drawingml/2006/main">
              <a:ext uri="{FF2B5EF4-FFF2-40B4-BE49-F238E27FC236}">
                <a16:creationId xmlns:a16="http://schemas.microsoft.com/office/drawing/2014/main" id="{73FE70D0-262F-4624-B9B5-C51AE249DA65}"/>
              </a:ext>
            </a:extLst>
          </p:cNvPr>
          <p:cNvSpPr>
            <a:spLocks xmlns:a="http://schemas.openxmlformats.org/drawingml/2006/main" noGrp="1"/>
          </p:cNvSpPr>
          <p:nvPr/>
        </p:nvSpPr>
        <p:spPr>
          <a:xfrm xmlns:a="http://schemas.openxmlformats.org/drawingml/2006/main">
            <a:off x="819150" y="2152650"/>
            <a:ext cx="9810750" cy="419100"/>
          </a:xfrm>
          <a:prstGeom xmlns:a="http://schemas.openxmlformats.org/drawingml/2006/main" prst="rect">
            <a:avLst/>
          </a:prstGeom>
          <a:solidFill xmlns:a="http://schemas.openxmlformats.org/drawingml/2006/main">
            <a:srgbClr val="101720"/>
          </a:solidFill>
          <a:ln xmlns:a="http://schemas.openxmlformats.org/drawingml/2006/main" w="14288">
            <a:solidFill>
              <a:srgbClr val="7CC7FF"/>
            </a:solidFill>
            <a:prstDash val="solid"/>
          </a:ln>
        </p:spPr>
      </p:sp>
      <p:sp>
        <p:nvSpPr>
          <p:cNvPr id="8" name="">
            <a:extLst xmlns:a="http://schemas.openxmlformats.org/drawingml/2006/main">
              <a:ext uri="{FF2B5EF4-FFF2-40B4-BE49-F238E27FC236}">
                <a16:creationId xmlns:a16="http://schemas.microsoft.com/office/drawing/2014/main" id="{C4391553-F0E7-45CD-B7F5-879BB333BFD1}"/>
              </a:ext>
            </a:extLst>
          </p:cNvPr>
          <p:cNvSpPr>
            <a:spLocks xmlns:a="http://schemas.openxmlformats.org/drawingml/2006/main" noGrp="1"/>
          </p:cNvSpPr>
          <p:nvPr/>
        </p:nvSpPr>
        <p:spPr>
          <a:xfrm xmlns:a="http://schemas.openxmlformats.org/drawingml/2006/main">
            <a:off x="1066800" y="2238375"/>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7CC7FF"/>
                </a:solidFill>
                <a:latin typeface="Aptos"/>
                <a:ea typeface="Aptos"/>
                <a:cs typeface="Aptos"/>
              </a:defRPr>
            </a:pPr>
            <a:r>
              <a:rPr sz="1350" b="1">
                <a:solidFill>
                  <a:srgbClr val="7CC7FF"/>
                </a:solidFill>
                <a:latin typeface="Aptos"/>
                <a:ea typeface="Aptos"/>
                <a:cs typeface="Aptos"/>
              </a:rPr>
              <a:t>OpenAI agent path</a:t>
            </a:r>
          </a:p>
        </p:txBody>
      </p:sp>
      <p:sp>
        <p:nvSpPr>
          <p:cNvPr id="9" name="">
            <a:extLst xmlns:a="http://schemas.openxmlformats.org/drawingml/2006/main">
              <a:ext uri="{FF2B5EF4-FFF2-40B4-BE49-F238E27FC236}">
                <a16:creationId xmlns:a16="http://schemas.microsoft.com/office/drawing/2014/main" id="{A4819B0C-8B47-45E9-AB01-727935DD7A45}"/>
              </a:ext>
            </a:extLst>
          </p:cNvPr>
          <p:cNvSpPr>
            <a:spLocks xmlns:a="http://schemas.openxmlformats.org/drawingml/2006/main" noGrp="1"/>
          </p:cNvSpPr>
          <p:nvPr/>
        </p:nvSpPr>
        <p:spPr>
          <a:xfrm xmlns:a="http://schemas.openxmlformats.org/drawingml/2006/main">
            <a:off x="3429000" y="2257425"/>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6F1DF"/>
                </a:solidFill>
                <a:latin typeface="Aptos"/>
                <a:ea typeface="Aptos"/>
                <a:cs typeface="Aptos"/>
              </a:defRPr>
            </a:pPr>
            <a:r>
              <a:rPr sz="1275" b="0">
                <a:solidFill>
                  <a:srgbClr val="F6F1DF"/>
                </a:solidFill>
                <a:latin typeface="Aptos"/>
                <a:ea typeface="Aptos"/>
                <a:cs typeface="Aptos"/>
              </a:rPr>
              <a:t>routes prompt • selects skill • formats answer</a:t>
            </a:r>
          </a:p>
        </p:txBody>
      </p:sp>
      <p:sp>
        <p:nvSpPr>
          <p:cNvPr id="10" name="">
            <a:extLst xmlns:a="http://schemas.openxmlformats.org/drawingml/2006/main">
              <a:ext uri="{FF2B5EF4-FFF2-40B4-BE49-F238E27FC236}">
                <a16:creationId xmlns:a16="http://schemas.microsoft.com/office/drawing/2014/main" id="{5A68B01B-EFE5-4139-95CC-73A1AB5D9038}"/>
              </a:ext>
            </a:extLst>
          </p:cNvPr>
          <p:cNvSpPr>
            <a:spLocks xmlns:a="http://schemas.openxmlformats.org/drawingml/2006/main" noGrp="1"/>
          </p:cNvSpPr>
          <p:nvPr/>
        </p:nvSpPr>
        <p:spPr>
          <a:xfrm xmlns:a="http://schemas.openxmlformats.org/drawingml/2006/main">
            <a:off x="5600700" y="2581275"/>
            <a:ext cx="47625" cy="190500"/>
          </a:xfrm>
          <a:prstGeom xmlns:a="http://schemas.openxmlformats.org/drawingml/2006/main" prst="rect">
            <a:avLst/>
          </a:prstGeom>
          <a:solidFill xmlns:a="http://schemas.openxmlformats.org/drawingml/2006/main">
            <a:srgbClr val="7CC7FF"/>
          </a:solidFill>
          <a:ln xmlns:a="http://schemas.openxmlformats.org/drawingml/2006/main" w="14288">
            <a:solidFill>
              <a:srgbClr val="7CC7FF"/>
            </a:solidFill>
            <a:prstDash val="solid"/>
          </a:ln>
        </p:spPr>
      </p:sp>
      <p:sp>
        <p:nvSpPr>
          <p:cNvPr id="11" name="">
            <a:extLst xmlns:a="http://schemas.openxmlformats.org/drawingml/2006/main">
              <a:ext uri="{FF2B5EF4-FFF2-40B4-BE49-F238E27FC236}">
                <a16:creationId xmlns:a16="http://schemas.microsoft.com/office/drawing/2014/main" id="{91D062D4-96A6-4A09-9EF1-5908F8ADD76B}"/>
              </a:ext>
            </a:extLst>
          </p:cNvPr>
          <p:cNvSpPr>
            <a:spLocks xmlns:a="http://schemas.openxmlformats.org/drawingml/2006/main" noGrp="1"/>
          </p:cNvSpPr>
          <p:nvPr/>
        </p:nvSpPr>
        <p:spPr>
          <a:xfrm xmlns:a="http://schemas.openxmlformats.org/drawingml/2006/main">
            <a:off x="819150" y="2781300"/>
            <a:ext cx="9810750" cy="419100"/>
          </a:xfrm>
          <a:prstGeom xmlns:a="http://schemas.openxmlformats.org/drawingml/2006/main" prst="rect">
            <a:avLst/>
          </a:prstGeom>
          <a:solidFill xmlns:a="http://schemas.openxmlformats.org/drawingml/2006/main">
            <a:srgbClr val="101720"/>
          </a:solidFill>
          <a:ln xmlns:a="http://schemas.openxmlformats.org/drawingml/2006/main" w="14288">
            <a:solidFill>
              <a:srgbClr val="5EE39A"/>
            </a:solidFill>
            <a:prstDash val="solid"/>
          </a:ln>
        </p:spPr>
      </p:sp>
      <p:sp>
        <p:nvSpPr>
          <p:cNvPr id="12" name="">
            <a:extLst xmlns:a="http://schemas.openxmlformats.org/drawingml/2006/main">
              <a:ext uri="{FF2B5EF4-FFF2-40B4-BE49-F238E27FC236}">
                <a16:creationId xmlns:a16="http://schemas.microsoft.com/office/drawing/2014/main" id="{B9B774E4-76FC-4763-8692-57C50F93E2EC}"/>
              </a:ext>
            </a:extLst>
          </p:cNvPr>
          <p:cNvSpPr>
            <a:spLocks xmlns:a="http://schemas.openxmlformats.org/drawingml/2006/main" noGrp="1"/>
          </p:cNvSpPr>
          <p:nvPr/>
        </p:nvSpPr>
        <p:spPr>
          <a:xfrm xmlns:a="http://schemas.openxmlformats.org/drawingml/2006/main">
            <a:off x="1066800" y="2867025"/>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5EE39A"/>
                </a:solidFill>
                <a:latin typeface="Aptos"/>
                <a:ea typeface="Aptos"/>
                <a:cs typeface="Aptos"/>
              </a:defRPr>
            </a:pPr>
            <a:r>
              <a:rPr sz="1350" b="1">
                <a:solidFill>
                  <a:srgbClr val="5EE39A"/>
                </a:solidFill>
                <a:latin typeface="Aptos"/>
                <a:ea typeface="Aptos"/>
                <a:cs typeface="Aptos"/>
              </a:rPr>
              <a:t>MCP server</a:t>
            </a:r>
          </a:p>
        </p:txBody>
      </p:sp>
      <p:sp>
        <p:nvSpPr>
          <p:cNvPr id="13" name="">
            <a:extLst xmlns:a="http://schemas.openxmlformats.org/drawingml/2006/main">
              <a:ext uri="{FF2B5EF4-FFF2-40B4-BE49-F238E27FC236}">
                <a16:creationId xmlns:a16="http://schemas.microsoft.com/office/drawing/2014/main" id="{D95E7C4F-4EDD-4102-9478-AB7901500614}"/>
              </a:ext>
            </a:extLst>
          </p:cNvPr>
          <p:cNvSpPr>
            <a:spLocks xmlns:a="http://schemas.openxmlformats.org/drawingml/2006/main" noGrp="1"/>
          </p:cNvSpPr>
          <p:nvPr/>
        </p:nvSpPr>
        <p:spPr>
          <a:xfrm xmlns:a="http://schemas.openxmlformats.org/drawingml/2006/main">
            <a:off x="3429000" y="2886075"/>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6F1DF"/>
                </a:solidFill>
                <a:latin typeface="Aptos"/>
                <a:ea typeface="Aptos"/>
                <a:cs typeface="Aptos"/>
              </a:defRPr>
            </a:pPr>
            <a:r>
              <a:rPr sz="1275" b="0">
                <a:solidFill>
                  <a:srgbClr val="F6F1DF"/>
                </a:solidFill>
                <a:latin typeface="Aptos"/>
                <a:ea typeface="Aptos"/>
                <a:cs typeface="Aptos"/>
              </a:rPr>
              <a:t>read-only tool schemas • argument validation • structured outputs</a:t>
            </a:r>
          </a:p>
        </p:txBody>
      </p:sp>
      <p:sp>
        <p:nvSpPr>
          <p:cNvPr id="14" name="">
            <a:extLst xmlns:a="http://schemas.openxmlformats.org/drawingml/2006/main">
              <a:ext uri="{FF2B5EF4-FFF2-40B4-BE49-F238E27FC236}">
                <a16:creationId xmlns:a16="http://schemas.microsoft.com/office/drawing/2014/main" id="{8D0258FE-2395-4C6E-BFE1-74E88C6801DA}"/>
              </a:ext>
            </a:extLst>
          </p:cNvPr>
          <p:cNvSpPr>
            <a:spLocks xmlns:a="http://schemas.openxmlformats.org/drawingml/2006/main" noGrp="1"/>
          </p:cNvSpPr>
          <p:nvPr/>
        </p:nvSpPr>
        <p:spPr>
          <a:xfrm xmlns:a="http://schemas.openxmlformats.org/drawingml/2006/main">
            <a:off x="5600700" y="3209925"/>
            <a:ext cx="47625" cy="1905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15" name="">
            <a:extLst xmlns:a="http://schemas.openxmlformats.org/drawingml/2006/main">
              <a:ext uri="{FF2B5EF4-FFF2-40B4-BE49-F238E27FC236}">
                <a16:creationId xmlns:a16="http://schemas.microsoft.com/office/drawing/2014/main" id="{B9CF2D7B-1383-4145-AE6A-55AE88648476}"/>
              </a:ext>
            </a:extLst>
          </p:cNvPr>
          <p:cNvSpPr>
            <a:spLocks xmlns:a="http://schemas.openxmlformats.org/drawingml/2006/main" noGrp="1"/>
          </p:cNvSpPr>
          <p:nvPr/>
        </p:nvSpPr>
        <p:spPr>
          <a:xfrm xmlns:a="http://schemas.openxmlformats.org/drawingml/2006/main">
            <a:off x="819150" y="3409950"/>
            <a:ext cx="9810750" cy="419100"/>
          </a:xfrm>
          <a:prstGeom xmlns:a="http://schemas.openxmlformats.org/drawingml/2006/main" prst="rect">
            <a:avLst/>
          </a:prstGeom>
          <a:solidFill xmlns:a="http://schemas.openxmlformats.org/drawingml/2006/main">
            <a:srgbClr val="101720"/>
          </a:solidFill>
          <a:ln xmlns:a="http://schemas.openxmlformats.org/drawingml/2006/main" w="14288">
            <a:solidFill>
              <a:srgbClr val="FFD166"/>
            </a:solidFill>
            <a:prstDash val="solid"/>
          </a:ln>
        </p:spPr>
      </p:sp>
      <p:sp>
        <p:nvSpPr>
          <p:cNvPr id="16" name="">
            <a:extLst xmlns:a="http://schemas.openxmlformats.org/drawingml/2006/main">
              <a:ext uri="{FF2B5EF4-FFF2-40B4-BE49-F238E27FC236}">
                <a16:creationId xmlns:a16="http://schemas.microsoft.com/office/drawing/2014/main" id="{2F906B23-1C6E-4BB2-A0A0-C9A7A67CDE48}"/>
              </a:ext>
            </a:extLst>
          </p:cNvPr>
          <p:cNvSpPr>
            <a:spLocks xmlns:a="http://schemas.openxmlformats.org/drawingml/2006/main" noGrp="1"/>
          </p:cNvSpPr>
          <p:nvPr/>
        </p:nvSpPr>
        <p:spPr>
          <a:xfrm xmlns:a="http://schemas.openxmlformats.org/drawingml/2006/main">
            <a:off x="1066800" y="3495675"/>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D166"/>
                </a:solidFill>
                <a:latin typeface="Aptos"/>
                <a:ea typeface="Aptos"/>
                <a:cs typeface="Aptos"/>
              </a:defRPr>
            </a:pPr>
            <a:r>
              <a:rPr sz="1350" b="1">
                <a:solidFill>
                  <a:srgbClr val="FFD166"/>
                </a:solidFill>
                <a:latin typeface="Aptos"/>
                <a:ea typeface="Aptos"/>
                <a:cs typeface="Aptos"/>
              </a:rPr>
              <a:t>Python forecast tools</a:t>
            </a:r>
          </a:p>
        </p:txBody>
      </p:sp>
      <p:sp>
        <p:nvSpPr>
          <p:cNvPr id="17" name="">
            <a:extLst xmlns:a="http://schemas.openxmlformats.org/drawingml/2006/main">
              <a:ext uri="{FF2B5EF4-FFF2-40B4-BE49-F238E27FC236}">
                <a16:creationId xmlns:a16="http://schemas.microsoft.com/office/drawing/2014/main" id="{DB2F9EB9-5C71-4205-BB3D-1BFD5225F918}"/>
              </a:ext>
            </a:extLst>
          </p:cNvPr>
          <p:cNvSpPr>
            <a:spLocks xmlns:a="http://schemas.openxmlformats.org/drawingml/2006/main" noGrp="1"/>
          </p:cNvSpPr>
          <p:nvPr/>
        </p:nvSpPr>
        <p:spPr>
          <a:xfrm xmlns:a="http://schemas.openxmlformats.org/drawingml/2006/main">
            <a:off x="3429000" y="3514725"/>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6F1DF"/>
                </a:solidFill>
                <a:latin typeface="Aptos"/>
                <a:ea typeface="Aptos"/>
                <a:cs typeface="Aptos"/>
              </a:defRPr>
            </a:pPr>
            <a:r>
              <a:rPr sz="1275" b="0">
                <a:solidFill>
                  <a:srgbClr val="F6F1DF"/>
                </a:solidFill>
                <a:latin typeface="Aptos"/>
                <a:ea typeface="Aptos"/>
                <a:cs typeface="Aptos"/>
              </a:rPr>
              <a:t>match model • group sim • tournament sim • rolling state</a:t>
            </a:r>
          </a:p>
        </p:txBody>
      </p:sp>
      <p:sp>
        <p:nvSpPr>
          <p:cNvPr id="18" name="">
            <a:extLst xmlns:a="http://schemas.openxmlformats.org/drawingml/2006/main">
              <a:ext uri="{FF2B5EF4-FFF2-40B4-BE49-F238E27FC236}">
                <a16:creationId xmlns:a16="http://schemas.microsoft.com/office/drawing/2014/main" id="{8365A3B1-2CF4-4B75-A95E-886A07F4454B}"/>
              </a:ext>
            </a:extLst>
          </p:cNvPr>
          <p:cNvSpPr>
            <a:spLocks xmlns:a="http://schemas.openxmlformats.org/drawingml/2006/main" noGrp="1"/>
          </p:cNvSpPr>
          <p:nvPr/>
        </p:nvSpPr>
        <p:spPr>
          <a:xfrm xmlns:a="http://schemas.openxmlformats.org/drawingml/2006/main">
            <a:off x="5600700" y="3838575"/>
            <a:ext cx="47625" cy="190500"/>
          </a:xfrm>
          <a:prstGeom xmlns:a="http://schemas.openxmlformats.org/drawingml/2006/main" prst="rect">
            <a:avLst/>
          </a:prstGeom>
          <a:solidFill xmlns:a="http://schemas.openxmlformats.org/drawingml/2006/main">
            <a:srgbClr val="FFD166"/>
          </a:solidFill>
          <a:ln xmlns:a="http://schemas.openxmlformats.org/drawingml/2006/main" w="14288">
            <a:solidFill>
              <a:srgbClr val="FFD166"/>
            </a:solidFill>
            <a:prstDash val="solid"/>
          </a:ln>
        </p:spPr>
      </p:sp>
      <p:sp>
        <p:nvSpPr>
          <p:cNvPr id="19" name="">
            <a:extLst xmlns:a="http://schemas.openxmlformats.org/drawingml/2006/main">
              <a:ext uri="{FF2B5EF4-FFF2-40B4-BE49-F238E27FC236}">
                <a16:creationId xmlns:a16="http://schemas.microsoft.com/office/drawing/2014/main" id="{F841BEF3-2958-4D2D-A988-5B2A2696347D}"/>
              </a:ext>
            </a:extLst>
          </p:cNvPr>
          <p:cNvSpPr>
            <a:spLocks xmlns:a="http://schemas.openxmlformats.org/drawingml/2006/main" noGrp="1"/>
          </p:cNvSpPr>
          <p:nvPr/>
        </p:nvSpPr>
        <p:spPr>
          <a:xfrm xmlns:a="http://schemas.openxmlformats.org/drawingml/2006/main">
            <a:off x="819150" y="4038600"/>
            <a:ext cx="9810750" cy="419100"/>
          </a:xfrm>
          <a:prstGeom xmlns:a="http://schemas.openxmlformats.org/drawingml/2006/main" prst="rect">
            <a:avLst/>
          </a:prstGeom>
          <a:solidFill xmlns:a="http://schemas.openxmlformats.org/drawingml/2006/main">
            <a:srgbClr val="101720"/>
          </a:solidFill>
          <a:ln xmlns:a="http://schemas.openxmlformats.org/drawingml/2006/main" w="14288">
            <a:solidFill>
              <a:srgbClr val="B899FF"/>
            </a:solidFill>
            <a:prstDash val="solid"/>
          </a:ln>
        </p:spPr>
      </p:sp>
      <p:sp>
        <p:nvSpPr>
          <p:cNvPr id="20" name="">
            <a:extLst xmlns:a="http://schemas.openxmlformats.org/drawingml/2006/main">
              <a:ext uri="{FF2B5EF4-FFF2-40B4-BE49-F238E27FC236}">
                <a16:creationId xmlns:a16="http://schemas.microsoft.com/office/drawing/2014/main" id="{6C7DBA07-E2E3-4196-A4E5-DC8471346FDB}"/>
              </a:ext>
            </a:extLst>
          </p:cNvPr>
          <p:cNvSpPr>
            <a:spLocks xmlns:a="http://schemas.openxmlformats.org/drawingml/2006/main" noGrp="1"/>
          </p:cNvSpPr>
          <p:nvPr/>
        </p:nvSpPr>
        <p:spPr>
          <a:xfrm xmlns:a="http://schemas.openxmlformats.org/drawingml/2006/main">
            <a:off x="1066800" y="4124325"/>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899FF"/>
                </a:solidFill>
                <a:latin typeface="Aptos"/>
                <a:ea typeface="Aptos"/>
                <a:cs typeface="Aptos"/>
              </a:defRPr>
            </a:pPr>
            <a:r>
              <a:rPr sz="1350" b="1">
                <a:solidFill>
                  <a:srgbClr val="B899FF"/>
                </a:solidFill>
                <a:latin typeface="Aptos"/>
                <a:ea typeface="Aptos"/>
                <a:cs typeface="Aptos"/>
              </a:rPr>
              <a:t>Evidence layer</a:t>
            </a:r>
          </a:p>
        </p:txBody>
      </p:sp>
      <p:sp>
        <p:nvSpPr>
          <p:cNvPr id="21" name="">
            <a:extLst xmlns:a="http://schemas.openxmlformats.org/drawingml/2006/main">
              <a:ext uri="{FF2B5EF4-FFF2-40B4-BE49-F238E27FC236}">
                <a16:creationId xmlns:a16="http://schemas.microsoft.com/office/drawing/2014/main" id="{230C7544-CB92-4E13-ACEF-4E887FC14064}"/>
              </a:ext>
            </a:extLst>
          </p:cNvPr>
          <p:cNvSpPr>
            <a:spLocks xmlns:a="http://schemas.openxmlformats.org/drawingml/2006/main" noGrp="1"/>
          </p:cNvSpPr>
          <p:nvPr/>
        </p:nvSpPr>
        <p:spPr>
          <a:xfrm xmlns:a="http://schemas.openxmlformats.org/drawingml/2006/main">
            <a:off x="3429000" y="4143375"/>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6F1DF"/>
                </a:solidFill>
                <a:latin typeface="Aptos"/>
                <a:ea typeface="Aptos"/>
                <a:cs typeface="Aptos"/>
              </a:defRPr>
            </a:pPr>
            <a:r>
              <a:rPr sz="1275" b="0">
                <a:solidFill>
                  <a:srgbClr val="F6F1DF"/>
                </a:solidFill>
                <a:latin typeface="Aptos"/>
                <a:ea typeface="Aptos"/>
                <a:cs typeface="Aptos"/>
              </a:rPr>
              <a:t>source adapters • local index • citations • support labels</a:t>
            </a:r>
          </a:p>
        </p:txBody>
      </p:sp>
      <p:sp>
        <p:nvSpPr>
          <p:cNvPr id="22" name="">
            <a:extLst xmlns:a="http://schemas.openxmlformats.org/drawingml/2006/main">
              <a:ext uri="{FF2B5EF4-FFF2-40B4-BE49-F238E27FC236}">
                <a16:creationId xmlns:a16="http://schemas.microsoft.com/office/drawing/2014/main" id="{9E8657BB-C88A-4B2A-8DB2-6801CFB36A5F}"/>
              </a:ext>
            </a:extLst>
          </p:cNvPr>
          <p:cNvSpPr>
            <a:spLocks xmlns:a="http://schemas.openxmlformats.org/drawingml/2006/main" noGrp="1"/>
          </p:cNvSpPr>
          <p:nvPr/>
        </p:nvSpPr>
        <p:spPr>
          <a:xfrm xmlns:a="http://schemas.openxmlformats.org/drawingml/2006/main">
            <a:off x="5600700" y="4467225"/>
            <a:ext cx="47625" cy="190500"/>
          </a:xfrm>
          <a:prstGeom xmlns:a="http://schemas.openxmlformats.org/drawingml/2006/main" prst="rect">
            <a:avLst/>
          </a:prstGeom>
          <a:solidFill xmlns:a="http://schemas.openxmlformats.org/drawingml/2006/main">
            <a:srgbClr val="B899FF"/>
          </a:solidFill>
          <a:ln xmlns:a="http://schemas.openxmlformats.org/drawingml/2006/main" w="14288">
            <a:solidFill>
              <a:srgbClr val="B899FF"/>
            </a:solidFill>
            <a:prstDash val="solid"/>
          </a:ln>
        </p:spPr>
      </p:sp>
      <p:sp>
        <p:nvSpPr>
          <p:cNvPr id="23" name="">
            <a:extLst xmlns:a="http://schemas.openxmlformats.org/drawingml/2006/main">
              <a:ext uri="{FF2B5EF4-FFF2-40B4-BE49-F238E27FC236}">
                <a16:creationId xmlns:a16="http://schemas.microsoft.com/office/drawing/2014/main" id="{004EFE6C-A5F2-4ECA-96D8-FD55BC438E87}"/>
              </a:ext>
            </a:extLst>
          </p:cNvPr>
          <p:cNvSpPr>
            <a:spLocks xmlns:a="http://schemas.openxmlformats.org/drawingml/2006/main" noGrp="1"/>
          </p:cNvSpPr>
          <p:nvPr/>
        </p:nvSpPr>
        <p:spPr>
          <a:xfrm xmlns:a="http://schemas.openxmlformats.org/drawingml/2006/main">
            <a:off x="819150" y="4667250"/>
            <a:ext cx="9810750" cy="419100"/>
          </a:xfrm>
          <a:prstGeom xmlns:a="http://schemas.openxmlformats.org/drawingml/2006/main" prst="rect">
            <a:avLst/>
          </a:prstGeom>
          <a:solidFill xmlns:a="http://schemas.openxmlformats.org/drawingml/2006/main">
            <a:srgbClr val="101720"/>
          </a:solidFill>
          <a:ln xmlns:a="http://schemas.openxmlformats.org/drawingml/2006/main" w="14288">
            <a:solidFill>
              <a:srgbClr val="F45B69"/>
            </a:solidFill>
            <a:prstDash val="solid"/>
          </a:ln>
        </p:spPr>
      </p:sp>
      <p:sp>
        <p:nvSpPr>
          <p:cNvPr id="24" name="">
            <a:extLst xmlns:a="http://schemas.openxmlformats.org/drawingml/2006/main">
              <a:ext uri="{FF2B5EF4-FFF2-40B4-BE49-F238E27FC236}">
                <a16:creationId xmlns:a16="http://schemas.microsoft.com/office/drawing/2014/main" id="{5C1E1264-410C-41D4-8ED0-17533B153342}"/>
              </a:ext>
            </a:extLst>
          </p:cNvPr>
          <p:cNvSpPr>
            <a:spLocks xmlns:a="http://schemas.openxmlformats.org/drawingml/2006/main" noGrp="1"/>
          </p:cNvSpPr>
          <p:nvPr/>
        </p:nvSpPr>
        <p:spPr>
          <a:xfrm xmlns:a="http://schemas.openxmlformats.org/drawingml/2006/main">
            <a:off x="1066800" y="4752975"/>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5B69"/>
                </a:solidFill>
                <a:latin typeface="Aptos"/>
                <a:ea typeface="Aptos"/>
                <a:cs typeface="Aptos"/>
              </a:defRPr>
            </a:pPr>
            <a:r>
              <a:rPr sz="1350" b="1">
                <a:solidFill>
                  <a:srgbClr val="F45B69"/>
                </a:solidFill>
                <a:latin typeface="Aptos"/>
                <a:ea typeface="Aptos"/>
                <a:cs typeface="Aptos"/>
              </a:rPr>
              <a:t>Verifier + eval</a:t>
            </a:r>
          </a:p>
        </p:txBody>
      </p:sp>
      <p:sp>
        <p:nvSpPr>
          <p:cNvPr id="25" name="">
            <a:extLst xmlns:a="http://schemas.openxmlformats.org/drawingml/2006/main">
              <a:ext uri="{FF2B5EF4-FFF2-40B4-BE49-F238E27FC236}">
                <a16:creationId xmlns:a16="http://schemas.microsoft.com/office/drawing/2014/main" id="{90E3E9C4-670B-404C-9F99-D0562B535C16}"/>
              </a:ext>
            </a:extLst>
          </p:cNvPr>
          <p:cNvSpPr>
            <a:spLocks xmlns:a="http://schemas.openxmlformats.org/drawingml/2006/main" noGrp="1"/>
          </p:cNvSpPr>
          <p:nvPr/>
        </p:nvSpPr>
        <p:spPr>
          <a:xfrm xmlns:a="http://schemas.openxmlformats.org/drawingml/2006/main">
            <a:off x="3429000" y="4772025"/>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6F1DF"/>
                </a:solidFill>
                <a:latin typeface="Aptos"/>
                <a:ea typeface="Aptos"/>
                <a:cs typeface="Aptos"/>
              </a:defRPr>
            </a:pPr>
            <a:r>
              <a:rPr sz="1275" b="0">
                <a:solidFill>
                  <a:srgbClr val="F6F1DF"/>
                </a:solidFill>
                <a:latin typeface="Aptos"/>
                <a:ea typeface="Aptos"/>
                <a:cs typeface="Aptos"/>
              </a:rPr>
              <a:t>typed claims • unsupported-rate • pass/fail harness</a:t>
            </a:r>
          </a:p>
        </p:txBody>
      </p:sp>
      <p:sp>
        <p:nvSpPr>
          <p:cNvPr id="26" name="">
            <a:extLst xmlns:a="http://schemas.openxmlformats.org/drawingml/2006/main">
              <a:ext uri="{FF2B5EF4-FFF2-40B4-BE49-F238E27FC236}">
                <a16:creationId xmlns:a16="http://schemas.microsoft.com/office/drawing/2014/main" id="{CD823FE9-4CF7-4D7A-9D11-FF5B69FFC685}"/>
              </a:ext>
            </a:extLst>
          </p:cNvPr>
          <p:cNvSpPr>
            <a:spLocks xmlns:a="http://schemas.openxmlformats.org/drawingml/2006/main" noGrp="1"/>
          </p:cNvSpPr>
          <p:nvPr/>
        </p:nvSpPr>
        <p:spPr>
          <a:xfrm xmlns:a="http://schemas.openxmlformats.org/drawingml/2006/main">
            <a:off x="838200" y="5657850"/>
            <a:ext cx="11239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Design rule</a:t>
            </a:r>
          </a:p>
        </p:txBody>
      </p:sp>
      <p:sp>
        <p:nvSpPr>
          <p:cNvPr id="27" name="">
            <a:extLst xmlns:a="http://schemas.openxmlformats.org/drawingml/2006/main">
              <a:ext uri="{FF2B5EF4-FFF2-40B4-BE49-F238E27FC236}">
                <a16:creationId xmlns:a16="http://schemas.microsoft.com/office/drawing/2014/main" id="{B27E8F84-FEF7-4D05-8767-26A09565FE83}"/>
              </a:ext>
            </a:extLst>
          </p:cNvPr>
          <p:cNvSpPr>
            <a:spLocks xmlns:a="http://schemas.openxmlformats.org/drawingml/2006/main" noGrp="1"/>
          </p:cNvSpPr>
          <p:nvPr/>
        </p:nvSpPr>
        <p:spPr>
          <a:xfrm xmlns:a="http://schemas.openxmlformats.org/drawingml/2006/main">
            <a:off x="2324100" y="5657850"/>
            <a:ext cx="7429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F6F1DF"/>
                </a:solidFill>
                <a:latin typeface="Aptos"/>
                <a:ea typeface="Aptos"/>
                <a:cs typeface="Aptos"/>
              </a:defRPr>
            </a:pPr>
            <a:r>
              <a:rPr sz="1425" b="0">
                <a:solidFill>
                  <a:srgbClr val="F6F1DF"/>
                </a:solidFill>
                <a:latin typeface="Aptos"/>
                <a:ea typeface="Aptos"/>
                <a:cs typeface="Aptos"/>
              </a:rPr>
              <a:t>LLM prose can vary. Tool probabilities must be reproducible from code, inputs, parameters, and seed.</a:t>
            </a:r>
          </a:p>
        </p:txBody>
      </p:sp>
      <p:sp>
        <p:nvSpPr>
          <p:cNvPr id="28" name="">
            <a:extLst xmlns:a="http://schemas.openxmlformats.org/drawingml/2006/main">
              <a:ext uri="{FF2B5EF4-FFF2-40B4-BE49-F238E27FC236}">
                <a16:creationId xmlns:a16="http://schemas.microsoft.com/office/drawing/2014/main" id="{EC99B195-B194-43DC-9BD5-AC0DAA4DA920}"/>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04</a:t>
            </a:r>
          </a:p>
        </p:txBody>
      </p:sp>
      <p:sp>
        <p:nvSpPr>
          <p:cNvPr id="29" name="">
            <a:extLst xmlns:a="http://schemas.openxmlformats.org/drawingml/2006/main">
              <a:ext uri="{FF2B5EF4-FFF2-40B4-BE49-F238E27FC236}">
                <a16:creationId xmlns:a16="http://schemas.microsoft.com/office/drawing/2014/main" id="{B4890862-F4AF-4138-BE5C-3F15254F5D10}"/>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Architecture from Episode 2 source-aware edition</a:t>
            </a:r>
          </a:p>
        </p:txBody>
      </p:sp>
    </p:spTree>
    <p:extLst>
      <p:ext uri="{BB962C8B-B14F-4D97-AF65-F5344CB8AC3E}">
        <p14:creationId xmlns:p14="http://schemas.microsoft.com/office/powerpoint/2010/main" val="160043525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58FC44-BE4F-47FA-8C67-7764FC8D9D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1180F"/>
          </a:solidFill>
          <a:ln xmlns:a="http://schemas.openxmlformats.org/drawingml/2006/main" w="14288">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C3518F6-F726-4B9A-B944-49DCBCF69216}"/>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3" name="kicker-label">
            <a:extLst xmlns:a="http://schemas.openxmlformats.org/drawingml/2006/main">
              <a:ext uri="{FF2B5EF4-FFF2-40B4-BE49-F238E27FC236}">
                <a16:creationId xmlns:a16="http://schemas.microsoft.com/office/drawing/2014/main" id="{7E149AB8-2ED9-4681-814E-15D604799DB3}"/>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4" name="">
            <a:extLst xmlns:a="http://schemas.openxmlformats.org/drawingml/2006/main">
              <a:ext uri="{FF2B5EF4-FFF2-40B4-BE49-F238E27FC236}">
                <a16:creationId xmlns:a16="http://schemas.microsoft.com/office/drawing/2014/main" id="{B84238F5-1926-4F13-A181-F9D170375C7E}"/>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06:00</a:t>
            </a:r>
          </a:p>
        </p:txBody>
      </p:sp>
      <p:sp>
        <p:nvSpPr>
          <p:cNvPr id="5" name="">
            <a:extLst xmlns:a="http://schemas.openxmlformats.org/drawingml/2006/main">
              <a:ext uri="{FF2B5EF4-FFF2-40B4-BE49-F238E27FC236}">
                <a16:creationId xmlns:a16="http://schemas.microsoft.com/office/drawing/2014/main" id="{499FA97D-DC93-46FF-B7C5-364A01FD07D0}"/>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Pre-flight blocks the most embarrassing class of forecast error.</a:t>
            </a:r>
          </a:p>
        </p:txBody>
      </p:sp>
      <p:sp>
        <p:nvSpPr>
          <p:cNvPr id="6" name="">
            <a:extLst xmlns:a="http://schemas.openxmlformats.org/drawingml/2006/main">
              <a:ext uri="{FF2B5EF4-FFF2-40B4-BE49-F238E27FC236}">
                <a16:creationId xmlns:a16="http://schemas.microsoft.com/office/drawing/2014/main" id="{A7A00C88-294E-4019-A39E-A7CD18768EE5}"/>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Before any prediction, the agent checks field size, feature coverage, source registry, and evidence readiness.</a:t>
            </a:r>
          </a:p>
        </p:txBody>
      </p:sp>
      <p:sp>
        <p:nvSpPr>
          <p:cNvPr id="7" name="">
            <a:extLst xmlns:a="http://schemas.openxmlformats.org/drawingml/2006/main">
              <a:ext uri="{FF2B5EF4-FFF2-40B4-BE49-F238E27FC236}">
                <a16:creationId xmlns:a16="http://schemas.microsoft.com/office/drawing/2014/main" id="{D8A10A15-E24F-4CED-B87A-CA95F0BF9573}"/>
              </a:ext>
            </a:extLst>
          </p:cNvPr>
          <p:cNvSpPr>
            <a:spLocks xmlns:a="http://schemas.openxmlformats.org/drawingml/2006/main" noGrp="1"/>
          </p:cNvSpPr>
          <p:nvPr/>
        </p:nvSpPr>
        <p:spPr>
          <a:xfrm xmlns:a="http://schemas.openxmlformats.org/drawingml/2006/main">
            <a:off x="742950" y="2247900"/>
            <a:ext cx="1752600" cy="1104900"/>
          </a:xfrm>
          <a:prstGeom xmlns:a="http://schemas.openxmlformats.org/drawingml/2006/main" prst="rect">
            <a:avLst/>
          </a:prstGeom>
          <a:solidFill xmlns:a="http://schemas.openxmlformats.org/drawingml/2006/main">
            <a:srgbClr val="101C16"/>
          </a:solidFill>
          <a:ln xmlns:a="http://schemas.openxmlformats.org/drawingml/2006/main" w="14288">
            <a:solidFill>
              <a:srgbClr val="5EE39A"/>
            </a:solidFill>
            <a:prstDash val="solid"/>
          </a:ln>
        </p:spPr>
      </p:sp>
      <p:sp>
        <p:nvSpPr>
          <p:cNvPr id="8" name="">
            <a:extLst xmlns:a="http://schemas.openxmlformats.org/drawingml/2006/main">
              <a:ext uri="{FF2B5EF4-FFF2-40B4-BE49-F238E27FC236}">
                <a16:creationId xmlns:a16="http://schemas.microsoft.com/office/drawing/2014/main" id="{29D6E43C-ABCF-40F2-8FF6-FC83E883BAE7}"/>
              </a:ext>
            </a:extLst>
          </p:cNvPr>
          <p:cNvSpPr>
            <a:spLocks xmlns:a="http://schemas.openxmlformats.org/drawingml/2006/main" noGrp="1"/>
          </p:cNvSpPr>
          <p:nvPr/>
        </p:nvSpPr>
        <p:spPr>
          <a:xfrm xmlns:a="http://schemas.openxmlformats.org/drawingml/2006/main">
            <a:off x="895350" y="2362200"/>
            <a:ext cx="14478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5EE39A"/>
                </a:solidFill>
                <a:latin typeface="Aptos"/>
                <a:ea typeface="Aptos"/>
                <a:cs typeface="Aptos"/>
              </a:defRPr>
            </a:pPr>
            <a:r>
              <a:rPr sz="2475" b="1">
                <a:solidFill>
                  <a:srgbClr val="5EE39A"/>
                </a:solidFill>
                <a:latin typeface="Aptos"/>
                <a:ea typeface="Aptos"/>
                <a:cs typeface="Aptos"/>
              </a:rPr>
              <a:t>12</a:t>
            </a:r>
          </a:p>
        </p:txBody>
      </p:sp>
      <p:sp>
        <p:nvSpPr>
          <p:cNvPr id="9" name="">
            <a:extLst xmlns:a="http://schemas.openxmlformats.org/drawingml/2006/main">
              <a:ext uri="{FF2B5EF4-FFF2-40B4-BE49-F238E27FC236}">
                <a16:creationId xmlns:a16="http://schemas.microsoft.com/office/drawing/2014/main" id="{8B0105CF-CE76-4D63-8D2D-219245AC9BF4}"/>
              </a:ext>
            </a:extLst>
          </p:cNvPr>
          <p:cNvSpPr>
            <a:spLocks xmlns:a="http://schemas.openxmlformats.org/drawingml/2006/main" noGrp="1"/>
          </p:cNvSpPr>
          <p:nvPr/>
        </p:nvSpPr>
        <p:spPr>
          <a:xfrm xmlns:a="http://schemas.openxmlformats.org/drawingml/2006/main">
            <a:off x="895350" y="278130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groups validated</a:t>
            </a:r>
          </a:p>
        </p:txBody>
      </p:sp>
      <p:sp>
        <p:nvSpPr>
          <p:cNvPr id="10" name="">
            <a:extLst xmlns:a="http://schemas.openxmlformats.org/drawingml/2006/main">
              <a:ext uri="{FF2B5EF4-FFF2-40B4-BE49-F238E27FC236}">
                <a16:creationId xmlns:a16="http://schemas.microsoft.com/office/drawing/2014/main" id="{22810DAA-902D-4BB2-94D5-D8D5132D1AAA}"/>
              </a:ext>
            </a:extLst>
          </p:cNvPr>
          <p:cNvSpPr>
            <a:spLocks xmlns:a="http://schemas.openxmlformats.org/drawingml/2006/main" noGrp="1"/>
          </p:cNvSpPr>
          <p:nvPr/>
        </p:nvSpPr>
        <p:spPr>
          <a:xfrm xmlns:a="http://schemas.openxmlformats.org/drawingml/2006/main">
            <a:off x="2876550" y="2247900"/>
            <a:ext cx="1752600" cy="1104900"/>
          </a:xfrm>
          <a:prstGeom xmlns:a="http://schemas.openxmlformats.org/drawingml/2006/main" prst="rect">
            <a:avLst/>
          </a:prstGeom>
          <a:solidFill xmlns:a="http://schemas.openxmlformats.org/drawingml/2006/main">
            <a:srgbClr val="101C16"/>
          </a:solidFill>
          <a:ln xmlns:a="http://schemas.openxmlformats.org/drawingml/2006/main" w="14288">
            <a:solidFill>
              <a:srgbClr val="7CC7FF"/>
            </a:solidFill>
            <a:prstDash val="solid"/>
          </a:ln>
        </p:spPr>
      </p:sp>
      <p:sp>
        <p:nvSpPr>
          <p:cNvPr id="11" name="">
            <a:extLst xmlns:a="http://schemas.openxmlformats.org/drawingml/2006/main">
              <a:ext uri="{FF2B5EF4-FFF2-40B4-BE49-F238E27FC236}">
                <a16:creationId xmlns:a16="http://schemas.microsoft.com/office/drawing/2014/main" id="{F0221634-327B-48EA-AFC7-1681F7FDA8FB}"/>
              </a:ext>
            </a:extLst>
          </p:cNvPr>
          <p:cNvSpPr>
            <a:spLocks xmlns:a="http://schemas.openxmlformats.org/drawingml/2006/main" noGrp="1"/>
          </p:cNvSpPr>
          <p:nvPr/>
        </p:nvSpPr>
        <p:spPr>
          <a:xfrm xmlns:a="http://schemas.openxmlformats.org/drawingml/2006/main">
            <a:off x="3028950" y="2362200"/>
            <a:ext cx="14478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7CC7FF"/>
                </a:solidFill>
                <a:latin typeface="Aptos"/>
                <a:ea typeface="Aptos"/>
                <a:cs typeface="Aptos"/>
              </a:defRPr>
            </a:pPr>
            <a:r>
              <a:rPr sz="2475" b="1">
                <a:solidFill>
                  <a:srgbClr val="7CC7FF"/>
                </a:solidFill>
                <a:latin typeface="Aptos"/>
                <a:ea typeface="Aptos"/>
                <a:cs typeface="Aptos"/>
              </a:rPr>
              <a:t>48</a:t>
            </a:r>
          </a:p>
        </p:txBody>
      </p:sp>
      <p:sp>
        <p:nvSpPr>
          <p:cNvPr id="12" name="">
            <a:extLst xmlns:a="http://schemas.openxmlformats.org/drawingml/2006/main">
              <a:ext uri="{FF2B5EF4-FFF2-40B4-BE49-F238E27FC236}">
                <a16:creationId xmlns:a16="http://schemas.microsoft.com/office/drawing/2014/main" id="{613BBE48-C262-477A-92E7-854E14CC6F00}"/>
              </a:ext>
            </a:extLst>
          </p:cNvPr>
          <p:cNvSpPr>
            <a:spLocks xmlns:a="http://schemas.openxmlformats.org/drawingml/2006/main" noGrp="1"/>
          </p:cNvSpPr>
          <p:nvPr/>
        </p:nvSpPr>
        <p:spPr>
          <a:xfrm xmlns:a="http://schemas.openxmlformats.org/drawingml/2006/main">
            <a:off x="3028950" y="278130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teams in field</a:t>
            </a:r>
          </a:p>
        </p:txBody>
      </p:sp>
      <p:sp>
        <p:nvSpPr>
          <p:cNvPr id="13" name="">
            <a:extLst xmlns:a="http://schemas.openxmlformats.org/drawingml/2006/main">
              <a:ext uri="{FF2B5EF4-FFF2-40B4-BE49-F238E27FC236}">
                <a16:creationId xmlns:a16="http://schemas.microsoft.com/office/drawing/2014/main" id="{163680FA-3C9D-40C6-95CC-9AE9D14A0466}"/>
              </a:ext>
            </a:extLst>
          </p:cNvPr>
          <p:cNvSpPr>
            <a:spLocks xmlns:a="http://schemas.openxmlformats.org/drawingml/2006/main" noGrp="1"/>
          </p:cNvSpPr>
          <p:nvPr/>
        </p:nvSpPr>
        <p:spPr>
          <a:xfrm xmlns:a="http://schemas.openxmlformats.org/drawingml/2006/main">
            <a:off x="5010150" y="2247900"/>
            <a:ext cx="1752600" cy="1104900"/>
          </a:xfrm>
          <a:prstGeom xmlns:a="http://schemas.openxmlformats.org/drawingml/2006/main" prst="rect">
            <a:avLst/>
          </a:prstGeom>
          <a:solidFill xmlns:a="http://schemas.openxmlformats.org/drawingml/2006/main">
            <a:srgbClr val="101C16"/>
          </a:solidFill>
          <a:ln xmlns:a="http://schemas.openxmlformats.org/drawingml/2006/main" w="14288">
            <a:solidFill>
              <a:srgbClr val="FFD166"/>
            </a:solidFill>
            <a:prstDash val="solid"/>
          </a:ln>
        </p:spPr>
      </p:sp>
      <p:sp>
        <p:nvSpPr>
          <p:cNvPr id="14" name="">
            <a:extLst xmlns:a="http://schemas.openxmlformats.org/drawingml/2006/main">
              <a:ext uri="{FF2B5EF4-FFF2-40B4-BE49-F238E27FC236}">
                <a16:creationId xmlns:a16="http://schemas.microsoft.com/office/drawing/2014/main" id="{CA6C3105-8334-4DA6-99B1-0ED673C7D158}"/>
              </a:ext>
            </a:extLst>
          </p:cNvPr>
          <p:cNvSpPr>
            <a:spLocks xmlns:a="http://schemas.openxmlformats.org/drawingml/2006/main" noGrp="1"/>
          </p:cNvSpPr>
          <p:nvPr/>
        </p:nvSpPr>
        <p:spPr>
          <a:xfrm xmlns:a="http://schemas.openxmlformats.org/drawingml/2006/main">
            <a:off x="5162550" y="2362200"/>
            <a:ext cx="14478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FFD166"/>
                </a:solidFill>
                <a:latin typeface="Aptos"/>
                <a:ea typeface="Aptos"/>
                <a:cs typeface="Aptos"/>
              </a:defRPr>
            </a:pPr>
            <a:r>
              <a:rPr sz="2475" b="1">
                <a:solidFill>
                  <a:srgbClr val="FFD166"/>
                </a:solidFill>
                <a:latin typeface="Aptos"/>
                <a:ea typeface="Aptos"/>
                <a:cs typeface="Aptos"/>
              </a:rPr>
              <a:t>48</a:t>
            </a:r>
          </a:p>
        </p:txBody>
      </p:sp>
      <p:sp>
        <p:nvSpPr>
          <p:cNvPr id="15" name="">
            <a:extLst xmlns:a="http://schemas.openxmlformats.org/drawingml/2006/main">
              <a:ext uri="{FF2B5EF4-FFF2-40B4-BE49-F238E27FC236}">
                <a16:creationId xmlns:a16="http://schemas.microsoft.com/office/drawing/2014/main" id="{CE060653-3BA9-4BC8-80E5-1EE98F57FE81}"/>
              </a:ext>
            </a:extLst>
          </p:cNvPr>
          <p:cNvSpPr>
            <a:spLocks xmlns:a="http://schemas.openxmlformats.org/drawingml/2006/main" noGrp="1"/>
          </p:cNvSpPr>
          <p:nvPr/>
        </p:nvSpPr>
        <p:spPr>
          <a:xfrm xmlns:a="http://schemas.openxmlformats.org/drawingml/2006/main">
            <a:off x="5162550" y="278130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feature rows</a:t>
            </a:r>
          </a:p>
        </p:txBody>
      </p:sp>
      <p:sp>
        <p:nvSpPr>
          <p:cNvPr id="16" name="">
            <a:extLst xmlns:a="http://schemas.openxmlformats.org/drawingml/2006/main">
              <a:ext uri="{FF2B5EF4-FFF2-40B4-BE49-F238E27FC236}">
                <a16:creationId xmlns:a16="http://schemas.microsoft.com/office/drawing/2014/main" id="{671B46DF-ED82-495F-B586-9BD6DE0503FC}"/>
              </a:ext>
            </a:extLst>
          </p:cNvPr>
          <p:cNvSpPr>
            <a:spLocks xmlns:a="http://schemas.openxmlformats.org/drawingml/2006/main" noGrp="1"/>
          </p:cNvSpPr>
          <p:nvPr/>
        </p:nvSpPr>
        <p:spPr>
          <a:xfrm xmlns:a="http://schemas.openxmlformats.org/drawingml/2006/main">
            <a:off x="7143750" y="2247900"/>
            <a:ext cx="1752600" cy="1104900"/>
          </a:xfrm>
          <a:prstGeom xmlns:a="http://schemas.openxmlformats.org/drawingml/2006/main" prst="rect">
            <a:avLst/>
          </a:prstGeom>
          <a:solidFill xmlns:a="http://schemas.openxmlformats.org/drawingml/2006/main">
            <a:srgbClr val="101C16"/>
          </a:solidFill>
          <a:ln xmlns:a="http://schemas.openxmlformats.org/drawingml/2006/main" w="14288">
            <a:solidFill>
              <a:srgbClr val="FF9F1C"/>
            </a:solidFill>
            <a:prstDash val="solid"/>
          </a:ln>
        </p:spPr>
      </p:sp>
      <p:sp>
        <p:nvSpPr>
          <p:cNvPr id="17" name="">
            <a:extLst xmlns:a="http://schemas.openxmlformats.org/drawingml/2006/main">
              <a:ext uri="{FF2B5EF4-FFF2-40B4-BE49-F238E27FC236}">
                <a16:creationId xmlns:a16="http://schemas.microsoft.com/office/drawing/2014/main" id="{82AAC41B-220A-497B-95D2-4015976B6A14}"/>
              </a:ext>
            </a:extLst>
          </p:cNvPr>
          <p:cNvSpPr>
            <a:spLocks xmlns:a="http://schemas.openxmlformats.org/drawingml/2006/main" noGrp="1"/>
          </p:cNvSpPr>
          <p:nvPr/>
        </p:nvSpPr>
        <p:spPr>
          <a:xfrm xmlns:a="http://schemas.openxmlformats.org/drawingml/2006/main">
            <a:off x="7296150" y="2362200"/>
            <a:ext cx="14478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FF9F1C"/>
                </a:solidFill>
                <a:latin typeface="Aptos"/>
                <a:ea typeface="Aptos"/>
                <a:cs typeface="Aptos"/>
              </a:defRPr>
            </a:pPr>
            <a:r>
              <a:rPr sz="2475" b="1">
                <a:solidFill>
                  <a:srgbClr val="FF9F1C"/>
                </a:solidFill>
                <a:latin typeface="Aptos"/>
                <a:ea typeface="Aptos"/>
                <a:cs typeface="Aptos"/>
              </a:rPr>
              <a:t>73</a:t>
            </a:r>
          </a:p>
        </p:txBody>
      </p:sp>
      <p:sp>
        <p:nvSpPr>
          <p:cNvPr id="18" name="">
            <a:extLst xmlns:a="http://schemas.openxmlformats.org/drawingml/2006/main">
              <a:ext uri="{FF2B5EF4-FFF2-40B4-BE49-F238E27FC236}">
                <a16:creationId xmlns:a16="http://schemas.microsoft.com/office/drawing/2014/main" id="{265E9090-F4EB-44AA-BA78-AD882BFCCEF3}"/>
              </a:ext>
            </a:extLst>
          </p:cNvPr>
          <p:cNvSpPr>
            <a:spLocks xmlns:a="http://schemas.openxmlformats.org/drawingml/2006/main" noGrp="1"/>
          </p:cNvSpPr>
          <p:nvPr/>
        </p:nvSpPr>
        <p:spPr>
          <a:xfrm xmlns:a="http://schemas.openxmlformats.org/drawingml/2006/main">
            <a:off x="7296150" y="278130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evidence docs</a:t>
            </a:r>
          </a:p>
        </p:txBody>
      </p:sp>
      <p:sp>
        <p:nvSpPr>
          <p:cNvPr id="19" name="">
            <a:extLst xmlns:a="http://schemas.openxmlformats.org/drawingml/2006/main">
              <a:ext uri="{FF2B5EF4-FFF2-40B4-BE49-F238E27FC236}">
                <a16:creationId xmlns:a16="http://schemas.microsoft.com/office/drawing/2014/main" id="{3756D6DD-BD69-4A65-8100-8EDA3CECA9FD}"/>
              </a:ext>
            </a:extLst>
          </p:cNvPr>
          <p:cNvSpPr>
            <a:spLocks xmlns:a="http://schemas.openxmlformats.org/drawingml/2006/main" noGrp="1"/>
          </p:cNvSpPr>
          <p:nvPr/>
        </p:nvSpPr>
        <p:spPr>
          <a:xfrm xmlns:a="http://schemas.openxmlformats.org/drawingml/2006/main">
            <a:off x="9277350" y="2247900"/>
            <a:ext cx="1752600" cy="1104900"/>
          </a:xfrm>
          <a:prstGeom xmlns:a="http://schemas.openxmlformats.org/drawingml/2006/main" prst="rect">
            <a:avLst/>
          </a:prstGeom>
          <a:solidFill xmlns:a="http://schemas.openxmlformats.org/drawingml/2006/main">
            <a:srgbClr val="101C16"/>
          </a:solidFill>
          <a:ln xmlns:a="http://schemas.openxmlformats.org/drawingml/2006/main" w="14288">
            <a:solidFill>
              <a:srgbClr val="B899FF"/>
            </a:solidFill>
            <a:prstDash val="solid"/>
          </a:ln>
        </p:spPr>
      </p:sp>
      <p:sp>
        <p:nvSpPr>
          <p:cNvPr id="20" name="">
            <a:extLst xmlns:a="http://schemas.openxmlformats.org/drawingml/2006/main">
              <a:ext uri="{FF2B5EF4-FFF2-40B4-BE49-F238E27FC236}">
                <a16:creationId xmlns:a16="http://schemas.microsoft.com/office/drawing/2014/main" id="{E2B67946-C210-497D-9C71-FCA7C35392D3}"/>
              </a:ext>
            </a:extLst>
          </p:cNvPr>
          <p:cNvSpPr>
            <a:spLocks xmlns:a="http://schemas.openxmlformats.org/drawingml/2006/main" noGrp="1"/>
          </p:cNvSpPr>
          <p:nvPr/>
        </p:nvSpPr>
        <p:spPr>
          <a:xfrm xmlns:a="http://schemas.openxmlformats.org/drawingml/2006/main">
            <a:off x="9429750" y="2362200"/>
            <a:ext cx="14478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B899FF"/>
                </a:solidFill>
                <a:latin typeface="Aptos"/>
                <a:ea typeface="Aptos"/>
                <a:cs typeface="Aptos"/>
              </a:defRPr>
            </a:pPr>
            <a:r>
              <a:rPr sz="2475" b="1">
                <a:solidFill>
                  <a:srgbClr val="B899FF"/>
                </a:solidFill>
                <a:latin typeface="Aptos"/>
                <a:ea typeface="Aptos"/>
                <a:cs typeface="Aptos"/>
              </a:rPr>
              <a:t>0</a:t>
            </a:r>
          </a:p>
        </p:txBody>
      </p:sp>
      <p:sp>
        <p:nvSpPr>
          <p:cNvPr id="21" name="">
            <a:extLst xmlns:a="http://schemas.openxmlformats.org/drawingml/2006/main">
              <a:ext uri="{FF2B5EF4-FFF2-40B4-BE49-F238E27FC236}">
                <a16:creationId xmlns:a16="http://schemas.microsoft.com/office/drawing/2014/main" id="{C3960B51-A490-4477-9582-0183D032C58F}"/>
              </a:ext>
            </a:extLst>
          </p:cNvPr>
          <p:cNvSpPr>
            <a:spLocks xmlns:a="http://schemas.openxmlformats.org/drawingml/2006/main" noGrp="1"/>
          </p:cNvSpPr>
          <p:nvPr/>
        </p:nvSpPr>
        <p:spPr>
          <a:xfrm xmlns:a="http://schemas.openxmlformats.org/drawingml/2006/main">
            <a:off x="9429750" y="278130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missing teams</a:t>
            </a:r>
          </a:p>
        </p:txBody>
      </p:sp>
      <p:sp>
        <p:nvSpPr>
          <p:cNvPr id="22" name="">
            <a:extLst xmlns:a="http://schemas.openxmlformats.org/drawingml/2006/main">
              <a:ext uri="{FF2B5EF4-FFF2-40B4-BE49-F238E27FC236}">
                <a16:creationId xmlns:a16="http://schemas.microsoft.com/office/drawing/2014/main" id="{55F1020E-A861-47BB-8E83-F6BC814094CC}"/>
              </a:ext>
            </a:extLst>
          </p:cNvPr>
          <p:cNvSpPr>
            <a:spLocks xmlns:a="http://schemas.openxmlformats.org/drawingml/2006/main" noGrp="1"/>
          </p:cNvSpPr>
          <p:nvPr/>
        </p:nvSpPr>
        <p:spPr>
          <a:xfrm xmlns:a="http://schemas.openxmlformats.org/drawingml/2006/main">
            <a:off x="1095375" y="4057650"/>
            <a:ext cx="2095500" cy="819150"/>
          </a:xfrm>
          <a:prstGeom xmlns:a="http://schemas.openxmlformats.org/drawingml/2006/main" prst="rect">
            <a:avLst/>
          </a:prstGeom>
          <a:solidFill xmlns:a="http://schemas.openxmlformats.org/drawingml/2006/main">
            <a:srgbClr val="18130D"/>
          </a:solidFill>
          <a:ln xmlns:a="http://schemas.openxmlformats.org/drawingml/2006/main" w="14288">
            <a:solidFill>
              <a:srgbClr val="5EE39A"/>
            </a:solidFill>
            <a:prstDash val="solid"/>
          </a:ln>
        </p:spPr>
      </p:sp>
      <p:sp>
        <p:nvSpPr>
          <p:cNvPr id="23" name="">
            <a:extLst xmlns:a="http://schemas.openxmlformats.org/drawingml/2006/main">
              <a:ext uri="{FF2B5EF4-FFF2-40B4-BE49-F238E27FC236}">
                <a16:creationId xmlns:a16="http://schemas.microsoft.com/office/drawing/2014/main" id="{A309B4CC-A648-4497-A4D0-32FED10C45B0}"/>
              </a:ext>
            </a:extLst>
          </p:cNvPr>
          <p:cNvSpPr>
            <a:spLocks xmlns:a="http://schemas.openxmlformats.org/drawingml/2006/main" noGrp="1"/>
          </p:cNvSpPr>
          <p:nvPr/>
        </p:nvSpPr>
        <p:spPr>
          <a:xfrm xmlns:a="http://schemas.openxmlformats.org/drawingml/2006/main">
            <a:off x="1247775" y="4238625"/>
            <a:ext cx="1714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EE39A"/>
                </a:solidFill>
                <a:latin typeface="Aptos"/>
                <a:ea typeface="Aptos"/>
                <a:cs typeface="Aptos"/>
              </a:defRPr>
            </a:pPr>
            <a:r>
              <a:rPr sz="1500" b="1">
                <a:solidFill>
                  <a:srgbClr val="5EE39A"/>
                </a:solidFill>
                <a:latin typeface="Aptos"/>
                <a:ea typeface="Aptos"/>
                <a:cs typeface="Aptos"/>
              </a:rPr>
              <a:t>Tournament field</a:t>
            </a:r>
          </a:p>
        </p:txBody>
      </p:sp>
      <p:sp>
        <p:nvSpPr>
          <p:cNvPr id="24" name="">
            <a:extLst xmlns:a="http://schemas.openxmlformats.org/drawingml/2006/main">
              <a:ext uri="{FF2B5EF4-FFF2-40B4-BE49-F238E27FC236}">
                <a16:creationId xmlns:a16="http://schemas.microsoft.com/office/drawing/2014/main" id="{AEB0BD4B-A77E-4297-A258-281A54A08096}"/>
              </a:ext>
            </a:extLst>
          </p:cNvPr>
          <p:cNvSpPr>
            <a:spLocks xmlns:a="http://schemas.openxmlformats.org/drawingml/2006/main" noGrp="1"/>
          </p:cNvSpPr>
          <p:nvPr/>
        </p:nvSpPr>
        <p:spPr>
          <a:xfrm xmlns:a="http://schemas.openxmlformats.org/drawingml/2006/main">
            <a:off x="1247775" y="4562475"/>
            <a:ext cx="1619250" cy="219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valid 12 x 4 format</a:t>
            </a:r>
          </a:p>
        </p:txBody>
      </p:sp>
      <p:sp>
        <p:nvSpPr>
          <p:cNvPr id="25" name="">
            <a:extLst xmlns:a="http://schemas.openxmlformats.org/drawingml/2006/main">
              <a:ext uri="{FF2B5EF4-FFF2-40B4-BE49-F238E27FC236}">
                <a16:creationId xmlns:a16="http://schemas.microsoft.com/office/drawing/2014/main" id="{D5F7755A-2059-456A-B478-053FC22D0B96}"/>
              </a:ext>
            </a:extLst>
          </p:cNvPr>
          <p:cNvSpPr>
            <a:spLocks xmlns:a="http://schemas.openxmlformats.org/drawingml/2006/main" noGrp="1"/>
          </p:cNvSpPr>
          <p:nvPr/>
        </p:nvSpPr>
        <p:spPr>
          <a:xfrm xmlns:a="http://schemas.openxmlformats.org/drawingml/2006/main">
            <a:off x="3667125" y="4057650"/>
            <a:ext cx="2095500" cy="819150"/>
          </a:xfrm>
          <a:prstGeom xmlns:a="http://schemas.openxmlformats.org/drawingml/2006/main" prst="rect">
            <a:avLst/>
          </a:prstGeom>
          <a:solidFill xmlns:a="http://schemas.openxmlformats.org/drawingml/2006/main">
            <a:srgbClr val="18130D"/>
          </a:solidFill>
          <a:ln xmlns:a="http://schemas.openxmlformats.org/drawingml/2006/main" w="14288">
            <a:solidFill>
              <a:srgbClr val="5EE39A"/>
            </a:solidFill>
            <a:prstDash val="solid"/>
          </a:ln>
        </p:spPr>
      </p:sp>
      <p:sp>
        <p:nvSpPr>
          <p:cNvPr id="26" name="">
            <a:extLst xmlns:a="http://schemas.openxmlformats.org/drawingml/2006/main">
              <a:ext uri="{FF2B5EF4-FFF2-40B4-BE49-F238E27FC236}">
                <a16:creationId xmlns:a16="http://schemas.microsoft.com/office/drawing/2014/main" id="{B346DC24-21E9-4E3C-A54C-F71C4AE4CD29}"/>
              </a:ext>
            </a:extLst>
          </p:cNvPr>
          <p:cNvSpPr>
            <a:spLocks xmlns:a="http://schemas.openxmlformats.org/drawingml/2006/main" noGrp="1"/>
          </p:cNvSpPr>
          <p:nvPr/>
        </p:nvSpPr>
        <p:spPr>
          <a:xfrm xmlns:a="http://schemas.openxmlformats.org/drawingml/2006/main">
            <a:off x="3819525" y="4238625"/>
            <a:ext cx="1714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EE39A"/>
                </a:solidFill>
                <a:latin typeface="Aptos"/>
                <a:ea typeface="Aptos"/>
                <a:cs typeface="Aptos"/>
              </a:defRPr>
            </a:pPr>
            <a:r>
              <a:rPr sz="1500" b="1">
                <a:solidFill>
                  <a:srgbClr val="5EE39A"/>
                </a:solidFill>
                <a:latin typeface="Aptos"/>
                <a:ea typeface="Aptos"/>
                <a:cs typeface="Aptos"/>
              </a:rPr>
              <a:t>Feature table</a:t>
            </a:r>
          </a:p>
        </p:txBody>
      </p:sp>
      <p:sp>
        <p:nvSpPr>
          <p:cNvPr id="27" name="">
            <a:extLst xmlns:a="http://schemas.openxmlformats.org/drawingml/2006/main">
              <a:ext uri="{FF2B5EF4-FFF2-40B4-BE49-F238E27FC236}">
                <a16:creationId xmlns:a16="http://schemas.microsoft.com/office/drawing/2014/main" id="{D6D0140C-DF3D-489F-BCDE-E5A57EF8BD4A}"/>
              </a:ext>
            </a:extLst>
          </p:cNvPr>
          <p:cNvSpPr>
            <a:spLocks xmlns:a="http://schemas.openxmlformats.org/drawingml/2006/main" noGrp="1"/>
          </p:cNvSpPr>
          <p:nvPr/>
        </p:nvSpPr>
        <p:spPr>
          <a:xfrm xmlns:a="http://schemas.openxmlformats.org/drawingml/2006/main">
            <a:off x="3819525" y="4562475"/>
            <a:ext cx="1619250" cy="219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one row per team</a:t>
            </a:r>
          </a:p>
        </p:txBody>
      </p:sp>
      <p:sp>
        <p:nvSpPr>
          <p:cNvPr id="28" name="">
            <a:extLst xmlns:a="http://schemas.openxmlformats.org/drawingml/2006/main">
              <a:ext uri="{FF2B5EF4-FFF2-40B4-BE49-F238E27FC236}">
                <a16:creationId xmlns:a16="http://schemas.microsoft.com/office/drawing/2014/main" id="{A1BE82C7-0189-4D89-95D0-A003A99C7363}"/>
              </a:ext>
            </a:extLst>
          </p:cNvPr>
          <p:cNvSpPr>
            <a:spLocks xmlns:a="http://schemas.openxmlformats.org/drawingml/2006/main" noGrp="1"/>
          </p:cNvSpPr>
          <p:nvPr/>
        </p:nvSpPr>
        <p:spPr>
          <a:xfrm xmlns:a="http://schemas.openxmlformats.org/drawingml/2006/main">
            <a:off x="6238875" y="4057650"/>
            <a:ext cx="2095500" cy="819150"/>
          </a:xfrm>
          <a:prstGeom xmlns:a="http://schemas.openxmlformats.org/drawingml/2006/main" prst="rect">
            <a:avLst/>
          </a:prstGeom>
          <a:solidFill xmlns:a="http://schemas.openxmlformats.org/drawingml/2006/main">
            <a:srgbClr val="18130D"/>
          </a:solidFill>
          <a:ln xmlns:a="http://schemas.openxmlformats.org/drawingml/2006/main" w="14288">
            <a:solidFill>
              <a:srgbClr val="5EE39A"/>
            </a:solidFill>
            <a:prstDash val="solid"/>
          </a:ln>
        </p:spPr>
      </p:sp>
      <p:sp>
        <p:nvSpPr>
          <p:cNvPr id="29" name="">
            <a:extLst xmlns:a="http://schemas.openxmlformats.org/drawingml/2006/main">
              <a:ext uri="{FF2B5EF4-FFF2-40B4-BE49-F238E27FC236}">
                <a16:creationId xmlns:a16="http://schemas.microsoft.com/office/drawing/2014/main" id="{02C34CA7-E109-4C5F-B7A7-ADFB5032145D}"/>
              </a:ext>
            </a:extLst>
          </p:cNvPr>
          <p:cNvSpPr>
            <a:spLocks xmlns:a="http://schemas.openxmlformats.org/drawingml/2006/main" noGrp="1"/>
          </p:cNvSpPr>
          <p:nvPr/>
        </p:nvSpPr>
        <p:spPr>
          <a:xfrm xmlns:a="http://schemas.openxmlformats.org/drawingml/2006/main">
            <a:off x="6391275" y="4238625"/>
            <a:ext cx="1714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EE39A"/>
                </a:solidFill>
                <a:latin typeface="Aptos"/>
                <a:ea typeface="Aptos"/>
                <a:cs typeface="Aptos"/>
              </a:defRPr>
            </a:pPr>
            <a:r>
              <a:rPr sz="1500" b="1">
                <a:solidFill>
                  <a:srgbClr val="5EE39A"/>
                </a:solidFill>
                <a:latin typeface="Aptos"/>
                <a:ea typeface="Aptos"/>
                <a:cs typeface="Aptos"/>
              </a:rPr>
              <a:t>Evidence index</a:t>
            </a:r>
          </a:p>
        </p:txBody>
      </p:sp>
      <p:sp>
        <p:nvSpPr>
          <p:cNvPr id="30" name="">
            <a:extLst xmlns:a="http://schemas.openxmlformats.org/drawingml/2006/main">
              <a:ext uri="{FF2B5EF4-FFF2-40B4-BE49-F238E27FC236}">
                <a16:creationId xmlns:a16="http://schemas.microsoft.com/office/drawing/2014/main" id="{36D8CF77-12E8-413F-BED6-9ED332F211D1}"/>
              </a:ext>
            </a:extLst>
          </p:cNvPr>
          <p:cNvSpPr>
            <a:spLocks xmlns:a="http://schemas.openxmlformats.org/drawingml/2006/main" noGrp="1"/>
          </p:cNvSpPr>
          <p:nvPr/>
        </p:nvSpPr>
        <p:spPr>
          <a:xfrm xmlns:a="http://schemas.openxmlformats.org/drawingml/2006/main">
            <a:off x="6391275" y="4562475"/>
            <a:ext cx="1619250" cy="219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generated locally</a:t>
            </a:r>
          </a:p>
        </p:txBody>
      </p:sp>
      <p:sp>
        <p:nvSpPr>
          <p:cNvPr id="31" name="">
            <a:extLst xmlns:a="http://schemas.openxmlformats.org/drawingml/2006/main">
              <a:ext uri="{FF2B5EF4-FFF2-40B4-BE49-F238E27FC236}">
                <a16:creationId xmlns:a16="http://schemas.microsoft.com/office/drawing/2014/main" id="{076CE639-6B40-4EC6-BD20-3810D06B3AB6}"/>
              </a:ext>
            </a:extLst>
          </p:cNvPr>
          <p:cNvSpPr>
            <a:spLocks xmlns:a="http://schemas.openxmlformats.org/drawingml/2006/main" noGrp="1"/>
          </p:cNvSpPr>
          <p:nvPr/>
        </p:nvSpPr>
        <p:spPr>
          <a:xfrm xmlns:a="http://schemas.openxmlformats.org/drawingml/2006/main">
            <a:off x="8810625" y="4057650"/>
            <a:ext cx="2095500" cy="819150"/>
          </a:xfrm>
          <a:prstGeom xmlns:a="http://schemas.openxmlformats.org/drawingml/2006/main" prst="rect">
            <a:avLst/>
          </a:prstGeom>
          <a:solidFill xmlns:a="http://schemas.openxmlformats.org/drawingml/2006/main">
            <a:srgbClr val="18130D"/>
          </a:solidFill>
          <a:ln xmlns:a="http://schemas.openxmlformats.org/drawingml/2006/main" w="14288">
            <a:solidFill>
              <a:srgbClr val="FFD166"/>
            </a:solidFill>
            <a:prstDash val="solid"/>
          </a:ln>
        </p:spPr>
      </p:sp>
      <p:sp>
        <p:nvSpPr>
          <p:cNvPr id="32" name="">
            <a:extLst xmlns:a="http://schemas.openxmlformats.org/drawingml/2006/main">
              <a:ext uri="{FF2B5EF4-FFF2-40B4-BE49-F238E27FC236}">
                <a16:creationId xmlns:a16="http://schemas.microsoft.com/office/drawing/2014/main" id="{0794B11D-49C3-4A0D-9694-BFA1EB0A042A}"/>
              </a:ext>
            </a:extLst>
          </p:cNvPr>
          <p:cNvSpPr>
            <a:spLocks xmlns:a="http://schemas.openxmlformats.org/drawingml/2006/main" noGrp="1"/>
          </p:cNvSpPr>
          <p:nvPr/>
        </p:nvSpPr>
        <p:spPr>
          <a:xfrm xmlns:a="http://schemas.openxmlformats.org/drawingml/2006/main">
            <a:off x="8963025" y="4238625"/>
            <a:ext cx="1714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FD166"/>
                </a:solidFill>
                <a:latin typeface="Aptos"/>
                <a:ea typeface="Aptos"/>
                <a:cs typeface="Aptos"/>
              </a:defRPr>
            </a:pPr>
            <a:r>
              <a:rPr sz="1500" b="1">
                <a:solidFill>
                  <a:srgbClr val="FFD166"/>
                </a:solidFill>
                <a:latin typeface="Aptos"/>
                <a:ea typeface="Aptos"/>
                <a:cs typeface="Aptos"/>
              </a:rPr>
              <a:t>Warnings</a:t>
            </a:r>
          </a:p>
        </p:txBody>
      </p:sp>
      <p:sp>
        <p:nvSpPr>
          <p:cNvPr id="33" name="">
            <a:extLst xmlns:a="http://schemas.openxmlformats.org/drawingml/2006/main">
              <a:ext uri="{FF2B5EF4-FFF2-40B4-BE49-F238E27FC236}">
                <a16:creationId xmlns:a16="http://schemas.microsoft.com/office/drawing/2014/main" id="{FB53F16E-F02E-48D4-B79B-209FEAB15489}"/>
              </a:ext>
            </a:extLst>
          </p:cNvPr>
          <p:cNvSpPr>
            <a:spLocks xmlns:a="http://schemas.openxmlformats.org/drawingml/2006/main" noGrp="1"/>
          </p:cNvSpPr>
          <p:nvPr/>
        </p:nvSpPr>
        <p:spPr>
          <a:xfrm xmlns:a="http://schemas.openxmlformats.org/drawingml/2006/main">
            <a:off x="8963025" y="4562475"/>
            <a:ext cx="1619250" cy="219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demo priors only</a:t>
            </a:r>
          </a:p>
        </p:txBody>
      </p:sp>
      <p:sp>
        <p:nvSpPr>
          <p:cNvPr id="34" name="">
            <a:extLst xmlns:a="http://schemas.openxmlformats.org/drawingml/2006/main">
              <a:ext uri="{FF2B5EF4-FFF2-40B4-BE49-F238E27FC236}">
                <a16:creationId xmlns:a16="http://schemas.microsoft.com/office/drawing/2014/main" id="{F093BA38-1029-4ED4-81C3-5D8E1CA961A5}"/>
              </a:ext>
            </a:extLst>
          </p:cNvPr>
          <p:cNvSpPr>
            <a:spLocks xmlns:a="http://schemas.openxmlformats.org/drawingml/2006/main" noGrp="1"/>
          </p:cNvSpPr>
          <p:nvPr/>
        </p:nvSpPr>
        <p:spPr>
          <a:xfrm xmlns:a="http://schemas.openxmlformats.org/drawingml/2006/main">
            <a:off x="1143000" y="5334000"/>
            <a:ext cx="7239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6F1DF"/>
                </a:solidFill>
                <a:latin typeface="Aptos"/>
                <a:ea typeface="Aptos"/>
                <a:cs typeface="Aptos"/>
              </a:defRPr>
            </a:pPr>
            <a:r>
              <a:rPr sz="1875" b="1">
                <a:solidFill>
                  <a:srgbClr val="F6F1DF"/>
                </a:solidFill>
                <a:latin typeface="Aptos"/>
                <a:ea typeface="Aptos"/>
                <a:cs typeface="Aptos"/>
              </a:rPr>
              <a:t>Teaching line: no model output until the context is internally consistent.</a:t>
            </a:r>
          </a:p>
        </p:txBody>
      </p:sp>
      <p:sp>
        <p:nvSpPr>
          <p:cNvPr id="35" name="">
            <a:extLst xmlns:a="http://schemas.openxmlformats.org/drawingml/2006/main">
              <a:ext uri="{FF2B5EF4-FFF2-40B4-BE49-F238E27FC236}">
                <a16:creationId xmlns:a16="http://schemas.microsoft.com/office/drawing/2014/main" id="{77109942-0355-4861-B550-C210C055B041}"/>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05</a:t>
            </a:r>
          </a:p>
        </p:txBody>
      </p:sp>
      <p:sp>
        <p:nvSpPr>
          <p:cNvPr id="36" name="">
            <a:extLst xmlns:a="http://schemas.openxmlformats.org/drawingml/2006/main">
              <a:ext uri="{FF2B5EF4-FFF2-40B4-BE49-F238E27FC236}">
                <a16:creationId xmlns:a16="http://schemas.microsoft.com/office/drawing/2014/main" id="{E24BF752-D94A-45E1-B497-30DC4320D236}"/>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Data: reports/data_validation.json and preflight_forecast_context()</a:t>
            </a:r>
          </a:p>
        </p:txBody>
      </p:sp>
    </p:spTree>
    <p:extLst>
      <p:ext uri="{BB962C8B-B14F-4D97-AF65-F5344CB8AC3E}">
        <p14:creationId xmlns:p14="http://schemas.microsoft.com/office/powerpoint/2010/main" val="3372097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5da4b9c760da457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818AF32-EE9A-4C6C-BE36-A95D2020F4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58039"/>
            </a:srgbClr>
          </a:solidFill>
          <a:ln xmlns:a="http://schemas.openxmlformats.org/drawingml/2006/main" w="14288">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71F956E-4004-408E-9B81-8D0137160460}"/>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4" name="kicker-label">
            <a:extLst xmlns:a="http://schemas.openxmlformats.org/drawingml/2006/main">
              <a:ext uri="{FF2B5EF4-FFF2-40B4-BE49-F238E27FC236}">
                <a16:creationId xmlns:a16="http://schemas.microsoft.com/office/drawing/2014/main" id="{E6938A7C-A224-4EE3-A938-53AC7E79E0E7}"/>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5" name="">
            <a:extLst xmlns:a="http://schemas.openxmlformats.org/drawingml/2006/main">
              <a:ext uri="{FF2B5EF4-FFF2-40B4-BE49-F238E27FC236}">
                <a16:creationId xmlns:a16="http://schemas.microsoft.com/office/drawing/2014/main" id="{C7B36018-3BED-4078-959D-17D4D60B7601}"/>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07:30</a:t>
            </a:r>
          </a:p>
        </p:txBody>
      </p:sp>
      <p:sp>
        <p:nvSpPr>
          <p:cNvPr id="6" name="">
            <a:extLst xmlns:a="http://schemas.openxmlformats.org/drawingml/2006/main">
              <a:ext uri="{FF2B5EF4-FFF2-40B4-BE49-F238E27FC236}">
                <a16:creationId xmlns:a16="http://schemas.microsoft.com/office/drawing/2014/main" id="{69021BCC-3C09-4DCA-9D67-E427E6EE92BC}"/>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Source adapters make evidence a first-class system boundary.</a:t>
            </a:r>
          </a:p>
        </p:txBody>
      </p:sp>
      <p:sp>
        <p:nvSpPr>
          <p:cNvPr id="7" name="">
            <a:extLst xmlns:a="http://schemas.openxmlformats.org/drawingml/2006/main">
              <a:ext uri="{FF2B5EF4-FFF2-40B4-BE49-F238E27FC236}">
                <a16:creationId xmlns:a16="http://schemas.microsoft.com/office/drawing/2014/main" id="{3514E506-8283-430C-8C2A-E204C721A055}"/>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The episode stays offline by default, but it models how live sources would slot in safely.</a:t>
            </a:r>
          </a:p>
        </p:txBody>
      </p:sp>
      <p:sp>
        <p:nvSpPr>
          <p:cNvPr id="8" name="">
            <a:extLst xmlns:a="http://schemas.openxmlformats.org/drawingml/2006/main">
              <a:ext uri="{FF2B5EF4-FFF2-40B4-BE49-F238E27FC236}">
                <a16:creationId xmlns:a16="http://schemas.microsoft.com/office/drawing/2014/main" id="{42AE0EB5-3867-419E-9D3D-11F345FDA6A2}"/>
              </a:ext>
            </a:extLst>
          </p:cNvPr>
          <p:cNvSpPr>
            <a:spLocks xmlns:a="http://schemas.openxmlformats.org/drawingml/2006/main" noGrp="1"/>
          </p:cNvSpPr>
          <p:nvPr/>
        </p:nvSpPr>
        <p:spPr>
          <a:xfrm xmlns:a="http://schemas.openxmlformats.org/drawingml/2006/main">
            <a:off x="742950" y="2133600"/>
            <a:ext cx="4895850" cy="4000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5EE39A"/>
            </a:solidFill>
            <a:prstDash val="solid"/>
          </a:ln>
        </p:spPr>
      </p:sp>
      <p:sp>
        <p:nvSpPr>
          <p:cNvPr id="9" name="">
            <a:extLst xmlns:a="http://schemas.openxmlformats.org/drawingml/2006/main">
              <a:ext uri="{FF2B5EF4-FFF2-40B4-BE49-F238E27FC236}">
                <a16:creationId xmlns:a16="http://schemas.microsoft.com/office/drawing/2014/main" id="{D493C957-C786-4623-B455-8143FB55121B}"/>
              </a:ext>
            </a:extLst>
          </p:cNvPr>
          <p:cNvSpPr>
            <a:spLocks xmlns:a="http://schemas.openxmlformats.org/drawingml/2006/main" noGrp="1"/>
          </p:cNvSpPr>
          <p:nvPr/>
        </p:nvSpPr>
        <p:spPr>
          <a:xfrm xmlns:a="http://schemas.openxmlformats.org/drawingml/2006/main">
            <a:off x="933450" y="22288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39A"/>
                </a:solidFill>
                <a:latin typeface="Aptos"/>
                <a:ea typeface="Aptos"/>
                <a:cs typeface="Aptos"/>
              </a:defRPr>
            </a:pPr>
            <a:r>
              <a:rPr sz="1275" b="1">
                <a:solidFill>
                  <a:srgbClr val="5EE39A"/>
                </a:solidFill>
                <a:latin typeface="Aptos"/>
                <a:ea typeface="Aptos"/>
                <a:cs typeface="Aptos"/>
              </a:rPr>
              <a:t>SourceCardAdapter</a:t>
            </a:r>
          </a:p>
        </p:txBody>
      </p:sp>
      <p:sp>
        <p:nvSpPr>
          <p:cNvPr id="10" name="">
            <a:extLst xmlns:a="http://schemas.openxmlformats.org/drawingml/2006/main">
              <a:ext uri="{FF2B5EF4-FFF2-40B4-BE49-F238E27FC236}">
                <a16:creationId xmlns:a16="http://schemas.microsoft.com/office/drawing/2014/main" id="{087D50B5-A19E-497F-885A-FB7123F1634B}"/>
              </a:ext>
            </a:extLst>
          </p:cNvPr>
          <p:cNvSpPr>
            <a:spLocks xmlns:a="http://schemas.openxmlformats.org/drawingml/2006/main" noGrp="1"/>
          </p:cNvSpPr>
          <p:nvPr/>
        </p:nvSpPr>
        <p:spPr>
          <a:xfrm xmlns:a="http://schemas.openxmlformats.org/drawingml/2006/main">
            <a:off x="3086100" y="2238375"/>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policy + support labels</a:t>
            </a:r>
          </a:p>
        </p:txBody>
      </p:sp>
      <p:sp>
        <p:nvSpPr>
          <p:cNvPr id="11" name="">
            <a:extLst xmlns:a="http://schemas.openxmlformats.org/drawingml/2006/main">
              <a:ext uri="{FF2B5EF4-FFF2-40B4-BE49-F238E27FC236}">
                <a16:creationId xmlns:a16="http://schemas.microsoft.com/office/drawing/2014/main" id="{707590A9-BE4D-4635-9AED-EE8A0F79C2FD}"/>
              </a:ext>
            </a:extLst>
          </p:cNvPr>
          <p:cNvSpPr>
            <a:spLocks xmlns:a="http://schemas.openxmlformats.org/drawingml/2006/main" noGrp="1"/>
          </p:cNvSpPr>
          <p:nvPr/>
        </p:nvSpPr>
        <p:spPr>
          <a:xfrm xmlns:a="http://schemas.openxmlformats.org/drawingml/2006/main">
            <a:off x="742950" y="2686050"/>
            <a:ext cx="4895850" cy="4000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7CC7FF"/>
            </a:solidFill>
            <a:prstDash val="solid"/>
          </a:ln>
        </p:spPr>
      </p:sp>
      <p:sp>
        <p:nvSpPr>
          <p:cNvPr id="12" name="">
            <a:extLst xmlns:a="http://schemas.openxmlformats.org/drawingml/2006/main">
              <a:ext uri="{FF2B5EF4-FFF2-40B4-BE49-F238E27FC236}">
                <a16:creationId xmlns:a16="http://schemas.microsoft.com/office/drawing/2014/main" id="{C97FDB09-733B-48AE-9C8A-B5B05FCFC6FD}"/>
              </a:ext>
            </a:extLst>
          </p:cNvPr>
          <p:cNvSpPr>
            <a:spLocks xmlns:a="http://schemas.openxmlformats.org/drawingml/2006/main" noGrp="1"/>
          </p:cNvSpPr>
          <p:nvPr/>
        </p:nvSpPr>
        <p:spPr>
          <a:xfrm xmlns:a="http://schemas.openxmlformats.org/drawingml/2006/main">
            <a:off x="933450" y="278130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7CC7FF"/>
                </a:solidFill>
                <a:latin typeface="Aptos"/>
                <a:ea typeface="Aptos"/>
                <a:cs typeface="Aptos"/>
              </a:defRPr>
            </a:pPr>
            <a:r>
              <a:rPr sz="1275" b="1">
                <a:solidFill>
                  <a:srgbClr val="7CC7FF"/>
                </a:solidFill>
                <a:latin typeface="Aptos"/>
                <a:ea typeface="Aptos"/>
                <a:cs typeface="Aptos"/>
              </a:rPr>
              <a:t>TeamFeatureAdapter</a:t>
            </a:r>
          </a:p>
        </p:txBody>
      </p:sp>
      <p:sp>
        <p:nvSpPr>
          <p:cNvPr id="13" name="">
            <a:extLst xmlns:a="http://schemas.openxmlformats.org/drawingml/2006/main">
              <a:ext uri="{FF2B5EF4-FFF2-40B4-BE49-F238E27FC236}">
                <a16:creationId xmlns:a16="http://schemas.microsoft.com/office/drawing/2014/main" id="{EB9AAB4F-4E9D-42F1-99CB-33CB0C6E075A}"/>
              </a:ext>
            </a:extLst>
          </p:cNvPr>
          <p:cNvSpPr>
            <a:spLocks xmlns:a="http://schemas.openxmlformats.org/drawingml/2006/main" noGrp="1"/>
          </p:cNvSpPr>
          <p:nvPr/>
        </p:nvSpPr>
        <p:spPr>
          <a:xfrm xmlns:a="http://schemas.openxmlformats.org/drawingml/2006/main">
            <a:off x="3086100" y="2790825"/>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demo priors for 48 teams</a:t>
            </a:r>
          </a:p>
        </p:txBody>
      </p:sp>
      <p:sp>
        <p:nvSpPr>
          <p:cNvPr id="14" name="">
            <a:extLst xmlns:a="http://schemas.openxmlformats.org/drawingml/2006/main">
              <a:ext uri="{FF2B5EF4-FFF2-40B4-BE49-F238E27FC236}">
                <a16:creationId xmlns:a16="http://schemas.microsoft.com/office/drawing/2014/main" id="{F38E209B-72A9-4031-ADB6-A0739208EDC9}"/>
              </a:ext>
            </a:extLst>
          </p:cNvPr>
          <p:cNvSpPr>
            <a:spLocks xmlns:a="http://schemas.openxmlformats.org/drawingml/2006/main" noGrp="1"/>
          </p:cNvSpPr>
          <p:nvPr/>
        </p:nvSpPr>
        <p:spPr>
          <a:xfrm xmlns:a="http://schemas.openxmlformats.org/drawingml/2006/main">
            <a:off x="742950" y="3238500"/>
            <a:ext cx="4895850" cy="4000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FFD166"/>
            </a:solidFill>
            <a:prstDash val="solid"/>
          </a:ln>
        </p:spPr>
      </p:sp>
      <p:sp>
        <p:nvSpPr>
          <p:cNvPr id="15" name="">
            <a:extLst xmlns:a="http://schemas.openxmlformats.org/drawingml/2006/main">
              <a:ext uri="{FF2B5EF4-FFF2-40B4-BE49-F238E27FC236}">
                <a16:creationId xmlns:a16="http://schemas.microsoft.com/office/drawing/2014/main" id="{6D7387D2-AA77-43B5-A846-91910DFF204F}"/>
              </a:ext>
            </a:extLst>
          </p:cNvPr>
          <p:cNvSpPr>
            <a:spLocks xmlns:a="http://schemas.openxmlformats.org/drawingml/2006/main" noGrp="1"/>
          </p:cNvSpPr>
          <p:nvPr/>
        </p:nvSpPr>
        <p:spPr>
          <a:xfrm xmlns:a="http://schemas.openxmlformats.org/drawingml/2006/main">
            <a:off x="933450" y="33337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D166"/>
                </a:solidFill>
                <a:latin typeface="Aptos"/>
                <a:ea typeface="Aptos"/>
                <a:cs typeface="Aptos"/>
              </a:defRPr>
            </a:pPr>
            <a:r>
              <a:rPr sz="1275" b="1">
                <a:solidFill>
                  <a:srgbClr val="FFD166"/>
                </a:solidFill>
                <a:latin typeface="Aptos"/>
                <a:ea typeface="Aptos"/>
                <a:cs typeface="Aptos"/>
              </a:rPr>
              <a:t>MarketOddsAdapter</a:t>
            </a:r>
          </a:p>
        </p:txBody>
      </p:sp>
      <p:sp>
        <p:nvSpPr>
          <p:cNvPr id="16" name="">
            <a:extLst xmlns:a="http://schemas.openxmlformats.org/drawingml/2006/main">
              <a:ext uri="{FF2B5EF4-FFF2-40B4-BE49-F238E27FC236}">
                <a16:creationId xmlns:a16="http://schemas.microsoft.com/office/drawing/2014/main" id="{1AF039E1-CEB9-4D05-82CF-BAD5960E5A05}"/>
              </a:ext>
            </a:extLst>
          </p:cNvPr>
          <p:cNvSpPr>
            <a:spLocks xmlns:a="http://schemas.openxmlformats.org/drawingml/2006/main" noGrp="1"/>
          </p:cNvSpPr>
          <p:nvPr/>
        </p:nvSpPr>
        <p:spPr>
          <a:xfrm xmlns:a="http://schemas.openxmlformats.org/drawingml/2006/main">
            <a:off x="3086100" y="3343275"/>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de-vig sample baseline</a:t>
            </a:r>
          </a:p>
        </p:txBody>
      </p:sp>
      <p:sp>
        <p:nvSpPr>
          <p:cNvPr id="17" name="">
            <a:extLst xmlns:a="http://schemas.openxmlformats.org/drawingml/2006/main">
              <a:ext uri="{FF2B5EF4-FFF2-40B4-BE49-F238E27FC236}">
                <a16:creationId xmlns:a16="http://schemas.microsoft.com/office/drawing/2014/main" id="{09FDAC6C-D33F-4057-923B-F9DE6986A319}"/>
              </a:ext>
            </a:extLst>
          </p:cNvPr>
          <p:cNvSpPr>
            <a:spLocks xmlns:a="http://schemas.openxmlformats.org/drawingml/2006/main" noGrp="1"/>
          </p:cNvSpPr>
          <p:nvPr/>
        </p:nvSpPr>
        <p:spPr>
          <a:xfrm xmlns:a="http://schemas.openxmlformats.org/drawingml/2006/main">
            <a:off x="742950" y="3790950"/>
            <a:ext cx="4895850" cy="4000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B899FF"/>
            </a:solidFill>
            <a:prstDash val="solid"/>
          </a:ln>
        </p:spPr>
      </p:sp>
      <p:sp>
        <p:nvSpPr>
          <p:cNvPr id="18" name="">
            <a:extLst xmlns:a="http://schemas.openxmlformats.org/drawingml/2006/main">
              <a:ext uri="{FF2B5EF4-FFF2-40B4-BE49-F238E27FC236}">
                <a16:creationId xmlns:a16="http://schemas.microsoft.com/office/drawing/2014/main" id="{EF12A555-068D-42E0-B50D-D40C1B34593C}"/>
              </a:ext>
            </a:extLst>
          </p:cNvPr>
          <p:cNvSpPr>
            <a:spLocks xmlns:a="http://schemas.openxmlformats.org/drawingml/2006/main" noGrp="1"/>
          </p:cNvSpPr>
          <p:nvPr/>
        </p:nvSpPr>
        <p:spPr>
          <a:xfrm xmlns:a="http://schemas.openxmlformats.org/drawingml/2006/main">
            <a:off x="933450" y="388620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B899FF"/>
                </a:solidFill>
                <a:latin typeface="Aptos"/>
                <a:ea typeface="Aptos"/>
                <a:cs typeface="Aptos"/>
              </a:defRPr>
            </a:pPr>
            <a:r>
              <a:rPr sz="1275" b="1">
                <a:solidFill>
                  <a:srgbClr val="B899FF"/>
                </a:solidFill>
                <a:latin typeface="Aptos"/>
                <a:ea typeface="Aptos"/>
                <a:cs typeface="Aptos"/>
              </a:rPr>
              <a:t>CuratedEvidenceAdapter</a:t>
            </a:r>
          </a:p>
        </p:txBody>
      </p:sp>
      <p:sp>
        <p:nvSpPr>
          <p:cNvPr id="19" name="">
            <a:extLst xmlns:a="http://schemas.openxmlformats.org/drawingml/2006/main">
              <a:ext uri="{FF2B5EF4-FFF2-40B4-BE49-F238E27FC236}">
                <a16:creationId xmlns:a16="http://schemas.microsoft.com/office/drawing/2014/main" id="{0CB566FA-2FC7-4920-BE5A-5F8FF6016E15}"/>
              </a:ext>
            </a:extLst>
          </p:cNvPr>
          <p:cNvSpPr>
            <a:spLocks xmlns:a="http://schemas.openxmlformats.org/drawingml/2006/main" noGrp="1"/>
          </p:cNvSpPr>
          <p:nvPr/>
        </p:nvSpPr>
        <p:spPr>
          <a:xfrm xmlns:a="http://schemas.openxmlformats.org/drawingml/2006/main">
            <a:off x="3086100" y="3895725"/>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human-reviewed notes</a:t>
            </a:r>
          </a:p>
        </p:txBody>
      </p:sp>
      <p:sp>
        <p:nvSpPr>
          <p:cNvPr id="20" name="">
            <a:extLst xmlns:a="http://schemas.openxmlformats.org/drawingml/2006/main">
              <a:ext uri="{FF2B5EF4-FFF2-40B4-BE49-F238E27FC236}">
                <a16:creationId xmlns:a16="http://schemas.microsoft.com/office/drawing/2014/main" id="{A3DDC6F7-8B1D-4A46-9819-6CBF83A6AA7B}"/>
              </a:ext>
            </a:extLst>
          </p:cNvPr>
          <p:cNvSpPr>
            <a:spLocks xmlns:a="http://schemas.openxmlformats.org/drawingml/2006/main" noGrp="1"/>
          </p:cNvSpPr>
          <p:nvPr/>
        </p:nvSpPr>
        <p:spPr>
          <a:xfrm xmlns:a="http://schemas.openxmlformats.org/drawingml/2006/main">
            <a:off x="742950" y="4343400"/>
            <a:ext cx="4895850" cy="4000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F45B69"/>
            </a:solidFill>
            <a:prstDash val="solid"/>
          </a:ln>
        </p:spPr>
      </p:sp>
      <p:sp>
        <p:nvSpPr>
          <p:cNvPr id="21" name="">
            <a:extLst xmlns:a="http://schemas.openxmlformats.org/drawingml/2006/main">
              <a:ext uri="{FF2B5EF4-FFF2-40B4-BE49-F238E27FC236}">
                <a16:creationId xmlns:a16="http://schemas.microsoft.com/office/drawing/2014/main" id="{7585C1EC-FE6C-403C-B773-34E7692D4111}"/>
              </a:ext>
            </a:extLst>
          </p:cNvPr>
          <p:cNvSpPr>
            <a:spLocks xmlns:a="http://schemas.openxmlformats.org/drawingml/2006/main" noGrp="1"/>
          </p:cNvSpPr>
          <p:nvPr/>
        </p:nvSpPr>
        <p:spPr>
          <a:xfrm xmlns:a="http://schemas.openxmlformats.org/drawingml/2006/main">
            <a:off x="933450" y="44386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5B69"/>
                </a:solidFill>
                <a:latin typeface="Aptos"/>
                <a:ea typeface="Aptos"/>
                <a:cs typeface="Aptos"/>
              </a:defRPr>
            </a:pPr>
            <a:r>
              <a:rPr sz="1275" b="1">
                <a:solidFill>
                  <a:srgbClr val="F45B69"/>
                </a:solidFill>
                <a:latin typeface="Aptos"/>
                <a:ea typeface="Aptos"/>
                <a:cs typeface="Aptos"/>
              </a:rPr>
              <a:t>APIFootballAdapter</a:t>
            </a:r>
          </a:p>
        </p:txBody>
      </p:sp>
      <p:sp>
        <p:nvSpPr>
          <p:cNvPr id="22" name="">
            <a:extLst xmlns:a="http://schemas.openxmlformats.org/drawingml/2006/main">
              <a:ext uri="{FF2B5EF4-FFF2-40B4-BE49-F238E27FC236}">
                <a16:creationId xmlns:a16="http://schemas.microsoft.com/office/drawing/2014/main" id="{E41550C6-DA61-4DEC-9C0F-DEBACCC7EDEA}"/>
              </a:ext>
            </a:extLst>
          </p:cNvPr>
          <p:cNvSpPr>
            <a:spLocks xmlns:a="http://schemas.openxmlformats.org/drawingml/2006/main" noGrp="1"/>
          </p:cNvSpPr>
          <p:nvPr/>
        </p:nvSpPr>
        <p:spPr>
          <a:xfrm xmlns:a="http://schemas.openxmlformats.org/drawingml/2006/main">
            <a:off x="3086100" y="4448175"/>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env-gated live slot</a:t>
            </a:r>
          </a:p>
        </p:txBody>
      </p:sp>
      <p:sp>
        <p:nvSpPr>
          <p:cNvPr id="23" name="">
            <a:extLst xmlns:a="http://schemas.openxmlformats.org/drawingml/2006/main">
              <a:ext uri="{FF2B5EF4-FFF2-40B4-BE49-F238E27FC236}">
                <a16:creationId xmlns:a16="http://schemas.microsoft.com/office/drawing/2014/main" id="{D79946AB-EF85-4023-8430-0CE9C9C56916}"/>
              </a:ext>
            </a:extLst>
          </p:cNvPr>
          <p:cNvSpPr>
            <a:spLocks xmlns:a="http://schemas.openxmlformats.org/drawingml/2006/main" noGrp="1"/>
          </p:cNvSpPr>
          <p:nvPr/>
        </p:nvSpPr>
        <p:spPr>
          <a:xfrm xmlns:a="http://schemas.openxmlformats.org/drawingml/2006/main">
            <a:off x="6762750" y="2190750"/>
            <a:ext cx="3143250" cy="17335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5EE39A"/>
            </a:solidFill>
            <a:prstDash val="solid"/>
          </a:ln>
        </p:spPr>
      </p:sp>
      <p:sp>
        <p:nvSpPr>
          <p:cNvPr id="24" name="">
            <a:extLst xmlns:a="http://schemas.openxmlformats.org/drawingml/2006/main">
              <a:ext uri="{FF2B5EF4-FFF2-40B4-BE49-F238E27FC236}">
                <a16:creationId xmlns:a16="http://schemas.microsoft.com/office/drawing/2014/main" id="{27D45B1B-D0BF-4D8B-AB68-A7E56154F524}"/>
              </a:ext>
            </a:extLst>
          </p:cNvPr>
          <p:cNvSpPr>
            <a:spLocks xmlns:a="http://schemas.openxmlformats.org/drawingml/2006/main" noGrp="1"/>
          </p:cNvSpPr>
          <p:nvPr/>
        </p:nvSpPr>
        <p:spPr>
          <a:xfrm xmlns:a="http://schemas.openxmlformats.org/drawingml/2006/main">
            <a:off x="7048500" y="24193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5EE39A"/>
                </a:solidFill>
                <a:latin typeface="Aptos"/>
                <a:ea typeface="Aptos"/>
                <a:cs typeface="Aptos"/>
              </a:defRPr>
            </a:pPr>
            <a:r>
              <a:rPr sz="2175" b="1">
                <a:solidFill>
                  <a:srgbClr val="5EE39A"/>
                </a:solidFill>
                <a:latin typeface="Aptos"/>
                <a:ea typeface="Aptos"/>
                <a:cs typeface="Aptos"/>
              </a:rPr>
              <a:t>Evidence index</a:t>
            </a:r>
          </a:p>
        </p:txBody>
      </p:sp>
      <p:sp>
        <p:nvSpPr>
          <p:cNvPr id="25" name="">
            <a:extLst xmlns:a="http://schemas.openxmlformats.org/drawingml/2006/main">
              <a:ext uri="{FF2B5EF4-FFF2-40B4-BE49-F238E27FC236}">
                <a16:creationId xmlns:a16="http://schemas.microsoft.com/office/drawing/2014/main" id="{6E9D3612-DBED-46A1-B28D-37DAA1C078EE}"/>
              </a:ext>
            </a:extLst>
          </p:cNvPr>
          <p:cNvSpPr>
            <a:spLocks xmlns:a="http://schemas.openxmlformats.org/drawingml/2006/main" noGrp="1"/>
          </p:cNvSpPr>
          <p:nvPr/>
        </p:nvSpPr>
        <p:spPr>
          <a:xfrm xmlns:a="http://schemas.openxmlformats.org/drawingml/2006/main">
            <a:off x="7067550" y="2895600"/>
            <a:ext cx="2476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F6F1DF"/>
                </a:solidFill>
                <a:latin typeface="Aptos"/>
                <a:ea typeface="Aptos"/>
                <a:cs typeface="Aptos"/>
              </a:defRPr>
            </a:pPr>
            <a:r>
              <a:rPr sz="1425" b="0">
                <a:solidFill>
                  <a:srgbClr val="F6F1DF"/>
                </a:solidFill>
                <a:latin typeface="Aptos"/>
                <a:ea typeface="Aptos"/>
                <a:cs typeface="Aptos"/>
              </a:rPr>
              <a:t>73 compact documents</a:t>
            </a:r>
          </a:p>
          <a:p xmlns:a="http://schemas.openxmlformats.org/drawingml/2006/main">
            <a:pPr algn="l">
              <a:defRPr sz="1425" b="0">
                <a:solidFill>
                  <a:srgbClr val="F6F1DF"/>
                </a:solidFill>
                <a:latin typeface="Aptos"/>
                <a:ea typeface="Aptos"/>
                <a:cs typeface="Aptos"/>
              </a:defRPr>
            </a:pPr>
            <a:r>
              <a:rPr sz="1425" b="0">
                <a:solidFill>
                  <a:srgbClr val="F6F1DF"/>
                </a:solidFill>
                <a:latin typeface="Aptos"/>
                <a:ea typeface="Aptos"/>
                <a:cs typeface="Aptos"/>
              </a:rPr>
              <a:t>source_id + title + text</a:t>
            </a:r>
          </a:p>
          <a:p xmlns:a="http://schemas.openxmlformats.org/drawingml/2006/main">
            <a:pPr algn="l">
              <a:defRPr sz="1425" b="0">
                <a:solidFill>
                  <a:srgbClr val="F6F1DF"/>
                </a:solidFill>
                <a:latin typeface="Aptos"/>
                <a:ea typeface="Aptos"/>
                <a:cs typeface="Aptos"/>
              </a:defRPr>
            </a:pPr>
            <a:r>
              <a:rPr sz="1425" b="0">
                <a:solidFill>
                  <a:srgbClr val="F6F1DF"/>
                </a:solidFill>
                <a:latin typeface="Aptos"/>
                <a:ea typeface="Aptos"/>
                <a:cs typeface="Aptos"/>
              </a:rPr>
              <a:t>support labels + metadata</a:t>
            </a:r>
          </a:p>
          <a:p xmlns:a="http://schemas.openxmlformats.org/drawingml/2006/main">
            <a:pPr algn="l">
              <a:defRPr sz="1425" b="0">
                <a:solidFill>
                  <a:srgbClr val="F6F1DF"/>
                </a:solidFill>
                <a:latin typeface="Aptos"/>
                <a:ea typeface="Aptos"/>
                <a:cs typeface="Aptos"/>
              </a:defRPr>
            </a:pPr>
            <a:r>
              <a:rPr sz="1425" b="0">
                <a:solidFill>
                  <a:srgbClr val="F6F1DF"/>
                </a:solidFill>
                <a:latin typeface="Aptos"/>
                <a:ea typeface="Aptos"/>
                <a:cs typeface="Aptos"/>
              </a:rPr>
              <a:t>used by retrieval tools</a:t>
            </a:r>
          </a:p>
        </p:txBody>
      </p:sp>
      <p:sp>
        <p:nvSpPr>
          <p:cNvPr id="26" name="">
            <a:extLst xmlns:a="http://schemas.openxmlformats.org/drawingml/2006/main">
              <a:ext uri="{FF2B5EF4-FFF2-40B4-BE49-F238E27FC236}">
                <a16:creationId xmlns:a16="http://schemas.microsoft.com/office/drawing/2014/main" id="{F3B411BB-D8F1-45CE-8DE6-B2C955CF7F69}"/>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06</a:t>
            </a:r>
          </a:p>
        </p:txBody>
      </p:sp>
      <p:sp>
        <p:nvSpPr>
          <p:cNvPr id="27" name="">
            <a:extLst xmlns:a="http://schemas.openxmlformats.org/drawingml/2006/main">
              <a:ext uri="{FF2B5EF4-FFF2-40B4-BE49-F238E27FC236}">
                <a16:creationId xmlns:a16="http://schemas.microsoft.com/office/drawing/2014/main" id="{EF9B790D-329D-49E6-A932-AB68F2C5C54F}"/>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Stadium image: Erik Drost / Wikimedia Commons CC BY 3.0</a:t>
            </a:r>
          </a:p>
        </p:txBody>
      </p:sp>
    </p:spTree>
    <p:extLst>
      <p:ext uri="{BB962C8B-B14F-4D97-AF65-F5344CB8AC3E}">
        <p14:creationId xmlns:p14="http://schemas.microsoft.com/office/powerpoint/2010/main" val="51577514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76CEB4-6E9C-4031-9F52-E262CCA97D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011"/>
          </a:solidFill>
          <a:ln xmlns:a="http://schemas.openxmlformats.org/drawingml/2006/main" w="14288">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E38F3B0-E3B0-4F51-B99E-81895EFEF74D}"/>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3" name="kicker-label">
            <a:extLst xmlns:a="http://schemas.openxmlformats.org/drawingml/2006/main">
              <a:ext uri="{FF2B5EF4-FFF2-40B4-BE49-F238E27FC236}">
                <a16:creationId xmlns:a16="http://schemas.microsoft.com/office/drawing/2014/main" id="{7FD04A3E-E87C-4B83-A9F5-44502D768C06}"/>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4" name="">
            <a:extLst xmlns:a="http://schemas.openxmlformats.org/drawingml/2006/main">
              <a:ext uri="{FF2B5EF4-FFF2-40B4-BE49-F238E27FC236}">
                <a16:creationId xmlns:a16="http://schemas.microsoft.com/office/drawing/2014/main" id="{3EDF9F0B-3C51-457D-BD80-03C07DC942BC}"/>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09:00</a:t>
            </a:r>
          </a:p>
        </p:txBody>
      </p:sp>
      <p:sp>
        <p:nvSpPr>
          <p:cNvPr id="5" name="">
            <a:extLst xmlns:a="http://schemas.openxmlformats.org/drawingml/2006/main">
              <a:ext uri="{FF2B5EF4-FFF2-40B4-BE49-F238E27FC236}">
                <a16:creationId xmlns:a16="http://schemas.microsoft.com/office/drawing/2014/main" id="{D122319E-C5CB-433E-963B-D718DD303199}"/>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MCP turns ordinary Python into agent-callable tools.</a:t>
            </a:r>
          </a:p>
        </p:txBody>
      </p:sp>
      <p:sp>
        <p:nvSpPr>
          <p:cNvPr id="6" name="">
            <a:extLst xmlns:a="http://schemas.openxmlformats.org/drawingml/2006/main">
              <a:ext uri="{FF2B5EF4-FFF2-40B4-BE49-F238E27FC236}">
                <a16:creationId xmlns:a16="http://schemas.microsoft.com/office/drawing/2014/main" id="{639D395B-73BA-4ABD-8503-956054309037}"/>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The server executes structured calls; the LLM decides when those calls are useful.</a:t>
            </a:r>
          </a:p>
        </p:txBody>
      </p:sp>
      <p:sp>
        <p:nvSpPr>
          <p:cNvPr id="7" name="">
            <a:extLst xmlns:a="http://schemas.openxmlformats.org/drawingml/2006/main">
              <a:ext uri="{FF2B5EF4-FFF2-40B4-BE49-F238E27FC236}">
                <a16:creationId xmlns:a16="http://schemas.microsoft.com/office/drawing/2014/main" id="{7CC66DAC-0019-4B31-85E2-6DB5B2B0F74A}"/>
              </a:ext>
            </a:extLst>
          </p:cNvPr>
          <p:cNvSpPr>
            <a:spLocks xmlns:a="http://schemas.openxmlformats.org/drawingml/2006/main" noGrp="1"/>
          </p:cNvSpPr>
          <p:nvPr/>
        </p:nvSpPr>
        <p:spPr>
          <a:xfrm xmlns:a="http://schemas.openxmlformats.org/drawingml/2006/main">
            <a:off x="723900" y="2266950"/>
            <a:ext cx="5219700" cy="2305050"/>
          </a:xfrm>
          <a:prstGeom xmlns:a="http://schemas.openxmlformats.org/drawingml/2006/main" prst="rect">
            <a:avLst/>
          </a:prstGeom>
          <a:solidFill xmlns:a="http://schemas.openxmlformats.org/drawingml/2006/main">
            <a:srgbClr val="050908"/>
          </a:solidFill>
          <a:ln xmlns:a="http://schemas.openxmlformats.org/drawingml/2006/main" w="14288">
            <a:solidFill>
              <a:srgbClr val="2C4A3B"/>
            </a:solidFill>
            <a:prstDash val="solid"/>
          </a:ln>
        </p:spPr>
      </p:sp>
      <p:sp>
        <p:nvSpPr>
          <p:cNvPr id="8" name="">
            <a:extLst xmlns:a="http://schemas.openxmlformats.org/drawingml/2006/main">
              <a:ext uri="{FF2B5EF4-FFF2-40B4-BE49-F238E27FC236}">
                <a16:creationId xmlns:a16="http://schemas.microsoft.com/office/drawing/2014/main" id="{B345A984-E1EA-4E01-AA1F-DDA65DC232A5}"/>
              </a:ext>
            </a:extLst>
          </p:cNvPr>
          <p:cNvSpPr>
            <a:spLocks xmlns:a="http://schemas.openxmlformats.org/drawingml/2006/main" noGrp="1"/>
          </p:cNvSpPr>
          <p:nvPr/>
        </p:nvSpPr>
        <p:spPr>
          <a:xfrm xmlns:a="http://schemas.openxmlformats.org/drawingml/2006/main">
            <a:off x="895350" y="2419350"/>
            <a:ext cx="48768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D7F7E5"/>
                </a:solidFill>
                <a:latin typeface="Aptos Mono"/>
                <a:ea typeface="Aptos Mono"/>
                <a:cs typeface="Aptos Mono"/>
              </a:defRPr>
            </a:pPr>
            <a:r>
              <a:rPr sz="1275" b="0">
                <a:solidFill>
                  <a:srgbClr val="D7F7E5"/>
                </a:solidFill>
                <a:latin typeface="Aptos Mono"/>
                <a:ea typeface="Aptos Mono"/>
                <a:cs typeface="Aptos Mono"/>
              </a:rPr>
              <a:t>from fastmcp import FastMCP</a:t>
            </a:r>
          </a:p>
          <a:p xmlns:a="http://schemas.openxmlformats.org/drawingml/2006/main">
            <a:r>
              <a:t/>
            </a:r>
          </a:p>
          <a:p xmlns:a="http://schemas.openxmlformats.org/drawingml/2006/main">
            <a:pPr algn="l">
              <a:defRPr sz="1275" b="0">
                <a:solidFill>
                  <a:srgbClr val="D7F7E5"/>
                </a:solidFill>
                <a:latin typeface="Aptos Mono"/>
                <a:ea typeface="Aptos Mono"/>
                <a:cs typeface="Aptos Mono"/>
              </a:defRPr>
            </a:pPr>
            <a:r>
              <a:rPr sz="1275" b="0">
                <a:solidFill>
                  <a:srgbClr val="D7F7E5"/>
                </a:solidFill>
                <a:latin typeface="Aptos Mono"/>
                <a:ea typeface="Aptos Mono"/>
                <a:cs typeface="Aptos Mono"/>
              </a:rPr>
              <a:t>mcp = FastMCP("worldcup-forecast")</a:t>
            </a:r>
          </a:p>
          <a:p xmlns:a="http://schemas.openxmlformats.org/drawingml/2006/main">
            <a:r>
              <a:t/>
            </a:r>
          </a:p>
          <a:p xmlns:a="http://schemas.openxmlformats.org/drawingml/2006/main">
            <a:pPr algn="l">
              <a:defRPr sz="1275" b="0">
                <a:solidFill>
                  <a:srgbClr val="D7F7E5"/>
                </a:solidFill>
                <a:latin typeface="Aptos Mono"/>
                <a:ea typeface="Aptos Mono"/>
                <a:cs typeface="Aptos Mono"/>
              </a:defRPr>
            </a:pPr>
            <a:r>
              <a:rPr sz="1275" b="0">
                <a:solidFill>
                  <a:srgbClr val="D7F7E5"/>
                </a:solidFill>
                <a:latin typeface="Aptos Mono"/>
                <a:ea typeface="Aptos Mono"/>
                <a:cs typeface="Aptos Mono"/>
              </a:rPr>
              <a:t>@mcp.tool()</a:t>
            </a:r>
          </a:p>
          <a:p xmlns:a="http://schemas.openxmlformats.org/drawingml/2006/main">
            <a:pPr algn="l">
              <a:defRPr sz="1275" b="0">
                <a:solidFill>
                  <a:srgbClr val="D7F7E5"/>
                </a:solidFill>
                <a:latin typeface="Aptos Mono"/>
                <a:ea typeface="Aptos Mono"/>
                <a:cs typeface="Aptos Mono"/>
              </a:defRPr>
            </a:pPr>
            <a:r>
              <a:rPr sz="1275" b="0">
                <a:solidFill>
                  <a:srgbClr val="D7F7E5"/>
                </a:solidFill>
                <a:latin typeface="Aptos Mono"/>
                <a:ea typeface="Aptos Mono"/>
                <a:cs typeface="Aptos Mono"/>
              </a:rPr>
              <a:t>def simulate_tournament(sims: int = 3000, seed: int = 2026) -&gt; dict:</a:t>
            </a:r>
          </a:p>
          <a:p xmlns:a="http://schemas.openxmlformats.org/drawingml/2006/main">
            <a:pPr algn="l">
              <a:defRPr sz="1275" b="0">
                <a:solidFill>
                  <a:srgbClr val="D7F7E5"/>
                </a:solidFill>
                <a:latin typeface="Aptos Mono"/>
                <a:ea typeface="Aptos Mono"/>
                <a:cs typeface="Aptos Mono"/>
              </a:defRPr>
            </a:pPr>
            <a:r>
              <a:rPr sz="1275" b="0">
                <a:solidFill>
                  <a:srgbClr val="D7F7E5"/>
                </a:solidFill>
                <a:latin typeface="Aptos Mono"/>
                <a:ea typeface="Aptos Mono"/>
                <a:cs typeface="Aptos Mono"/>
              </a:rPr>
              <a:t>    return forecast_var.tools.simulate_tournament(sims=sims, seed=seed)</a:t>
            </a:r>
          </a:p>
        </p:txBody>
      </p:sp>
      <p:sp>
        <p:nvSpPr>
          <p:cNvPr id="9" name="">
            <a:extLst xmlns:a="http://schemas.openxmlformats.org/drawingml/2006/main">
              <a:ext uri="{FF2B5EF4-FFF2-40B4-BE49-F238E27FC236}">
                <a16:creationId xmlns:a16="http://schemas.microsoft.com/office/drawing/2014/main" id="{0399F695-8BE0-4695-ABDA-311D863CB99D}"/>
              </a:ext>
            </a:extLst>
          </p:cNvPr>
          <p:cNvSpPr>
            <a:spLocks xmlns:a="http://schemas.openxmlformats.org/drawingml/2006/main" noGrp="1"/>
          </p:cNvSpPr>
          <p:nvPr/>
        </p:nvSpPr>
        <p:spPr>
          <a:xfrm xmlns:a="http://schemas.openxmlformats.org/drawingml/2006/main">
            <a:off x="6858000" y="2228850"/>
            <a:ext cx="3333750" cy="438150"/>
          </a:xfrm>
          <a:prstGeom xmlns:a="http://schemas.openxmlformats.org/drawingml/2006/main" prst="rect">
            <a:avLst/>
          </a:prstGeom>
          <a:solidFill xmlns:a="http://schemas.openxmlformats.org/drawingml/2006/main">
            <a:srgbClr val="0E1C1C"/>
          </a:solidFill>
          <a:ln xmlns:a="http://schemas.openxmlformats.org/drawingml/2006/main" w="14288">
            <a:solidFill>
              <a:srgbClr val="F6F1DF"/>
            </a:solidFill>
            <a:prstDash val="solid"/>
          </a:ln>
        </p:spPr>
      </p:sp>
      <p:sp>
        <p:nvSpPr>
          <p:cNvPr id="10" name="">
            <a:extLst xmlns:a="http://schemas.openxmlformats.org/drawingml/2006/main">
              <a:ext uri="{FF2B5EF4-FFF2-40B4-BE49-F238E27FC236}">
                <a16:creationId xmlns:a16="http://schemas.microsoft.com/office/drawing/2014/main" id="{A14B0B5C-EE02-4868-BD99-6068ECB02F3C}"/>
              </a:ext>
            </a:extLst>
          </p:cNvPr>
          <p:cNvSpPr>
            <a:spLocks xmlns:a="http://schemas.openxmlformats.org/drawingml/2006/main" noGrp="1"/>
          </p:cNvSpPr>
          <p:nvPr/>
        </p:nvSpPr>
        <p:spPr>
          <a:xfrm xmlns:a="http://schemas.openxmlformats.org/drawingml/2006/main">
            <a:off x="7029450" y="2314575"/>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6F1DF"/>
                </a:solidFill>
                <a:latin typeface="Aptos"/>
                <a:ea typeface="Aptos"/>
                <a:cs typeface="Aptos"/>
              </a:defRPr>
            </a:pPr>
            <a:r>
              <a:rPr sz="1275" b="1">
                <a:solidFill>
                  <a:srgbClr val="F6F1DF"/>
                </a:solidFill>
                <a:latin typeface="Aptos"/>
                <a:ea typeface="Aptos"/>
                <a:cs typeface="Aptos"/>
              </a:rPr>
              <a:t>User prompt</a:t>
            </a:r>
          </a:p>
        </p:txBody>
      </p:sp>
      <p:sp>
        <p:nvSpPr>
          <p:cNvPr id="11" name="">
            <a:extLst xmlns:a="http://schemas.openxmlformats.org/drawingml/2006/main">
              <a:ext uri="{FF2B5EF4-FFF2-40B4-BE49-F238E27FC236}">
                <a16:creationId xmlns:a16="http://schemas.microsoft.com/office/drawing/2014/main" id="{BC290674-D10A-4C7A-B92E-21897F46FE4E}"/>
              </a:ext>
            </a:extLst>
          </p:cNvPr>
          <p:cNvSpPr>
            <a:spLocks xmlns:a="http://schemas.openxmlformats.org/drawingml/2006/main" noGrp="1"/>
          </p:cNvSpPr>
          <p:nvPr/>
        </p:nvSpPr>
        <p:spPr>
          <a:xfrm xmlns:a="http://schemas.openxmlformats.org/drawingml/2006/main">
            <a:off x="8362950" y="2333625"/>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Who wins Group D?</a:t>
            </a:r>
          </a:p>
        </p:txBody>
      </p:sp>
      <p:sp>
        <p:nvSpPr>
          <p:cNvPr id="12" name="">
            <a:extLst xmlns:a="http://schemas.openxmlformats.org/drawingml/2006/main">
              <a:ext uri="{FF2B5EF4-FFF2-40B4-BE49-F238E27FC236}">
                <a16:creationId xmlns:a16="http://schemas.microsoft.com/office/drawing/2014/main" id="{062E4B56-3F8C-45EE-BAF9-658F9DAD50A3}"/>
              </a:ext>
            </a:extLst>
          </p:cNvPr>
          <p:cNvSpPr>
            <a:spLocks xmlns:a="http://schemas.openxmlformats.org/drawingml/2006/main" noGrp="1"/>
          </p:cNvSpPr>
          <p:nvPr/>
        </p:nvSpPr>
        <p:spPr>
          <a:xfrm xmlns:a="http://schemas.openxmlformats.org/drawingml/2006/main">
            <a:off x="8458200" y="2676525"/>
            <a:ext cx="38100" cy="171450"/>
          </a:xfrm>
          <a:prstGeom xmlns:a="http://schemas.openxmlformats.org/drawingml/2006/main" prst="rect">
            <a:avLst/>
          </a:prstGeom>
          <a:solidFill xmlns:a="http://schemas.openxmlformats.org/drawingml/2006/main">
            <a:srgbClr val="F6F1DF"/>
          </a:solidFill>
          <a:ln xmlns:a="http://schemas.openxmlformats.org/drawingml/2006/main" w="14288">
            <a:solidFill>
              <a:srgbClr val="F6F1DF"/>
            </a:solidFill>
            <a:prstDash val="solid"/>
          </a:ln>
        </p:spPr>
      </p:sp>
      <p:sp>
        <p:nvSpPr>
          <p:cNvPr id="13" name="">
            <a:extLst xmlns:a="http://schemas.openxmlformats.org/drawingml/2006/main">
              <a:ext uri="{FF2B5EF4-FFF2-40B4-BE49-F238E27FC236}">
                <a16:creationId xmlns:a16="http://schemas.microsoft.com/office/drawing/2014/main" id="{99BF6DB8-0BEF-4FAD-B0E4-B666E4DF09E7}"/>
              </a:ext>
            </a:extLst>
          </p:cNvPr>
          <p:cNvSpPr>
            <a:spLocks xmlns:a="http://schemas.openxmlformats.org/drawingml/2006/main" noGrp="1"/>
          </p:cNvSpPr>
          <p:nvPr/>
        </p:nvSpPr>
        <p:spPr>
          <a:xfrm xmlns:a="http://schemas.openxmlformats.org/drawingml/2006/main">
            <a:off x="6858000" y="2876550"/>
            <a:ext cx="3333750" cy="438150"/>
          </a:xfrm>
          <a:prstGeom xmlns:a="http://schemas.openxmlformats.org/drawingml/2006/main" prst="rect">
            <a:avLst/>
          </a:prstGeom>
          <a:solidFill xmlns:a="http://schemas.openxmlformats.org/drawingml/2006/main">
            <a:srgbClr val="0E1C1C"/>
          </a:solidFill>
          <a:ln xmlns:a="http://schemas.openxmlformats.org/drawingml/2006/main" w="14288">
            <a:solidFill>
              <a:srgbClr val="7CC7FF"/>
            </a:solidFill>
            <a:prstDash val="solid"/>
          </a:ln>
        </p:spPr>
      </p:sp>
      <p:sp>
        <p:nvSpPr>
          <p:cNvPr id="14" name="">
            <a:extLst xmlns:a="http://schemas.openxmlformats.org/drawingml/2006/main">
              <a:ext uri="{FF2B5EF4-FFF2-40B4-BE49-F238E27FC236}">
                <a16:creationId xmlns:a16="http://schemas.microsoft.com/office/drawing/2014/main" id="{9F7DB9AC-7B3A-4BF3-829C-B5265B2BCEE8}"/>
              </a:ext>
            </a:extLst>
          </p:cNvPr>
          <p:cNvSpPr>
            <a:spLocks xmlns:a="http://schemas.openxmlformats.org/drawingml/2006/main" noGrp="1"/>
          </p:cNvSpPr>
          <p:nvPr/>
        </p:nvSpPr>
        <p:spPr>
          <a:xfrm xmlns:a="http://schemas.openxmlformats.org/drawingml/2006/main">
            <a:off x="7029450" y="2962275"/>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7CC7FF"/>
                </a:solidFill>
                <a:latin typeface="Aptos"/>
                <a:ea typeface="Aptos"/>
                <a:cs typeface="Aptos"/>
              </a:defRPr>
            </a:pPr>
            <a:r>
              <a:rPr sz="1275" b="1">
                <a:solidFill>
                  <a:srgbClr val="7CC7FF"/>
                </a:solidFill>
                <a:latin typeface="Aptos"/>
                <a:ea typeface="Aptos"/>
                <a:cs typeface="Aptos"/>
              </a:rPr>
              <a:t>LLM/client</a:t>
            </a:r>
          </a:p>
        </p:txBody>
      </p:sp>
      <p:sp>
        <p:nvSpPr>
          <p:cNvPr id="15" name="">
            <a:extLst xmlns:a="http://schemas.openxmlformats.org/drawingml/2006/main">
              <a:ext uri="{FF2B5EF4-FFF2-40B4-BE49-F238E27FC236}">
                <a16:creationId xmlns:a16="http://schemas.microsoft.com/office/drawing/2014/main" id="{5E2ED4C2-5F01-495E-BCF0-50A17203B8F8}"/>
              </a:ext>
            </a:extLst>
          </p:cNvPr>
          <p:cNvSpPr>
            <a:spLocks xmlns:a="http://schemas.openxmlformats.org/drawingml/2006/main" noGrp="1"/>
          </p:cNvSpPr>
          <p:nvPr/>
        </p:nvSpPr>
        <p:spPr>
          <a:xfrm xmlns:a="http://schemas.openxmlformats.org/drawingml/2006/main">
            <a:off x="8362950" y="2981325"/>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chooses tool + args</a:t>
            </a:r>
          </a:p>
        </p:txBody>
      </p:sp>
      <p:sp>
        <p:nvSpPr>
          <p:cNvPr id="16" name="">
            <a:extLst xmlns:a="http://schemas.openxmlformats.org/drawingml/2006/main">
              <a:ext uri="{FF2B5EF4-FFF2-40B4-BE49-F238E27FC236}">
                <a16:creationId xmlns:a16="http://schemas.microsoft.com/office/drawing/2014/main" id="{BC1D3015-8344-4311-B84E-A0EE93877C5E}"/>
              </a:ext>
            </a:extLst>
          </p:cNvPr>
          <p:cNvSpPr>
            <a:spLocks xmlns:a="http://schemas.openxmlformats.org/drawingml/2006/main" noGrp="1"/>
          </p:cNvSpPr>
          <p:nvPr/>
        </p:nvSpPr>
        <p:spPr>
          <a:xfrm xmlns:a="http://schemas.openxmlformats.org/drawingml/2006/main">
            <a:off x="8458200" y="3324225"/>
            <a:ext cx="38100" cy="171450"/>
          </a:xfrm>
          <a:prstGeom xmlns:a="http://schemas.openxmlformats.org/drawingml/2006/main" prst="rect">
            <a:avLst/>
          </a:prstGeom>
          <a:solidFill xmlns:a="http://schemas.openxmlformats.org/drawingml/2006/main">
            <a:srgbClr val="7CC7FF"/>
          </a:solidFill>
          <a:ln xmlns:a="http://schemas.openxmlformats.org/drawingml/2006/main" w="14288">
            <a:solidFill>
              <a:srgbClr val="7CC7FF"/>
            </a:solidFill>
            <a:prstDash val="solid"/>
          </a:ln>
        </p:spPr>
      </p:sp>
      <p:sp>
        <p:nvSpPr>
          <p:cNvPr id="17" name="">
            <a:extLst xmlns:a="http://schemas.openxmlformats.org/drawingml/2006/main">
              <a:ext uri="{FF2B5EF4-FFF2-40B4-BE49-F238E27FC236}">
                <a16:creationId xmlns:a16="http://schemas.microsoft.com/office/drawing/2014/main" id="{9CF1E4A7-85FA-4915-AED8-9729CF139698}"/>
              </a:ext>
            </a:extLst>
          </p:cNvPr>
          <p:cNvSpPr>
            <a:spLocks xmlns:a="http://schemas.openxmlformats.org/drawingml/2006/main" noGrp="1"/>
          </p:cNvSpPr>
          <p:nvPr/>
        </p:nvSpPr>
        <p:spPr>
          <a:xfrm xmlns:a="http://schemas.openxmlformats.org/drawingml/2006/main">
            <a:off x="6858000" y="3524250"/>
            <a:ext cx="3333750" cy="438150"/>
          </a:xfrm>
          <a:prstGeom xmlns:a="http://schemas.openxmlformats.org/drawingml/2006/main" prst="rect">
            <a:avLst/>
          </a:prstGeom>
          <a:solidFill xmlns:a="http://schemas.openxmlformats.org/drawingml/2006/main">
            <a:srgbClr val="0E1C1C"/>
          </a:solidFill>
          <a:ln xmlns:a="http://schemas.openxmlformats.org/drawingml/2006/main" w="14288">
            <a:solidFill>
              <a:srgbClr val="5EE39A"/>
            </a:solidFill>
            <a:prstDash val="solid"/>
          </a:ln>
        </p:spPr>
      </p:sp>
      <p:sp>
        <p:nvSpPr>
          <p:cNvPr id="18" name="">
            <a:extLst xmlns:a="http://schemas.openxmlformats.org/drawingml/2006/main">
              <a:ext uri="{FF2B5EF4-FFF2-40B4-BE49-F238E27FC236}">
                <a16:creationId xmlns:a16="http://schemas.microsoft.com/office/drawing/2014/main" id="{553ED413-1FEC-4543-9D68-4438597BCB68}"/>
              </a:ext>
            </a:extLst>
          </p:cNvPr>
          <p:cNvSpPr>
            <a:spLocks xmlns:a="http://schemas.openxmlformats.org/drawingml/2006/main" noGrp="1"/>
          </p:cNvSpPr>
          <p:nvPr/>
        </p:nvSpPr>
        <p:spPr>
          <a:xfrm xmlns:a="http://schemas.openxmlformats.org/drawingml/2006/main">
            <a:off x="7029450" y="3609975"/>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39A"/>
                </a:solidFill>
                <a:latin typeface="Aptos"/>
                <a:ea typeface="Aptos"/>
                <a:cs typeface="Aptos"/>
              </a:defRPr>
            </a:pPr>
            <a:r>
              <a:rPr sz="1275" b="1">
                <a:solidFill>
                  <a:srgbClr val="5EE39A"/>
                </a:solidFill>
                <a:latin typeface="Aptos"/>
                <a:ea typeface="Aptos"/>
                <a:cs typeface="Aptos"/>
              </a:rPr>
              <a:t>MCP server</a:t>
            </a:r>
          </a:p>
        </p:txBody>
      </p:sp>
      <p:sp>
        <p:nvSpPr>
          <p:cNvPr id="19" name="">
            <a:extLst xmlns:a="http://schemas.openxmlformats.org/drawingml/2006/main">
              <a:ext uri="{FF2B5EF4-FFF2-40B4-BE49-F238E27FC236}">
                <a16:creationId xmlns:a16="http://schemas.microsoft.com/office/drawing/2014/main" id="{69756BDA-A629-4524-8C11-367053BA983E}"/>
              </a:ext>
            </a:extLst>
          </p:cNvPr>
          <p:cNvSpPr>
            <a:spLocks xmlns:a="http://schemas.openxmlformats.org/drawingml/2006/main" noGrp="1"/>
          </p:cNvSpPr>
          <p:nvPr/>
        </p:nvSpPr>
        <p:spPr>
          <a:xfrm xmlns:a="http://schemas.openxmlformats.org/drawingml/2006/main">
            <a:off x="8362950" y="3629025"/>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validates schema</a:t>
            </a:r>
          </a:p>
        </p:txBody>
      </p:sp>
      <p:sp>
        <p:nvSpPr>
          <p:cNvPr id="20" name="">
            <a:extLst xmlns:a="http://schemas.openxmlformats.org/drawingml/2006/main">
              <a:ext uri="{FF2B5EF4-FFF2-40B4-BE49-F238E27FC236}">
                <a16:creationId xmlns:a16="http://schemas.microsoft.com/office/drawing/2014/main" id="{EFABBD32-F418-4D60-9699-3775D96C711F}"/>
              </a:ext>
            </a:extLst>
          </p:cNvPr>
          <p:cNvSpPr>
            <a:spLocks xmlns:a="http://schemas.openxmlformats.org/drawingml/2006/main" noGrp="1"/>
          </p:cNvSpPr>
          <p:nvPr/>
        </p:nvSpPr>
        <p:spPr>
          <a:xfrm xmlns:a="http://schemas.openxmlformats.org/drawingml/2006/main">
            <a:off x="8458200" y="3971925"/>
            <a:ext cx="38100" cy="17145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21" name="">
            <a:extLst xmlns:a="http://schemas.openxmlformats.org/drawingml/2006/main">
              <a:ext uri="{FF2B5EF4-FFF2-40B4-BE49-F238E27FC236}">
                <a16:creationId xmlns:a16="http://schemas.microsoft.com/office/drawing/2014/main" id="{5F5A4519-C7B8-43B8-80AB-171A993F08DA}"/>
              </a:ext>
            </a:extLst>
          </p:cNvPr>
          <p:cNvSpPr>
            <a:spLocks xmlns:a="http://schemas.openxmlformats.org/drawingml/2006/main" noGrp="1"/>
          </p:cNvSpPr>
          <p:nvPr/>
        </p:nvSpPr>
        <p:spPr>
          <a:xfrm xmlns:a="http://schemas.openxmlformats.org/drawingml/2006/main">
            <a:off x="6858000" y="4171950"/>
            <a:ext cx="3333750" cy="438150"/>
          </a:xfrm>
          <a:prstGeom xmlns:a="http://schemas.openxmlformats.org/drawingml/2006/main" prst="rect">
            <a:avLst/>
          </a:prstGeom>
          <a:solidFill xmlns:a="http://schemas.openxmlformats.org/drawingml/2006/main">
            <a:srgbClr val="0E1C1C"/>
          </a:solidFill>
          <a:ln xmlns:a="http://schemas.openxmlformats.org/drawingml/2006/main" w="14288">
            <a:solidFill>
              <a:srgbClr val="FFD166"/>
            </a:solidFill>
            <a:prstDash val="solid"/>
          </a:ln>
        </p:spPr>
      </p:sp>
      <p:sp>
        <p:nvSpPr>
          <p:cNvPr id="22" name="">
            <a:extLst xmlns:a="http://schemas.openxmlformats.org/drawingml/2006/main">
              <a:ext uri="{FF2B5EF4-FFF2-40B4-BE49-F238E27FC236}">
                <a16:creationId xmlns:a16="http://schemas.microsoft.com/office/drawing/2014/main" id="{350DD45B-CE87-48EB-82B1-B0FE1513E354}"/>
              </a:ext>
            </a:extLst>
          </p:cNvPr>
          <p:cNvSpPr>
            <a:spLocks xmlns:a="http://schemas.openxmlformats.org/drawingml/2006/main" noGrp="1"/>
          </p:cNvSpPr>
          <p:nvPr/>
        </p:nvSpPr>
        <p:spPr>
          <a:xfrm xmlns:a="http://schemas.openxmlformats.org/drawingml/2006/main">
            <a:off x="7029450" y="4257675"/>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D166"/>
                </a:solidFill>
                <a:latin typeface="Aptos"/>
                <a:ea typeface="Aptos"/>
                <a:cs typeface="Aptos"/>
              </a:defRPr>
            </a:pPr>
            <a:r>
              <a:rPr sz="1275" b="1">
                <a:solidFill>
                  <a:srgbClr val="FFD166"/>
                </a:solidFill>
                <a:latin typeface="Aptos"/>
                <a:ea typeface="Aptos"/>
                <a:cs typeface="Aptos"/>
              </a:rPr>
              <a:t>Python tool</a:t>
            </a:r>
          </a:p>
        </p:txBody>
      </p:sp>
      <p:sp>
        <p:nvSpPr>
          <p:cNvPr id="23" name="">
            <a:extLst xmlns:a="http://schemas.openxmlformats.org/drawingml/2006/main">
              <a:ext uri="{FF2B5EF4-FFF2-40B4-BE49-F238E27FC236}">
                <a16:creationId xmlns:a16="http://schemas.microsoft.com/office/drawing/2014/main" id="{1675371B-BEB5-416E-A9B7-F856A5D3334C}"/>
              </a:ext>
            </a:extLst>
          </p:cNvPr>
          <p:cNvSpPr>
            <a:spLocks xmlns:a="http://schemas.openxmlformats.org/drawingml/2006/main" noGrp="1"/>
          </p:cNvSpPr>
          <p:nvPr/>
        </p:nvSpPr>
        <p:spPr>
          <a:xfrm xmlns:a="http://schemas.openxmlformats.org/drawingml/2006/main">
            <a:off x="8362950" y="4276725"/>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runs simulation</a:t>
            </a:r>
          </a:p>
        </p:txBody>
      </p:sp>
      <p:sp>
        <p:nvSpPr>
          <p:cNvPr id="24" name="">
            <a:extLst xmlns:a="http://schemas.openxmlformats.org/drawingml/2006/main">
              <a:ext uri="{FF2B5EF4-FFF2-40B4-BE49-F238E27FC236}">
                <a16:creationId xmlns:a16="http://schemas.microsoft.com/office/drawing/2014/main" id="{D722D2B8-1A71-4092-8E40-D239EE382524}"/>
              </a:ext>
            </a:extLst>
          </p:cNvPr>
          <p:cNvSpPr>
            <a:spLocks xmlns:a="http://schemas.openxmlformats.org/drawingml/2006/main" noGrp="1"/>
          </p:cNvSpPr>
          <p:nvPr/>
        </p:nvSpPr>
        <p:spPr>
          <a:xfrm xmlns:a="http://schemas.openxmlformats.org/drawingml/2006/main">
            <a:off x="8458200" y="4619625"/>
            <a:ext cx="38100" cy="171450"/>
          </a:xfrm>
          <a:prstGeom xmlns:a="http://schemas.openxmlformats.org/drawingml/2006/main" prst="rect">
            <a:avLst/>
          </a:prstGeom>
          <a:solidFill xmlns:a="http://schemas.openxmlformats.org/drawingml/2006/main">
            <a:srgbClr val="FFD166"/>
          </a:solidFill>
          <a:ln xmlns:a="http://schemas.openxmlformats.org/drawingml/2006/main" w="14288">
            <a:solidFill>
              <a:srgbClr val="FFD166"/>
            </a:solidFill>
            <a:prstDash val="solid"/>
          </a:ln>
        </p:spPr>
      </p:sp>
      <p:sp>
        <p:nvSpPr>
          <p:cNvPr id="25" name="">
            <a:extLst xmlns:a="http://schemas.openxmlformats.org/drawingml/2006/main">
              <a:ext uri="{FF2B5EF4-FFF2-40B4-BE49-F238E27FC236}">
                <a16:creationId xmlns:a16="http://schemas.microsoft.com/office/drawing/2014/main" id="{91169919-E5B9-4AB1-932C-881ECB771A07}"/>
              </a:ext>
            </a:extLst>
          </p:cNvPr>
          <p:cNvSpPr>
            <a:spLocks xmlns:a="http://schemas.openxmlformats.org/drawingml/2006/main" noGrp="1"/>
          </p:cNvSpPr>
          <p:nvPr/>
        </p:nvSpPr>
        <p:spPr>
          <a:xfrm xmlns:a="http://schemas.openxmlformats.org/drawingml/2006/main">
            <a:off x="6858000" y="4819650"/>
            <a:ext cx="3333750" cy="438150"/>
          </a:xfrm>
          <a:prstGeom xmlns:a="http://schemas.openxmlformats.org/drawingml/2006/main" prst="rect">
            <a:avLst/>
          </a:prstGeom>
          <a:solidFill xmlns:a="http://schemas.openxmlformats.org/drawingml/2006/main">
            <a:srgbClr val="0E1C1C"/>
          </a:solidFill>
          <a:ln xmlns:a="http://schemas.openxmlformats.org/drawingml/2006/main" w="14288">
            <a:solidFill>
              <a:srgbClr val="B899FF"/>
            </a:solidFill>
            <a:prstDash val="solid"/>
          </a:ln>
        </p:spPr>
      </p:sp>
      <p:sp>
        <p:nvSpPr>
          <p:cNvPr id="26" name="">
            <a:extLst xmlns:a="http://schemas.openxmlformats.org/drawingml/2006/main">
              <a:ext uri="{FF2B5EF4-FFF2-40B4-BE49-F238E27FC236}">
                <a16:creationId xmlns:a16="http://schemas.microsoft.com/office/drawing/2014/main" id="{FC79844A-A017-4C53-B1E8-57D7890EE27F}"/>
              </a:ext>
            </a:extLst>
          </p:cNvPr>
          <p:cNvSpPr>
            <a:spLocks xmlns:a="http://schemas.openxmlformats.org/drawingml/2006/main" noGrp="1"/>
          </p:cNvSpPr>
          <p:nvPr/>
        </p:nvSpPr>
        <p:spPr>
          <a:xfrm xmlns:a="http://schemas.openxmlformats.org/drawingml/2006/main">
            <a:off x="7029450" y="4905375"/>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B899FF"/>
                </a:solidFill>
                <a:latin typeface="Aptos"/>
                <a:ea typeface="Aptos"/>
                <a:cs typeface="Aptos"/>
              </a:defRPr>
            </a:pPr>
            <a:r>
              <a:rPr sz="1275" b="1">
                <a:solidFill>
                  <a:srgbClr val="B899FF"/>
                </a:solidFill>
                <a:latin typeface="Aptos"/>
                <a:ea typeface="Aptos"/>
                <a:cs typeface="Aptos"/>
              </a:rPr>
              <a:t>Final answer</a:t>
            </a:r>
          </a:p>
        </p:txBody>
      </p:sp>
      <p:sp>
        <p:nvSpPr>
          <p:cNvPr id="27" name="">
            <a:extLst xmlns:a="http://schemas.openxmlformats.org/drawingml/2006/main">
              <a:ext uri="{FF2B5EF4-FFF2-40B4-BE49-F238E27FC236}">
                <a16:creationId xmlns:a16="http://schemas.microsoft.com/office/drawing/2014/main" id="{0B2579B7-22A9-4D5D-A94D-1499D2AEFDBB}"/>
              </a:ext>
            </a:extLst>
          </p:cNvPr>
          <p:cNvSpPr>
            <a:spLocks xmlns:a="http://schemas.openxmlformats.org/drawingml/2006/main" noGrp="1"/>
          </p:cNvSpPr>
          <p:nvPr/>
        </p:nvSpPr>
        <p:spPr>
          <a:xfrm xmlns:a="http://schemas.openxmlformats.org/drawingml/2006/main">
            <a:off x="8362950" y="4924425"/>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cited uncertainty</a:t>
            </a:r>
          </a:p>
        </p:txBody>
      </p:sp>
      <p:sp>
        <p:nvSpPr>
          <p:cNvPr id="28" name="">
            <a:extLst xmlns:a="http://schemas.openxmlformats.org/drawingml/2006/main">
              <a:ext uri="{FF2B5EF4-FFF2-40B4-BE49-F238E27FC236}">
                <a16:creationId xmlns:a16="http://schemas.microsoft.com/office/drawing/2014/main" id="{10A51BE4-0C6E-4FB7-84C7-79D5D3030239}"/>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07</a:t>
            </a:r>
          </a:p>
        </p:txBody>
      </p:sp>
      <p:sp>
        <p:nvSpPr>
          <p:cNvPr id="29" name="">
            <a:extLst xmlns:a="http://schemas.openxmlformats.org/drawingml/2006/main">
              <a:ext uri="{FF2B5EF4-FFF2-40B4-BE49-F238E27FC236}">
                <a16:creationId xmlns:a16="http://schemas.microsoft.com/office/drawing/2014/main" id="{2E68C92F-FCE1-445E-A345-334A9C18E365}"/>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Concept source: docs/python_mcp_intro.md</a:t>
            </a:r>
          </a:p>
        </p:txBody>
      </p:sp>
    </p:spTree>
    <p:extLst>
      <p:ext uri="{BB962C8B-B14F-4D97-AF65-F5344CB8AC3E}">
        <p14:creationId xmlns:p14="http://schemas.microsoft.com/office/powerpoint/2010/main" val="77183597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8b3dd711f79a45b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AE4C84-2F68-4EC1-A726-7813DBBF24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52157"/>
            </a:srgbClr>
          </a:solidFill>
          <a:ln xmlns:a="http://schemas.openxmlformats.org/drawingml/2006/main" w="14288">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1B0213D-1A9E-42F3-9045-B77F33DFE5AA}"/>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4" name="kicker-label">
            <a:extLst xmlns:a="http://schemas.openxmlformats.org/drawingml/2006/main">
              <a:ext uri="{FF2B5EF4-FFF2-40B4-BE49-F238E27FC236}">
                <a16:creationId xmlns:a16="http://schemas.microsoft.com/office/drawing/2014/main" id="{D60BF705-D3E0-40E5-8C6B-9088D769A7E1}"/>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5" name="">
            <a:extLst xmlns:a="http://schemas.openxmlformats.org/drawingml/2006/main">
              <a:ext uri="{FF2B5EF4-FFF2-40B4-BE49-F238E27FC236}">
                <a16:creationId xmlns:a16="http://schemas.microsoft.com/office/drawing/2014/main" id="{82D6851A-0D57-4CB1-AF40-BB6BE35357F7}"/>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10:30</a:t>
            </a:r>
          </a:p>
        </p:txBody>
      </p:sp>
      <p:sp>
        <p:nvSpPr>
          <p:cNvPr id="6" name="">
            <a:extLst xmlns:a="http://schemas.openxmlformats.org/drawingml/2006/main">
              <a:ext uri="{FF2B5EF4-FFF2-40B4-BE49-F238E27FC236}">
                <a16:creationId xmlns:a16="http://schemas.microsoft.com/office/drawing/2014/main" id="{3BA00B34-4889-4F70-999F-4A244699440C}"/>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The LLM is not allowed to invent the match probabilities.</a:t>
            </a:r>
          </a:p>
        </p:txBody>
      </p:sp>
      <p:sp>
        <p:nvSpPr>
          <p:cNvPr id="7" name="">
            <a:extLst xmlns:a="http://schemas.openxmlformats.org/drawingml/2006/main">
              <a:ext uri="{FF2B5EF4-FFF2-40B4-BE49-F238E27FC236}">
                <a16:creationId xmlns:a16="http://schemas.microsoft.com/office/drawing/2014/main" id="{2D9D706D-3EB6-4E7F-8DEC-977F78882415}"/>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For USA vs Australia, Forecast VAR calls the Python model and discloses the gaps.</a:t>
            </a:r>
          </a:p>
        </p:txBody>
      </p:sp>
      <p:sp>
        <p:nvSpPr>
          <p:cNvPr id="8" name="">
            <a:extLst xmlns:a="http://schemas.openxmlformats.org/drawingml/2006/main">
              <a:ext uri="{FF2B5EF4-FFF2-40B4-BE49-F238E27FC236}">
                <a16:creationId xmlns:a16="http://schemas.microsoft.com/office/drawing/2014/main" id="{3CB93C87-C1ED-4B63-BD5A-A39E4DB5C04D}"/>
              </a:ext>
            </a:extLst>
          </p:cNvPr>
          <p:cNvSpPr>
            <a:spLocks xmlns:a="http://schemas.openxmlformats.org/drawingml/2006/main" noGrp="1"/>
          </p:cNvSpPr>
          <p:nvPr/>
        </p:nvSpPr>
        <p:spPr>
          <a:xfrm xmlns:a="http://schemas.openxmlformats.org/drawingml/2006/main">
            <a:off x="876300" y="2447925"/>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USA win</a:t>
            </a:r>
          </a:p>
        </p:txBody>
      </p:sp>
      <p:sp>
        <p:nvSpPr>
          <p:cNvPr id="9" name="">
            <a:extLst xmlns:a="http://schemas.openxmlformats.org/drawingml/2006/main">
              <a:ext uri="{FF2B5EF4-FFF2-40B4-BE49-F238E27FC236}">
                <a16:creationId xmlns:a16="http://schemas.microsoft.com/office/drawing/2014/main" id="{584D9BFC-6C18-4D7E-8629-BA9344273383}"/>
              </a:ext>
            </a:extLst>
          </p:cNvPr>
          <p:cNvSpPr>
            <a:spLocks xmlns:a="http://schemas.openxmlformats.org/drawingml/2006/main" noGrp="1"/>
          </p:cNvSpPr>
          <p:nvPr/>
        </p:nvSpPr>
        <p:spPr>
          <a:xfrm xmlns:a="http://schemas.openxmlformats.org/drawingml/2006/main">
            <a:off x="2400300" y="2476500"/>
            <a:ext cx="4191000"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10" name="">
            <a:extLst xmlns:a="http://schemas.openxmlformats.org/drawingml/2006/main">
              <a:ext uri="{FF2B5EF4-FFF2-40B4-BE49-F238E27FC236}">
                <a16:creationId xmlns:a16="http://schemas.microsoft.com/office/drawing/2014/main" id="{AEB6AC57-47B5-4C8D-AA16-E20C9ED76F08}"/>
              </a:ext>
            </a:extLst>
          </p:cNvPr>
          <p:cNvSpPr>
            <a:spLocks xmlns:a="http://schemas.openxmlformats.org/drawingml/2006/main" noGrp="1"/>
          </p:cNvSpPr>
          <p:nvPr/>
        </p:nvSpPr>
        <p:spPr>
          <a:xfrm xmlns:a="http://schemas.openxmlformats.org/drawingml/2006/main">
            <a:off x="2400300" y="2476500"/>
            <a:ext cx="3281875" cy="2286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11" name="">
            <a:extLst xmlns:a="http://schemas.openxmlformats.org/drawingml/2006/main">
              <a:ext uri="{FF2B5EF4-FFF2-40B4-BE49-F238E27FC236}">
                <a16:creationId xmlns:a16="http://schemas.microsoft.com/office/drawing/2014/main" id="{FC484962-81E6-4FD0-99CE-704AECB0BD9E}"/>
              </a:ext>
            </a:extLst>
          </p:cNvPr>
          <p:cNvSpPr>
            <a:spLocks xmlns:a="http://schemas.openxmlformats.org/drawingml/2006/main" noGrp="1"/>
          </p:cNvSpPr>
          <p:nvPr/>
        </p:nvSpPr>
        <p:spPr>
          <a:xfrm xmlns:a="http://schemas.openxmlformats.org/drawingml/2006/main">
            <a:off x="6686550" y="2438400"/>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39A"/>
                </a:solidFill>
                <a:latin typeface="Aptos"/>
                <a:ea typeface="Aptos"/>
                <a:cs typeface="Aptos"/>
              </a:defRPr>
            </a:pPr>
            <a:r>
              <a:rPr sz="1275" b="1">
                <a:solidFill>
                  <a:srgbClr val="5EE39A"/>
                </a:solidFill>
                <a:latin typeface="Aptos"/>
                <a:ea typeface="Aptos"/>
                <a:cs typeface="Aptos"/>
              </a:rPr>
              <a:t>50.9%</a:t>
            </a:r>
          </a:p>
        </p:txBody>
      </p:sp>
      <p:sp>
        <p:nvSpPr>
          <p:cNvPr id="12" name="">
            <a:extLst xmlns:a="http://schemas.openxmlformats.org/drawingml/2006/main">
              <a:ext uri="{FF2B5EF4-FFF2-40B4-BE49-F238E27FC236}">
                <a16:creationId xmlns:a16="http://schemas.microsoft.com/office/drawing/2014/main" id="{EBCC7986-34A1-4B72-AA80-FD6F14578D64}"/>
              </a:ext>
            </a:extLst>
          </p:cNvPr>
          <p:cNvSpPr>
            <a:spLocks xmlns:a="http://schemas.openxmlformats.org/drawingml/2006/main" noGrp="1"/>
          </p:cNvSpPr>
          <p:nvPr/>
        </p:nvSpPr>
        <p:spPr>
          <a:xfrm xmlns:a="http://schemas.openxmlformats.org/drawingml/2006/main">
            <a:off x="2400300" y="2762250"/>
            <a:ext cx="419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6C1AD"/>
                </a:solidFill>
                <a:latin typeface="Aptos"/>
                <a:ea typeface="Aptos"/>
                <a:cs typeface="Aptos"/>
              </a:defRPr>
            </a:pPr>
            <a:r>
              <a:rPr sz="825" b="0">
                <a:solidFill>
                  <a:srgbClr val="B6C1AD"/>
                </a:solidFill>
                <a:latin typeface="Aptos"/>
                <a:ea typeface="Aptos"/>
                <a:cs typeface="Aptos"/>
              </a:rPr>
              <a:t>model probability</a:t>
            </a:r>
          </a:p>
        </p:txBody>
      </p:sp>
      <p:sp>
        <p:nvSpPr>
          <p:cNvPr id="13" name="">
            <a:extLst xmlns:a="http://schemas.openxmlformats.org/drawingml/2006/main">
              <a:ext uri="{FF2B5EF4-FFF2-40B4-BE49-F238E27FC236}">
                <a16:creationId xmlns:a16="http://schemas.microsoft.com/office/drawing/2014/main" id="{BBA92777-24D3-4982-A6AA-5431596930AA}"/>
              </a:ext>
            </a:extLst>
          </p:cNvPr>
          <p:cNvSpPr>
            <a:spLocks xmlns:a="http://schemas.openxmlformats.org/drawingml/2006/main" noGrp="1"/>
          </p:cNvSpPr>
          <p:nvPr/>
        </p:nvSpPr>
        <p:spPr>
          <a:xfrm xmlns:a="http://schemas.openxmlformats.org/drawingml/2006/main">
            <a:off x="876300" y="3162300"/>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Draw</a:t>
            </a:r>
          </a:p>
        </p:txBody>
      </p:sp>
      <p:sp>
        <p:nvSpPr>
          <p:cNvPr id="14" name="">
            <a:extLst xmlns:a="http://schemas.openxmlformats.org/drawingml/2006/main">
              <a:ext uri="{FF2B5EF4-FFF2-40B4-BE49-F238E27FC236}">
                <a16:creationId xmlns:a16="http://schemas.microsoft.com/office/drawing/2014/main" id="{39B5B480-B2A3-4911-AE85-DB627774644F}"/>
              </a:ext>
            </a:extLst>
          </p:cNvPr>
          <p:cNvSpPr>
            <a:spLocks xmlns:a="http://schemas.openxmlformats.org/drawingml/2006/main" noGrp="1"/>
          </p:cNvSpPr>
          <p:nvPr/>
        </p:nvSpPr>
        <p:spPr>
          <a:xfrm xmlns:a="http://schemas.openxmlformats.org/drawingml/2006/main">
            <a:off x="2400300" y="3190875"/>
            <a:ext cx="4191000"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15" name="">
            <a:extLst xmlns:a="http://schemas.openxmlformats.org/drawingml/2006/main">
              <a:ext uri="{FF2B5EF4-FFF2-40B4-BE49-F238E27FC236}">
                <a16:creationId xmlns:a16="http://schemas.microsoft.com/office/drawing/2014/main" id="{0085ED79-246A-4BA5-A902-3600B43B5167}"/>
              </a:ext>
            </a:extLst>
          </p:cNvPr>
          <p:cNvSpPr>
            <a:spLocks xmlns:a="http://schemas.openxmlformats.org/drawingml/2006/main" noGrp="1"/>
          </p:cNvSpPr>
          <p:nvPr/>
        </p:nvSpPr>
        <p:spPr>
          <a:xfrm xmlns:a="http://schemas.openxmlformats.org/drawingml/2006/main">
            <a:off x="2400300" y="3190875"/>
            <a:ext cx="1354015" cy="228600"/>
          </a:xfrm>
          <a:prstGeom xmlns:a="http://schemas.openxmlformats.org/drawingml/2006/main" prst="rect">
            <a:avLst/>
          </a:prstGeom>
          <a:solidFill xmlns:a="http://schemas.openxmlformats.org/drawingml/2006/main">
            <a:srgbClr val="FFD166"/>
          </a:solidFill>
          <a:ln xmlns:a="http://schemas.openxmlformats.org/drawingml/2006/main" w="14288">
            <a:solidFill>
              <a:srgbClr val="FFD166"/>
            </a:solidFill>
            <a:prstDash val="solid"/>
          </a:ln>
        </p:spPr>
      </p:sp>
      <p:sp>
        <p:nvSpPr>
          <p:cNvPr id="16" name="">
            <a:extLst xmlns:a="http://schemas.openxmlformats.org/drawingml/2006/main">
              <a:ext uri="{FF2B5EF4-FFF2-40B4-BE49-F238E27FC236}">
                <a16:creationId xmlns:a16="http://schemas.microsoft.com/office/drawing/2014/main" id="{F5D77EED-757D-4A0C-AF02-7EEBEF3BDD14}"/>
              </a:ext>
            </a:extLst>
          </p:cNvPr>
          <p:cNvSpPr>
            <a:spLocks xmlns:a="http://schemas.openxmlformats.org/drawingml/2006/main" noGrp="1"/>
          </p:cNvSpPr>
          <p:nvPr/>
        </p:nvSpPr>
        <p:spPr>
          <a:xfrm xmlns:a="http://schemas.openxmlformats.org/drawingml/2006/main">
            <a:off x="6686550" y="3152775"/>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D166"/>
                </a:solidFill>
                <a:latin typeface="Aptos"/>
                <a:ea typeface="Aptos"/>
                <a:cs typeface="Aptos"/>
              </a:defRPr>
            </a:pPr>
            <a:r>
              <a:rPr sz="1275" b="1">
                <a:solidFill>
                  <a:srgbClr val="FFD166"/>
                </a:solidFill>
                <a:latin typeface="Aptos"/>
                <a:ea typeface="Aptos"/>
                <a:cs typeface="Aptos"/>
              </a:rPr>
              <a:t>21.0%</a:t>
            </a:r>
          </a:p>
        </p:txBody>
      </p:sp>
      <p:sp>
        <p:nvSpPr>
          <p:cNvPr id="17" name="">
            <a:extLst xmlns:a="http://schemas.openxmlformats.org/drawingml/2006/main">
              <a:ext uri="{FF2B5EF4-FFF2-40B4-BE49-F238E27FC236}">
                <a16:creationId xmlns:a16="http://schemas.microsoft.com/office/drawing/2014/main" id="{AD6CECF4-9390-4668-9FB8-BB81F46F743D}"/>
              </a:ext>
            </a:extLst>
          </p:cNvPr>
          <p:cNvSpPr>
            <a:spLocks xmlns:a="http://schemas.openxmlformats.org/drawingml/2006/main" noGrp="1"/>
          </p:cNvSpPr>
          <p:nvPr/>
        </p:nvSpPr>
        <p:spPr>
          <a:xfrm xmlns:a="http://schemas.openxmlformats.org/drawingml/2006/main">
            <a:off x="2400300" y="3476625"/>
            <a:ext cx="419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6C1AD"/>
                </a:solidFill>
                <a:latin typeface="Aptos"/>
                <a:ea typeface="Aptos"/>
                <a:cs typeface="Aptos"/>
              </a:defRPr>
            </a:pPr>
            <a:r>
              <a:rPr sz="825" b="0">
                <a:solidFill>
                  <a:srgbClr val="B6C1AD"/>
                </a:solidFill>
                <a:latin typeface="Aptos"/>
                <a:ea typeface="Aptos"/>
                <a:cs typeface="Aptos"/>
              </a:rPr>
              <a:t>bounded draw probability</a:t>
            </a:r>
          </a:p>
        </p:txBody>
      </p:sp>
      <p:sp>
        <p:nvSpPr>
          <p:cNvPr id="18" name="">
            <a:extLst xmlns:a="http://schemas.openxmlformats.org/drawingml/2006/main">
              <a:ext uri="{FF2B5EF4-FFF2-40B4-BE49-F238E27FC236}">
                <a16:creationId xmlns:a16="http://schemas.microsoft.com/office/drawing/2014/main" id="{48034A07-6120-4DE4-A503-A03A8EEF0A46}"/>
              </a:ext>
            </a:extLst>
          </p:cNvPr>
          <p:cNvSpPr>
            <a:spLocks xmlns:a="http://schemas.openxmlformats.org/drawingml/2006/main" noGrp="1"/>
          </p:cNvSpPr>
          <p:nvPr/>
        </p:nvSpPr>
        <p:spPr>
          <a:xfrm xmlns:a="http://schemas.openxmlformats.org/drawingml/2006/main">
            <a:off x="876300" y="3876675"/>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Australia win</a:t>
            </a:r>
          </a:p>
        </p:txBody>
      </p:sp>
      <p:sp>
        <p:nvSpPr>
          <p:cNvPr id="19" name="">
            <a:extLst xmlns:a="http://schemas.openxmlformats.org/drawingml/2006/main">
              <a:ext uri="{FF2B5EF4-FFF2-40B4-BE49-F238E27FC236}">
                <a16:creationId xmlns:a16="http://schemas.microsoft.com/office/drawing/2014/main" id="{3E4B0B67-1212-42CA-AD47-EEE0006AAAF7}"/>
              </a:ext>
            </a:extLst>
          </p:cNvPr>
          <p:cNvSpPr>
            <a:spLocks xmlns:a="http://schemas.openxmlformats.org/drawingml/2006/main" noGrp="1"/>
          </p:cNvSpPr>
          <p:nvPr/>
        </p:nvSpPr>
        <p:spPr>
          <a:xfrm xmlns:a="http://schemas.openxmlformats.org/drawingml/2006/main">
            <a:off x="2400300" y="3905250"/>
            <a:ext cx="4191000"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20" name="">
            <a:extLst xmlns:a="http://schemas.openxmlformats.org/drawingml/2006/main">
              <a:ext uri="{FF2B5EF4-FFF2-40B4-BE49-F238E27FC236}">
                <a16:creationId xmlns:a16="http://schemas.microsoft.com/office/drawing/2014/main" id="{33C93870-43A6-4E58-AB49-769DE9005DC1}"/>
              </a:ext>
            </a:extLst>
          </p:cNvPr>
          <p:cNvSpPr>
            <a:spLocks xmlns:a="http://schemas.openxmlformats.org/drawingml/2006/main" noGrp="1"/>
          </p:cNvSpPr>
          <p:nvPr/>
        </p:nvSpPr>
        <p:spPr>
          <a:xfrm xmlns:a="http://schemas.openxmlformats.org/drawingml/2006/main">
            <a:off x="2400300" y="3905250"/>
            <a:ext cx="1811802" cy="228600"/>
          </a:xfrm>
          <a:prstGeom xmlns:a="http://schemas.openxmlformats.org/drawingml/2006/main" prst="rect">
            <a:avLst/>
          </a:prstGeom>
          <a:solidFill xmlns:a="http://schemas.openxmlformats.org/drawingml/2006/main">
            <a:srgbClr val="FF9F1C"/>
          </a:solidFill>
          <a:ln xmlns:a="http://schemas.openxmlformats.org/drawingml/2006/main" w="14288">
            <a:solidFill>
              <a:srgbClr val="FF9F1C"/>
            </a:solidFill>
            <a:prstDash val="solid"/>
          </a:ln>
        </p:spPr>
      </p:sp>
      <p:sp>
        <p:nvSpPr>
          <p:cNvPr id="21" name="">
            <a:extLst xmlns:a="http://schemas.openxmlformats.org/drawingml/2006/main">
              <a:ext uri="{FF2B5EF4-FFF2-40B4-BE49-F238E27FC236}">
                <a16:creationId xmlns:a16="http://schemas.microsoft.com/office/drawing/2014/main" id="{39D9BF9D-B50E-4738-9616-0367F922FAB2}"/>
              </a:ext>
            </a:extLst>
          </p:cNvPr>
          <p:cNvSpPr>
            <a:spLocks xmlns:a="http://schemas.openxmlformats.org/drawingml/2006/main" noGrp="1"/>
          </p:cNvSpPr>
          <p:nvPr/>
        </p:nvSpPr>
        <p:spPr>
          <a:xfrm xmlns:a="http://schemas.openxmlformats.org/drawingml/2006/main">
            <a:off x="6686550" y="3867150"/>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9F1C"/>
                </a:solidFill>
                <a:latin typeface="Aptos"/>
                <a:ea typeface="Aptos"/>
                <a:cs typeface="Aptos"/>
              </a:defRPr>
            </a:pPr>
            <a:r>
              <a:rPr sz="1275" b="1">
                <a:solidFill>
                  <a:srgbClr val="FF9F1C"/>
                </a:solidFill>
                <a:latin typeface="Aptos"/>
                <a:ea typeface="Aptos"/>
                <a:cs typeface="Aptos"/>
              </a:rPr>
              <a:t>28.1%</a:t>
            </a:r>
          </a:p>
        </p:txBody>
      </p:sp>
      <p:sp>
        <p:nvSpPr>
          <p:cNvPr id="22" name="">
            <a:extLst xmlns:a="http://schemas.openxmlformats.org/drawingml/2006/main">
              <a:ext uri="{FF2B5EF4-FFF2-40B4-BE49-F238E27FC236}">
                <a16:creationId xmlns:a16="http://schemas.microsoft.com/office/drawing/2014/main" id="{F38D16B9-659B-4E22-AC32-6379EEBE33D7}"/>
              </a:ext>
            </a:extLst>
          </p:cNvPr>
          <p:cNvSpPr>
            <a:spLocks xmlns:a="http://schemas.openxmlformats.org/drawingml/2006/main" noGrp="1"/>
          </p:cNvSpPr>
          <p:nvPr/>
        </p:nvSpPr>
        <p:spPr>
          <a:xfrm xmlns:a="http://schemas.openxmlformats.org/drawingml/2006/main">
            <a:off x="2400300" y="4191000"/>
            <a:ext cx="419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6C1AD"/>
                </a:solidFill>
                <a:latin typeface="Aptos"/>
                <a:ea typeface="Aptos"/>
                <a:cs typeface="Aptos"/>
              </a:defRPr>
            </a:pPr>
            <a:r>
              <a:rPr sz="825" b="0">
                <a:solidFill>
                  <a:srgbClr val="B6C1AD"/>
                </a:solidFill>
                <a:latin typeface="Aptos"/>
                <a:ea typeface="Aptos"/>
                <a:cs typeface="Aptos"/>
              </a:rPr>
              <a:t>model probability</a:t>
            </a:r>
          </a:p>
        </p:txBody>
      </p:sp>
      <p:sp>
        <p:nvSpPr>
          <p:cNvPr id="23" name="">
            <a:extLst xmlns:a="http://schemas.openxmlformats.org/drawingml/2006/main">
              <a:ext uri="{FF2B5EF4-FFF2-40B4-BE49-F238E27FC236}">
                <a16:creationId xmlns:a16="http://schemas.microsoft.com/office/drawing/2014/main" id="{7364AC87-2FC6-4B2B-9B06-C9A9128C6C87}"/>
              </a:ext>
            </a:extLst>
          </p:cNvPr>
          <p:cNvSpPr>
            <a:spLocks xmlns:a="http://schemas.openxmlformats.org/drawingml/2006/main" noGrp="1"/>
          </p:cNvSpPr>
          <p:nvPr/>
        </p:nvSpPr>
        <p:spPr>
          <a:xfrm xmlns:a="http://schemas.openxmlformats.org/drawingml/2006/main">
            <a:off x="7239000" y="2381250"/>
            <a:ext cx="3143250" cy="17335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FFD166"/>
            </a:solidFill>
            <a:prstDash val="solid"/>
          </a:ln>
        </p:spPr>
      </p:sp>
      <p:sp>
        <p:nvSpPr>
          <p:cNvPr id="24" name="">
            <a:extLst xmlns:a="http://schemas.openxmlformats.org/drawingml/2006/main">
              <a:ext uri="{FF2B5EF4-FFF2-40B4-BE49-F238E27FC236}">
                <a16:creationId xmlns:a16="http://schemas.microsoft.com/office/drawing/2014/main" id="{AC88B13A-272B-46E3-9EE9-DCF698D9AF89}"/>
              </a:ext>
            </a:extLst>
          </p:cNvPr>
          <p:cNvSpPr>
            <a:spLocks xmlns:a="http://schemas.openxmlformats.org/drawingml/2006/main" noGrp="1"/>
          </p:cNvSpPr>
          <p:nvPr/>
        </p:nvSpPr>
        <p:spPr>
          <a:xfrm xmlns:a="http://schemas.openxmlformats.org/drawingml/2006/main">
            <a:off x="7524750" y="262890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FFD166"/>
                </a:solidFill>
                <a:latin typeface="Aptos"/>
                <a:ea typeface="Aptos"/>
                <a:cs typeface="Aptos"/>
              </a:defRPr>
            </a:pPr>
            <a:r>
              <a:rPr sz="1950" b="1">
                <a:solidFill>
                  <a:srgbClr val="FFD166"/>
                </a:solidFill>
                <a:latin typeface="Aptos"/>
                <a:ea typeface="Aptos"/>
                <a:cs typeface="Aptos"/>
              </a:rPr>
              <a:t>Gaps disclosed</a:t>
            </a:r>
          </a:p>
        </p:txBody>
      </p:sp>
      <p:sp>
        <p:nvSpPr>
          <p:cNvPr id="25" name="">
            <a:extLst xmlns:a="http://schemas.openxmlformats.org/drawingml/2006/main">
              <a:ext uri="{FF2B5EF4-FFF2-40B4-BE49-F238E27FC236}">
                <a16:creationId xmlns:a16="http://schemas.microsoft.com/office/drawing/2014/main" id="{F5B6B604-DC9D-4403-A77C-E05F03FE7596}"/>
              </a:ext>
            </a:extLst>
          </p:cNvPr>
          <p:cNvSpPr>
            <a:spLocks xmlns:a="http://schemas.openxmlformats.org/drawingml/2006/main" noGrp="1"/>
          </p:cNvSpPr>
          <p:nvPr/>
        </p:nvSpPr>
        <p:spPr>
          <a:xfrm xmlns:a="http://schemas.openxmlformats.org/drawingml/2006/main">
            <a:off x="7543800" y="3086100"/>
            <a:ext cx="23812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6F1DF"/>
                </a:solidFill>
                <a:latin typeface="Aptos"/>
                <a:ea typeface="Aptos"/>
                <a:cs typeface="Aptos"/>
              </a:defRPr>
            </a:pPr>
            <a:r>
              <a:rPr sz="1500" b="0">
                <a:solidFill>
                  <a:srgbClr val="F6F1DF"/>
                </a:solidFill>
                <a:latin typeface="Aptos"/>
                <a:ea typeface="Aptos"/>
                <a:cs typeface="Aptos"/>
              </a:rPr>
              <a:t>No live lineups</a:t>
            </a:r>
          </a:p>
          <a:p xmlns:a="http://schemas.openxmlformats.org/drawingml/2006/main">
            <a:pPr algn="l">
              <a:defRPr sz="1500" b="0">
                <a:solidFill>
                  <a:srgbClr val="F6F1DF"/>
                </a:solidFill>
                <a:latin typeface="Aptos"/>
                <a:ea typeface="Aptos"/>
                <a:cs typeface="Aptos"/>
              </a:defRPr>
            </a:pPr>
            <a:r>
              <a:rPr sz="1500" b="0">
                <a:solidFill>
                  <a:srgbClr val="F6F1DF"/>
                </a:solidFill>
                <a:latin typeface="Aptos"/>
                <a:ea typeface="Aptos"/>
                <a:cs typeface="Aptos"/>
              </a:rPr>
              <a:t>No live injury feed</a:t>
            </a:r>
          </a:p>
          <a:p xmlns:a="http://schemas.openxmlformats.org/drawingml/2006/main">
            <a:pPr algn="l">
              <a:defRPr sz="1500" b="0">
                <a:solidFill>
                  <a:srgbClr val="F6F1DF"/>
                </a:solidFill>
                <a:latin typeface="Aptos"/>
                <a:ea typeface="Aptos"/>
                <a:cs typeface="Aptos"/>
              </a:defRPr>
            </a:pPr>
            <a:r>
              <a:rPr sz="1500" b="0">
                <a:solidFill>
                  <a:srgbClr val="F6F1DF"/>
                </a:solidFill>
                <a:latin typeface="Aptos"/>
                <a:ea typeface="Aptos"/>
                <a:cs typeface="Aptos"/>
              </a:rPr>
              <a:t>Sample odds only</a:t>
            </a:r>
          </a:p>
          <a:p xmlns:a="http://schemas.openxmlformats.org/drawingml/2006/main">
            <a:pPr algn="l">
              <a:defRPr sz="1500" b="0">
                <a:solidFill>
                  <a:srgbClr val="F6F1DF"/>
                </a:solidFill>
                <a:latin typeface="Aptos"/>
                <a:ea typeface="Aptos"/>
                <a:cs typeface="Aptos"/>
              </a:defRPr>
            </a:pPr>
            <a:r>
              <a:rPr sz="1500" b="0">
                <a:solidFill>
                  <a:srgbClr val="F6F1DF"/>
                </a:solidFill>
                <a:latin typeface="Aptos"/>
                <a:ea typeface="Aptos"/>
                <a:cs typeface="Aptos"/>
              </a:rPr>
              <a:t>No betting advice</a:t>
            </a:r>
          </a:p>
        </p:txBody>
      </p:sp>
      <p:sp>
        <p:nvSpPr>
          <p:cNvPr id="26" name="">
            <a:extLst xmlns:a="http://schemas.openxmlformats.org/drawingml/2006/main">
              <a:ext uri="{FF2B5EF4-FFF2-40B4-BE49-F238E27FC236}">
                <a16:creationId xmlns:a16="http://schemas.microsoft.com/office/drawing/2014/main" id="{A69A9B7E-2B2F-4062-A28E-51F23ABF3213}"/>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08</a:t>
            </a:r>
          </a:p>
        </p:txBody>
      </p:sp>
      <p:sp>
        <p:nvSpPr>
          <p:cNvPr id="27" name="">
            <a:extLst xmlns:a="http://schemas.openxmlformats.org/drawingml/2006/main">
              <a:ext uri="{FF2B5EF4-FFF2-40B4-BE49-F238E27FC236}">
                <a16:creationId xmlns:a16="http://schemas.microsoft.com/office/drawing/2014/main" id="{F5E169CA-F307-4DC3-892E-5A30B6B924EC}"/>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Image: public domain goalkeeper photo via Wikimedia Commons</a:t>
            </a:r>
          </a:p>
        </p:txBody>
      </p:sp>
    </p:spTree>
    <p:extLst>
      <p:ext uri="{BB962C8B-B14F-4D97-AF65-F5344CB8AC3E}">
        <p14:creationId xmlns:p14="http://schemas.microsoft.com/office/powerpoint/2010/main" val="204813582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CDD3C9-CC2C-4B71-8775-BFCD02F316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30F"/>
          </a:solidFill>
          <a:ln xmlns:a="http://schemas.openxmlformats.org/drawingml/2006/main" w="14288">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606D27B-4D7D-416A-B9BF-2B132175283F}"/>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3" name="kicker-label">
            <a:extLst xmlns:a="http://schemas.openxmlformats.org/drawingml/2006/main">
              <a:ext uri="{FF2B5EF4-FFF2-40B4-BE49-F238E27FC236}">
                <a16:creationId xmlns:a16="http://schemas.microsoft.com/office/drawing/2014/main" id="{AB3B4947-CD1A-4627-8AFA-B9B38F45C10B}"/>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4" name="">
            <a:extLst xmlns:a="http://schemas.openxmlformats.org/drawingml/2006/main">
              <a:ext uri="{FF2B5EF4-FFF2-40B4-BE49-F238E27FC236}">
                <a16:creationId xmlns:a16="http://schemas.microsoft.com/office/drawing/2014/main" id="{D6C18907-8E77-4029-A73C-2810EC06197C}"/>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12:00</a:t>
            </a:r>
          </a:p>
        </p:txBody>
      </p:sp>
      <p:sp>
        <p:nvSpPr>
          <p:cNvPr id="5" name="">
            <a:extLst xmlns:a="http://schemas.openxmlformats.org/drawingml/2006/main">
              <a:ext uri="{FF2B5EF4-FFF2-40B4-BE49-F238E27FC236}">
                <a16:creationId xmlns:a16="http://schemas.microsoft.com/office/drawing/2014/main" id="{0FE5A9AF-E353-4F0F-ADAA-72C00D8D89B5}"/>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Experiment 1: Group D is a distribution, not a headline.</a:t>
            </a:r>
          </a:p>
        </p:txBody>
      </p:sp>
      <p:sp>
        <p:nvSpPr>
          <p:cNvPr id="6" name="">
            <a:extLst xmlns:a="http://schemas.openxmlformats.org/drawingml/2006/main">
              <a:ext uri="{FF2B5EF4-FFF2-40B4-BE49-F238E27FC236}">
                <a16:creationId xmlns:a16="http://schemas.microsoft.com/office/drawing/2014/main" id="{6702B4DD-576C-4862-85A3-9ED4AA59FA00}"/>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5,000 simulations make USA the favorite, but not a lock.</a:t>
            </a:r>
          </a:p>
        </p:txBody>
      </p:sp>
      <p:sp>
        <p:nvSpPr>
          <p:cNvPr id="7" name="">
            <a:extLst xmlns:a="http://schemas.openxmlformats.org/drawingml/2006/main">
              <a:ext uri="{FF2B5EF4-FFF2-40B4-BE49-F238E27FC236}">
                <a16:creationId xmlns:a16="http://schemas.microsoft.com/office/drawing/2014/main" id="{15B6604C-B5C8-4B2A-AC54-55EB354D18A1}"/>
              </a:ext>
            </a:extLst>
          </p:cNvPr>
          <p:cNvSpPr>
            <a:spLocks xmlns:a="http://schemas.openxmlformats.org/drawingml/2006/main" noGrp="1"/>
          </p:cNvSpPr>
          <p:nvPr/>
        </p:nvSpPr>
        <p:spPr>
          <a:xfrm xmlns:a="http://schemas.openxmlformats.org/drawingml/2006/main">
            <a:off x="857250" y="2238375"/>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USA</a:t>
            </a:r>
          </a:p>
        </p:txBody>
      </p:sp>
      <p:sp>
        <p:nvSpPr>
          <p:cNvPr id="8" name="">
            <a:extLst xmlns:a="http://schemas.openxmlformats.org/drawingml/2006/main">
              <a:ext uri="{FF2B5EF4-FFF2-40B4-BE49-F238E27FC236}">
                <a16:creationId xmlns:a16="http://schemas.microsoft.com/office/drawing/2014/main" id="{A713B267-2047-4906-AE2D-7A97DC49EBC7}"/>
              </a:ext>
            </a:extLst>
          </p:cNvPr>
          <p:cNvSpPr>
            <a:spLocks xmlns:a="http://schemas.openxmlformats.org/drawingml/2006/main" noGrp="1"/>
          </p:cNvSpPr>
          <p:nvPr/>
        </p:nvSpPr>
        <p:spPr>
          <a:xfrm xmlns:a="http://schemas.openxmlformats.org/drawingml/2006/main">
            <a:off x="2381250" y="2266950"/>
            <a:ext cx="4238625"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9" name="">
            <a:extLst xmlns:a="http://schemas.openxmlformats.org/drawingml/2006/main">
              <a:ext uri="{FF2B5EF4-FFF2-40B4-BE49-F238E27FC236}">
                <a16:creationId xmlns:a16="http://schemas.microsoft.com/office/drawing/2014/main" id="{A232464C-8EEE-484B-B8C0-3A06CDAA8CF7}"/>
              </a:ext>
            </a:extLst>
          </p:cNvPr>
          <p:cNvSpPr>
            <a:spLocks xmlns:a="http://schemas.openxmlformats.org/drawingml/2006/main" noGrp="1"/>
          </p:cNvSpPr>
          <p:nvPr/>
        </p:nvSpPr>
        <p:spPr>
          <a:xfrm xmlns:a="http://schemas.openxmlformats.org/drawingml/2006/main">
            <a:off x="2381250" y="2266950"/>
            <a:ext cx="3660631" cy="2286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10" name="">
            <a:extLst xmlns:a="http://schemas.openxmlformats.org/drawingml/2006/main">
              <a:ext uri="{FF2B5EF4-FFF2-40B4-BE49-F238E27FC236}">
                <a16:creationId xmlns:a16="http://schemas.microsoft.com/office/drawing/2014/main" id="{F2A20480-EE50-4B69-A394-233FD7485557}"/>
              </a:ext>
            </a:extLst>
          </p:cNvPr>
          <p:cNvSpPr>
            <a:spLocks xmlns:a="http://schemas.openxmlformats.org/drawingml/2006/main" noGrp="1"/>
          </p:cNvSpPr>
          <p:nvPr/>
        </p:nvSpPr>
        <p:spPr>
          <a:xfrm xmlns:a="http://schemas.openxmlformats.org/drawingml/2006/main">
            <a:off x="6715125" y="2228850"/>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39A"/>
                </a:solidFill>
                <a:latin typeface="Aptos"/>
                <a:ea typeface="Aptos"/>
                <a:cs typeface="Aptos"/>
              </a:defRPr>
            </a:pPr>
            <a:r>
              <a:rPr sz="1275" b="1">
                <a:solidFill>
                  <a:srgbClr val="5EE39A"/>
                </a:solidFill>
                <a:latin typeface="Aptos"/>
                <a:ea typeface="Aptos"/>
                <a:cs typeface="Aptos"/>
              </a:rPr>
              <a:t>47.5%</a:t>
            </a:r>
          </a:p>
        </p:txBody>
      </p:sp>
      <p:sp>
        <p:nvSpPr>
          <p:cNvPr id="11" name="">
            <a:extLst xmlns:a="http://schemas.openxmlformats.org/drawingml/2006/main">
              <a:ext uri="{FF2B5EF4-FFF2-40B4-BE49-F238E27FC236}">
                <a16:creationId xmlns:a16="http://schemas.microsoft.com/office/drawing/2014/main" id="{8BD8E9C7-0BD7-4AA3-965B-8D70BC47A38E}"/>
              </a:ext>
            </a:extLst>
          </p:cNvPr>
          <p:cNvSpPr>
            <a:spLocks xmlns:a="http://schemas.openxmlformats.org/drawingml/2006/main" noGrp="1"/>
          </p:cNvSpPr>
          <p:nvPr/>
        </p:nvSpPr>
        <p:spPr>
          <a:xfrm xmlns:a="http://schemas.openxmlformats.org/drawingml/2006/main">
            <a:off x="2381250" y="2552700"/>
            <a:ext cx="42386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6C1AD"/>
                </a:solidFill>
                <a:latin typeface="Aptos"/>
                <a:ea typeface="Aptos"/>
                <a:cs typeface="Aptos"/>
              </a:defRPr>
            </a:pPr>
            <a:r>
              <a:rPr sz="825" b="0">
                <a:solidFill>
                  <a:srgbClr val="B6C1AD"/>
                </a:solidFill>
                <a:latin typeface="Aptos"/>
                <a:ea typeface="Aptos"/>
                <a:cs typeface="Aptos"/>
              </a:rPr>
              <a:t>winner probability</a:t>
            </a:r>
          </a:p>
        </p:txBody>
      </p:sp>
      <p:sp>
        <p:nvSpPr>
          <p:cNvPr id="12" name="">
            <a:extLst xmlns:a="http://schemas.openxmlformats.org/drawingml/2006/main">
              <a:ext uri="{FF2B5EF4-FFF2-40B4-BE49-F238E27FC236}">
                <a16:creationId xmlns:a16="http://schemas.microsoft.com/office/drawing/2014/main" id="{758B17AE-BC99-42E1-94B2-4957AE3AC68B}"/>
              </a:ext>
            </a:extLst>
          </p:cNvPr>
          <p:cNvSpPr>
            <a:spLocks xmlns:a="http://schemas.openxmlformats.org/drawingml/2006/main" noGrp="1"/>
          </p:cNvSpPr>
          <p:nvPr/>
        </p:nvSpPr>
        <p:spPr>
          <a:xfrm xmlns:a="http://schemas.openxmlformats.org/drawingml/2006/main">
            <a:off x="8096250" y="2247900"/>
            <a:ext cx="1285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B6C1AD"/>
                </a:solidFill>
                <a:latin typeface="Aptos"/>
                <a:ea typeface="Aptos"/>
                <a:cs typeface="Aptos"/>
              </a:defRPr>
            </a:pPr>
            <a:r>
              <a:rPr sz="1125" b="0">
                <a:solidFill>
                  <a:srgbClr val="B6C1AD"/>
                </a:solidFill>
                <a:latin typeface="Aptos"/>
                <a:ea typeface="Aptos"/>
                <a:cs typeface="Aptos"/>
              </a:rPr>
              <a:t>top 2 73.4%</a:t>
            </a:r>
          </a:p>
        </p:txBody>
      </p:sp>
      <p:sp>
        <p:nvSpPr>
          <p:cNvPr id="13" name="">
            <a:extLst xmlns:a="http://schemas.openxmlformats.org/drawingml/2006/main">
              <a:ext uri="{FF2B5EF4-FFF2-40B4-BE49-F238E27FC236}">
                <a16:creationId xmlns:a16="http://schemas.microsoft.com/office/drawing/2014/main" id="{9AAFF04A-A6CB-417C-82BE-2C31505C182D}"/>
              </a:ext>
            </a:extLst>
          </p:cNvPr>
          <p:cNvSpPr>
            <a:spLocks xmlns:a="http://schemas.openxmlformats.org/drawingml/2006/main" noGrp="1"/>
          </p:cNvSpPr>
          <p:nvPr/>
        </p:nvSpPr>
        <p:spPr>
          <a:xfrm xmlns:a="http://schemas.openxmlformats.org/drawingml/2006/main">
            <a:off x="9620250" y="2247900"/>
            <a:ext cx="1285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B6C1AD"/>
                </a:solidFill>
                <a:latin typeface="Aptos"/>
                <a:ea typeface="Aptos"/>
                <a:cs typeface="Aptos"/>
              </a:defRPr>
            </a:pPr>
            <a:r>
              <a:rPr sz="1125" b="0">
                <a:solidFill>
                  <a:srgbClr val="B6C1AD"/>
                </a:solidFill>
                <a:latin typeface="Aptos"/>
                <a:ea typeface="Aptos"/>
                <a:cs typeface="Aptos"/>
              </a:rPr>
              <a:t>top 3 89.6%</a:t>
            </a:r>
          </a:p>
        </p:txBody>
      </p:sp>
      <p:sp>
        <p:nvSpPr>
          <p:cNvPr id="14" name="">
            <a:extLst xmlns:a="http://schemas.openxmlformats.org/drawingml/2006/main">
              <a:ext uri="{FF2B5EF4-FFF2-40B4-BE49-F238E27FC236}">
                <a16:creationId xmlns:a16="http://schemas.microsoft.com/office/drawing/2014/main" id="{A9F50AA5-8E58-456D-BAFE-B2FCF040C3F0}"/>
              </a:ext>
            </a:extLst>
          </p:cNvPr>
          <p:cNvSpPr>
            <a:spLocks xmlns:a="http://schemas.openxmlformats.org/drawingml/2006/main" noGrp="1"/>
          </p:cNvSpPr>
          <p:nvPr/>
        </p:nvSpPr>
        <p:spPr>
          <a:xfrm xmlns:a="http://schemas.openxmlformats.org/drawingml/2006/main">
            <a:off x="857250" y="2924175"/>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Türkiye</a:t>
            </a:r>
          </a:p>
        </p:txBody>
      </p:sp>
      <p:sp>
        <p:nvSpPr>
          <p:cNvPr id="15" name="">
            <a:extLst xmlns:a="http://schemas.openxmlformats.org/drawingml/2006/main">
              <a:ext uri="{FF2B5EF4-FFF2-40B4-BE49-F238E27FC236}">
                <a16:creationId xmlns:a16="http://schemas.microsoft.com/office/drawing/2014/main" id="{3EAC8775-B3B2-4693-BD59-9A5F310506AB}"/>
              </a:ext>
            </a:extLst>
          </p:cNvPr>
          <p:cNvSpPr>
            <a:spLocks xmlns:a="http://schemas.openxmlformats.org/drawingml/2006/main" noGrp="1"/>
          </p:cNvSpPr>
          <p:nvPr/>
        </p:nvSpPr>
        <p:spPr>
          <a:xfrm xmlns:a="http://schemas.openxmlformats.org/drawingml/2006/main">
            <a:off x="2381250" y="2952750"/>
            <a:ext cx="4238625"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16" name="">
            <a:extLst xmlns:a="http://schemas.openxmlformats.org/drawingml/2006/main">
              <a:ext uri="{FF2B5EF4-FFF2-40B4-BE49-F238E27FC236}">
                <a16:creationId xmlns:a16="http://schemas.microsoft.com/office/drawing/2014/main" id="{E44A2A35-2E75-4AD1-AF90-3E2837D9EEA1}"/>
              </a:ext>
            </a:extLst>
          </p:cNvPr>
          <p:cNvSpPr>
            <a:spLocks xmlns:a="http://schemas.openxmlformats.org/drawingml/2006/main" noGrp="1"/>
          </p:cNvSpPr>
          <p:nvPr/>
        </p:nvSpPr>
        <p:spPr>
          <a:xfrm xmlns:a="http://schemas.openxmlformats.org/drawingml/2006/main">
            <a:off x="2381250" y="2952750"/>
            <a:ext cx="1703157" cy="228600"/>
          </a:xfrm>
          <a:prstGeom xmlns:a="http://schemas.openxmlformats.org/drawingml/2006/main" prst="rect">
            <a:avLst/>
          </a:prstGeom>
          <a:solidFill xmlns:a="http://schemas.openxmlformats.org/drawingml/2006/main">
            <a:srgbClr val="FFD166"/>
          </a:solidFill>
          <a:ln xmlns:a="http://schemas.openxmlformats.org/drawingml/2006/main" w="14288">
            <a:solidFill>
              <a:srgbClr val="FFD166"/>
            </a:solidFill>
            <a:prstDash val="solid"/>
          </a:ln>
        </p:spPr>
      </p:sp>
      <p:sp>
        <p:nvSpPr>
          <p:cNvPr id="17" name="">
            <a:extLst xmlns:a="http://schemas.openxmlformats.org/drawingml/2006/main">
              <a:ext uri="{FF2B5EF4-FFF2-40B4-BE49-F238E27FC236}">
                <a16:creationId xmlns:a16="http://schemas.microsoft.com/office/drawing/2014/main" id="{849D0224-C731-4DA9-8E66-4E50EA59DEBF}"/>
              </a:ext>
            </a:extLst>
          </p:cNvPr>
          <p:cNvSpPr>
            <a:spLocks xmlns:a="http://schemas.openxmlformats.org/drawingml/2006/main" noGrp="1"/>
          </p:cNvSpPr>
          <p:nvPr/>
        </p:nvSpPr>
        <p:spPr>
          <a:xfrm xmlns:a="http://schemas.openxmlformats.org/drawingml/2006/main">
            <a:off x="6715125" y="2914650"/>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D166"/>
                </a:solidFill>
                <a:latin typeface="Aptos"/>
                <a:ea typeface="Aptos"/>
                <a:cs typeface="Aptos"/>
              </a:defRPr>
            </a:pPr>
            <a:r>
              <a:rPr sz="1275" b="1">
                <a:solidFill>
                  <a:srgbClr val="FFD166"/>
                </a:solidFill>
                <a:latin typeface="Aptos"/>
                <a:ea typeface="Aptos"/>
                <a:cs typeface="Aptos"/>
              </a:rPr>
              <a:t>22.1%</a:t>
            </a:r>
          </a:p>
        </p:txBody>
      </p:sp>
      <p:sp>
        <p:nvSpPr>
          <p:cNvPr id="18" name="">
            <a:extLst xmlns:a="http://schemas.openxmlformats.org/drawingml/2006/main">
              <a:ext uri="{FF2B5EF4-FFF2-40B4-BE49-F238E27FC236}">
                <a16:creationId xmlns:a16="http://schemas.microsoft.com/office/drawing/2014/main" id="{6FD8B7F1-82C4-4A26-9900-BF62C0807D5A}"/>
              </a:ext>
            </a:extLst>
          </p:cNvPr>
          <p:cNvSpPr>
            <a:spLocks xmlns:a="http://schemas.openxmlformats.org/drawingml/2006/main" noGrp="1"/>
          </p:cNvSpPr>
          <p:nvPr/>
        </p:nvSpPr>
        <p:spPr>
          <a:xfrm xmlns:a="http://schemas.openxmlformats.org/drawingml/2006/main">
            <a:off x="2381250" y="3238500"/>
            <a:ext cx="42386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6C1AD"/>
                </a:solidFill>
                <a:latin typeface="Aptos"/>
                <a:ea typeface="Aptos"/>
                <a:cs typeface="Aptos"/>
              </a:defRPr>
            </a:pPr>
            <a:r>
              <a:rPr sz="825" b="0">
                <a:solidFill>
                  <a:srgbClr val="B6C1AD"/>
                </a:solidFill>
                <a:latin typeface="Aptos"/>
                <a:ea typeface="Aptos"/>
                <a:cs typeface="Aptos"/>
              </a:rPr>
              <a:t>winner probability</a:t>
            </a:r>
          </a:p>
        </p:txBody>
      </p:sp>
      <p:sp>
        <p:nvSpPr>
          <p:cNvPr id="19" name="">
            <a:extLst xmlns:a="http://schemas.openxmlformats.org/drawingml/2006/main">
              <a:ext uri="{FF2B5EF4-FFF2-40B4-BE49-F238E27FC236}">
                <a16:creationId xmlns:a16="http://schemas.microsoft.com/office/drawing/2014/main" id="{75CAE97E-2EE5-4B7E-9BE5-1C2ACB5DCB78}"/>
              </a:ext>
            </a:extLst>
          </p:cNvPr>
          <p:cNvSpPr>
            <a:spLocks xmlns:a="http://schemas.openxmlformats.org/drawingml/2006/main" noGrp="1"/>
          </p:cNvSpPr>
          <p:nvPr/>
        </p:nvSpPr>
        <p:spPr>
          <a:xfrm xmlns:a="http://schemas.openxmlformats.org/drawingml/2006/main">
            <a:off x="8096250" y="2933700"/>
            <a:ext cx="1285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B6C1AD"/>
                </a:solidFill>
                <a:latin typeface="Aptos"/>
                <a:ea typeface="Aptos"/>
                <a:cs typeface="Aptos"/>
              </a:defRPr>
            </a:pPr>
            <a:r>
              <a:rPr sz="1125" b="0">
                <a:solidFill>
                  <a:srgbClr val="B6C1AD"/>
                </a:solidFill>
                <a:latin typeface="Aptos"/>
                <a:ea typeface="Aptos"/>
                <a:cs typeface="Aptos"/>
              </a:rPr>
              <a:t>top 2 52.8%</a:t>
            </a:r>
          </a:p>
        </p:txBody>
      </p:sp>
      <p:sp>
        <p:nvSpPr>
          <p:cNvPr id="20" name="">
            <a:extLst xmlns:a="http://schemas.openxmlformats.org/drawingml/2006/main">
              <a:ext uri="{FF2B5EF4-FFF2-40B4-BE49-F238E27FC236}">
                <a16:creationId xmlns:a16="http://schemas.microsoft.com/office/drawing/2014/main" id="{381FE25B-A958-4D10-879D-3415EABDAD70}"/>
              </a:ext>
            </a:extLst>
          </p:cNvPr>
          <p:cNvSpPr>
            <a:spLocks xmlns:a="http://schemas.openxmlformats.org/drawingml/2006/main" noGrp="1"/>
          </p:cNvSpPr>
          <p:nvPr/>
        </p:nvSpPr>
        <p:spPr>
          <a:xfrm xmlns:a="http://schemas.openxmlformats.org/drawingml/2006/main">
            <a:off x="9620250" y="2933700"/>
            <a:ext cx="1285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B6C1AD"/>
                </a:solidFill>
                <a:latin typeface="Aptos"/>
                <a:ea typeface="Aptos"/>
                <a:cs typeface="Aptos"/>
              </a:defRPr>
            </a:pPr>
            <a:r>
              <a:rPr sz="1125" b="0">
                <a:solidFill>
                  <a:srgbClr val="B6C1AD"/>
                </a:solidFill>
                <a:latin typeface="Aptos"/>
                <a:ea typeface="Aptos"/>
                <a:cs typeface="Aptos"/>
              </a:rPr>
              <a:t>top 3 78.1%</a:t>
            </a:r>
          </a:p>
        </p:txBody>
      </p:sp>
      <p:sp>
        <p:nvSpPr>
          <p:cNvPr id="21" name="">
            <a:extLst xmlns:a="http://schemas.openxmlformats.org/drawingml/2006/main">
              <a:ext uri="{FF2B5EF4-FFF2-40B4-BE49-F238E27FC236}">
                <a16:creationId xmlns:a16="http://schemas.microsoft.com/office/drawing/2014/main" id="{F03908BD-B0B2-48B7-B807-999D0D7CF284}"/>
              </a:ext>
            </a:extLst>
          </p:cNvPr>
          <p:cNvSpPr>
            <a:spLocks xmlns:a="http://schemas.openxmlformats.org/drawingml/2006/main" noGrp="1"/>
          </p:cNvSpPr>
          <p:nvPr/>
        </p:nvSpPr>
        <p:spPr>
          <a:xfrm xmlns:a="http://schemas.openxmlformats.org/drawingml/2006/main">
            <a:off x="857250" y="3609975"/>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Paraguay</a:t>
            </a:r>
          </a:p>
        </p:txBody>
      </p:sp>
      <p:sp>
        <p:nvSpPr>
          <p:cNvPr id="22" name="">
            <a:extLst xmlns:a="http://schemas.openxmlformats.org/drawingml/2006/main">
              <a:ext uri="{FF2B5EF4-FFF2-40B4-BE49-F238E27FC236}">
                <a16:creationId xmlns:a16="http://schemas.microsoft.com/office/drawing/2014/main" id="{D2A02054-E136-47A6-93D6-4B6050258516}"/>
              </a:ext>
            </a:extLst>
          </p:cNvPr>
          <p:cNvSpPr>
            <a:spLocks xmlns:a="http://schemas.openxmlformats.org/drawingml/2006/main" noGrp="1"/>
          </p:cNvSpPr>
          <p:nvPr/>
        </p:nvSpPr>
        <p:spPr>
          <a:xfrm xmlns:a="http://schemas.openxmlformats.org/drawingml/2006/main">
            <a:off x="2381250" y="3638550"/>
            <a:ext cx="4238625"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23" name="">
            <a:extLst xmlns:a="http://schemas.openxmlformats.org/drawingml/2006/main">
              <a:ext uri="{FF2B5EF4-FFF2-40B4-BE49-F238E27FC236}">
                <a16:creationId xmlns:a16="http://schemas.microsoft.com/office/drawing/2014/main" id="{30805B18-A505-4449-8B06-DA0B78428BEA}"/>
              </a:ext>
            </a:extLst>
          </p:cNvPr>
          <p:cNvSpPr>
            <a:spLocks xmlns:a="http://schemas.openxmlformats.org/drawingml/2006/main" noGrp="1"/>
          </p:cNvSpPr>
          <p:nvPr/>
        </p:nvSpPr>
        <p:spPr>
          <a:xfrm xmlns:a="http://schemas.openxmlformats.org/drawingml/2006/main">
            <a:off x="2381250" y="3638550"/>
            <a:ext cx="1256174" cy="228600"/>
          </a:xfrm>
          <a:prstGeom xmlns:a="http://schemas.openxmlformats.org/drawingml/2006/main" prst="rect">
            <a:avLst/>
          </a:prstGeom>
          <a:solidFill xmlns:a="http://schemas.openxmlformats.org/drawingml/2006/main">
            <a:srgbClr val="7CC7FF"/>
          </a:solidFill>
          <a:ln xmlns:a="http://schemas.openxmlformats.org/drawingml/2006/main" w="14288">
            <a:solidFill>
              <a:srgbClr val="7CC7FF"/>
            </a:solidFill>
            <a:prstDash val="solid"/>
          </a:ln>
        </p:spPr>
      </p:sp>
      <p:sp>
        <p:nvSpPr>
          <p:cNvPr id="24" name="">
            <a:extLst xmlns:a="http://schemas.openxmlformats.org/drawingml/2006/main">
              <a:ext uri="{FF2B5EF4-FFF2-40B4-BE49-F238E27FC236}">
                <a16:creationId xmlns:a16="http://schemas.microsoft.com/office/drawing/2014/main" id="{1E8B3AE8-E057-4C41-8E8F-EA5B6F44BD13}"/>
              </a:ext>
            </a:extLst>
          </p:cNvPr>
          <p:cNvSpPr>
            <a:spLocks xmlns:a="http://schemas.openxmlformats.org/drawingml/2006/main" noGrp="1"/>
          </p:cNvSpPr>
          <p:nvPr/>
        </p:nvSpPr>
        <p:spPr>
          <a:xfrm xmlns:a="http://schemas.openxmlformats.org/drawingml/2006/main">
            <a:off x="6715125" y="3600450"/>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7CC7FF"/>
                </a:solidFill>
                <a:latin typeface="Aptos"/>
                <a:ea typeface="Aptos"/>
                <a:cs typeface="Aptos"/>
              </a:defRPr>
            </a:pPr>
            <a:r>
              <a:rPr sz="1275" b="1">
                <a:solidFill>
                  <a:srgbClr val="7CC7FF"/>
                </a:solidFill>
                <a:latin typeface="Aptos"/>
                <a:ea typeface="Aptos"/>
                <a:cs typeface="Aptos"/>
              </a:rPr>
              <a:t>16.3%</a:t>
            </a:r>
          </a:p>
        </p:txBody>
      </p:sp>
      <p:sp>
        <p:nvSpPr>
          <p:cNvPr id="25" name="">
            <a:extLst xmlns:a="http://schemas.openxmlformats.org/drawingml/2006/main">
              <a:ext uri="{FF2B5EF4-FFF2-40B4-BE49-F238E27FC236}">
                <a16:creationId xmlns:a16="http://schemas.microsoft.com/office/drawing/2014/main" id="{F711FCCA-3ED4-4641-A22C-56DDE0DEFF0A}"/>
              </a:ext>
            </a:extLst>
          </p:cNvPr>
          <p:cNvSpPr>
            <a:spLocks xmlns:a="http://schemas.openxmlformats.org/drawingml/2006/main" noGrp="1"/>
          </p:cNvSpPr>
          <p:nvPr/>
        </p:nvSpPr>
        <p:spPr>
          <a:xfrm xmlns:a="http://schemas.openxmlformats.org/drawingml/2006/main">
            <a:off x="2381250" y="3924300"/>
            <a:ext cx="42386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6C1AD"/>
                </a:solidFill>
                <a:latin typeface="Aptos"/>
                <a:ea typeface="Aptos"/>
                <a:cs typeface="Aptos"/>
              </a:defRPr>
            </a:pPr>
            <a:r>
              <a:rPr sz="825" b="0">
                <a:solidFill>
                  <a:srgbClr val="B6C1AD"/>
                </a:solidFill>
                <a:latin typeface="Aptos"/>
                <a:ea typeface="Aptos"/>
                <a:cs typeface="Aptos"/>
              </a:rPr>
              <a:t>winner probability</a:t>
            </a:r>
          </a:p>
        </p:txBody>
      </p:sp>
      <p:sp>
        <p:nvSpPr>
          <p:cNvPr id="26" name="">
            <a:extLst xmlns:a="http://schemas.openxmlformats.org/drawingml/2006/main">
              <a:ext uri="{FF2B5EF4-FFF2-40B4-BE49-F238E27FC236}">
                <a16:creationId xmlns:a16="http://schemas.microsoft.com/office/drawing/2014/main" id="{1514B230-873A-4C48-98CE-DC49A8A58FCB}"/>
              </a:ext>
            </a:extLst>
          </p:cNvPr>
          <p:cNvSpPr>
            <a:spLocks xmlns:a="http://schemas.openxmlformats.org/drawingml/2006/main" noGrp="1"/>
          </p:cNvSpPr>
          <p:nvPr/>
        </p:nvSpPr>
        <p:spPr>
          <a:xfrm xmlns:a="http://schemas.openxmlformats.org/drawingml/2006/main">
            <a:off x="8096250" y="3619500"/>
            <a:ext cx="1285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B6C1AD"/>
                </a:solidFill>
                <a:latin typeface="Aptos"/>
                <a:ea typeface="Aptos"/>
                <a:cs typeface="Aptos"/>
              </a:defRPr>
            </a:pPr>
            <a:r>
              <a:rPr sz="1125" b="0">
                <a:solidFill>
                  <a:srgbClr val="B6C1AD"/>
                </a:solidFill>
                <a:latin typeface="Aptos"/>
                <a:ea typeface="Aptos"/>
                <a:cs typeface="Aptos"/>
              </a:rPr>
              <a:t>top 2 40.3%</a:t>
            </a:r>
          </a:p>
        </p:txBody>
      </p:sp>
      <p:sp>
        <p:nvSpPr>
          <p:cNvPr id="27" name="">
            <a:extLst xmlns:a="http://schemas.openxmlformats.org/drawingml/2006/main">
              <a:ext uri="{FF2B5EF4-FFF2-40B4-BE49-F238E27FC236}">
                <a16:creationId xmlns:a16="http://schemas.microsoft.com/office/drawing/2014/main" id="{958878A7-2F2E-4F27-86C7-5F93A32075EC}"/>
              </a:ext>
            </a:extLst>
          </p:cNvPr>
          <p:cNvSpPr>
            <a:spLocks xmlns:a="http://schemas.openxmlformats.org/drawingml/2006/main" noGrp="1"/>
          </p:cNvSpPr>
          <p:nvPr/>
        </p:nvSpPr>
        <p:spPr>
          <a:xfrm xmlns:a="http://schemas.openxmlformats.org/drawingml/2006/main">
            <a:off x="9620250" y="3619500"/>
            <a:ext cx="1285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B6C1AD"/>
                </a:solidFill>
                <a:latin typeface="Aptos"/>
                <a:ea typeface="Aptos"/>
                <a:cs typeface="Aptos"/>
              </a:defRPr>
            </a:pPr>
            <a:r>
              <a:rPr sz="1125" b="0">
                <a:solidFill>
                  <a:srgbClr val="B6C1AD"/>
                </a:solidFill>
                <a:latin typeface="Aptos"/>
                <a:ea typeface="Aptos"/>
                <a:cs typeface="Aptos"/>
              </a:rPr>
              <a:t>top 3 70.6%</a:t>
            </a:r>
          </a:p>
        </p:txBody>
      </p:sp>
      <p:sp>
        <p:nvSpPr>
          <p:cNvPr id="28" name="">
            <a:extLst xmlns:a="http://schemas.openxmlformats.org/drawingml/2006/main">
              <a:ext uri="{FF2B5EF4-FFF2-40B4-BE49-F238E27FC236}">
                <a16:creationId xmlns:a16="http://schemas.microsoft.com/office/drawing/2014/main" id="{FA78E301-B65A-4344-9B38-ABD53253588D}"/>
              </a:ext>
            </a:extLst>
          </p:cNvPr>
          <p:cNvSpPr>
            <a:spLocks xmlns:a="http://schemas.openxmlformats.org/drawingml/2006/main" noGrp="1"/>
          </p:cNvSpPr>
          <p:nvPr/>
        </p:nvSpPr>
        <p:spPr>
          <a:xfrm xmlns:a="http://schemas.openxmlformats.org/drawingml/2006/main">
            <a:off x="857250" y="4295775"/>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Australia</a:t>
            </a:r>
          </a:p>
        </p:txBody>
      </p:sp>
      <p:sp>
        <p:nvSpPr>
          <p:cNvPr id="29" name="">
            <a:extLst xmlns:a="http://schemas.openxmlformats.org/drawingml/2006/main">
              <a:ext uri="{FF2B5EF4-FFF2-40B4-BE49-F238E27FC236}">
                <a16:creationId xmlns:a16="http://schemas.microsoft.com/office/drawing/2014/main" id="{BC7AF76B-2074-4B25-9A82-5921C1128CBD}"/>
              </a:ext>
            </a:extLst>
          </p:cNvPr>
          <p:cNvSpPr>
            <a:spLocks xmlns:a="http://schemas.openxmlformats.org/drawingml/2006/main" noGrp="1"/>
          </p:cNvSpPr>
          <p:nvPr/>
        </p:nvSpPr>
        <p:spPr>
          <a:xfrm xmlns:a="http://schemas.openxmlformats.org/drawingml/2006/main">
            <a:off x="2381250" y="4324350"/>
            <a:ext cx="4238625"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30" name="">
            <a:extLst xmlns:a="http://schemas.openxmlformats.org/drawingml/2006/main">
              <a:ext uri="{FF2B5EF4-FFF2-40B4-BE49-F238E27FC236}">
                <a16:creationId xmlns:a16="http://schemas.microsoft.com/office/drawing/2014/main" id="{98AAA139-8ACE-4D5A-9595-9850B06C4006}"/>
              </a:ext>
            </a:extLst>
          </p:cNvPr>
          <p:cNvSpPr>
            <a:spLocks xmlns:a="http://schemas.openxmlformats.org/drawingml/2006/main" noGrp="1"/>
          </p:cNvSpPr>
          <p:nvPr/>
        </p:nvSpPr>
        <p:spPr>
          <a:xfrm xmlns:a="http://schemas.openxmlformats.org/drawingml/2006/main">
            <a:off x="2381250" y="4324350"/>
            <a:ext cx="1086629" cy="228600"/>
          </a:xfrm>
          <a:prstGeom xmlns:a="http://schemas.openxmlformats.org/drawingml/2006/main" prst="rect">
            <a:avLst/>
          </a:prstGeom>
          <a:solidFill xmlns:a="http://schemas.openxmlformats.org/drawingml/2006/main">
            <a:srgbClr val="FF9F1C"/>
          </a:solidFill>
          <a:ln xmlns:a="http://schemas.openxmlformats.org/drawingml/2006/main" w="14288">
            <a:solidFill>
              <a:srgbClr val="FF9F1C"/>
            </a:solidFill>
            <a:prstDash val="solid"/>
          </a:ln>
        </p:spPr>
      </p:sp>
      <p:sp>
        <p:nvSpPr>
          <p:cNvPr id="31" name="">
            <a:extLst xmlns:a="http://schemas.openxmlformats.org/drawingml/2006/main">
              <a:ext uri="{FF2B5EF4-FFF2-40B4-BE49-F238E27FC236}">
                <a16:creationId xmlns:a16="http://schemas.microsoft.com/office/drawing/2014/main" id="{E0843104-316B-46B9-BD94-EADC9B2DD544}"/>
              </a:ext>
            </a:extLst>
          </p:cNvPr>
          <p:cNvSpPr>
            <a:spLocks xmlns:a="http://schemas.openxmlformats.org/drawingml/2006/main" noGrp="1"/>
          </p:cNvSpPr>
          <p:nvPr/>
        </p:nvSpPr>
        <p:spPr>
          <a:xfrm xmlns:a="http://schemas.openxmlformats.org/drawingml/2006/main">
            <a:off x="6715125" y="4286250"/>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9F1C"/>
                </a:solidFill>
                <a:latin typeface="Aptos"/>
                <a:ea typeface="Aptos"/>
                <a:cs typeface="Aptos"/>
              </a:defRPr>
            </a:pPr>
            <a:r>
              <a:rPr sz="1275" b="1">
                <a:solidFill>
                  <a:srgbClr val="FF9F1C"/>
                </a:solidFill>
                <a:latin typeface="Aptos"/>
                <a:ea typeface="Aptos"/>
                <a:cs typeface="Aptos"/>
              </a:rPr>
              <a:t>14.1%</a:t>
            </a:r>
          </a:p>
        </p:txBody>
      </p:sp>
      <p:sp>
        <p:nvSpPr>
          <p:cNvPr id="32" name="">
            <a:extLst xmlns:a="http://schemas.openxmlformats.org/drawingml/2006/main">
              <a:ext uri="{FF2B5EF4-FFF2-40B4-BE49-F238E27FC236}">
                <a16:creationId xmlns:a16="http://schemas.microsoft.com/office/drawing/2014/main" id="{CF7BDD7A-48D0-4B84-8705-36A4D7285648}"/>
              </a:ext>
            </a:extLst>
          </p:cNvPr>
          <p:cNvSpPr>
            <a:spLocks xmlns:a="http://schemas.openxmlformats.org/drawingml/2006/main" noGrp="1"/>
          </p:cNvSpPr>
          <p:nvPr/>
        </p:nvSpPr>
        <p:spPr>
          <a:xfrm xmlns:a="http://schemas.openxmlformats.org/drawingml/2006/main">
            <a:off x="2381250" y="4610100"/>
            <a:ext cx="42386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6C1AD"/>
                </a:solidFill>
                <a:latin typeface="Aptos"/>
                <a:ea typeface="Aptos"/>
                <a:cs typeface="Aptos"/>
              </a:defRPr>
            </a:pPr>
            <a:r>
              <a:rPr sz="825" b="0">
                <a:solidFill>
                  <a:srgbClr val="B6C1AD"/>
                </a:solidFill>
                <a:latin typeface="Aptos"/>
                <a:ea typeface="Aptos"/>
                <a:cs typeface="Aptos"/>
              </a:rPr>
              <a:t>winner probability</a:t>
            </a:r>
          </a:p>
        </p:txBody>
      </p:sp>
      <p:sp>
        <p:nvSpPr>
          <p:cNvPr id="33" name="">
            <a:extLst xmlns:a="http://schemas.openxmlformats.org/drawingml/2006/main">
              <a:ext uri="{FF2B5EF4-FFF2-40B4-BE49-F238E27FC236}">
                <a16:creationId xmlns:a16="http://schemas.microsoft.com/office/drawing/2014/main" id="{81F0EB33-1464-4851-A02C-8F45D0F057AA}"/>
              </a:ext>
            </a:extLst>
          </p:cNvPr>
          <p:cNvSpPr>
            <a:spLocks xmlns:a="http://schemas.openxmlformats.org/drawingml/2006/main" noGrp="1"/>
          </p:cNvSpPr>
          <p:nvPr/>
        </p:nvSpPr>
        <p:spPr>
          <a:xfrm xmlns:a="http://schemas.openxmlformats.org/drawingml/2006/main">
            <a:off x="8096250" y="4305300"/>
            <a:ext cx="1285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B6C1AD"/>
                </a:solidFill>
                <a:latin typeface="Aptos"/>
                <a:ea typeface="Aptos"/>
                <a:cs typeface="Aptos"/>
              </a:defRPr>
            </a:pPr>
            <a:r>
              <a:rPr sz="1125" b="0">
                <a:solidFill>
                  <a:srgbClr val="B6C1AD"/>
                </a:solidFill>
                <a:latin typeface="Aptos"/>
                <a:ea typeface="Aptos"/>
                <a:cs typeface="Aptos"/>
              </a:rPr>
              <a:t>top 2 33.6%</a:t>
            </a:r>
          </a:p>
        </p:txBody>
      </p:sp>
      <p:sp>
        <p:nvSpPr>
          <p:cNvPr id="34" name="">
            <a:extLst xmlns:a="http://schemas.openxmlformats.org/drawingml/2006/main">
              <a:ext uri="{FF2B5EF4-FFF2-40B4-BE49-F238E27FC236}">
                <a16:creationId xmlns:a16="http://schemas.microsoft.com/office/drawing/2014/main" id="{6BDD1722-58D7-43CB-98F8-D297F95154F6}"/>
              </a:ext>
            </a:extLst>
          </p:cNvPr>
          <p:cNvSpPr>
            <a:spLocks xmlns:a="http://schemas.openxmlformats.org/drawingml/2006/main" noGrp="1"/>
          </p:cNvSpPr>
          <p:nvPr/>
        </p:nvSpPr>
        <p:spPr>
          <a:xfrm xmlns:a="http://schemas.openxmlformats.org/drawingml/2006/main">
            <a:off x="9620250" y="4305300"/>
            <a:ext cx="1285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B6C1AD"/>
                </a:solidFill>
                <a:latin typeface="Aptos"/>
                <a:ea typeface="Aptos"/>
                <a:cs typeface="Aptos"/>
              </a:defRPr>
            </a:pPr>
            <a:r>
              <a:rPr sz="1125" b="0">
                <a:solidFill>
                  <a:srgbClr val="B6C1AD"/>
                </a:solidFill>
                <a:latin typeface="Aptos"/>
                <a:ea typeface="Aptos"/>
                <a:cs typeface="Aptos"/>
              </a:rPr>
              <a:t>top 3 61.6%</a:t>
            </a:r>
          </a:p>
        </p:txBody>
      </p:sp>
      <p:sp>
        <p:nvSpPr>
          <p:cNvPr id="35" name="">
            <a:extLst xmlns:a="http://schemas.openxmlformats.org/drawingml/2006/main">
              <a:ext uri="{FF2B5EF4-FFF2-40B4-BE49-F238E27FC236}">
                <a16:creationId xmlns:a16="http://schemas.microsoft.com/office/drawing/2014/main" id="{9AF1491B-282B-4D15-9F1C-88CA8B0B5B6C}"/>
              </a:ext>
            </a:extLst>
          </p:cNvPr>
          <p:cNvSpPr>
            <a:spLocks xmlns:a="http://schemas.openxmlformats.org/drawingml/2006/main" noGrp="1"/>
          </p:cNvSpPr>
          <p:nvPr/>
        </p:nvSpPr>
        <p:spPr>
          <a:xfrm xmlns:a="http://schemas.openxmlformats.org/drawingml/2006/main">
            <a:off x="7524750" y="4857750"/>
            <a:ext cx="2952750" cy="762000"/>
          </a:xfrm>
          <a:prstGeom xmlns:a="http://schemas.openxmlformats.org/drawingml/2006/main" prst="rect">
            <a:avLst/>
          </a:prstGeom>
          <a:solidFill xmlns:a="http://schemas.openxmlformats.org/drawingml/2006/main">
            <a:srgbClr val="101C16"/>
          </a:solidFill>
          <a:ln xmlns:a="http://schemas.openxmlformats.org/drawingml/2006/main" w="14288">
            <a:solidFill>
              <a:srgbClr val="5EE39A"/>
            </a:solidFill>
            <a:prstDash val="solid"/>
          </a:ln>
        </p:spPr>
      </p:sp>
      <p:sp>
        <p:nvSpPr>
          <p:cNvPr id="36" name="">
            <a:extLst xmlns:a="http://schemas.openxmlformats.org/drawingml/2006/main">
              <a:ext uri="{FF2B5EF4-FFF2-40B4-BE49-F238E27FC236}">
                <a16:creationId xmlns:a16="http://schemas.microsoft.com/office/drawing/2014/main" id="{45520126-07E0-4812-BFA8-E1CA1B04F534}"/>
              </a:ext>
            </a:extLst>
          </p:cNvPr>
          <p:cNvSpPr>
            <a:spLocks xmlns:a="http://schemas.openxmlformats.org/drawingml/2006/main" noGrp="1"/>
          </p:cNvSpPr>
          <p:nvPr/>
        </p:nvSpPr>
        <p:spPr>
          <a:xfrm xmlns:a="http://schemas.openxmlformats.org/drawingml/2006/main">
            <a:off x="7734300" y="501015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39A"/>
                </a:solidFill>
                <a:latin typeface="Aptos"/>
                <a:ea typeface="Aptos"/>
                <a:cs typeface="Aptos"/>
              </a:defRPr>
            </a:pPr>
            <a:r>
              <a:rPr sz="975" b="1">
                <a:solidFill>
                  <a:srgbClr val="5EE39A"/>
                </a:solidFill>
                <a:latin typeface="Aptos"/>
                <a:ea typeface="Aptos"/>
                <a:cs typeface="Aptos"/>
              </a:rPr>
              <a:t>Teaching line</a:t>
            </a:r>
          </a:p>
        </p:txBody>
      </p:sp>
      <p:sp>
        <p:nvSpPr>
          <p:cNvPr id="37" name="">
            <a:extLst xmlns:a="http://schemas.openxmlformats.org/drawingml/2006/main">
              <a:ext uri="{FF2B5EF4-FFF2-40B4-BE49-F238E27FC236}">
                <a16:creationId xmlns:a16="http://schemas.microsoft.com/office/drawing/2014/main" id="{47D912D7-C8C6-40CA-8F82-BF89033C64E9}"/>
              </a:ext>
            </a:extLst>
          </p:cNvPr>
          <p:cNvSpPr>
            <a:spLocks xmlns:a="http://schemas.openxmlformats.org/drawingml/2006/main" noGrp="1"/>
          </p:cNvSpPr>
          <p:nvPr/>
        </p:nvSpPr>
        <p:spPr>
          <a:xfrm xmlns:a="http://schemas.openxmlformats.org/drawingml/2006/main">
            <a:off x="7734300" y="5257800"/>
            <a:ext cx="22860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6F1DF"/>
                </a:solidFill>
                <a:latin typeface="Aptos"/>
                <a:ea typeface="Aptos"/>
                <a:cs typeface="Aptos"/>
              </a:defRPr>
            </a:pPr>
            <a:r>
              <a:rPr sz="1425" b="1">
                <a:solidFill>
                  <a:srgbClr val="F6F1DF"/>
                </a:solidFill>
                <a:latin typeface="Aptos"/>
                <a:ea typeface="Aptos"/>
                <a:cs typeface="Aptos"/>
              </a:rPr>
              <a:t>A good forecast says how often, not how loudly.</a:t>
            </a:r>
          </a:p>
        </p:txBody>
      </p:sp>
      <p:sp>
        <p:nvSpPr>
          <p:cNvPr id="38" name="">
            <a:extLst xmlns:a="http://schemas.openxmlformats.org/drawingml/2006/main">
              <a:ext uri="{FF2B5EF4-FFF2-40B4-BE49-F238E27FC236}">
                <a16:creationId xmlns:a16="http://schemas.microsoft.com/office/drawing/2014/main" id="{1B80E5FB-0937-4E68-AA6D-1FC86CC1ABBA}"/>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09</a:t>
            </a:r>
          </a:p>
        </p:txBody>
      </p:sp>
      <p:sp>
        <p:nvSpPr>
          <p:cNvPr id="39" name="">
            <a:extLst xmlns:a="http://schemas.openxmlformats.org/drawingml/2006/main">
              <a:ext uri="{FF2B5EF4-FFF2-40B4-BE49-F238E27FC236}">
                <a16:creationId xmlns:a16="http://schemas.microsoft.com/office/drawing/2014/main" id="{0DD33AA1-4BAA-4D66-AF28-37757BDCF219}"/>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Data: forecast_group('D', sims=5000)</a:t>
            </a:r>
          </a:p>
        </p:txBody>
      </p:sp>
    </p:spTree>
    <p:extLst>
      <p:ext uri="{BB962C8B-B14F-4D97-AF65-F5344CB8AC3E}">
        <p14:creationId xmlns:p14="http://schemas.microsoft.com/office/powerpoint/2010/main" val="1966250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875849-BCA5-4ED6-9862-18FBF24DAB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1018"/>
          </a:solidFill>
          <a:ln xmlns:a="http://schemas.openxmlformats.org/drawingml/2006/main" w="14288">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07F18C0-440B-4CB0-9643-46376743F4D9}"/>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3" name="kicker-label">
            <a:extLst xmlns:a="http://schemas.openxmlformats.org/drawingml/2006/main">
              <a:ext uri="{FF2B5EF4-FFF2-40B4-BE49-F238E27FC236}">
                <a16:creationId xmlns:a16="http://schemas.microsoft.com/office/drawing/2014/main" id="{37FF964F-BBCB-416B-A80A-030F19D9340C}"/>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4" name="">
            <a:extLst xmlns:a="http://schemas.openxmlformats.org/drawingml/2006/main">
              <a:ext uri="{FF2B5EF4-FFF2-40B4-BE49-F238E27FC236}">
                <a16:creationId xmlns:a16="http://schemas.microsoft.com/office/drawing/2014/main" id="{173D0F49-E6DF-40BE-B7DB-6E89BA2B6CC2}"/>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14:00</a:t>
            </a:r>
          </a:p>
        </p:txBody>
      </p:sp>
      <p:sp>
        <p:nvSpPr>
          <p:cNvPr id="5" name="">
            <a:extLst xmlns:a="http://schemas.openxmlformats.org/drawingml/2006/main">
              <a:ext uri="{FF2B5EF4-FFF2-40B4-BE49-F238E27FC236}">
                <a16:creationId xmlns:a16="http://schemas.microsoft.com/office/drawing/2014/main" id="{773640F3-6501-4E29-8353-DB0E513B6AF1}"/>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Experiment 2: market comparison is a sanity check, not advice.</a:t>
            </a:r>
          </a:p>
        </p:txBody>
      </p:sp>
      <p:sp>
        <p:nvSpPr>
          <p:cNvPr id="6" name="">
            <a:extLst xmlns:a="http://schemas.openxmlformats.org/drawingml/2006/main">
              <a:ext uri="{FF2B5EF4-FFF2-40B4-BE49-F238E27FC236}">
                <a16:creationId xmlns:a16="http://schemas.microsoft.com/office/drawing/2014/main" id="{78082409-DACB-48D9-8862-FCDA74BFD292}"/>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The sample de-vig baseline exposes where the model leans differently from external odds-like priors.</a:t>
            </a:r>
          </a:p>
        </p:txBody>
      </p:sp>
      <p:sp>
        <p:nvSpPr>
          <p:cNvPr id="7" name="">
            <a:extLst xmlns:a="http://schemas.openxmlformats.org/drawingml/2006/main">
              <a:ext uri="{FF2B5EF4-FFF2-40B4-BE49-F238E27FC236}">
                <a16:creationId xmlns:a16="http://schemas.microsoft.com/office/drawing/2014/main" id="{04508F64-3210-4B9A-B0DE-C4B134CC55BF}"/>
              </a:ext>
            </a:extLst>
          </p:cNvPr>
          <p:cNvSpPr>
            <a:spLocks xmlns:a="http://schemas.openxmlformats.org/drawingml/2006/main" noGrp="1"/>
          </p:cNvSpPr>
          <p:nvPr/>
        </p:nvSpPr>
        <p:spPr>
          <a:xfrm xmlns:a="http://schemas.openxmlformats.org/drawingml/2006/main">
            <a:off x="3124200" y="234315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5EE39A"/>
                </a:solidFill>
                <a:latin typeface="Aptos"/>
                <a:ea typeface="Aptos"/>
                <a:cs typeface="Aptos"/>
              </a:defRPr>
            </a:pPr>
            <a:r>
              <a:rPr sz="1350" b="1">
                <a:solidFill>
                  <a:srgbClr val="5EE39A"/>
                </a:solidFill>
                <a:latin typeface="Aptos"/>
                <a:ea typeface="Aptos"/>
                <a:cs typeface="Aptos"/>
              </a:rPr>
              <a:t>Model</a:t>
            </a:r>
          </a:p>
        </p:txBody>
      </p:sp>
      <p:sp>
        <p:nvSpPr>
          <p:cNvPr id="8" name="">
            <a:extLst xmlns:a="http://schemas.openxmlformats.org/drawingml/2006/main">
              <a:ext uri="{FF2B5EF4-FFF2-40B4-BE49-F238E27FC236}">
                <a16:creationId xmlns:a16="http://schemas.microsoft.com/office/drawing/2014/main" id="{B6BD1CA2-8E83-433C-8471-7DE41A387220}"/>
              </a:ext>
            </a:extLst>
          </p:cNvPr>
          <p:cNvSpPr>
            <a:spLocks xmlns:a="http://schemas.openxmlformats.org/drawingml/2006/main" noGrp="1"/>
          </p:cNvSpPr>
          <p:nvPr/>
        </p:nvSpPr>
        <p:spPr>
          <a:xfrm xmlns:a="http://schemas.openxmlformats.org/drawingml/2006/main">
            <a:off x="4800600" y="23431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7CC7FF"/>
                </a:solidFill>
                <a:latin typeface="Aptos"/>
                <a:ea typeface="Aptos"/>
                <a:cs typeface="Aptos"/>
              </a:defRPr>
            </a:pPr>
            <a:r>
              <a:rPr sz="1350" b="1">
                <a:solidFill>
                  <a:srgbClr val="7CC7FF"/>
                </a:solidFill>
                <a:latin typeface="Aptos"/>
                <a:ea typeface="Aptos"/>
                <a:cs typeface="Aptos"/>
              </a:rPr>
              <a:t>Sample market</a:t>
            </a:r>
          </a:p>
        </p:txBody>
      </p:sp>
      <p:sp>
        <p:nvSpPr>
          <p:cNvPr id="9" name="">
            <a:extLst xmlns:a="http://schemas.openxmlformats.org/drawingml/2006/main">
              <a:ext uri="{FF2B5EF4-FFF2-40B4-BE49-F238E27FC236}">
                <a16:creationId xmlns:a16="http://schemas.microsoft.com/office/drawing/2014/main" id="{0B4F4C5A-FE20-4772-8245-2F13602CC60A}"/>
              </a:ext>
            </a:extLst>
          </p:cNvPr>
          <p:cNvSpPr>
            <a:spLocks xmlns:a="http://schemas.openxmlformats.org/drawingml/2006/main" noGrp="1"/>
          </p:cNvSpPr>
          <p:nvPr/>
        </p:nvSpPr>
        <p:spPr>
          <a:xfrm xmlns:a="http://schemas.openxmlformats.org/drawingml/2006/main">
            <a:off x="857250" y="293370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6F1DF"/>
                </a:solidFill>
                <a:latin typeface="Aptos"/>
                <a:ea typeface="Aptos"/>
                <a:cs typeface="Aptos"/>
              </a:defRPr>
            </a:pPr>
            <a:r>
              <a:rPr sz="1650" b="1">
                <a:solidFill>
                  <a:srgbClr val="F6F1DF"/>
                </a:solidFill>
                <a:latin typeface="Aptos"/>
                <a:ea typeface="Aptos"/>
                <a:cs typeface="Aptos"/>
              </a:rPr>
              <a:t>USA win</a:t>
            </a:r>
          </a:p>
        </p:txBody>
      </p:sp>
      <p:sp>
        <p:nvSpPr>
          <p:cNvPr id="10" name="">
            <a:extLst xmlns:a="http://schemas.openxmlformats.org/drawingml/2006/main">
              <a:ext uri="{FF2B5EF4-FFF2-40B4-BE49-F238E27FC236}">
                <a16:creationId xmlns:a16="http://schemas.microsoft.com/office/drawing/2014/main" id="{4D0B4AA7-2BD2-44CD-B1DD-23D5D97E64C5}"/>
              </a:ext>
            </a:extLst>
          </p:cNvPr>
          <p:cNvSpPr>
            <a:spLocks xmlns:a="http://schemas.openxmlformats.org/drawingml/2006/main" noGrp="1"/>
          </p:cNvSpPr>
          <p:nvPr/>
        </p:nvSpPr>
        <p:spPr>
          <a:xfrm xmlns:a="http://schemas.openxmlformats.org/drawingml/2006/main">
            <a:off x="2781300" y="2895600"/>
            <a:ext cx="1333500" cy="266700"/>
          </a:xfrm>
          <a:prstGeom xmlns:a="http://schemas.openxmlformats.org/drawingml/2006/main" prst="rect">
            <a:avLst/>
          </a:prstGeom>
          <a:solidFill xmlns:a="http://schemas.openxmlformats.org/drawingml/2006/main">
            <a:srgbClr val="14291F"/>
          </a:solidFill>
          <a:ln xmlns:a="http://schemas.openxmlformats.org/drawingml/2006/main" w="14288">
            <a:solidFill>
              <a:srgbClr val="5EE39A"/>
            </a:solidFill>
            <a:prstDash val="solid"/>
          </a:ln>
        </p:spPr>
      </p:sp>
      <p:sp>
        <p:nvSpPr>
          <p:cNvPr id="11" name="">
            <a:extLst xmlns:a="http://schemas.openxmlformats.org/drawingml/2006/main">
              <a:ext uri="{FF2B5EF4-FFF2-40B4-BE49-F238E27FC236}">
                <a16:creationId xmlns:a16="http://schemas.microsoft.com/office/drawing/2014/main" id="{A8A0CD8E-6EBD-4E25-99F5-99448C0BE989}"/>
              </a:ext>
            </a:extLst>
          </p:cNvPr>
          <p:cNvSpPr>
            <a:spLocks xmlns:a="http://schemas.openxmlformats.org/drawingml/2006/main" noGrp="1"/>
          </p:cNvSpPr>
          <p:nvPr/>
        </p:nvSpPr>
        <p:spPr>
          <a:xfrm xmlns:a="http://schemas.openxmlformats.org/drawingml/2006/main">
            <a:off x="2781300" y="2895600"/>
            <a:ext cx="1131253" cy="2667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12" name="">
            <a:extLst xmlns:a="http://schemas.openxmlformats.org/drawingml/2006/main">
              <a:ext uri="{FF2B5EF4-FFF2-40B4-BE49-F238E27FC236}">
                <a16:creationId xmlns:a16="http://schemas.microsoft.com/office/drawing/2014/main" id="{690DC923-77DC-4F50-AF70-59B3EFEE7A18}"/>
              </a:ext>
            </a:extLst>
          </p:cNvPr>
          <p:cNvSpPr>
            <a:spLocks xmlns:a="http://schemas.openxmlformats.org/drawingml/2006/main" noGrp="1"/>
          </p:cNvSpPr>
          <p:nvPr/>
        </p:nvSpPr>
        <p:spPr>
          <a:xfrm xmlns:a="http://schemas.openxmlformats.org/drawingml/2006/main">
            <a:off x="4229100" y="29146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39A"/>
                </a:solidFill>
                <a:latin typeface="Aptos"/>
                <a:ea typeface="Aptos"/>
                <a:cs typeface="Aptos"/>
              </a:defRPr>
            </a:pPr>
            <a:r>
              <a:rPr sz="1275" b="1">
                <a:solidFill>
                  <a:srgbClr val="5EE39A"/>
                </a:solidFill>
                <a:latin typeface="Aptos"/>
                <a:ea typeface="Aptos"/>
                <a:cs typeface="Aptos"/>
              </a:rPr>
              <a:t>50.9%</a:t>
            </a:r>
          </a:p>
        </p:txBody>
      </p:sp>
      <p:sp>
        <p:nvSpPr>
          <p:cNvPr id="13" name="">
            <a:extLst xmlns:a="http://schemas.openxmlformats.org/drawingml/2006/main">
              <a:ext uri="{FF2B5EF4-FFF2-40B4-BE49-F238E27FC236}">
                <a16:creationId xmlns:a16="http://schemas.microsoft.com/office/drawing/2014/main" id="{4C6B2837-0879-44A0-A7AB-8E0C0BF59057}"/>
              </a:ext>
            </a:extLst>
          </p:cNvPr>
          <p:cNvSpPr>
            <a:spLocks xmlns:a="http://schemas.openxmlformats.org/drawingml/2006/main" noGrp="1"/>
          </p:cNvSpPr>
          <p:nvPr/>
        </p:nvSpPr>
        <p:spPr>
          <a:xfrm xmlns:a="http://schemas.openxmlformats.org/drawingml/2006/main">
            <a:off x="4857750" y="2895600"/>
            <a:ext cx="1333500" cy="266700"/>
          </a:xfrm>
          <a:prstGeom xmlns:a="http://schemas.openxmlformats.org/drawingml/2006/main" prst="rect">
            <a:avLst/>
          </a:prstGeom>
          <a:solidFill xmlns:a="http://schemas.openxmlformats.org/drawingml/2006/main">
            <a:srgbClr val="142234"/>
          </a:solidFill>
          <a:ln xmlns:a="http://schemas.openxmlformats.org/drawingml/2006/main" w="14288">
            <a:solidFill>
              <a:srgbClr val="7CC7FF"/>
            </a:solidFill>
            <a:prstDash val="solid"/>
          </a:ln>
        </p:spPr>
      </p:sp>
      <p:sp>
        <p:nvSpPr>
          <p:cNvPr id="14" name="">
            <a:extLst xmlns:a="http://schemas.openxmlformats.org/drawingml/2006/main">
              <a:ext uri="{FF2B5EF4-FFF2-40B4-BE49-F238E27FC236}">
                <a16:creationId xmlns:a16="http://schemas.microsoft.com/office/drawing/2014/main" id="{9FBFC877-AC24-4CBD-A53D-971C928B8D90}"/>
              </a:ext>
            </a:extLst>
          </p:cNvPr>
          <p:cNvSpPr>
            <a:spLocks xmlns:a="http://schemas.openxmlformats.org/drawingml/2006/main" noGrp="1"/>
          </p:cNvSpPr>
          <p:nvPr/>
        </p:nvSpPr>
        <p:spPr>
          <a:xfrm xmlns:a="http://schemas.openxmlformats.org/drawingml/2006/main">
            <a:off x="4857750" y="2895600"/>
            <a:ext cx="1160145" cy="266700"/>
          </a:xfrm>
          <a:prstGeom xmlns:a="http://schemas.openxmlformats.org/drawingml/2006/main" prst="rect">
            <a:avLst/>
          </a:prstGeom>
          <a:solidFill xmlns:a="http://schemas.openxmlformats.org/drawingml/2006/main">
            <a:srgbClr val="7CC7FF"/>
          </a:solidFill>
          <a:ln xmlns:a="http://schemas.openxmlformats.org/drawingml/2006/main" w="14288">
            <a:solidFill>
              <a:srgbClr val="7CC7FF"/>
            </a:solidFill>
            <a:prstDash val="solid"/>
          </a:ln>
        </p:spPr>
      </p:sp>
      <p:sp>
        <p:nvSpPr>
          <p:cNvPr id="15" name="">
            <a:extLst xmlns:a="http://schemas.openxmlformats.org/drawingml/2006/main">
              <a:ext uri="{FF2B5EF4-FFF2-40B4-BE49-F238E27FC236}">
                <a16:creationId xmlns:a16="http://schemas.microsoft.com/office/drawing/2014/main" id="{BA4B1757-A652-42A5-B913-4265ABA4BF00}"/>
              </a:ext>
            </a:extLst>
          </p:cNvPr>
          <p:cNvSpPr>
            <a:spLocks xmlns:a="http://schemas.openxmlformats.org/drawingml/2006/main" noGrp="1"/>
          </p:cNvSpPr>
          <p:nvPr/>
        </p:nvSpPr>
        <p:spPr>
          <a:xfrm xmlns:a="http://schemas.openxmlformats.org/drawingml/2006/main">
            <a:off x="6305550" y="29146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7CC7FF"/>
                </a:solidFill>
                <a:latin typeface="Aptos"/>
                <a:ea typeface="Aptos"/>
                <a:cs typeface="Aptos"/>
              </a:defRPr>
            </a:pPr>
            <a:r>
              <a:rPr sz="1275" b="1">
                <a:solidFill>
                  <a:srgbClr val="7CC7FF"/>
                </a:solidFill>
                <a:latin typeface="Aptos"/>
                <a:ea typeface="Aptos"/>
                <a:cs typeface="Aptos"/>
              </a:rPr>
              <a:t>52.2%</a:t>
            </a:r>
          </a:p>
        </p:txBody>
      </p:sp>
      <p:sp>
        <p:nvSpPr>
          <p:cNvPr id="16" name="">
            <a:extLst xmlns:a="http://schemas.openxmlformats.org/drawingml/2006/main">
              <a:ext uri="{FF2B5EF4-FFF2-40B4-BE49-F238E27FC236}">
                <a16:creationId xmlns:a16="http://schemas.microsoft.com/office/drawing/2014/main" id="{6539EE33-6FAC-4935-95F7-151052C19B90}"/>
              </a:ext>
            </a:extLst>
          </p:cNvPr>
          <p:cNvSpPr>
            <a:spLocks xmlns:a="http://schemas.openxmlformats.org/drawingml/2006/main" noGrp="1"/>
          </p:cNvSpPr>
          <p:nvPr/>
        </p:nvSpPr>
        <p:spPr>
          <a:xfrm xmlns:a="http://schemas.openxmlformats.org/drawingml/2006/main">
            <a:off x="857250" y="377190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6F1DF"/>
                </a:solidFill>
                <a:latin typeface="Aptos"/>
                <a:ea typeface="Aptos"/>
                <a:cs typeface="Aptos"/>
              </a:defRPr>
            </a:pPr>
            <a:r>
              <a:rPr sz="1650" b="1">
                <a:solidFill>
                  <a:srgbClr val="F6F1DF"/>
                </a:solidFill>
                <a:latin typeface="Aptos"/>
                <a:ea typeface="Aptos"/>
                <a:cs typeface="Aptos"/>
              </a:rPr>
              <a:t>Draw</a:t>
            </a:r>
          </a:p>
        </p:txBody>
      </p:sp>
      <p:sp>
        <p:nvSpPr>
          <p:cNvPr id="17" name="">
            <a:extLst xmlns:a="http://schemas.openxmlformats.org/drawingml/2006/main">
              <a:ext uri="{FF2B5EF4-FFF2-40B4-BE49-F238E27FC236}">
                <a16:creationId xmlns:a16="http://schemas.microsoft.com/office/drawing/2014/main" id="{01B61184-E84D-49A5-B4E8-1B52C1EE5B3F}"/>
              </a:ext>
            </a:extLst>
          </p:cNvPr>
          <p:cNvSpPr>
            <a:spLocks xmlns:a="http://schemas.openxmlformats.org/drawingml/2006/main" noGrp="1"/>
          </p:cNvSpPr>
          <p:nvPr/>
        </p:nvSpPr>
        <p:spPr>
          <a:xfrm xmlns:a="http://schemas.openxmlformats.org/drawingml/2006/main">
            <a:off x="2781300" y="3733800"/>
            <a:ext cx="1333500" cy="266700"/>
          </a:xfrm>
          <a:prstGeom xmlns:a="http://schemas.openxmlformats.org/drawingml/2006/main" prst="rect">
            <a:avLst/>
          </a:prstGeom>
          <a:solidFill xmlns:a="http://schemas.openxmlformats.org/drawingml/2006/main">
            <a:srgbClr val="14291F"/>
          </a:solidFill>
          <a:ln xmlns:a="http://schemas.openxmlformats.org/drawingml/2006/main" w="14288">
            <a:solidFill>
              <a:srgbClr val="5EE39A"/>
            </a:solidFill>
            <a:prstDash val="solid"/>
          </a:ln>
        </p:spPr>
      </p:sp>
      <p:sp>
        <p:nvSpPr>
          <p:cNvPr id="18" name="">
            <a:extLst xmlns:a="http://schemas.openxmlformats.org/drawingml/2006/main">
              <a:ext uri="{FF2B5EF4-FFF2-40B4-BE49-F238E27FC236}">
                <a16:creationId xmlns:a16="http://schemas.microsoft.com/office/drawing/2014/main" id="{FD979CAC-E411-4886-9737-6B707F49A377}"/>
              </a:ext>
            </a:extLst>
          </p:cNvPr>
          <p:cNvSpPr>
            <a:spLocks xmlns:a="http://schemas.openxmlformats.org/drawingml/2006/main" noGrp="1"/>
          </p:cNvSpPr>
          <p:nvPr/>
        </p:nvSpPr>
        <p:spPr>
          <a:xfrm xmlns:a="http://schemas.openxmlformats.org/drawingml/2006/main">
            <a:off x="2781300" y="3733800"/>
            <a:ext cx="466725" cy="2667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19" name="">
            <a:extLst xmlns:a="http://schemas.openxmlformats.org/drawingml/2006/main">
              <a:ext uri="{FF2B5EF4-FFF2-40B4-BE49-F238E27FC236}">
                <a16:creationId xmlns:a16="http://schemas.microsoft.com/office/drawing/2014/main" id="{0FD1ED89-0462-4070-B64A-1DE610135DE7}"/>
              </a:ext>
            </a:extLst>
          </p:cNvPr>
          <p:cNvSpPr>
            <a:spLocks xmlns:a="http://schemas.openxmlformats.org/drawingml/2006/main" noGrp="1"/>
          </p:cNvSpPr>
          <p:nvPr/>
        </p:nvSpPr>
        <p:spPr>
          <a:xfrm xmlns:a="http://schemas.openxmlformats.org/drawingml/2006/main">
            <a:off x="4229100" y="37528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39A"/>
                </a:solidFill>
                <a:latin typeface="Aptos"/>
                <a:ea typeface="Aptos"/>
                <a:cs typeface="Aptos"/>
              </a:defRPr>
            </a:pPr>
            <a:r>
              <a:rPr sz="1275" b="1">
                <a:solidFill>
                  <a:srgbClr val="5EE39A"/>
                </a:solidFill>
                <a:latin typeface="Aptos"/>
                <a:ea typeface="Aptos"/>
                <a:cs typeface="Aptos"/>
              </a:rPr>
              <a:t>21.0%</a:t>
            </a:r>
          </a:p>
        </p:txBody>
      </p:sp>
      <p:sp>
        <p:nvSpPr>
          <p:cNvPr id="20" name="">
            <a:extLst xmlns:a="http://schemas.openxmlformats.org/drawingml/2006/main">
              <a:ext uri="{FF2B5EF4-FFF2-40B4-BE49-F238E27FC236}">
                <a16:creationId xmlns:a16="http://schemas.microsoft.com/office/drawing/2014/main" id="{E5F45A6B-C6DA-43A5-99E0-F3749A7CFDBB}"/>
              </a:ext>
            </a:extLst>
          </p:cNvPr>
          <p:cNvSpPr>
            <a:spLocks xmlns:a="http://schemas.openxmlformats.org/drawingml/2006/main" noGrp="1"/>
          </p:cNvSpPr>
          <p:nvPr/>
        </p:nvSpPr>
        <p:spPr>
          <a:xfrm xmlns:a="http://schemas.openxmlformats.org/drawingml/2006/main">
            <a:off x="4857750" y="3733800"/>
            <a:ext cx="1333500" cy="266700"/>
          </a:xfrm>
          <a:prstGeom xmlns:a="http://schemas.openxmlformats.org/drawingml/2006/main" prst="rect">
            <a:avLst/>
          </a:prstGeom>
          <a:solidFill xmlns:a="http://schemas.openxmlformats.org/drawingml/2006/main">
            <a:srgbClr val="142234"/>
          </a:solidFill>
          <a:ln xmlns:a="http://schemas.openxmlformats.org/drawingml/2006/main" w="14288">
            <a:solidFill>
              <a:srgbClr val="7CC7FF"/>
            </a:solidFill>
            <a:prstDash val="solid"/>
          </a:ln>
        </p:spPr>
      </p:sp>
      <p:sp>
        <p:nvSpPr>
          <p:cNvPr id="21" name="">
            <a:extLst xmlns:a="http://schemas.openxmlformats.org/drawingml/2006/main">
              <a:ext uri="{FF2B5EF4-FFF2-40B4-BE49-F238E27FC236}">
                <a16:creationId xmlns:a16="http://schemas.microsoft.com/office/drawing/2014/main" id="{4F49C721-723C-42AB-9F27-6132BC0E9DEE}"/>
              </a:ext>
            </a:extLst>
          </p:cNvPr>
          <p:cNvSpPr>
            <a:spLocks xmlns:a="http://schemas.openxmlformats.org/drawingml/2006/main" noGrp="1"/>
          </p:cNvSpPr>
          <p:nvPr/>
        </p:nvSpPr>
        <p:spPr>
          <a:xfrm xmlns:a="http://schemas.openxmlformats.org/drawingml/2006/main">
            <a:off x="4857750" y="3733800"/>
            <a:ext cx="577850" cy="266700"/>
          </a:xfrm>
          <a:prstGeom xmlns:a="http://schemas.openxmlformats.org/drawingml/2006/main" prst="rect">
            <a:avLst/>
          </a:prstGeom>
          <a:solidFill xmlns:a="http://schemas.openxmlformats.org/drawingml/2006/main">
            <a:srgbClr val="7CC7FF"/>
          </a:solidFill>
          <a:ln xmlns:a="http://schemas.openxmlformats.org/drawingml/2006/main" w="14288">
            <a:solidFill>
              <a:srgbClr val="7CC7FF"/>
            </a:solidFill>
            <a:prstDash val="solid"/>
          </a:ln>
        </p:spPr>
      </p:sp>
      <p:sp>
        <p:nvSpPr>
          <p:cNvPr id="22" name="">
            <a:extLst xmlns:a="http://schemas.openxmlformats.org/drawingml/2006/main">
              <a:ext uri="{FF2B5EF4-FFF2-40B4-BE49-F238E27FC236}">
                <a16:creationId xmlns:a16="http://schemas.microsoft.com/office/drawing/2014/main" id="{D7335D53-E23D-4866-B809-6B73ECBD8B11}"/>
              </a:ext>
            </a:extLst>
          </p:cNvPr>
          <p:cNvSpPr>
            <a:spLocks xmlns:a="http://schemas.openxmlformats.org/drawingml/2006/main" noGrp="1"/>
          </p:cNvSpPr>
          <p:nvPr/>
        </p:nvSpPr>
        <p:spPr>
          <a:xfrm xmlns:a="http://schemas.openxmlformats.org/drawingml/2006/main">
            <a:off x="6305550" y="37528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7CC7FF"/>
                </a:solidFill>
                <a:latin typeface="Aptos"/>
                <a:ea typeface="Aptos"/>
                <a:cs typeface="Aptos"/>
              </a:defRPr>
            </a:pPr>
            <a:r>
              <a:rPr sz="1275" b="1">
                <a:solidFill>
                  <a:srgbClr val="7CC7FF"/>
                </a:solidFill>
                <a:latin typeface="Aptos"/>
                <a:ea typeface="Aptos"/>
                <a:cs typeface="Aptos"/>
              </a:rPr>
              <a:t>26.0%</a:t>
            </a:r>
          </a:p>
        </p:txBody>
      </p:sp>
      <p:sp>
        <p:nvSpPr>
          <p:cNvPr id="23" name="">
            <a:extLst xmlns:a="http://schemas.openxmlformats.org/drawingml/2006/main">
              <a:ext uri="{FF2B5EF4-FFF2-40B4-BE49-F238E27FC236}">
                <a16:creationId xmlns:a16="http://schemas.microsoft.com/office/drawing/2014/main" id="{9E4A3D20-F7D7-461E-A11A-1E59CE702441}"/>
              </a:ext>
            </a:extLst>
          </p:cNvPr>
          <p:cNvSpPr>
            <a:spLocks xmlns:a="http://schemas.openxmlformats.org/drawingml/2006/main" noGrp="1"/>
          </p:cNvSpPr>
          <p:nvPr/>
        </p:nvSpPr>
        <p:spPr>
          <a:xfrm xmlns:a="http://schemas.openxmlformats.org/drawingml/2006/main">
            <a:off x="857250" y="461010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6F1DF"/>
                </a:solidFill>
                <a:latin typeface="Aptos"/>
                <a:ea typeface="Aptos"/>
                <a:cs typeface="Aptos"/>
              </a:defRPr>
            </a:pPr>
            <a:r>
              <a:rPr sz="1650" b="1">
                <a:solidFill>
                  <a:srgbClr val="F6F1DF"/>
                </a:solidFill>
                <a:latin typeface="Aptos"/>
                <a:ea typeface="Aptos"/>
                <a:cs typeface="Aptos"/>
              </a:rPr>
              <a:t>Australia win</a:t>
            </a:r>
          </a:p>
        </p:txBody>
      </p:sp>
      <p:sp>
        <p:nvSpPr>
          <p:cNvPr id="24" name="">
            <a:extLst xmlns:a="http://schemas.openxmlformats.org/drawingml/2006/main">
              <a:ext uri="{FF2B5EF4-FFF2-40B4-BE49-F238E27FC236}">
                <a16:creationId xmlns:a16="http://schemas.microsoft.com/office/drawing/2014/main" id="{094C9EBD-FB2B-4D8F-9986-8CF858BFB218}"/>
              </a:ext>
            </a:extLst>
          </p:cNvPr>
          <p:cNvSpPr>
            <a:spLocks xmlns:a="http://schemas.openxmlformats.org/drawingml/2006/main" noGrp="1"/>
          </p:cNvSpPr>
          <p:nvPr/>
        </p:nvSpPr>
        <p:spPr>
          <a:xfrm xmlns:a="http://schemas.openxmlformats.org/drawingml/2006/main">
            <a:off x="2781300" y="4572000"/>
            <a:ext cx="1333500" cy="266700"/>
          </a:xfrm>
          <a:prstGeom xmlns:a="http://schemas.openxmlformats.org/drawingml/2006/main" prst="rect">
            <a:avLst/>
          </a:prstGeom>
          <a:solidFill xmlns:a="http://schemas.openxmlformats.org/drawingml/2006/main">
            <a:srgbClr val="14291F"/>
          </a:solidFill>
          <a:ln xmlns:a="http://schemas.openxmlformats.org/drawingml/2006/main" w="14288">
            <a:solidFill>
              <a:srgbClr val="5EE39A"/>
            </a:solidFill>
            <a:prstDash val="solid"/>
          </a:ln>
        </p:spPr>
      </p:sp>
      <p:sp>
        <p:nvSpPr>
          <p:cNvPr id="25" name="">
            <a:extLst xmlns:a="http://schemas.openxmlformats.org/drawingml/2006/main">
              <a:ext uri="{FF2B5EF4-FFF2-40B4-BE49-F238E27FC236}">
                <a16:creationId xmlns:a16="http://schemas.microsoft.com/office/drawing/2014/main" id="{6737459D-B916-4562-908B-E9432C2B5134}"/>
              </a:ext>
            </a:extLst>
          </p:cNvPr>
          <p:cNvSpPr>
            <a:spLocks xmlns:a="http://schemas.openxmlformats.org/drawingml/2006/main" noGrp="1"/>
          </p:cNvSpPr>
          <p:nvPr/>
        </p:nvSpPr>
        <p:spPr>
          <a:xfrm xmlns:a="http://schemas.openxmlformats.org/drawingml/2006/main">
            <a:off x="2781300" y="4572000"/>
            <a:ext cx="624523" cy="2667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26" name="">
            <a:extLst xmlns:a="http://schemas.openxmlformats.org/drawingml/2006/main">
              <a:ext uri="{FF2B5EF4-FFF2-40B4-BE49-F238E27FC236}">
                <a16:creationId xmlns:a16="http://schemas.microsoft.com/office/drawing/2014/main" id="{F6B7EDD4-B354-42F3-84C4-6FB478BCC08A}"/>
              </a:ext>
            </a:extLst>
          </p:cNvPr>
          <p:cNvSpPr>
            <a:spLocks xmlns:a="http://schemas.openxmlformats.org/drawingml/2006/main" noGrp="1"/>
          </p:cNvSpPr>
          <p:nvPr/>
        </p:nvSpPr>
        <p:spPr>
          <a:xfrm xmlns:a="http://schemas.openxmlformats.org/drawingml/2006/main">
            <a:off x="4229100" y="45910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39A"/>
                </a:solidFill>
                <a:latin typeface="Aptos"/>
                <a:ea typeface="Aptos"/>
                <a:cs typeface="Aptos"/>
              </a:defRPr>
            </a:pPr>
            <a:r>
              <a:rPr sz="1275" b="1">
                <a:solidFill>
                  <a:srgbClr val="5EE39A"/>
                </a:solidFill>
                <a:latin typeface="Aptos"/>
                <a:ea typeface="Aptos"/>
                <a:cs typeface="Aptos"/>
              </a:rPr>
              <a:t>28.1%</a:t>
            </a:r>
          </a:p>
        </p:txBody>
      </p:sp>
      <p:sp>
        <p:nvSpPr>
          <p:cNvPr id="27" name="">
            <a:extLst xmlns:a="http://schemas.openxmlformats.org/drawingml/2006/main">
              <a:ext uri="{FF2B5EF4-FFF2-40B4-BE49-F238E27FC236}">
                <a16:creationId xmlns:a16="http://schemas.microsoft.com/office/drawing/2014/main" id="{CA98D826-EA9B-460B-B4CA-B49298EF0F60}"/>
              </a:ext>
            </a:extLst>
          </p:cNvPr>
          <p:cNvSpPr>
            <a:spLocks xmlns:a="http://schemas.openxmlformats.org/drawingml/2006/main" noGrp="1"/>
          </p:cNvSpPr>
          <p:nvPr/>
        </p:nvSpPr>
        <p:spPr>
          <a:xfrm xmlns:a="http://schemas.openxmlformats.org/drawingml/2006/main">
            <a:off x="4857750" y="4572000"/>
            <a:ext cx="1333500" cy="266700"/>
          </a:xfrm>
          <a:prstGeom xmlns:a="http://schemas.openxmlformats.org/drawingml/2006/main" prst="rect">
            <a:avLst/>
          </a:prstGeom>
          <a:solidFill xmlns:a="http://schemas.openxmlformats.org/drawingml/2006/main">
            <a:srgbClr val="142234"/>
          </a:solidFill>
          <a:ln xmlns:a="http://schemas.openxmlformats.org/drawingml/2006/main" w="14288">
            <a:solidFill>
              <a:srgbClr val="7CC7FF"/>
            </a:solidFill>
            <a:prstDash val="solid"/>
          </a:ln>
        </p:spPr>
      </p:sp>
      <p:sp>
        <p:nvSpPr>
          <p:cNvPr id="28" name="">
            <a:extLst xmlns:a="http://schemas.openxmlformats.org/drawingml/2006/main">
              <a:ext uri="{FF2B5EF4-FFF2-40B4-BE49-F238E27FC236}">
                <a16:creationId xmlns:a16="http://schemas.microsoft.com/office/drawing/2014/main" id="{45C0A7F8-DA5A-411E-844D-FB05F71F537E}"/>
              </a:ext>
            </a:extLst>
          </p:cNvPr>
          <p:cNvSpPr>
            <a:spLocks xmlns:a="http://schemas.openxmlformats.org/drawingml/2006/main" noGrp="1"/>
          </p:cNvSpPr>
          <p:nvPr/>
        </p:nvSpPr>
        <p:spPr>
          <a:xfrm xmlns:a="http://schemas.openxmlformats.org/drawingml/2006/main">
            <a:off x="4857750" y="4572000"/>
            <a:ext cx="484505" cy="266700"/>
          </a:xfrm>
          <a:prstGeom xmlns:a="http://schemas.openxmlformats.org/drawingml/2006/main" prst="rect">
            <a:avLst/>
          </a:prstGeom>
          <a:solidFill xmlns:a="http://schemas.openxmlformats.org/drawingml/2006/main">
            <a:srgbClr val="7CC7FF"/>
          </a:solidFill>
          <a:ln xmlns:a="http://schemas.openxmlformats.org/drawingml/2006/main" w="14288">
            <a:solidFill>
              <a:srgbClr val="7CC7FF"/>
            </a:solidFill>
            <a:prstDash val="solid"/>
          </a:ln>
        </p:spPr>
      </p:sp>
      <p:sp>
        <p:nvSpPr>
          <p:cNvPr id="29" name="">
            <a:extLst xmlns:a="http://schemas.openxmlformats.org/drawingml/2006/main">
              <a:ext uri="{FF2B5EF4-FFF2-40B4-BE49-F238E27FC236}">
                <a16:creationId xmlns:a16="http://schemas.microsoft.com/office/drawing/2014/main" id="{BCBE12DE-4630-44AD-8879-21B4B38CF5CB}"/>
              </a:ext>
            </a:extLst>
          </p:cNvPr>
          <p:cNvSpPr>
            <a:spLocks xmlns:a="http://schemas.openxmlformats.org/drawingml/2006/main" noGrp="1"/>
          </p:cNvSpPr>
          <p:nvPr/>
        </p:nvSpPr>
        <p:spPr>
          <a:xfrm xmlns:a="http://schemas.openxmlformats.org/drawingml/2006/main">
            <a:off x="6305550" y="45910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7CC7FF"/>
                </a:solidFill>
                <a:latin typeface="Aptos"/>
                <a:ea typeface="Aptos"/>
                <a:cs typeface="Aptos"/>
              </a:defRPr>
            </a:pPr>
            <a:r>
              <a:rPr sz="1275" b="1">
                <a:solidFill>
                  <a:srgbClr val="7CC7FF"/>
                </a:solidFill>
                <a:latin typeface="Aptos"/>
                <a:ea typeface="Aptos"/>
                <a:cs typeface="Aptos"/>
              </a:rPr>
              <a:t>21.8%</a:t>
            </a:r>
          </a:p>
        </p:txBody>
      </p:sp>
      <p:sp>
        <p:nvSpPr>
          <p:cNvPr id="30" name="">
            <a:extLst xmlns:a="http://schemas.openxmlformats.org/drawingml/2006/main">
              <a:ext uri="{FF2B5EF4-FFF2-40B4-BE49-F238E27FC236}">
                <a16:creationId xmlns:a16="http://schemas.microsoft.com/office/drawing/2014/main" id="{99E0F8A1-541A-401F-810F-6E5E1336CA1C}"/>
              </a:ext>
            </a:extLst>
          </p:cNvPr>
          <p:cNvSpPr>
            <a:spLocks xmlns:a="http://schemas.openxmlformats.org/drawingml/2006/main" noGrp="1"/>
          </p:cNvSpPr>
          <p:nvPr/>
        </p:nvSpPr>
        <p:spPr>
          <a:xfrm xmlns:a="http://schemas.openxmlformats.org/drawingml/2006/main">
            <a:off x="7620000" y="2724150"/>
            <a:ext cx="3143250" cy="2152650"/>
          </a:xfrm>
          <a:prstGeom xmlns:a="http://schemas.openxmlformats.org/drawingml/2006/main" prst="rect">
            <a:avLst/>
          </a:prstGeom>
          <a:solidFill xmlns:a="http://schemas.openxmlformats.org/drawingml/2006/main">
            <a:srgbClr val="101720"/>
          </a:solidFill>
          <a:ln xmlns:a="http://schemas.openxmlformats.org/drawingml/2006/main" w="14288">
            <a:solidFill>
              <a:srgbClr val="FFD166"/>
            </a:solidFill>
            <a:prstDash val="solid"/>
          </a:ln>
        </p:spPr>
      </p:sp>
      <p:sp>
        <p:nvSpPr>
          <p:cNvPr id="31" name="">
            <a:extLst xmlns:a="http://schemas.openxmlformats.org/drawingml/2006/main">
              <a:ext uri="{FF2B5EF4-FFF2-40B4-BE49-F238E27FC236}">
                <a16:creationId xmlns:a16="http://schemas.microsoft.com/office/drawing/2014/main" id="{48C9211A-DAE8-4A96-83DF-3C6AA9BB9129}"/>
              </a:ext>
            </a:extLst>
          </p:cNvPr>
          <p:cNvSpPr>
            <a:spLocks xmlns:a="http://schemas.openxmlformats.org/drawingml/2006/main" noGrp="1"/>
          </p:cNvSpPr>
          <p:nvPr/>
        </p:nvSpPr>
        <p:spPr>
          <a:xfrm xmlns:a="http://schemas.openxmlformats.org/drawingml/2006/main">
            <a:off x="7867650" y="2971800"/>
            <a:ext cx="2190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FFD166"/>
                </a:solidFill>
                <a:latin typeface="Aptos"/>
                <a:ea typeface="Aptos"/>
                <a:cs typeface="Aptos"/>
              </a:defRPr>
            </a:pPr>
            <a:r>
              <a:rPr sz="1950" b="1">
                <a:solidFill>
                  <a:srgbClr val="FFD166"/>
                </a:solidFill>
                <a:latin typeface="Aptos"/>
                <a:ea typeface="Aptos"/>
                <a:cs typeface="Aptos"/>
              </a:rPr>
              <a:t>De-vig step</a:t>
            </a:r>
          </a:p>
        </p:txBody>
      </p:sp>
      <p:sp>
        <p:nvSpPr>
          <p:cNvPr id="32" name="">
            <a:extLst xmlns:a="http://schemas.openxmlformats.org/drawingml/2006/main">
              <a:ext uri="{FF2B5EF4-FFF2-40B4-BE49-F238E27FC236}">
                <a16:creationId xmlns:a16="http://schemas.microsoft.com/office/drawing/2014/main" id="{518F01A4-3C30-4677-8C4D-59AE4273BA12}"/>
              </a:ext>
            </a:extLst>
          </p:cNvPr>
          <p:cNvSpPr>
            <a:spLocks xmlns:a="http://schemas.openxmlformats.org/drawingml/2006/main" noGrp="1"/>
          </p:cNvSpPr>
          <p:nvPr/>
        </p:nvSpPr>
        <p:spPr>
          <a:xfrm xmlns:a="http://schemas.openxmlformats.org/drawingml/2006/main">
            <a:off x="7886700" y="3429000"/>
            <a:ext cx="24955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6F1DF"/>
                </a:solidFill>
                <a:latin typeface="Aptos"/>
                <a:ea typeface="Aptos"/>
                <a:cs typeface="Aptos"/>
              </a:defRPr>
            </a:pPr>
            <a:r>
              <a:rPr sz="1350" b="0">
                <a:solidFill>
                  <a:srgbClr val="F6F1DF"/>
                </a:solidFill>
                <a:latin typeface="Aptos"/>
                <a:ea typeface="Aptos"/>
                <a:cs typeface="Aptos"/>
              </a:rPr>
              <a:t>Convert odds to implied probabilities, remove bookmaker margin, then compare to model output.</a:t>
            </a:r>
          </a:p>
        </p:txBody>
      </p:sp>
      <p:sp>
        <p:nvSpPr>
          <p:cNvPr id="33" name="">
            <a:extLst xmlns:a="http://schemas.openxmlformats.org/drawingml/2006/main">
              <a:ext uri="{FF2B5EF4-FFF2-40B4-BE49-F238E27FC236}">
                <a16:creationId xmlns:a16="http://schemas.microsoft.com/office/drawing/2014/main" id="{C2271072-1820-4908-9720-3EF51CE3973E}"/>
              </a:ext>
            </a:extLst>
          </p:cNvPr>
          <p:cNvSpPr>
            <a:spLocks xmlns:a="http://schemas.openxmlformats.org/drawingml/2006/main" noGrp="1"/>
          </p:cNvSpPr>
          <p:nvPr/>
        </p:nvSpPr>
        <p:spPr>
          <a:xfrm xmlns:a="http://schemas.openxmlformats.org/drawingml/2006/main">
            <a:off x="7886700" y="4476750"/>
            <a:ext cx="23622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B6C1AD"/>
                </a:solidFill>
                <a:latin typeface="Aptos"/>
                <a:ea typeface="Aptos"/>
                <a:cs typeface="Aptos"/>
              </a:defRPr>
            </a:pPr>
            <a:r>
              <a:rPr sz="1200" b="1">
                <a:solidFill>
                  <a:srgbClr val="B6C1AD"/>
                </a:solidFill>
                <a:latin typeface="Aptos"/>
                <a:ea typeface="Aptos"/>
                <a:cs typeface="Aptos"/>
              </a:rPr>
              <a:t>Margin in sample row: 5.33%</a:t>
            </a:r>
          </a:p>
        </p:txBody>
      </p:sp>
      <p:sp>
        <p:nvSpPr>
          <p:cNvPr id="34" name="">
            <a:extLst xmlns:a="http://schemas.openxmlformats.org/drawingml/2006/main">
              <a:ext uri="{FF2B5EF4-FFF2-40B4-BE49-F238E27FC236}">
                <a16:creationId xmlns:a16="http://schemas.microsoft.com/office/drawing/2014/main" id="{EC92C663-254F-4E35-98F5-95BD631CD2DB}"/>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10</a:t>
            </a:r>
          </a:p>
        </p:txBody>
      </p:sp>
      <p:sp>
        <p:nvSpPr>
          <p:cNvPr id="35" name="">
            <a:extLst xmlns:a="http://schemas.openxmlformats.org/drawingml/2006/main">
              <a:ext uri="{FF2B5EF4-FFF2-40B4-BE49-F238E27FC236}">
                <a16:creationId xmlns:a16="http://schemas.microsoft.com/office/drawing/2014/main" id="{96D0B3CB-69AD-4FE3-97D8-1C524868A1AC}"/>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Data: forecast_match_with_context('USA','Australia')</a:t>
            </a:r>
          </a:p>
        </p:txBody>
      </p:sp>
    </p:spTree>
    <p:extLst>
      <p:ext uri="{BB962C8B-B14F-4D97-AF65-F5344CB8AC3E}">
        <p14:creationId xmlns:p14="http://schemas.microsoft.com/office/powerpoint/2010/main" val="26253309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acbd414c77624cd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FDB8F6-1F9D-4BC8-967C-776EDB5E0C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54118"/>
            </a:srgbClr>
          </a:solidFill>
          <a:ln xmlns:a="http://schemas.openxmlformats.org/drawingml/2006/main" w="14288">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85052DF-1BBF-4050-8FBD-9B8D4BA8FD23}"/>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4" name="kicker-label">
            <a:extLst xmlns:a="http://schemas.openxmlformats.org/drawingml/2006/main">
              <a:ext uri="{FF2B5EF4-FFF2-40B4-BE49-F238E27FC236}">
                <a16:creationId xmlns:a16="http://schemas.microsoft.com/office/drawing/2014/main" id="{6A7B0AE9-8BBD-4ADE-9127-0205A20F94F9}"/>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5" name="">
            <a:extLst xmlns:a="http://schemas.openxmlformats.org/drawingml/2006/main">
              <a:ext uri="{FF2B5EF4-FFF2-40B4-BE49-F238E27FC236}">
                <a16:creationId xmlns:a16="http://schemas.microsoft.com/office/drawing/2014/main" id="{7291FB65-1E01-4AED-B12F-8D71E940DB4A}"/>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16:00</a:t>
            </a:r>
          </a:p>
        </p:txBody>
      </p:sp>
      <p:sp>
        <p:nvSpPr>
          <p:cNvPr id="6" name="">
            <a:extLst xmlns:a="http://schemas.openxmlformats.org/drawingml/2006/main">
              <a:ext uri="{FF2B5EF4-FFF2-40B4-BE49-F238E27FC236}">
                <a16:creationId xmlns:a16="http://schemas.microsoft.com/office/drawing/2014/main" id="{FFADE9EE-F1E4-4FC3-85E3-07A3727E75B7}"/>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Experiment 3: champion odds come from counting simulated titles.</a:t>
            </a:r>
          </a:p>
        </p:txBody>
      </p:sp>
      <p:sp>
        <p:nvSpPr>
          <p:cNvPr id="7" name="">
            <a:extLst xmlns:a="http://schemas.openxmlformats.org/drawingml/2006/main">
              <a:ext uri="{FF2B5EF4-FFF2-40B4-BE49-F238E27FC236}">
                <a16:creationId xmlns:a16="http://schemas.microsoft.com/office/drawing/2014/main" id="{A4E4E1ED-E2C8-43C2-9ECA-9E7F3623124E}"/>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The top of the table is plausible, but every number is model-derived and caveated.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a551c8f24b94579"/>
          <a:srcRect xmlns:a="http://schemas.openxmlformats.org/drawingml/2006/main" l="0" t="0" r="0" b="0"/>
          <a:stretch xmlns:a="http://schemas.openxmlformats.org/drawingml/2006/main">
            <a:fillRect l="0" t="0" r="0" b="0"/>
          </a:stretch>
        </p:blipFill>
        <p:spPr>
          <a:xfrm xmlns:a="http://schemas.openxmlformats.org/drawingml/2006/main">
            <a:off x="723900" y="2000250"/>
            <a:ext cx="6096000" cy="3429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0E9E913-BC2C-46FA-9383-DCA134979DA4}"/>
              </a:ext>
            </a:extLst>
          </p:cNvPr>
          <p:cNvSpPr>
            <a:spLocks xmlns:a="http://schemas.openxmlformats.org/drawingml/2006/main" noGrp="1"/>
          </p:cNvSpPr>
          <p:nvPr/>
        </p:nvSpPr>
        <p:spPr>
          <a:xfrm xmlns:a="http://schemas.openxmlformats.org/drawingml/2006/main">
            <a:off x="7524750" y="2181225"/>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Argentina</a:t>
            </a:r>
          </a:p>
        </p:txBody>
      </p:sp>
      <p:sp>
        <p:nvSpPr>
          <p:cNvPr id="10" name="">
            <a:extLst xmlns:a="http://schemas.openxmlformats.org/drawingml/2006/main">
              <a:ext uri="{FF2B5EF4-FFF2-40B4-BE49-F238E27FC236}">
                <a16:creationId xmlns:a16="http://schemas.microsoft.com/office/drawing/2014/main" id="{A3C221F7-0DBA-4516-80AC-5DF2A161D261}"/>
              </a:ext>
            </a:extLst>
          </p:cNvPr>
          <p:cNvSpPr>
            <a:spLocks xmlns:a="http://schemas.openxmlformats.org/drawingml/2006/main" noGrp="1"/>
          </p:cNvSpPr>
          <p:nvPr/>
        </p:nvSpPr>
        <p:spPr>
          <a:xfrm xmlns:a="http://schemas.openxmlformats.org/drawingml/2006/main">
            <a:off x="9048750" y="2209800"/>
            <a:ext cx="2476500"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11" name="">
            <a:extLst xmlns:a="http://schemas.openxmlformats.org/drawingml/2006/main">
              <a:ext uri="{FF2B5EF4-FFF2-40B4-BE49-F238E27FC236}">
                <a16:creationId xmlns:a16="http://schemas.microsoft.com/office/drawing/2014/main" id="{6B43863D-DE56-455A-9204-D00B35CDF9F1}"/>
              </a:ext>
            </a:extLst>
          </p:cNvPr>
          <p:cNvSpPr>
            <a:spLocks xmlns:a="http://schemas.openxmlformats.org/drawingml/2006/main" noGrp="1"/>
          </p:cNvSpPr>
          <p:nvPr/>
        </p:nvSpPr>
        <p:spPr>
          <a:xfrm xmlns:a="http://schemas.openxmlformats.org/drawingml/2006/main">
            <a:off x="9048750" y="2209800"/>
            <a:ext cx="2303145" cy="2286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12" name="">
            <a:extLst xmlns:a="http://schemas.openxmlformats.org/drawingml/2006/main">
              <a:ext uri="{FF2B5EF4-FFF2-40B4-BE49-F238E27FC236}">
                <a16:creationId xmlns:a16="http://schemas.microsoft.com/office/drawing/2014/main" id="{33F68E43-04CA-4C6B-9B59-E5D2E043BD9E}"/>
              </a:ext>
            </a:extLst>
          </p:cNvPr>
          <p:cNvSpPr>
            <a:spLocks xmlns:a="http://schemas.openxmlformats.org/drawingml/2006/main" noGrp="1"/>
          </p:cNvSpPr>
          <p:nvPr/>
        </p:nvSpPr>
        <p:spPr>
          <a:xfrm xmlns:a="http://schemas.openxmlformats.org/drawingml/2006/main">
            <a:off x="11620500" y="2171700"/>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39A"/>
                </a:solidFill>
                <a:latin typeface="Aptos"/>
                <a:ea typeface="Aptos"/>
                <a:cs typeface="Aptos"/>
              </a:defRPr>
            </a:pPr>
            <a:r>
              <a:rPr sz="1275" b="1">
                <a:solidFill>
                  <a:srgbClr val="5EE39A"/>
                </a:solidFill>
                <a:latin typeface="Aptos"/>
                <a:ea typeface="Aptos"/>
                <a:cs typeface="Aptos"/>
              </a:rPr>
              <a:t>18.6%</a:t>
            </a:r>
          </a:p>
        </p:txBody>
      </p:sp>
      <p:sp>
        <p:nvSpPr>
          <p:cNvPr id="13" name="">
            <a:extLst xmlns:a="http://schemas.openxmlformats.org/drawingml/2006/main">
              <a:ext uri="{FF2B5EF4-FFF2-40B4-BE49-F238E27FC236}">
                <a16:creationId xmlns:a16="http://schemas.microsoft.com/office/drawing/2014/main" id="{442B4160-DD1A-4CAF-8191-CA518FDAA0FB}"/>
              </a:ext>
            </a:extLst>
          </p:cNvPr>
          <p:cNvSpPr>
            <a:spLocks xmlns:a="http://schemas.openxmlformats.org/drawingml/2006/main" noGrp="1"/>
          </p:cNvSpPr>
          <p:nvPr/>
        </p:nvSpPr>
        <p:spPr>
          <a:xfrm xmlns:a="http://schemas.openxmlformats.org/drawingml/2006/main">
            <a:off x="7524750" y="2647950"/>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France</a:t>
            </a:r>
          </a:p>
        </p:txBody>
      </p:sp>
      <p:sp>
        <p:nvSpPr>
          <p:cNvPr id="14" name="">
            <a:extLst xmlns:a="http://schemas.openxmlformats.org/drawingml/2006/main">
              <a:ext uri="{FF2B5EF4-FFF2-40B4-BE49-F238E27FC236}">
                <a16:creationId xmlns:a16="http://schemas.microsoft.com/office/drawing/2014/main" id="{FC33C845-9658-4AFB-A8E0-BBB4FEF93121}"/>
              </a:ext>
            </a:extLst>
          </p:cNvPr>
          <p:cNvSpPr>
            <a:spLocks xmlns:a="http://schemas.openxmlformats.org/drawingml/2006/main" noGrp="1"/>
          </p:cNvSpPr>
          <p:nvPr/>
        </p:nvSpPr>
        <p:spPr>
          <a:xfrm xmlns:a="http://schemas.openxmlformats.org/drawingml/2006/main">
            <a:off x="9048750" y="2676525"/>
            <a:ext cx="2476500"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15" name="">
            <a:extLst xmlns:a="http://schemas.openxmlformats.org/drawingml/2006/main">
              <a:ext uri="{FF2B5EF4-FFF2-40B4-BE49-F238E27FC236}">
                <a16:creationId xmlns:a16="http://schemas.microsoft.com/office/drawing/2014/main" id="{8B2E1982-C0D1-4E27-A81C-E3C56FF97A1A}"/>
              </a:ext>
            </a:extLst>
          </p:cNvPr>
          <p:cNvSpPr>
            <a:spLocks xmlns:a="http://schemas.openxmlformats.org/drawingml/2006/main" noGrp="1"/>
          </p:cNvSpPr>
          <p:nvPr/>
        </p:nvSpPr>
        <p:spPr>
          <a:xfrm xmlns:a="http://schemas.openxmlformats.org/drawingml/2006/main">
            <a:off x="9048750" y="2676525"/>
            <a:ext cx="1882140" cy="228600"/>
          </a:xfrm>
          <a:prstGeom xmlns:a="http://schemas.openxmlformats.org/drawingml/2006/main" prst="rect">
            <a:avLst/>
          </a:prstGeom>
          <a:solidFill xmlns:a="http://schemas.openxmlformats.org/drawingml/2006/main">
            <a:srgbClr val="7CC7FF"/>
          </a:solidFill>
          <a:ln xmlns:a="http://schemas.openxmlformats.org/drawingml/2006/main" w="14288">
            <a:solidFill>
              <a:srgbClr val="7CC7FF"/>
            </a:solidFill>
            <a:prstDash val="solid"/>
          </a:ln>
        </p:spPr>
      </p:sp>
      <p:sp>
        <p:nvSpPr>
          <p:cNvPr id="16" name="">
            <a:extLst xmlns:a="http://schemas.openxmlformats.org/drawingml/2006/main">
              <a:ext uri="{FF2B5EF4-FFF2-40B4-BE49-F238E27FC236}">
                <a16:creationId xmlns:a16="http://schemas.microsoft.com/office/drawing/2014/main" id="{EB95596C-AC7F-4ADB-BD3D-75A0073EEE70}"/>
              </a:ext>
            </a:extLst>
          </p:cNvPr>
          <p:cNvSpPr>
            <a:spLocks xmlns:a="http://schemas.openxmlformats.org/drawingml/2006/main" noGrp="1"/>
          </p:cNvSpPr>
          <p:nvPr/>
        </p:nvSpPr>
        <p:spPr>
          <a:xfrm xmlns:a="http://schemas.openxmlformats.org/drawingml/2006/main">
            <a:off x="11620500" y="2638425"/>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7CC7FF"/>
                </a:solidFill>
                <a:latin typeface="Aptos"/>
                <a:ea typeface="Aptos"/>
                <a:cs typeface="Aptos"/>
              </a:defRPr>
            </a:pPr>
            <a:r>
              <a:rPr sz="1275" b="1">
                <a:solidFill>
                  <a:srgbClr val="7CC7FF"/>
                </a:solidFill>
                <a:latin typeface="Aptos"/>
                <a:ea typeface="Aptos"/>
                <a:cs typeface="Aptos"/>
              </a:rPr>
              <a:t>15.2%</a:t>
            </a:r>
          </a:p>
        </p:txBody>
      </p:sp>
      <p:sp>
        <p:nvSpPr>
          <p:cNvPr id="17" name="">
            <a:extLst xmlns:a="http://schemas.openxmlformats.org/drawingml/2006/main">
              <a:ext uri="{FF2B5EF4-FFF2-40B4-BE49-F238E27FC236}">
                <a16:creationId xmlns:a16="http://schemas.microsoft.com/office/drawing/2014/main" id="{89244580-532A-4E64-8B56-13EAD7114DEA}"/>
              </a:ext>
            </a:extLst>
          </p:cNvPr>
          <p:cNvSpPr>
            <a:spLocks xmlns:a="http://schemas.openxmlformats.org/drawingml/2006/main" noGrp="1"/>
          </p:cNvSpPr>
          <p:nvPr/>
        </p:nvSpPr>
        <p:spPr>
          <a:xfrm xmlns:a="http://schemas.openxmlformats.org/drawingml/2006/main">
            <a:off x="7524750" y="3114675"/>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Spain</a:t>
            </a:r>
          </a:p>
        </p:txBody>
      </p:sp>
      <p:sp>
        <p:nvSpPr>
          <p:cNvPr id="18" name="">
            <a:extLst xmlns:a="http://schemas.openxmlformats.org/drawingml/2006/main">
              <a:ext uri="{FF2B5EF4-FFF2-40B4-BE49-F238E27FC236}">
                <a16:creationId xmlns:a16="http://schemas.microsoft.com/office/drawing/2014/main" id="{3A2D33A9-DACF-477A-A5C4-BE63A059BBBC}"/>
              </a:ext>
            </a:extLst>
          </p:cNvPr>
          <p:cNvSpPr>
            <a:spLocks xmlns:a="http://schemas.openxmlformats.org/drawingml/2006/main" noGrp="1"/>
          </p:cNvSpPr>
          <p:nvPr/>
        </p:nvSpPr>
        <p:spPr>
          <a:xfrm xmlns:a="http://schemas.openxmlformats.org/drawingml/2006/main">
            <a:off x="9048750" y="3143250"/>
            <a:ext cx="2476500"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19" name="">
            <a:extLst xmlns:a="http://schemas.openxmlformats.org/drawingml/2006/main">
              <a:ext uri="{FF2B5EF4-FFF2-40B4-BE49-F238E27FC236}">
                <a16:creationId xmlns:a16="http://schemas.microsoft.com/office/drawing/2014/main" id="{45F084B8-1D38-4771-9EA8-5E0BE853BCDB}"/>
              </a:ext>
            </a:extLst>
          </p:cNvPr>
          <p:cNvSpPr>
            <a:spLocks xmlns:a="http://schemas.openxmlformats.org/drawingml/2006/main" noGrp="1"/>
          </p:cNvSpPr>
          <p:nvPr/>
        </p:nvSpPr>
        <p:spPr>
          <a:xfrm xmlns:a="http://schemas.openxmlformats.org/drawingml/2006/main">
            <a:off x="9048750" y="3143250"/>
            <a:ext cx="1584960" cy="228600"/>
          </a:xfrm>
          <a:prstGeom xmlns:a="http://schemas.openxmlformats.org/drawingml/2006/main" prst="rect">
            <a:avLst/>
          </a:prstGeom>
          <a:solidFill xmlns:a="http://schemas.openxmlformats.org/drawingml/2006/main">
            <a:srgbClr val="FFD166"/>
          </a:solidFill>
          <a:ln xmlns:a="http://schemas.openxmlformats.org/drawingml/2006/main" w="14288">
            <a:solidFill>
              <a:srgbClr val="FFD166"/>
            </a:solidFill>
            <a:prstDash val="solid"/>
          </a:ln>
        </p:spPr>
      </p:sp>
      <p:sp>
        <p:nvSpPr>
          <p:cNvPr id="20" name="">
            <a:extLst xmlns:a="http://schemas.openxmlformats.org/drawingml/2006/main">
              <a:ext uri="{FF2B5EF4-FFF2-40B4-BE49-F238E27FC236}">
                <a16:creationId xmlns:a16="http://schemas.microsoft.com/office/drawing/2014/main" id="{7D579321-14B3-4A21-9630-D671C81C1695}"/>
              </a:ext>
            </a:extLst>
          </p:cNvPr>
          <p:cNvSpPr>
            <a:spLocks xmlns:a="http://schemas.openxmlformats.org/drawingml/2006/main" noGrp="1"/>
          </p:cNvSpPr>
          <p:nvPr/>
        </p:nvSpPr>
        <p:spPr>
          <a:xfrm xmlns:a="http://schemas.openxmlformats.org/drawingml/2006/main">
            <a:off x="11620500" y="3105150"/>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D166"/>
                </a:solidFill>
                <a:latin typeface="Aptos"/>
                <a:ea typeface="Aptos"/>
                <a:cs typeface="Aptos"/>
              </a:defRPr>
            </a:pPr>
            <a:r>
              <a:rPr sz="1275" b="1">
                <a:solidFill>
                  <a:srgbClr val="FFD166"/>
                </a:solidFill>
                <a:latin typeface="Aptos"/>
                <a:ea typeface="Aptos"/>
                <a:cs typeface="Aptos"/>
              </a:rPr>
              <a:t>12.8%</a:t>
            </a:r>
          </a:p>
        </p:txBody>
      </p:sp>
      <p:sp>
        <p:nvSpPr>
          <p:cNvPr id="21" name="">
            <a:extLst xmlns:a="http://schemas.openxmlformats.org/drawingml/2006/main">
              <a:ext uri="{FF2B5EF4-FFF2-40B4-BE49-F238E27FC236}">
                <a16:creationId xmlns:a16="http://schemas.microsoft.com/office/drawing/2014/main" id="{2881D31F-F883-4D2A-9A3E-06D93E7001A0}"/>
              </a:ext>
            </a:extLst>
          </p:cNvPr>
          <p:cNvSpPr>
            <a:spLocks xmlns:a="http://schemas.openxmlformats.org/drawingml/2006/main" noGrp="1"/>
          </p:cNvSpPr>
          <p:nvPr/>
        </p:nvSpPr>
        <p:spPr>
          <a:xfrm xmlns:a="http://schemas.openxmlformats.org/drawingml/2006/main">
            <a:off x="7524750" y="3581400"/>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England</a:t>
            </a:r>
          </a:p>
        </p:txBody>
      </p:sp>
      <p:sp>
        <p:nvSpPr>
          <p:cNvPr id="22" name="">
            <a:extLst xmlns:a="http://schemas.openxmlformats.org/drawingml/2006/main">
              <a:ext uri="{FF2B5EF4-FFF2-40B4-BE49-F238E27FC236}">
                <a16:creationId xmlns:a16="http://schemas.microsoft.com/office/drawing/2014/main" id="{6844577B-16CC-42D6-8FB8-602E1A5E903C}"/>
              </a:ext>
            </a:extLst>
          </p:cNvPr>
          <p:cNvSpPr>
            <a:spLocks xmlns:a="http://schemas.openxmlformats.org/drawingml/2006/main" noGrp="1"/>
          </p:cNvSpPr>
          <p:nvPr/>
        </p:nvSpPr>
        <p:spPr>
          <a:xfrm xmlns:a="http://schemas.openxmlformats.org/drawingml/2006/main">
            <a:off x="9048750" y="3609975"/>
            <a:ext cx="2476500"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23" name="">
            <a:extLst xmlns:a="http://schemas.openxmlformats.org/drawingml/2006/main">
              <a:ext uri="{FF2B5EF4-FFF2-40B4-BE49-F238E27FC236}">
                <a16:creationId xmlns:a16="http://schemas.microsoft.com/office/drawing/2014/main" id="{630FC558-A747-41D7-9606-7A47DA34FDC5}"/>
              </a:ext>
            </a:extLst>
          </p:cNvPr>
          <p:cNvSpPr>
            <a:spLocks xmlns:a="http://schemas.openxmlformats.org/drawingml/2006/main" noGrp="1"/>
          </p:cNvSpPr>
          <p:nvPr/>
        </p:nvSpPr>
        <p:spPr>
          <a:xfrm xmlns:a="http://schemas.openxmlformats.org/drawingml/2006/main">
            <a:off x="9048750" y="3609975"/>
            <a:ext cx="1337310" cy="228600"/>
          </a:xfrm>
          <a:prstGeom xmlns:a="http://schemas.openxmlformats.org/drawingml/2006/main" prst="rect">
            <a:avLst/>
          </a:prstGeom>
          <a:solidFill xmlns:a="http://schemas.openxmlformats.org/drawingml/2006/main">
            <a:srgbClr val="FF9F1C"/>
          </a:solidFill>
          <a:ln xmlns:a="http://schemas.openxmlformats.org/drawingml/2006/main" w="14288">
            <a:solidFill>
              <a:srgbClr val="FF9F1C"/>
            </a:solidFill>
            <a:prstDash val="solid"/>
          </a:ln>
        </p:spPr>
      </p:sp>
      <p:sp>
        <p:nvSpPr>
          <p:cNvPr id="24" name="">
            <a:extLst xmlns:a="http://schemas.openxmlformats.org/drawingml/2006/main">
              <a:ext uri="{FF2B5EF4-FFF2-40B4-BE49-F238E27FC236}">
                <a16:creationId xmlns:a16="http://schemas.microsoft.com/office/drawing/2014/main" id="{897EAD71-6D38-464D-8F6D-2172F440C404}"/>
              </a:ext>
            </a:extLst>
          </p:cNvPr>
          <p:cNvSpPr>
            <a:spLocks xmlns:a="http://schemas.openxmlformats.org/drawingml/2006/main" noGrp="1"/>
          </p:cNvSpPr>
          <p:nvPr/>
        </p:nvSpPr>
        <p:spPr>
          <a:xfrm xmlns:a="http://schemas.openxmlformats.org/drawingml/2006/main">
            <a:off x="11620500" y="3571875"/>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9F1C"/>
                </a:solidFill>
                <a:latin typeface="Aptos"/>
                <a:ea typeface="Aptos"/>
                <a:cs typeface="Aptos"/>
              </a:defRPr>
            </a:pPr>
            <a:r>
              <a:rPr sz="1275" b="1">
                <a:solidFill>
                  <a:srgbClr val="FF9F1C"/>
                </a:solidFill>
                <a:latin typeface="Aptos"/>
                <a:ea typeface="Aptos"/>
                <a:cs typeface="Aptos"/>
              </a:rPr>
              <a:t>10.8%</a:t>
            </a:r>
          </a:p>
        </p:txBody>
      </p:sp>
      <p:sp>
        <p:nvSpPr>
          <p:cNvPr id="25" name="">
            <a:extLst xmlns:a="http://schemas.openxmlformats.org/drawingml/2006/main">
              <a:ext uri="{FF2B5EF4-FFF2-40B4-BE49-F238E27FC236}">
                <a16:creationId xmlns:a16="http://schemas.microsoft.com/office/drawing/2014/main" id="{9A7BBA77-827C-41B6-8AAF-6F5B3F9D764E}"/>
              </a:ext>
            </a:extLst>
          </p:cNvPr>
          <p:cNvSpPr>
            <a:spLocks xmlns:a="http://schemas.openxmlformats.org/drawingml/2006/main" noGrp="1"/>
          </p:cNvSpPr>
          <p:nvPr/>
        </p:nvSpPr>
        <p:spPr>
          <a:xfrm xmlns:a="http://schemas.openxmlformats.org/drawingml/2006/main">
            <a:off x="7524750" y="4048125"/>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Portugal</a:t>
            </a:r>
          </a:p>
        </p:txBody>
      </p:sp>
      <p:sp>
        <p:nvSpPr>
          <p:cNvPr id="26" name="">
            <a:extLst xmlns:a="http://schemas.openxmlformats.org/drawingml/2006/main">
              <a:ext uri="{FF2B5EF4-FFF2-40B4-BE49-F238E27FC236}">
                <a16:creationId xmlns:a16="http://schemas.microsoft.com/office/drawing/2014/main" id="{CEDC15CD-CCE6-42C3-A720-829147F3FA33}"/>
              </a:ext>
            </a:extLst>
          </p:cNvPr>
          <p:cNvSpPr>
            <a:spLocks xmlns:a="http://schemas.openxmlformats.org/drawingml/2006/main" noGrp="1"/>
          </p:cNvSpPr>
          <p:nvPr/>
        </p:nvSpPr>
        <p:spPr>
          <a:xfrm xmlns:a="http://schemas.openxmlformats.org/drawingml/2006/main">
            <a:off x="9048750" y="4076700"/>
            <a:ext cx="2476500"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27" name="">
            <a:extLst xmlns:a="http://schemas.openxmlformats.org/drawingml/2006/main">
              <a:ext uri="{FF2B5EF4-FFF2-40B4-BE49-F238E27FC236}">
                <a16:creationId xmlns:a16="http://schemas.microsoft.com/office/drawing/2014/main" id="{5265516D-BA13-4B97-9853-F7AC6BC0C29D}"/>
              </a:ext>
            </a:extLst>
          </p:cNvPr>
          <p:cNvSpPr>
            <a:spLocks xmlns:a="http://schemas.openxmlformats.org/drawingml/2006/main" noGrp="1"/>
          </p:cNvSpPr>
          <p:nvPr/>
        </p:nvSpPr>
        <p:spPr>
          <a:xfrm xmlns:a="http://schemas.openxmlformats.org/drawingml/2006/main">
            <a:off x="9048750" y="4076700"/>
            <a:ext cx="1027748" cy="228600"/>
          </a:xfrm>
          <a:prstGeom xmlns:a="http://schemas.openxmlformats.org/drawingml/2006/main" prst="rect">
            <a:avLst/>
          </a:prstGeom>
          <a:solidFill xmlns:a="http://schemas.openxmlformats.org/drawingml/2006/main">
            <a:srgbClr val="B899FF"/>
          </a:solidFill>
          <a:ln xmlns:a="http://schemas.openxmlformats.org/drawingml/2006/main" w="14288">
            <a:solidFill>
              <a:srgbClr val="B899FF"/>
            </a:solidFill>
            <a:prstDash val="solid"/>
          </a:ln>
        </p:spPr>
      </p:sp>
      <p:sp>
        <p:nvSpPr>
          <p:cNvPr id="28" name="">
            <a:extLst xmlns:a="http://schemas.openxmlformats.org/drawingml/2006/main">
              <a:ext uri="{FF2B5EF4-FFF2-40B4-BE49-F238E27FC236}">
                <a16:creationId xmlns:a16="http://schemas.microsoft.com/office/drawing/2014/main" id="{8A8F2E20-6C52-496A-B791-C6059F1B7144}"/>
              </a:ext>
            </a:extLst>
          </p:cNvPr>
          <p:cNvSpPr>
            <a:spLocks xmlns:a="http://schemas.openxmlformats.org/drawingml/2006/main" noGrp="1"/>
          </p:cNvSpPr>
          <p:nvPr/>
        </p:nvSpPr>
        <p:spPr>
          <a:xfrm xmlns:a="http://schemas.openxmlformats.org/drawingml/2006/main">
            <a:off x="11620500" y="4038600"/>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B899FF"/>
                </a:solidFill>
                <a:latin typeface="Aptos"/>
                <a:ea typeface="Aptos"/>
                <a:cs typeface="Aptos"/>
              </a:defRPr>
            </a:pPr>
            <a:r>
              <a:rPr sz="1275" b="1">
                <a:solidFill>
                  <a:srgbClr val="B899FF"/>
                </a:solidFill>
                <a:latin typeface="Aptos"/>
                <a:ea typeface="Aptos"/>
                <a:cs typeface="Aptos"/>
              </a:rPr>
              <a:t>8.3%</a:t>
            </a:r>
          </a:p>
        </p:txBody>
      </p:sp>
      <p:sp>
        <p:nvSpPr>
          <p:cNvPr id="29" name="">
            <a:extLst xmlns:a="http://schemas.openxmlformats.org/drawingml/2006/main">
              <a:ext uri="{FF2B5EF4-FFF2-40B4-BE49-F238E27FC236}">
                <a16:creationId xmlns:a16="http://schemas.microsoft.com/office/drawing/2014/main" id="{5B6BF9A4-5A3D-462C-B1D0-7AAA38C5DE54}"/>
              </a:ext>
            </a:extLst>
          </p:cNvPr>
          <p:cNvSpPr>
            <a:spLocks xmlns:a="http://schemas.openxmlformats.org/drawingml/2006/main" noGrp="1"/>
          </p:cNvSpPr>
          <p:nvPr/>
        </p:nvSpPr>
        <p:spPr>
          <a:xfrm xmlns:a="http://schemas.openxmlformats.org/drawingml/2006/main">
            <a:off x="7524750" y="4514850"/>
            <a:ext cx="1381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Brazil</a:t>
            </a:r>
          </a:p>
        </p:txBody>
      </p:sp>
      <p:sp>
        <p:nvSpPr>
          <p:cNvPr id="30" name="">
            <a:extLst xmlns:a="http://schemas.openxmlformats.org/drawingml/2006/main">
              <a:ext uri="{FF2B5EF4-FFF2-40B4-BE49-F238E27FC236}">
                <a16:creationId xmlns:a16="http://schemas.microsoft.com/office/drawing/2014/main" id="{2A5DF870-B3F0-489B-B5F8-AA36550D3B94}"/>
              </a:ext>
            </a:extLst>
          </p:cNvPr>
          <p:cNvSpPr>
            <a:spLocks xmlns:a="http://schemas.openxmlformats.org/drawingml/2006/main" noGrp="1"/>
          </p:cNvSpPr>
          <p:nvPr/>
        </p:nvSpPr>
        <p:spPr>
          <a:xfrm xmlns:a="http://schemas.openxmlformats.org/drawingml/2006/main">
            <a:off x="9048750" y="4543425"/>
            <a:ext cx="2476500" cy="228600"/>
          </a:xfrm>
          <a:prstGeom xmlns:a="http://schemas.openxmlformats.org/drawingml/2006/main" prst="rect">
            <a:avLst/>
          </a:prstGeom>
          <a:solidFill xmlns:a="http://schemas.openxmlformats.org/drawingml/2006/main">
            <a:srgbClr val="16241D"/>
          </a:solidFill>
          <a:ln xmlns:a="http://schemas.openxmlformats.org/drawingml/2006/main" w="14288">
            <a:solidFill>
              <a:srgbClr val="16241D"/>
            </a:solidFill>
            <a:prstDash val="solid"/>
          </a:ln>
        </p:spPr>
      </p:sp>
      <p:sp>
        <p:nvSpPr>
          <p:cNvPr id="31" name="">
            <a:extLst xmlns:a="http://schemas.openxmlformats.org/drawingml/2006/main">
              <a:ext uri="{FF2B5EF4-FFF2-40B4-BE49-F238E27FC236}">
                <a16:creationId xmlns:a16="http://schemas.microsoft.com/office/drawing/2014/main" id="{50F2198A-7EB0-4190-83F2-9BC678550F87}"/>
              </a:ext>
            </a:extLst>
          </p:cNvPr>
          <p:cNvSpPr>
            <a:spLocks xmlns:a="http://schemas.openxmlformats.org/drawingml/2006/main" noGrp="1"/>
          </p:cNvSpPr>
          <p:nvPr/>
        </p:nvSpPr>
        <p:spPr>
          <a:xfrm xmlns:a="http://schemas.openxmlformats.org/drawingml/2006/main">
            <a:off x="9048750" y="4543425"/>
            <a:ext cx="965835" cy="228600"/>
          </a:xfrm>
          <a:prstGeom xmlns:a="http://schemas.openxmlformats.org/drawingml/2006/main" prst="rect">
            <a:avLst/>
          </a:prstGeom>
          <a:solidFill xmlns:a="http://schemas.openxmlformats.org/drawingml/2006/main">
            <a:srgbClr val="55D6C2"/>
          </a:solidFill>
          <a:ln xmlns:a="http://schemas.openxmlformats.org/drawingml/2006/main" w="14288">
            <a:solidFill>
              <a:srgbClr val="55D6C2"/>
            </a:solidFill>
            <a:prstDash val="solid"/>
          </a:ln>
        </p:spPr>
      </p:sp>
      <p:sp>
        <p:nvSpPr>
          <p:cNvPr id="32" name="">
            <a:extLst xmlns:a="http://schemas.openxmlformats.org/drawingml/2006/main">
              <a:ext uri="{FF2B5EF4-FFF2-40B4-BE49-F238E27FC236}">
                <a16:creationId xmlns:a16="http://schemas.microsoft.com/office/drawing/2014/main" id="{5C6CC5D8-C95E-4130-A33A-071C12CFFB95}"/>
              </a:ext>
            </a:extLst>
          </p:cNvPr>
          <p:cNvSpPr>
            <a:spLocks xmlns:a="http://schemas.openxmlformats.org/drawingml/2006/main" noGrp="1"/>
          </p:cNvSpPr>
          <p:nvPr/>
        </p:nvSpPr>
        <p:spPr>
          <a:xfrm xmlns:a="http://schemas.openxmlformats.org/drawingml/2006/main">
            <a:off x="11620500" y="4505325"/>
            <a:ext cx="762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5D6C2"/>
                </a:solidFill>
                <a:latin typeface="Aptos"/>
                <a:ea typeface="Aptos"/>
                <a:cs typeface="Aptos"/>
              </a:defRPr>
            </a:pPr>
            <a:r>
              <a:rPr sz="1275" b="1">
                <a:solidFill>
                  <a:srgbClr val="55D6C2"/>
                </a:solidFill>
                <a:latin typeface="Aptos"/>
                <a:ea typeface="Aptos"/>
                <a:cs typeface="Aptos"/>
              </a:rPr>
              <a:t>7.8%</a:t>
            </a:r>
          </a:p>
        </p:txBody>
      </p:sp>
      <p:sp>
        <p:nvSpPr>
          <p:cNvPr id="33" name="">
            <a:extLst xmlns:a="http://schemas.openxmlformats.org/drawingml/2006/main">
              <a:ext uri="{FF2B5EF4-FFF2-40B4-BE49-F238E27FC236}">
                <a16:creationId xmlns:a16="http://schemas.microsoft.com/office/drawing/2014/main" id="{B43FA4ED-C0E0-4495-B2DD-6B548D0CD6EF}"/>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11</a:t>
            </a:r>
          </a:p>
        </p:txBody>
      </p:sp>
      <p:sp>
        <p:nvSpPr>
          <p:cNvPr id="34" name="">
            <a:extLst xmlns:a="http://schemas.openxmlformats.org/drawingml/2006/main">
              <a:ext uri="{FF2B5EF4-FFF2-40B4-BE49-F238E27FC236}">
                <a16:creationId xmlns:a16="http://schemas.microsoft.com/office/drawing/2014/main" id="{AB085B28-9956-42C8-8694-511EA0B8BA70}"/>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Photo: Agencia Brasil / Wikimedia Commons CC BY 3.0 • GIF generated locally</a:t>
            </a:r>
          </a:p>
        </p:txBody>
      </p:sp>
    </p:spTree>
    <p:extLst>
      <p:ext uri="{BB962C8B-B14F-4D97-AF65-F5344CB8AC3E}">
        <p14:creationId xmlns:p14="http://schemas.microsoft.com/office/powerpoint/2010/main" val="18261121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b5c8cdfded95470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2515A4-8D9A-449A-81CA-BDD35F8144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56078"/>
            </a:srgbClr>
          </a:solidFill>
          <a:ln xmlns:a="http://schemas.openxmlformats.org/drawingml/2006/main" w="14288">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8E142E9-800E-4960-9D46-5CD41DE6EE22}"/>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4" name="kicker-label">
            <a:extLst xmlns:a="http://schemas.openxmlformats.org/drawingml/2006/main">
              <a:ext uri="{FF2B5EF4-FFF2-40B4-BE49-F238E27FC236}">
                <a16:creationId xmlns:a16="http://schemas.microsoft.com/office/drawing/2014/main" id="{FE79E705-75A8-4BF9-99BE-8F7AD245C60F}"/>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5" name="">
            <a:extLst xmlns:a="http://schemas.openxmlformats.org/drawingml/2006/main">
              <a:ext uri="{FF2B5EF4-FFF2-40B4-BE49-F238E27FC236}">
                <a16:creationId xmlns:a16="http://schemas.microsoft.com/office/drawing/2014/main" id="{F415D45A-C541-4E03-A66E-13EC4E757CB1}"/>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18:00</a:t>
            </a:r>
          </a:p>
        </p:txBody>
      </p:sp>
      <p:sp>
        <p:nvSpPr>
          <p:cNvPr id="6" name="">
            <a:extLst xmlns:a="http://schemas.openxmlformats.org/drawingml/2006/main">
              <a:ext uri="{FF2B5EF4-FFF2-40B4-BE49-F238E27FC236}">
                <a16:creationId xmlns:a16="http://schemas.microsoft.com/office/drawing/2014/main" id="{33DF4D18-FD80-4376-8174-A43D6A012A5D}"/>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Experiment 4: rolling state changes the forecast immediately.</a:t>
            </a:r>
          </a:p>
        </p:txBody>
      </p:sp>
      <p:sp>
        <p:nvSpPr>
          <p:cNvPr id="7" name="">
            <a:extLst xmlns:a="http://schemas.openxmlformats.org/drawingml/2006/main">
              <a:ext uri="{FF2B5EF4-FFF2-40B4-BE49-F238E27FC236}">
                <a16:creationId xmlns:a16="http://schemas.microsoft.com/office/drawing/2014/main" id="{BC0EF121-86CD-4131-84E6-47396097AFEA}"/>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After USA 2-1 Australia, completed results are locked and only remaining fixtures are sampled.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ee07a40fdb64568"/>
          <a:srcRect xmlns:a="http://schemas.openxmlformats.org/drawingml/2006/main" l="149" t="0" r="149" b="0"/>
          <a:stretch xmlns:a="http://schemas.openxmlformats.org/drawingml/2006/main">
            <a:fillRect l="0" t="0" r="0" b="0"/>
          </a:stretch>
        </p:blipFill>
        <p:spPr>
          <a:xfrm xmlns:a="http://schemas.openxmlformats.org/drawingml/2006/main">
            <a:off x="781050" y="1962150"/>
            <a:ext cx="6381750" cy="3600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EA63045-32FF-4947-AD40-E118DEA03A02}"/>
              </a:ext>
            </a:extLst>
          </p:cNvPr>
          <p:cNvSpPr>
            <a:spLocks xmlns:a="http://schemas.openxmlformats.org/drawingml/2006/main" noGrp="1"/>
          </p:cNvSpPr>
          <p:nvPr/>
        </p:nvSpPr>
        <p:spPr>
          <a:xfrm xmlns:a="http://schemas.openxmlformats.org/drawingml/2006/main">
            <a:off x="7810500" y="224790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6F1DF"/>
                </a:solidFill>
                <a:latin typeface="Aptos"/>
                <a:ea typeface="Aptos"/>
                <a:cs typeface="Aptos"/>
              </a:defRPr>
            </a:pPr>
            <a:r>
              <a:rPr sz="1500" b="1">
                <a:solidFill>
                  <a:srgbClr val="F6F1DF"/>
                </a:solidFill>
                <a:latin typeface="Aptos"/>
                <a:ea typeface="Aptos"/>
                <a:cs typeface="Aptos"/>
              </a:rPr>
              <a:t>USA</a:t>
            </a:r>
          </a:p>
        </p:txBody>
      </p:sp>
      <p:sp>
        <p:nvSpPr>
          <p:cNvPr id="10" name="">
            <a:extLst xmlns:a="http://schemas.openxmlformats.org/drawingml/2006/main">
              <a:ext uri="{FF2B5EF4-FFF2-40B4-BE49-F238E27FC236}">
                <a16:creationId xmlns:a16="http://schemas.microsoft.com/office/drawing/2014/main" id="{C4472B57-2E77-4D29-8C13-456D95265CDC}"/>
              </a:ext>
            </a:extLst>
          </p:cNvPr>
          <p:cNvSpPr>
            <a:spLocks xmlns:a="http://schemas.openxmlformats.org/drawingml/2006/main" noGrp="1"/>
          </p:cNvSpPr>
          <p:nvPr/>
        </p:nvSpPr>
        <p:spPr>
          <a:xfrm xmlns:a="http://schemas.openxmlformats.org/drawingml/2006/main">
            <a:off x="9067800" y="2247900"/>
            <a:ext cx="723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0">
                <a:solidFill>
                  <a:srgbClr val="B6C1AD"/>
                </a:solidFill>
                <a:latin typeface="Aptos"/>
                <a:ea typeface="Aptos"/>
                <a:cs typeface="Aptos"/>
              </a:defRPr>
            </a:pPr>
            <a:r>
              <a:rPr sz="1350" b="0">
                <a:solidFill>
                  <a:srgbClr val="B6C1AD"/>
                </a:solidFill>
                <a:latin typeface="Aptos"/>
                <a:ea typeface="Aptos"/>
                <a:cs typeface="Aptos"/>
              </a:rPr>
              <a:t>47.5%</a:t>
            </a:r>
          </a:p>
        </p:txBody>
      </p:sp>
      <p:sp>
        <p:nvSpPr>
          <p:cNvPr id="11" name="">
            <a:extLst xmlns:a="http://schemas.openxmlformats.org/drawingml/2006/main">
              <a:ext uri="{FF2B5EF4-FFF2-40B4-BE49-F238E27FC236}">
                <a16:creationId xmlns:a16="http://schemas.microsoft.com/office/drawing/2014/main" id="{B0AE0E1C-626A-49E5-B887-4174AE12DE92}"/>
              </a:ext>
            </a:extLst>
          </p:cNvPr>
          <p:cNvSpPr>
            <a:spLocks xmlns:a="http://schemas.openxmlformats.org/drawingml/2006/main" noGrp="1"/>
          </p:cNvSpPr>
          <p:nvPr/>
        </p:nvSpPr>
        <p:spPr>
          <a:xfrm xmlns:a="http://schemas.openxmlformats.org/drawingml/2006/main">
            <a:off x="9886950" y="2247900"/>
            <a:ext cx="209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B6C1AD"/>
                </a:solidFill>
                <a:latin typeface="Aptos"/>
                <a:ea typeface="Aptos"/>
                <a:cs typeface="Aptos"/>
              </a:defRPr>
            </a:pPr>
            <a:r>
              <a:rPr sz="1350" b="0">
                <a:solidFill>
                  <a:srgbClr val="B6C1AD"/>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538DB61F-4727-4F96-84A9-D79BB46E2C68}"/>
              </a:ext>
            </a:extLst>
          </p:cNvPr>
          <p:cNvSpPr>
            <a:spLocks xmlns:a="http://schemas.openxmlformats.org/drawingml/2006/main" noGrp="1"/>
          </p:cNvSpPr>
          <p:nvPr/>
        </p:nvSpPr>
        <p:spPr>
          <a:xfrm xmlns:a="http://schemas.openxmlformats.org/drawingml/2006/main">
            <a:off x="10172700" y="2247900"/>
            <a:ext cx="819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5EE39A"/>
                </a:solidFill>
                <a:latin typeface="Aptos"/>
                <a:ea typeface="Aptos"/>
                <a:cs typeface="Aptos"/>
              </a:defRPr>
            </a:pPr>
            <a:r>
              <a:rPr sz="1350" b="1">
                <a:solidFill>
                  <a:srgbClr val="5EE39A"/>
                </a:solidFill>
                <a:latin typeface="Aptos"/>
                <a:ea typeface="Aptos"/>
                <a:cs typeface="Aptos"/>
              </a:rPr>
              <a:t>67.6%</a:t>
            </a:r>
          </a:p>
        </p:txBody>
      </p:sp>
      <p:sp>
        <p:nvSpPr>
          <p:cNvPr id="13" name="">
            <a:extLst xmlns:a="http://schemas.openxmlformats.org/drawingml/2006/main">
              <a:ext uri="{FF2B5EF4-FFF2-40B4-BE49-F238E27FC236}">
                <a16:creationId xmlns:a16="http://schemas.microsoft.com/office/drawing/2014/main" id="{977B3642-2780-4A4A-8E63-FD065881C258}"/>
              </a:ext>
            </a:extLst>
          </p:cNvPr>
          <p:cNvSpPr>
            <a:spLocks xmlns:a="http://schemas.openxmlformats.org/drawingml/2006/main" noGrp="1"/>
          </p:cNvSpPr>
          <p:nvPr/>
        </p:nvSpPr>
        <p:spPr>
          <a:xfrm xmlns:a="http://schemas.openxmlformats.org/drawingml/2006/main">
            <a:off x="7810500" y="297180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6F1DF"/>
                </a:solidFill>
                <a:latin typeface="Aptos"/>
                <a:ea typeface="Aptos"/>
                <a:cs typeface="Aptos"/>
              </a:defRPr>
            </a:pPr>
            <a:r>
              <a:rPr sz="1500" b="1">
                <a:solidFill>
                  <a:srgbClr val="F6F1DF"/>
                </a:solidFill>
                <a:latin typeface="Aptos"/>
                <a:ea typeface="Aptos"/>
                <a:cs typeface="Aptos"/>
              </a:rPr>
              <a:t>Türkiye</a:t>
            </a:r>
          </a:p>
        </p:txBody>
      </p:sp>
      <p:sp>
        <p:nvSpPr>
          <p:cNvPr id="14" name="">
            <a:extLst xmlns:a="http://schemas.openxmlformats.org/drawingml/2006/main">
              <a:ext uri="{FF2B5EF4-FFF2-40B4-BE49-F238E27FC236}">
                <a16:creationId xmlns:a16="http://schemas.microsoft.com/office/drawing/2014/main" id="{3F0C3132-3778-4324-B14D-4205735FEB7F}"/>
              </a:ext>
            </a:extLst>
          </p:cNvPr>
          <p:cNvSpPr>
            <a:spLocks xmlns:a="http://schemas.openxmlformats.org/drawingml/2006/main" noGrp="1"/>
          </p:cNvSpPr>
          <p:nvPr/>
        </p:nvSpPr>
        <p:spPr>
          <a:xfrm xmlns:a="http://schemas.openxmlformats.org/drawingml/2006/main">
            <a:off x="9067800" y="2971800"/>
            <a:ext cx="723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0">
                <a:solidFill>
                  <a:srgbClr val="B6C1AD"/>
                </a:solidFill>
                <a:latin typeface="Aptos"/>
                <a:ea typeface="Aptos"/>
                <a:cs typeface="Aptos"/>
              </a:defRPr>
            </a:pPr>
            <a:r>
              <a:rPr sz="1350" b="0">
                <a:solidFill>
                  <a:srgbClr val="B6C1AD"/>
                </a:solidFill>
                <a:latin typeface="Aptos"/>
                <a:ea typeface="Aptos"/>
                <a:cs typeface="Aptos"/>
              </a:rPr>
              <a:t>22.1%</a:t>
            </a:r>
          </a:p>
        </p:txBody>
      </p:sp>
      <p:sp>
        <p:nvSpPr>
          <p:cNvPr id="15" name="">
            <a:extLst xmlns:a="http://schemas.openxmlformats.org/drawingml/2006/main">
              <a:ext uri="{FF2B5EF4-FFF2-40B4-BE49-F238E27FC236}">
                <a16:creationId xmlns:a16="http://schemas.microsoft.com/office/drawing/2014/main" id="{AE286AC8-97B9-4632-91B2-957691DDBA98}"/>
              </a:ext>
            </a:extLst>
          </p:cNvPr>
          <p:cNvSpPr>
            <a:spLocks xmlns:a="http://schemas.openxmlformats.org/drawingml/2006/main" noGrp="1"/>
          </p:cNvSpPr>
          <p:nvPr/>
        </p:nvSpPr>
        <p:spPr>
          <a:xfrm xmlns:a="http://schemas.openxmlformats.org/drawingml/2006/main">
            <a:off x="9886950" y="2971800"/>
            <a:ext cx="209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B6C1AD"/>
                </a:solidFill>
                <a:latin typeface="Aptos"/>
                <a:ea typeface="Aptos"/>
                <a:cs typeface="Aptos"/>
              </a:defRPr>
            </a:pPr>
            <a:r>
              <a:rPr sz="1350" b="0">
                <a:solidFill>
                  <a:srgbClr val="B6C1AD"/>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3815CC28-CEF0-4BEA-964A-5E7D896A9F26}"/>
              </a:ext>
            </a:extLst>
          </p:cNvPr>
          <p:cNvSpPr>
            <a:spLocks xmlns:a="http://schemas.openxmlformats.org/drawingml/2006/main" noGrp="1"/>
          </p:cNvSpPr>
          <p:nvPr/>
        </p:nvSpPr>
        <p:spPr>
          <a:xfrm xmlns:a="http://schemas.openxmlformats.org/drawingml/2006/main">
            <a:off x="10172700" y="2971800"/>
            <a:ext cx="819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FFD166"/>
                </a:solidFill>
                <a:latin typeface="Aptos"/>
                <a:ea typeface="Aptos"/>
                <a:cs typeface="Aptos"/>
              </a:defRPr>
            </a:pPr>
            <a:r>
              <a:rPr sz="1350" b="1">
                <a:solidFill>
                  <a:srgbClr val="FFD166"/>
                </a:solidFill>
                <a:latin typeface="Aptos"/>
                <a:ea typeface="Aptos"/>
                <a:cs typeface="Aptos"/>
              </a:rPr>
              <a:t>17.9%</a:t>
            </a:r>
          </a:p>
        </p:txBody>
      </p:sp>
      <p:sp>
        <p:nvSpPr>
          <p:cNvPr id="17" name="">
            <a:extLst xmlns:a="http://schemas.openxmlformats.org/drawingml/2006/main">
              <a:ext uri="{FF2B5EF4-FFF2-40B4-BE49-F238E27FC236}">
                <a16:creationId xmlns:a16="http://schemas.microsoft.com/office/drawing/2014/main" id="{C4E221EA-154A-42F1-BB4B-A619CAB34BBD}"/>
              </a:ext>
            </a:extLst>
          </p:cNvPr>
          <p:cNvSpPr>
            <a:spLocks xmlns:a="http://schemas.openxmlformats.org/drawingml/2006/main" noGrp="1"/>
          </p:cNvSpPr>
          <p:nvPr/>
        </p:nvSpPr>
        <p:spPr>
          <a:xfrm xmlns:a="http://schemas.openxmlformats.org/drawingml/2006/main">
            <a:off x="7810500" y="369570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6F1DF"/>
                </a:solidFill>
                <a:latin typeface="Aptos"/>
                <a:ea typeface="Aptos"/>
                <a:cs typeface="Aptos"/>
              </a:defRPr>
            </a:pPr>
            <a:r>
              <a:rPr sz="1500" b="1">
                <a:solidFill>
                  <a:srgbClr val="F6F1DF"/>
                </a:solidFill>
                <a:latin typeface="Aptos"/>
                <a:ea typeface="Aptos"/>
                <a:cs typeface="Aptos"/>
              </a:rPr>
              <a:t>Paraguay</a:t>
            </a:r>
          </a:p>
        </p:txBody>
      </p:sp>
      <p:sp>
        <p:nvSpPr>
          <p:cNvPr id="18" name="">
            <a:extLst xmlns:a="http://schemas.openxmlformats.org/drawingml/2006/main">
              <a:ext uri="{FF2B5EF4-FFF2-40B4-BE49-F238E27FC236}">
                <a16:creationId xmlns:a16="http://schemas.microsoft.com/office/drawing/2014/main" id="{8439D4AA-9668-4F3B-9187-A92BE7F6BDA3}"/>
              </a:ext>
            </a:extLst>
          </p:cNvPr>
          <p:cNvSpPr>
            <a:spLocks xmlns:a="http://schemas.openxmlformats.org/drawingml/2006/main" noGrp="1"/>
          </p:cNvSpPr>
          <p:nvPr/>
        </p:nvSpPr>
        <p:spPr>
          <a:xfrm xmlns:a="http://schemas.openxmlformats.org/drawingml/2006/main">
            <a:off x="9067800" y="3695700"/>
            <a:ext cx="723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0">
                <a:solidFill>
                  <a:srgbClr val="B6C1AD"/>
                </a:solidFill>
                <a:latin typeface="Aptos"/>
                <a:ea typeface="Aptos"/>
                <a:cs typeface="Aptos"/>
              </a:defRPr>
            </a:pPr>
            <a:r>
              <a:rPr sz="1350" b="0">
                <a:solidFill>
                  <a:srgbClr val="B6C1AD"/>
                </a:solidFill>
                <a:latin typeface="Aptos"/>
                <a:ea typeface="Aptos"/>
                <a:cs typeface="Aptos"/>
              </a:rPr>
              <a:t>16.3%</a:t>
            </a:r>
          </a:p>
        </p:txBody>
      </p:sp>
      <p:sp>
        <p:nvSpPr>
          <p:cNvPr id="19" name="">
            <a:extLst xmlns:a="http://schemas.openxmlformats.org/drawingml/2006/main">
              <a:ext uri="{FF2B5EF4-FFF2-40B4-BE49-F238E27FC236}">
                <a16:creationId xmlns:a16="http://schemas.microsoft.com/office/drawing/2014/main" id="{F6F4F261-8038-4235-82AD-F1B442C57C8B}"/>
              </a:ext>
            </a:extLst>
          </p:cNvPr>
          <p:cNvSpPr>
            <a:spLocks xmlns:a="http://schemas.openxmlformats.org/drawingml/2006/main" noGrp="1"/>
          </p:cNvSpPr>
          <p:nvPr/>
        </p:nvSpPr>
        <p:spPr>
          <a:xfrm xmlns:a="http://schemas.openxmlformats.org/drawingml/2006/main">
            <a:off x="9886950" y="3695700"/>
            <a:ext cx="209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B6C1AD"/>
                </a:solidFill>
                <a:latin typeface="Aptos"/>
                <a:ea typeface="Aptos"/>
                <a:cs typeface="Aptos"/>
              </a:defRPr>
            </a:pPr>
            <a:r>
              <a:rPr sz="1350" b="0">
                <a:solidFill>
                  <a:srgbClr val="B6C1AD"/>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DF191548-131B-43EC-9110-12EF8C51487E}"/>
              </a:ext>
            </a:extLst>
          </p:cNvPr>
          <p:cNvSpPr>
            <a:spLocks xmlns:a="http://schemas.openxmlformats.org/drawingml/2006/main" noGrp="1"/>
          </p:cNvSpPr>
          <p:nvPr/>
        </p:nvSpPr>
        <p:spPr>
          <a:xfrm xmlns:a="http://schemas.openxmlformats.org/drawingml/2006/main">
            <a:off x="10172700" y="3695700"/>
            <a:ext cx="819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7CC7FF"/>
                </a:solidFill>
                <a:latin typeface="Aptos"/>
                <a:ea typeface="Aptos"/>
                <a:cs typeface="Aptos"/>
              </a:defRPr>
            </a:pPr>
            <a:r>
              <a:rPr sz="1350" b="1">
                <a:solidFill>
                  <a:srgbClr val="7CC7FF"/>
                </a:solidFill>
                <a:latin typeface="Aptos"/>
                <a:ea typeface="Aptos"/>
                <a:cs typeface="Aptos"/>
              </a:rPr>
              <a:t>12.5%</a:t>
            </a:r>
          </a:p>
        </p:txBody>
      </p:sp>
      <p:sp>
        <p:nvSpPr>
          <p:cNvPr id="21" name="">
            <a:extLst xmlns:a="http://schemas.openxmlformats.org/drawingml/2006/main">
              <a:ext uri="{FF2B5EF4-FFF2-40B4-BE49-F238E27FC236}">
                <a16:creationId xmlns:a16="http://schemas.microsoft.com/office/drawing/2014/main" id="{F8768D7D-E2FE-4581-8300-1FF35800CB6A}"/>
              </a:ext>
            </a:extLst>
          </p:cNvPr>
          <p:cNvSpPr>
            <a:spLocks xmlns:a="http://schemas.openxmlformats.org/drawingml/2006/main" noGrp="1"/>
          </p:cNvSpPr>
          <p:nvPr/>
        </p:nvSpPr>
        <p:spPr>
          <a:xfrm xmlns:a="http://schemas.openxmlformats.org/drawingml/2006/main">
            <a:off x="7810500" y="441960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6F1DF"/>
                </a:solidFill>
                <a:latin typeface="Aptos"/>
                <a:ea typeface="Aptos"/>
                <a:cs typeface="Aptos"/>
              </a:defRPr>
            </a:pPr>
            <a:r>
              <a:rPr sz="1500" b="1">
                <a:solidFill>
                  <a:srgbClr val="F6F1DF"/>
                </a:solidFill>
                <a:latin typeface="Aptos"/>
                <a:ea typeface="Aptos"/>
                <a:cs typeface="Aptos"/>
              </a:rPr>
              <a:t>Australia</a:t>
            </a:r>
          </a:p>
        </p:txBody>
      </p:sp>
      <p:sp>
        <p:nvSpPr>
          <p:cNvPr id="22" name="">
            <a:extLst xmlns:a="http://schemas.openxmlformats.org/drawingml/2006/main">
              <a:ext uri="{FF2B5EF4-FFF2-40B4-BE49-F238E27FC236}">
                <a16:creationId xmlns:a16="http://schemas.microsoft.com/office/drawing/2014/main" id="{3693A3B7-1FE0-45A8-9C0C-3811BC6F9BF1}"/>
              </a:ext>
            </a:extLst>
          </p:cNvPr>
          <p:cNvSpPr>
            <a:spLocks xmlns:a="http://schemas.openxmlformats.org/drawingml/2006/main" noGrp="1"/>
          </p:cNvSpPr>
          <p:nvPr/>
        </p:nvSpPr>
        <p:spPr>
          <a:xfrm xmlns:a="http://schemas.openxmlformats.org/drawingml/2006/main">
            <a:off x="9067800" y="4419600"/>
            <a:ext cx="723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0">
                <a:solidFill>
                  <a:srgbClr val="B6C1AD"/>
                </a:solidFill>
                <a:latin typeface="Aptos"/>
                <a:ea typeface="Aptos"/>
                <a:cs typeface="Aptos"/>
              </a:defRPr>
            </a:pPr>
            <a:r>
              <a:rPr sz="1350" b="0">
                <a:solidFill>
                  <a:srgbClr val="B6C1AD"/>
                </a:solidFill>
                <a:latin typeface="Aptos"/>
                <a:ea typeface="Aptos"/>
                <a:cs typeface="Aptos"/>
              </a:rPr>
              <a:t>14.1%</a:t>
            </a:r>
          </a:p>
        </p:txBody>
      </p:sp>
      <p:sp>
        <p:nvSpPr>
          <p:cNvPr id="23" name="">
            <a:extLst xmlns:a="http://schemas.openxmlformats.org/drawingml/2006/main">
              <a:ext uri="{FF2B5EF4-FFF2-40B4-BE49-F238E27FC236}">
                <a16:creationId xmlns:a16="http://schemas.microsoft.com/office/drawing/2014/main" id="{3E36A051-6A33-47A7-8C97-C2D3E5332B67}"/>
              </a:ext>
            </a:extLst>
          </p:cNvPr>
          <p:cNvSpPr>
            <a:spLocks xmlns:a="http://schemas.openxmlformats.org/drawingml/2006/main" noGrp="1"/>
          </p:cNvSpPr>
          <p:nvPr/>
        </p:nvSpPr>
        <p:spPr>
          <a:xfrm xmlns:a="http://schemas.openxmlformats.org/drawingml/2006/main">
            <a:off x="9886950" y="4419600"/>
            <a:ext cx="209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B6C1AD"/>
                </a:solidFill>
                <a:latin typeface="Aptos"/>
                <a:ea typeface="Aptos"/>
                <a:cs typeface="Aptos"/>
              </a:defRPr>
            </a:pPr>
            <a:r>
              <a:rPr sz="1350" b="0">
                <a:solidFill>
                  <a:srgbClr val="B6C1AD"/>
                </a:solidFill>
                <a:latin typeface="Aptos"/>
                <a:ea typeface="Aptos"/>
                <a:cs typeface="Aptos"/>
              </a:rPr>
              <a:t>→</a:t>
            </a:r>
          </a:p>
        </p:txBody>
      </p:sp>
      <p:sp>
        <p:nvSpPr>
          <p:cNvPr id="24" name="">
            <a:extLst xmlns:a="http://schemas.openxmlformats.org/drawingml/2006/main">
              <a:ext uri="{FF2B5EF4-FFF2-40B4-BE49-F238E27FC236}">
                <a16:creationId xmlns:a16="http://schemas.microsoft.com/office/drawing/2014/main" id="{316FE7CE-BB91-44CA-81FE-F27D3EDF4F19}"/>
              </a:ext>
            </a:extLst>
          </p:cNvPr>
          <p:cNvSpPr>
            <a:spLocks xmlns:a="http://schemas.openxmlformats.org/drawingml/2006/main" noGrp="1"/>
          </p:cNvSpPr>
          <p:nvPr/>
        </p:nvSpPr>
        <p:spPr>
          <a:xfrm xmlns:a="http://schemas.openxmlformats.org/drawingml/2006/main">
            <a:off x="10172700" y="4419600"/>
            <a:ext cx="819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F45B69"/>
                </a:solidFill>
                <a:latin typeface="Aptos"/>
                <a:ea typeface="Aptos"/>
                <a:cs typeface="Aptos"/>
              </a:defRPr>
            </a:pPr>
            <a:r>
              <a:rPr sz="1350" b="1">
                <a:solidFill>
                  <a:srgbClr val="F45B69"/>
                </a:solidFill>
                <a:latin typeface="Aptos"/>
                <a:ea typeface="Aptos"/>
                <a:cs typeface="Aptos"/>
              </a:rPr>
              <a:t>2.0%</a:t>
            </a:r>
          </a:p>
        </p:txBody>
      </p:sp>
      <p:sp>
        <p:nvSpPr>
          <p:cNvPr id="25" name="">
            <a:extLst xmlns:a="http://schemas.openxmlformats.org/drawingml/2006/main">
              <a:ext uri="{FF2B5EF4-FFF2-40B4-BE49-F238E27FC236}">
                <a16:creationId xmlns:a16="http://schemas.microsoft.com/office/drawing/2014/main" id="{8C9226EE-EA42-43E8-BF9C-F089D24ADADA}"/>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12</a:t>
            </a:r>
          </a:p>
        </p:txBody>
      </p:sp>
      <p:sp>
        <p:nvSpPr>
          <p:cNvPr id="26" name="">
            <a:extLst xmlns:a="http://schemas.openxmlformats.org/drawingml/2006/main">
              <a:ext uri="{FF2B5EF4-FFF2-40B4-BE49-F238E27FC236}">
                <a16:creationId xmlns:a16="http://schemas.microsoft.com/office/drawing/2014/main" id="{00462B92-8AF5-4276-91BA-783AC97F9DB6}"/>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BC Place image: GoToVan / Wikimedia Commons CC BY-SA 2.0</a:t>
            </a:r>
          </a:p>
        </p:txBody>
      </p:sp>
    </p:spTree>
    <p:extLst>
      <p:ext uri="{BB962C8B-B14F-4D97-AF65-F5344CB8AC3E}">
        <p14:creationId xmlns:p14="http://schemas.microsoft.com/office/powerpoint/2010/main" val="111240710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516414-7D86-4A42-81D7-45D4F001A2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014"/>
          </a:solidFill>
          <a:ln xmlns:a="http://schemas.openxmlformats.org/drawingml/2006/main" w="14288">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ADBF52D-8C5D-470A-8C1F-79231683EBB8}"/>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3" name="kicker-label">
            <a:extLst xmlns:a="http://schemas.openxmlformats.org/drawingml/2006/main">
              <a:ext uri="{FF2B5EF4-FFF2-40B4-BE49-F238E27FC236}">
                <a16:creationId xmlns:a16="http://schemas.microsoft.com/office/drawing/2014/main" id="{501EF268-2327-4074-9D80-01CED3C4D8A1}"/>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4" name="">
            <a:extLst xmlns:a="http://schemas.openxmlformats.org/drawingml/2006/main">
              <a:ext uri="{FF2B5EF4-FFF2-40B4-BE49-F238E27FC236}">
                <a16:creationId xmlns:a16="http://schemas.microsoft.com/office/drawing/2014/main" id="{CA679A9A-FD1E-4351-9F39-5FF1FB081D85}"/>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20:00</a:t>
            </a:r>
          </a:p>
        </p:txBody>
      </p:sp>
      <p:sp>
        <p:nvSpPr>
          <p:cNvPr id="5" name="">
            <a:extLst xmlns:a="http://schemas.openxmlformats.org/drawingml/2006/main">
              <a:ext uri="{FF2B5EF4-FFF2-40B4-BE49-F238E27FC236}">
                <a16:creationId xmlns:a16="http://schemas.microsoft.com/office/drawing/2014/main" id="{3DEDC615-6793-4C54-B60F-AE8F933C3ACD}"/>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Experiment 5: scenario analysis makes uncertainty interactive.</a:t>
            </a:r>
          </a:p>
        </p:txBody>
      </p:sp>
      <p:sp>
        <p:nvSpPr>
          <p:cNvPr id="6" name="">
            <a:extLst xmlns:a="http://schemas.openxmlformats.org/drawingml/2006/main">
              <a:ext uri="{FF2B5EF4-FFF2-40B4-BE49-F238E27FC236}">
                <a16:creationId xmlns:a16="http://schemas.microsoft.com/office/drawing/2014/main" id="{699A4019-DB7A-42F2-8871-2AF23404129A}"/>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Small rating adjustments change the story, which is exactly why the agent must label assumptions.</a:t>
            </a:r>
          </a:p>
        </p:txBody>
      </p:sp>
      <p:sp>
        <p:nvSpPr>
          <p:cNvPr id="7" name="">
            <a:extLst xmlns:a="http://schemas.openxmlformats.org/drawingml/2006/main">
              <a:ext uri="{FF2B5EF4-FFF2-40B4-BE49-F238E27FC236}">
                <a16:creationId xmlns:a16="http://schemas.microsoft.com/office/drawing/2014/main" id="{2C4A4918-0136-4487-8B9E-7B83C44DECAC}"/>
              </a:ext>
            </a:extLst>
          </p:cNvPr>
          <p:cNvSpPr>
            <a:spLocks xmlns:a="http://schemas.openxmlformats.org/drawingml/2006/main" noGrp="1"/>
          </p:cNvSpPr>
          <p:nvPr/>
        </p:nvSpPr>
        <p:spPr>
          <a:xfrm xmlns:a="http://schemas.openxmlformats.org/drawingml/2006/main">
            <a:off x="876300" y="22669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B6C1AD"/>
                </a:solidFill>
                <a:latin typeface="Aptos"/>
                <a:ea typeface="Aptos"/>
                <a:cs typeface="Aptos"/>
              </a:defRPr>
            </a:pPr>
            <a:r>
              <a:rPr sz="1050" b="1">
                <a:solidFill>
                  <a:srgbClr val="B6C1AD"/>
                </a:solidFill>
                <a:latin typeface="Aptos"/>
                <a:ea typeface="Aptos"/>
                <a:cs typeface="Aptos"/>
              </a:rPr>
              <a:t>Scenario</a:t>
            </a:r>
          </a:p>
        </p:txBody>
      </p:sp>
      <p:sp>
        <p:nvSpPr>
          <p:cNvPr id="8" name="">
            <a:extLst xmlns:a="http://schemas.openxmlformats.org/drawingml/2006/main">
              <a:ext uri="{FF2B5EF4-FFF2-40B4-BE49-F238E27FC236}">
                <a16:creationId xmlns:a16="http://schemas.microsoft.com/office/drawing/2014/main" id="{536F05A0-5A7F-49FC-B1A8-F30ABFC2AF3C}"/>
              </a:ext>
            </a:extLst>
          </p:cNvPr>
          <p:cNvSpPr>
            <a:spLocks xmlns:a="http://schemas.openxmlformats.org/drawingml/2006/main" noGrp="1"/>
          </p:cNvSpPr>
          <p:nvPr/>
        </p:nvSpPr>
        <p:spPr>
          <a:xfrm xmlns:a="http://schemas.openxmlformats.org/drawingml/2006/main">
            <a:off x="2590800" y="2266950"/>
            <a:ext cx="914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5EE39A"/>
                </a:solidFill>
                <a:latin typeface="Aptos"/>
                <a:ea typeface="Aptos"/>
                <a:cs typeface="Aptos"/>
              </a:defRPr>
            </a:pPr>
            <a:r>
              <a:rPr sz="1050" b="1">
                <a:solidFill>
                  <a:srgbClr val="5EE39A"/>
                </a:solidFill>
                <a:latin typeface="Aptos"/>
                <a:ea typeface="Aptos"/>
                <a:cs typeface="Aptos"/>
              </a:rPr>
              <a:t>USA</a:t>
            </a:r>
          </a:p>
        </p:txBody>
      </p:sp>
      <p:sp>
        <p:nvSpPr>
          <p:cNvPr id="9" name="">
            <a:extLst xmlns:a="http://schemas.openxmlformats.org/drawingml/2006/main">
              <a:ext uri="{FF2B5EF4-FFF2-40B4-BE49-F238E27FC236}">
                <a16:creationId xmlns:a16="http://schemas.microsoft.com/office/drawing/2014/main" id="{125ED174-676D-4769-AD23-287C0972C5D1}"/>
              </a:ext>
            </a:extLst>
          </p:cNvPr>
          <p:cNvSpPr>
            <a:spLocks xmlns:a="http://schemas.openxmlformats.org/drawingml/2006/main" noGrp="1"/>
          </p:cNvSpPr>
          <p:nvPr/>
        </p:nvSpPr>
        <p:spPr>
          <a:xfrm xmlns:a="http://schemas.openxmlformats.org/drawingml/2006/main">
            <a:off x="3505200" y="2266950"/>
            <a:ext cx="914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5EE39A"/>
                </a:solidFill>
                <a:latin typeface="Aptos"/>
                <a:ea typeface="Aptos"/>
                <a:cs typeface="Aptos"/>
              </a:defRPr>
            </a:pPr>
            <a:r>
              <a:rPr sz="1050" b="1">
                <a:solidFill>
                  <a:srgbClr val="5EE39A"/>
                </a:solidFill>
                <a:latin typeface="Aptos"/>
                <a:ea typeface="Aptos"/>
                <a:cs typeface="Aptos"/>
              </a:rPr>
              <a:t>Türkiye</a:t>
            </a:r>
          </a:p>
        </p:txBody>
      </p:sp>
      <p:sp>
        <p:nvSpPr>
          <p:cNvPr id="10" name="">
            <a:extLst xmlns:a="http://schemas.openxmlformats.org/drawingml/2006/main">
              <a:ext uri="{FF2B5EF4-FFF2-40B4-BE49-F238E27FC236}">
                <a16:creationId xmlns:a16="http://schemas.microsoft.com/office/drawing/2014/main" id="{75A0E107-30EC-44CC-A4B9-054995924A8B}"/>
              </a:ext>
            </a:extLst>
          </p:cNvPr>
          <p:cNvSpPr>
            <a:spLocks xmlns:a="http://schemas.openxmlformats.org/drawingml/2006/main" noGrp="1"/>
          </p:cNvSpPr>
          <p:nvPr/>
        </p:nvSpPr>
        <p:spPr>
          <a:xfrm xmlns:a="http://schemas.openxmlformats.org/drawingml/2006/main">
            <a:off x="4419600" y="2266950"/>
            <a:ext cx="914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5EE39A"/>
                </a:solidFill>
                <a:latin typeface="Aptos"/>
                <a:ea typeface="Aptos"/>
                <a:cs typeface="Aptos"/>
              </a:defRPr>
            </a:pPr>
            <a:r>
              <a:rPr sz="1050" b="1">
                <a:solidFill>
                  <a:srgbClr val="5EE39A"/>
                </a:solidFill>
                <a:latin typeface="Aptos"/>
                <a:ea typeface="Aptos"/>
                <a:cs typeface="Aptos"/>
              </a:rPr>
              <a:t>Paraguay</a:t>
            </a:r>
          </a:p>
        </p:txBody>
      </p:sp>
      <p:sp>
        <p:nvSpPr>
          <p:cNvPr id="11" name="">
            <a:extLst xmlns:a="http://schemas.openxmlformats.org/drawingml/2006/main">
              <a:ext uri="{FF2B5EF4-FFF2-40B4-BE49-F238E27FC236}">
                <a16:creationId xmlns:a16="http://schemas.microsoft.com/office/drawing/2014/main" id="{FCC30E08-86D7-4D8C-A727-36412BCC94D3}"/>
              </a:ext>
            </a:extLst>
          </p:cNvPr>
          <p:cNvSpPr>
            <a:spLocks xmlns:a="http://schemas.openxmlformats.org/drawingml/2006/main" noGrp="1"/>
          </p:cNvSpPr>
          <p:nvPr/>
        </p:nvSpPr>
        <p:spPr>
          <a:xfrm xmlns:a="http://schemas.openxmlformats.org/drawingml/2006/main">
            <a:off x="5334000" y="2266950"/>
            <a:ext cx="914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5EE39A"/>
                </a:solidFill>
                <a:latin typeface="Aptos"/>
                <a:ea typeface="Aptos"/>
                <a:cs typeface="Aptos"/>
              </a:defRPr>
            </a:pPr>
            <a:r>
              <a:rPr sz="1050" b="1">
                <a:solidFill>
                  <a:srgbClr val="5EE39A"/>
                </a:solidFill>
                <a:latin typeface="Aptos"/>
                <a:ea typeface="Aptos"/>
                <a:cs typeface="Aptos"/>
              </a:rPr>
              <a:t>Australia</a:t>
            </a:r>
          </a:p>
        </p:txBody>
      </p:sp>
      <p:sp>
        <p:nvSpPr>
          <p:cNvPr id="12" name="">
            <a:extLst xmlns:a="http://schemas.openxmlformats.org/drawingml/2006/main">
              <a:ext uri="{FF2B5EF4-FFF2-40B4-BE49-F238E27FC236}">
                <a16:creationId xmlns:a16="http://schemas.microsoft.com/office/drawing/2014/main" id="{E3FA72DB-5FEC-4E71-9963-3F33159044E4}"/>
              </a:ext>
            </a:extLst>
          </p:cNvPr>
          <p:cNvSpPr>
            <a:spLocks xmlns:a="http://schemas.openxmlformats.org/drawingml/2006/main" noGrp="1"/>
          </p:cNvSpPr>
          <p:nvPr/>
        </p:nvSpPr>
        <p:spPr>
          <a:xfrm xmlns:a="http://schemas.openxmlformats.org/drawingml/2006/main">
            <a:off x="876300" y="2543175"/>
            <a:ext cx="5372100" cy="28575"/>
          </a:xfrm>
          <a:prstGeom xmlns:a="http://schemas.openxmlformats.org/drawingml/2006/main" prst="rect">
            <a:avLst/>
          </a:prstGeom>
          <a:solidFill xmlns:a="http://schemas.openxmlformats.org/drawingml/2006/main">
            <a:srgbClr val="2C4A3B"/>
          </a:solidFill>
          <a:ln xmlns:a="http://schemas.openxmlformats.org/drawingml/2006/main" w="0">
            <a:solidFill>
              <a:srgbClr val="2C4A3B"/>
            </a:solidFill>
            <a:prstDash val="solid"/>
          </a:ln>
        </p:spPr>
      </p:sp>
      <p:sp>
        <p:nvSpPr>
          <p:cNvPr id="13" name="">
            <a:extLst xmlns:a="http://schemas.openxmlformats.org/drawingml/2006/main">
              <a:ext uri="{FF2B5EF4-FFF2-40B4-BE49-F238E27FC236}">
                <a16:creationId xmlns:a16="http://schemas.microsoft.com/office/drawing/2014/main" id="{F5BD5C9E-7EEC-4703-A185-3696AAF9E196}"/>
              </a:ext>
            </a:extLst>
          </p:cNvPr>
          <p:cNvSpPr>
            <a:spLocks xmlns:a="http://schemas.openxmlformats.org/drawingml/2006/main" noGrp="1"/>
          </p:cNvSpPr>
          <p:nvPr/>
        </p:nvSpPr>
        <p:spPr>
          <a:xfrm xmlns:a="http://schemas.openxmlformats.org/drawingml/2006/main">
            <a:off x="876300" y="2705100"/>
            <a:ext cx="15240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6F1DF"/>
                </a:solidFill>
                <a:latin typeface="Aptos"/>
                <a:ea typeface="Aptos"/>
                <a:cs typeface="Aptos"/>
              </a:defRPr>
            </a:pPr>
            <a:r>
              <a:rPr sz="1275" b="1">
                <a:solidFill>
                  <a:srgbClr val="F6F1DF"/>
                </a:solidFill>
                <a:latin typeface="Aptos"/>
                <a:ea typeface="Aptos"/>
                <a:cs typeface="Aptos"/>
              </a:rPr>
              <a:t>Base</a:t>
            </a:r>
          </a:p>
        </p:txBody>
      </p:sp>
      <p:sp>
        <p:nvSpPr>
          <p:cNvPr id="14" name="">
            <a:extLst xmlns:a="http://schemas.openxmlformats.org/drawingml/2006/main">
              <a:ext uri="{FF2B5EF4-FFF2-40B4-BE49-F238E27FC236}">
                <a16:creationId xmlns:a16="http://schemas.microsoft.com/office/drawing/2014/main" id="{DE324E84-28DE-40E1-A80B-07D912886830}"/>
              </a:ext>
            </a:extLst>
          </p:cNvPr>
          <p:cNvSpPr>
            <a:spLocks xmlns:a="http://schemas.openxmlformats.org/drawingml/2006/main" noGrp="1"/>
          </p:cNvSpPr>
          <p:nvPr/>
        </p:nvSpPr>
        <p:spPr>
          <a:xfrm xmlns:a="http://schemas.openxmlformats.org/drawingml/2006/main">
            <a:off x="2590800" y="27051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1">
                <a:solidFill>
                  <a:srgbClr val="5EE39A"/>
                </a:solidFill>
                <a:latin typeface="Aptos"/>
                <a:ea typeface="Aptos"/>
                <a:cs typeface="Aptos"/>
              </a:defRPr>
            </a:pPr>
            <a:r>
              <a:rPr sz="1275" b="1">
                <a:solidFill>
                  <a:srgbClr val="5EE39A"/>
                </a:solidFill>
                <a:latin typeface="Aptos"/>
                <a:ea typeface="Aptos"/>
                <a:cs typeface="Aptos"/>
              </a:rPr>
              <a:t>48.0%</a:t>
            </a:r>
          </a:p>
        </p:txBody>
      </p:sp>
      <p:sp>
        <p:nvSpPr>
          <p:cNvPr id="15" name="">
            <a:extLst xmlns:a="http://schemas.openxmlformats.org/drawingml/2006/main">
              <a:ext uri="{FF2B5EF4-FFF2-40B4-BE49-F238E27FC236}">
                <a16:creationId xmlns:a16="http://schemas.microsoft.com/office/drawing/2014/main" id="{F9F1BFCB-17EE-44CA-AD3E-0E09C4846FC2}"/>
              </a:ext>
            </a:extLst>
          </p:cNvPr>
          <p:cNvSpPr>
            <a:spLocks xmlns:a="http://schemas.openxmlformats.org/drawingml/2006/main" noGrp="1"/>
          </p:cNvSpPr>
          <p:nvPr/>
        </p:nvSpPr>
        <p:spPr>
          <a:xfrm xmlns:a="http://schemas.openxmlformats.org/drawingml/2006/main">
            <a:off x="3505200" y="27051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22.0%</a:t>
            </a:r>
          </a:p>
        </p:txBody>
      </p:sp>
      <p:sp>
        <p:nvSpPr>
          <p:cNvPr id="16" name="">
            <a:extLst xmlns:a="http://schemas.openxmlformats.org/drawingml/2006/main">
              <a:ext uri="{FF2B5EF4-FFF2-40B4-BE49-F238E27FC236}">
                <a16:creationId xmlns:a16="http://schemas.microsoft.com/office/drawing/2014/main" id="{1A01003D-4C9A-4CAE-91A5-004C8E72ED17}"/>
              </a:ext>
            </a:extLst>
          </p:cNvPr>
          <p:cNvSpPr>
            <a:spLocks xmlns:a="http://schemas.openxmlformats.org/drawingml/2006/main" noGrp="1"/>
          </p:cNvSpPr>
          <p:nvPr/>
        </p:nvSpPr>
        <p:spPr>
          <a:xfrm xmlns:a="http://schemas.openxmlformats.org/drawingml/2006/main">
            <a:off x="4419600" y="27051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16.5%</a:t>
            </a:r>
          </a:p>
        </p:txBody>
      </p:sp>
      <p:sp>
        <p:nvSpPr>
          <p:cNvPr id="17" name="">
            <a:extLst xmlns:a="http://schemas.openxmlformats.org/drawingml/2006/main">
              <a:ext uri="{FF2B5EF4-FFF2-40B4-BE49-F238E27FC236}">
                <a16:creationId xmlns:a16="http://schemas.microsoft.com/office/drawing/2014/main" id="{50533C47-C735-44BA-96A8-A83FB9F9CA6A}"/>
              </a:ext>
            </a:extLst>
          </p:cNvPr>
          <p:cNvSpPr>
            <a:spLocks xmlns:a="http://schemas.openxmlformats.org/drawingml/2006/main" noGrp="1"/>
          </p:cNvSpPr>
          <p:nvPr/>
        </p:nvSpPr>
        <p:spPr>
          <a:xfrm xmlns:a="http://schemas.openxmlformats.org/drawingml/2006/main">
            <a:off x="5334000" y="27051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13.6%</a:t>
            </a:r>
          </a:p>
        </p:txBody>
      </p:sp>
      <p:sp>
        <p:nvSpPr>
          <p:cNvPr id="18" name="">
            <a:extLst xmlns:a="http://schemas.openxmlformats.org/drawingml/2006/main">
              <a:ext uri="{FF2B5EF4-FFF2-40B4-BE49-F238E27FC236}">
                <a16:creationId xmlns:a16="http://schemas.microsoft.com/office/drawing/2014/main" id="{1D4DC34C-F9D8-4653-BF47-C0DF13202FC5}"/>
              </a:ext>
            </a:extLst>
          </p:cNvPr>
          <p:cNvSpPr>
            <a:spLocks xmlns:a="http://schemas.openxmlformats.org/drawingml/2006/main" noGrp="1"/>
          </p:cNvSpPr>
          <p:nvPr/>
        </p:nvSpPr>
        <p:spPr>
          <a:xfrm xmlns:a="http://schemas.openxmlformats.org/drawingml/2006/main">
            <a:off x="876300" y="3200400"/>
            <a:ext cx="15240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6F1DF"/>
                </a:solidFill>
                <a:latin typeface="Aptos"/>
                <a:ea typeface="Aptos"/>
                <a:cs typeface="Aptos"/>
              </a:defRPr>
            </a:pPr>
            <a:r>
              <a:rPr sz="1275" b="1">
                <a:solidFill>
                  <a:srgbClr val="F6F1DF"/>
                </a:solidFill>
                <a:latin typeface="Aptos"/>
                <a:ea typeface="Aptos"/>
                <a:cs typeface="Aptos"/>
              </a:rPr>
              <a:t>USA -50</a:t>
            </a:r>
          </a:p>
        </p:txBody>
      </p:sp>
      <p:sp>
        <p:nvSpPr>
          <p:cNvPr id="19" name="">
            <a:extLst xmlns:a="http://schemas.openxmlformats.org/drawingml/2006/main">
              <a:ext uri="{FF2B5EF4-FFF2-40B4-BE49-F238E27FC236}">
                <a16:creationId xmlns:a16="http://schemas.microsoft.com/office/drawing/2014/main" id="{BB12680E-A4F8-43A1-9225-839376F587DC}"/>
              </a:ext>
            </a:extLst>
          </p:cNvPr>
          <p:cNvSpPr>
            <a:spLocks xmlns:a="http://schemas.openxmlformats.org/drawingml/2006/main" noGrp="1"/>
          </p:cNvSpPr>
          <p:nvPr/>
        </p:nvSpPr>
        <p:spPr>
          <a:xfrm xmlns:a="http://schemas.openxmlformats.org/drawingml/2006/main">
            <a:off x="2590800" y="32004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1">
                <a:solidFill>
                  <a:srgbClr val="5EE39A"/>
                </a:solidFill>
                <a:latin typeface="Aptos"/>
                <a:ea typeface="Aptos"/>
                <a:cs typeface="Aptos"/>
              </a:defRPr>
            </a:pPr>
            <a:r>
              <a:rPr sz="1275" b="1">
                <a:solidFill>
                  <a:srgbClr val="5EE39A"/>
                </a:solidFill>
                <a:latin typeface="Aptos"/>
                <a:ea typeface="Aptos"/>
                <a:cs typeface="Aptos"/>
              </a:rPr>
              <a:t>38.8%</a:t>
            </a:r>
          </a:p>
        </p:txBody>
      </p:sp>
      <p:sp>
        <p:nvSpPr>
          <p:cNvPr id="20" name="">
            <a:extLst xmlns:a="http://schemas.openxmlformats.org/drawingml/2006/main">
              <a:ext uri="{FF2B5EF4-FFF2-40B4-BE49-F238E27FC236}">
                <a16:creationId xmlns:a16="http://schemas.microsoft.com/office/drawing/2014/main" id="{65BBEAC9-A528-495E-8ABB-E9F3804AA7DA}"/>
              </a:ext>
            </a:extLst>
          </p:cNvPr>
          <p:cNvSpPr>
            <a:spLocks xmlns:a="http://schemas.openxmlformats.org/drawingml/2006/main" noGrp="1"/>
          </p:cNvSpPr>
          <p:nvPr/>
        </p:nvSpPr>
        <p:spPr>
          <a:xfrm xmlns:a="http://schemas.openxmlformats.org/drawingml/2006/main">
            <a:off x="3505200" y="32004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25.5%</a:t>
            </a:r>
          </a:p>
        </p:txBody>
      </p:sp>
      <p:sp>
        <p:nvSpPr>
          <p:cNvPr id="21" name="">
            <a:extLst xmlns:a="http://schemas.openxmlformats.org/drawingml/2006/main">
              <a:ext uri="{FF2B5EF4-FFF2-40B4-BE49-F238E27FC236}">
                <a16:creationId xmlns:a16="http://schemas.microsoft.com/office/drawing/2014/main" id="{5C860C3D-8099-4766-9E81-823F94104F33}"/>
              </a:ext>
            </a:extLst>
          </p:cNvPr>
          <p:cNvSpPr>
            <a:spLocks xmlns:a="http://schemas.openxmlformats.org/drawingml/2006/main" noGrp="1"/>
          </p:cNvSpPr>
          <p:nvPr/>
        </p:nvSpPr>
        <p:spPr>
          <a:xfrm xmlns:a="http://schemas.openxmlformats.org/drawingml/2006/main">
            <a:off x="4419600" y="32004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19.5%</a:t>
            </a:r>
          </a:p>
        </p:txBody>
      </p:sp>
      <p:sp>
        <p:nvSpPr>
          <p:cNvPr id="22" name="">
            <a:extLst xmlns:a="http://schemas.openxmlformats.org/drawingml/2006/main">
              <a:ext uri="{FF2B5EF4-FFF2-40B4-BE49-F238E27FC236}">
                <a16:creationId xmlns:a16="http://schemas.microsoft.com/office/drawing/2014/main" id="{6BF85CF4-2263-4440-9D4A-E8D22C76C79F}"/>
              </a:ext>
            </a:extLst>
          </p:cNvPr>
          <p:cNvSpPr>
            <a:spLocks xmlns:a="http://schemas.openxmlformats.org/drawingml/2006/main" noGrp="1"/>
          </p:cNvSpPr>
          <p:nvPr/>
        </p:nvSpPr>
        <p:spPr>
          <a:xfrm xmlns:a="http://schemas.openxmlformats.org/drawingml/2006/main">
            <a:off x="5334000" y="32004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16.2%</a:t>
            </a:r>
          </a:p>
        </p:txBody>
      </p:sp>
      <p:sp>
        <p:nvSpPr>
          <p:cNvPr id="23" name="">
            <a:extLst xmlns:a="http://schemas.openxmlformats.org/drawingml/2006/main">
              <a:ext uri="{FF2B5EF4-FFF2-40B4-BE49-F238E27FC236}">
                <a16:creationId xmlns:a16="http://schemas.microsoft.com/office/drawing/2014/main" id="{46753C4D-E167-4C33-AD87-B4AB9BB0474B}"/>
              </a:ext>
            </a:extLst>
          </p:cNvPr>
          <p:cNvSpPr>
            <a:spLocks xmlns:a="http://schemas.openxmlformats.org/drawingml/2006/main" noGrp="1"/>
          </p:cNvSpPr>
          <p:nvPr/>
        </p:nvSpPr>
        <p:spPr>
          <a:xfrm xmlns:a="http://schemas.openxmlformats.org/drawingml/2006/main">
            <a:off x="876300" y="3695700"/>
            <a:ext cx="15240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6F1DF"/>
                </a:solidFill>
                <a:latin typeface="Aptos"/>
                <a:ea typeface="Aptos"/>
                <a:cs typeface="Aptos"/>
              </a:defRPr>
            </a:pPr>
            <a:r>
              <a:rPr sz="1275" b="1">
                <a:solidFill>
                  <a:srgbClr val="F6F1DF"/>
                </a:solidFill>
                <a:latin typeface="Aptos"/>
                <a:ea typeface="Aptos"/>
                <a:cs typeface="Aptos"/>
              </a:rPr>
              <a:t>Australia +80</a:t>
            </a:r>
          </a:p>
        </p:txBody>
      </p:sp>
      <p:sp>
        <p:nvSpPr>
          <p:cNvPr id="24" name="">
            <a:extLst xmlns:a="http://schemas.openxmlformats.org/drawingml/2006/main">
              <a:ext uri="{FF2B5EF4-FFF2-40B4-BE49-F238E27FC236}">
                <a16:creationId xmlns:a16="http://schemas.microsoft.com/office/drawing/2014/main" id="{868D4FF9-C157-49D8-8D67-7E330AA9DE4B}"/>
              </a:ext>
            </a:extLst>
          </p:cNvPr>
          <p:cNvSpPr>
            <a:spLocks xmlns:a="http://schemas.openxmlformats.org/drawingml/2006/main" noGrp="1"/>
          </p:cNvSpPr>
          <p:nvPr/>
        </p:nvSpPr>
        <p:spPr>
          <a:xfrm xmlns:a="http://schemas.openxmlformats.org/drawingml/2006/main">
            <a:off x="2590800" y="36957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1">
                <a:solidFill>
                  <a:srgbClr val="5EE39A"/>
                </a:solidFill>
                <a:latin typeface="Aptos"/>
                <a:ea typeface="Aptos"/>
                <a:cs typeface="Aptos"/>
              </a:defRPr>
            </a:pPr>
            <a:r>
              <a:rPr sz="1275" b="1">
                <a:solidFill>
                  <a:srgbClr val="5EE39A"/>
                </a:solidFill>
                <a:latin typeface="Aptos"/>
                <a:ea typeface="Aptos"/>
                <a:cs typeface="Aptos"/>
              </a:rPr>
              <a:t>43.1%</a:t>
            </a:r>
          </a:p>
        </p:txBody>
      </p:sp>
      <p:sp>
        <p:nvSpPr>
          <p:cNvPr id="25" name="">
            <a:extLst xmlns:a="http://schemas.openxmlformats.org/drawingml/2006/main">
              <a:ext uri="{FF2B5EF4-FFF2-40B4-BE49-F238E27FC236}">
                <a16:creationId xmlns:a16="http://schemas.microsoft.com/office/drawing/2014/main" id="{45A8DE0B-F580-474D-A29F-69C3E454F047}"/>
              </a:ext>
            </a:extLst>
          </p:cNvPr>
          <p:cNvSpPr>
            <a:spLocks xmlns:a="http://schemas.openxmlformats.org/drawingml/2006/main" noGrp="1"/>
          </p:cNvSpPr>
          <p:nvPr/>
        </p:nvSpPr>
        <p:spPr>
          <a:xfrm xmlns:a="http://schemas.openxmlformats.org/drawingml/2006/main">
            <a:off x="3505200" y="36957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17.2%</a:t>
            </a:r>
          </a:p>
        </p:txBody>
      </p:sp>
      <p:sp>
        <p:nvSpPr>
          <p:cNvPr id="26" name="">
            <a:extLst xmlns:a="http://schemas.openxmlformats.org/drawingml/2006/main">
              <a:ext uri="{FF2B5EF4-FFF2-40B4-BE49-F238E27FC236}">
                <a16:creationId xmlns:a16="http://schemas.microsoft.com/office/drawing/2014/main" id="{AA3676C7-C402-4BC6-A219-614E58D13D9D}"/>
              </a:ext>
            </a:extLst>
          </p:cNvPr>
          <p:cNvSpPr>
            <a:spLocks xmlns:a="http://schemas.openxmlformats.org/drawingml/2006/main" noGrp="1"/>
          </p:cNvSpPr>
          <p:nvPr/>
        </p:nvSpPr>
        <p:spPr>
          <a:xfrm xmlns:a="http://schemas.openxmlformats.org/drawingml/2006/main">
            <a:off x="4419600" y="36957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12.7%</a:t>
            </a:r>
          </a:p>
        </p:txBody>
      </p:sp>
      <p:sp>
        <p:nvSpPr>
          <p:cNvPr id="27" name="">
            <a:extLst xmlns:a="http://schemas.openxmlformats.org/drawingml/2006/main">
              <a:ext uri="{FF2B5EF4-FFF2-40B4-BE49-F238E27FC236}">
                <a16:creationId xmlns:a16="http://schemas.microsoft.com/office/drawing/2014/main" id="{DF8C8B73-B130-4742-8CB9-014B16C83187}"/>
              </a:ext>
            </a:extLst>
          </p:cNvPr>
          <p:cNvSpPr>
            <a:spLocks xmlns:a="http://schemas.openxmlformats.org/drawingml/2006/main" noGrp="1"/>
          </p:cNvSpPr>
          <p:nvPr/>
        </p:nvSpPr>
        <p:spPr>
          <a:xfrm xmlns:a="http://schemas.openxmlformats.org/drawingml/2006/main">
            <a:off x="5334000" y="36957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27.0%</a:t>
            </a:r>
          </a:p>
        </p:txBody>
      </p:sp>
      <p:sp>
        <p:nvSpPr>
          <p:cNvPr id="28" name="">
            <a:extLst xmlns:a="http://schemas.openxmlformats.org/drawingml/2006/main">
              <a:ext uri="{FF2B5EF4-FFF2-40B4-BE49-F238E27FC236}">
                <a16:creationId xmlns:a16="http://schemas.microsoft.com/office/drawing/2014/main" id="{4CB93987-051C-4D4C-89F5-5E2B448FA304}"/>
              </a:ext>
            </a:extLst>
          </p:cNvPr>
          <p:cNvSpPr>
            <a:spLocks xmlns:a="http://schemas.openxmlformats.org/drawingml/2006/main" noGrp="1"/>
          </p:cNvSpPr>
          <p:nvPr/>
        </p:nvSpPr>
        <p:spPr>
          <a:xfrm xmlns:a="http://schemas.openxmlformats.org/drawingml/2006/main">
            <a:off x="876300" y="4191000"/>
            <a:ext cx="15240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6F1DF"/>
                </a:solidFill>
                <a:latin typeface="Aptos"/>
                <a:ea typeface="Aptos"/>
                <a:cs typeface="Aptos"/>
              </a:defRPr>
            </a:pPr>
            <a:r>
              <a:rPr sz="1275" b="1">
                <a:solidFill>
                  <a:srgbClr val="F6F1DF"/>
                </a:solidFill>
                <a:latin typeface="Aptos"/>
                <a:ea typeface="Aptos"/>
                <a:cs typeface="Aptos"/>
              </a:rPr>
              <a:t>Türkiye +60</a:t>
            </a:r>
          </a:p>
        </p:txBody>
      </p:sp>
      <p:sp>
        <p:nvSpPr>
          <p:cNvPr id="29" name="">
            <a:extLst xmlns:a="http://schemas.openxmlformats.org/drawingml/2006/main">
              <a:ext uri="{FF2B5EF4-FFF2-40B4-BE49-F238E27FC236}">
                <a16:creationId xmlns:a16="http://schemas.microsoft.com/office/drawing/2014/main" id="{3E6127CF-8A45-4834-B7B4-BA35D589C4F8}"/>
              </a:ext>
            </a:extLst>
          </p:cNvPr>
          <p:cNvSpPr>
            <a:spLocks xmlns:a="http://schemas.openxmlformats.org/drawingml/2006/main" noGrp="1"/>
          </p:cNvSpPr>
          <p:nvPr/>
        </p:nvSpPr>
        <p:spPr>
          <a:xfrm xmlns:a="http://schemas.openxmlformats.org/drawingml/2006/main">
            <a:off x="2590800" y="41910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1">
                <a:solidFill>
                  <a:srgbClr val="5EE39A"/>
                </a:solidFill>
                <a:latin typeface="Aptos"/>
                <a:ea typeface="Aptos"/>
                <a:cs typeface="Aptos"/>
              </a:defRPr>
            </a:pPr>
            <a:r>
              <a:rPr sz="1275" b="1">
                <a:solidFill>
                  <a:srgbClr val="5EE39A"/>
                </a:solidFill>
                <a:latin typeface="Aptos"/>
                <a:ea typeface="Aptos"/>
                <a:cs typeface="Aptos"/>
              </a:rPr>
              <a:t>43.6%</a:t>
            </a:r>
          </a:p>
        </p:txBody>
      </p:sp>
      <p:sp>
        <p:nvSpPr>
          <p:cNvPr id="30" name="">
            <a:extLst xmlns:a="http://schemas.openxmlformats.org/drawingml/2006/main">
              <a:ext uri="{FF2B5EF4-FFF2-40B4-BE49-F238E27FC236}">
                <a16:creationId xmlns:a16="http://schemas.microsoft.com/office/drawing/2014/main" id="{E36F6784-B0BE-4BEE-92CE-A35F36F0FB93}"/>
              </a:ext>
            </a:extLst>
          </p:cNvPr>
          <p:cNvSpPr>
            <a:spLocks xmlns:a="http://schemas.openxmlformats.org/drawingml/2006/main" noGrp="1"/>
          </p:cNvSpPr>
          <p:nvPr/>
        </p:nvSpPr>
        <p:spPr>
          <a:xfrm xmlns:a="http://schemas.openxmlformats.org/drawingml/2006/main">
            <a:off x="3505200" y="41910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29.8%</a:t>
            </a:r>
          </a:p>
        </p:txBody>
      </p:sp>
      <p:sp>
        <p:nvSpPr>
          <p:cNvPr id="31" name="">
            <a:extLst xmlns:a="http://schemas.openxmlformats.org/drawingml/2006/main">
              <a:ext uri="{FF2B5EF4-FFF2-40B4-BE49-F238E27FC236}">
                <a16:creationId xmlns:a16="http://schemas.microsoft.com/office/drawing/2014/main" id="{ED315B4A-B49F-4F62-B803-2BA7AF244509}"/>
              </a:ext>
            </a:extLst>
          </p:cNvPr>
          <p:cNvSpPr>
            <a:spLocks xmlns:a="http://schemas.openxmlformats.org/drawingml/2006/main" noGrp="1"/>
          </p:cNvSpPr>
          <p:nvPr/>
        </p:nvSpPr>
        <p:spPr>
          <a:xfrm xmlns:a="http://schemas.openxmlformats.org/drawingml/2006/main">
            <a:off x="4419600" y="41910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15.0%</a:t>
            </a:r>
          </a:p>
        </p:txBody>
      </p:sp>
      <p:sp>
        <p:nvSpPr>
          <p:cNvPr id="32" name="">
            <a:extLst xmlns:a="http://schemas.openxmlformats.org/drawingml/2006/main">
              <a:ext uri="{FF2B5EF4-FFF2-40B4-BE49-F238E27FC236}">
                <a16:creationId xmlns:a16="http://schemas.microsoft.com/office/drawing/2014/main" id="{F9130153-CE56-4E83-8163-4D99EF8AD4BA}"/>
              </a:ext>
            </a:extLst>
          </p:cNvPr>
          <p:cNvSpPr>
            <a:spLocks xmlns:a="http://schemas.openxmlformats.org/drawingml/2006/main" noGrp="1"/>
          </p:cNvSpPr>
          <p:nvPr/>
        </p:nvSpPr>
        <p:spPr>
          <a:xfrm xmlns:a="http://schemas.openxmlformats.org/drawingml/2006/main">
            <a:off x="5334000" y="4191000"/>
            <a:ext cx="8001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75" b="0">
                <a:solidFill>
                  <a:srgbClr val="B6C1AD"/>
                </a:solidFill>
                <a:latin typeface="Aptos"/>
                <a:ea typeface="Aptos"/>
                <a:cs typeface="Aptos"/>
              </a:defRPr>
            </a:pPr>
            <a:r>
              <a:rPr sz="1275" b="0">
                <a:solidFill>
                  <a:srgbClr val="B6C1AD"/>
                </a:solidFill>
                <a:latin typeface="Aptos"/>
                <a:ea typeface="Aptos"/>
                <a:cs typeface="Aptos"/>
              </a:rPr>
              <a:t>11.5%</a:t>
            </a:r>
          </a:p>
        </p:txBody>
      </p:sp>
      <p:sp>
        <p:nvSpPr>
          <p:cNvPr id="33" name="">
            <a:extLst xmlns:a="http://schemas.openxmlformats.org/drawingml/2006/main">
              <a:ext uri="{FF2B5EF4-FFF2-40B4-BE49-F238E27FC236}">
                <a16:creationId xmlns:a16="http://schemas.microsoft.com/office/drawing/2014/main" id="{B5AB0DB3-9095-49BB-9DA8-B49961876000}"/>
              </a:ext>
            </a:extLst>
          </p:cNvPr>
          <p:cNvSpPr>
            <a:spLocks xmlns:a="http://schemas.openxmlformats.org/drawingml/2006/main" noGrp="1"/>
          </p:cNvSpPr>
          <p:nvPr/>
        </p:nvSpPr>
        <p:spPr>
          <a:xfrm xmlns:a="http://schemas.openxmlformats.org/drawingml/2006/main">
            <a:off x="7239000" y="2324100"/>
            <a:ext cx="3238500" cy="2190750"/>
          </a:xfrm>
          <a:prstGeom xmlns:a="http://schemas.openxmlformats.org/drawingml/2006/main" prst="rect">
            <a:avLst/>
          </a:prstGeom>
          <a:solidFill xmlns:a="http://schemas.openxmlformats.org/drawingml/2006/main">
            <a:srgbClr val="171724"/>
          </a:solidFill>
          <a:ln xmlns:a="http://schemas.openxmlformats.org/drawingml/2006/main" w="14288">
            <a:solidFill>
              <a:srgbClr val="B899FF"/>
            </a:solidFill>
            <a:prstDash val="solid"/>
          </a:ln>
        </p:spPr>
      </p:sp>
      <p:sp>
        <p:nvSpPr>
          <p:cNvPr id="34" name="">
            <a:extLst xmlns:a="http://schemas.openxmlformats.org/drawingml/2006/main">
              <a:ext uri="{FF2B5EF4-FFF2-40B4-BE49-F238E27FC236}">
                <a16:creationId xmlns:a16="http://schemas.microsoft.com/office/drawing/2014/main" id="{1BAFCF27-BA57-4205-8B10-0E69D960279C}"/>
              </a:ext>
            </a:extLst>
          </p:cNvPr>
          <p:cNvSpPr>
            <a:spLocks xmlns:a="http://schemas.openxmlformats.org/drawingml/2006/main" noGrp="1"/>
          </p:cNvSpPr>
          <p:nvPr/>
        </p:nvSpPr>
        <p:spPr>
          <a:xfrm xmlns:a="http://schemas.openxmlformats.org/drawingml/2006/main">
            <a:off x="7524750" y="2571750"/>
            <a:ext cx="2476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B899FF"/>
                </a:solidFill>
                <a:latin typeface="Aptos"/>
                <a:ea typeface="Aptos"/>
                <a:cs typeface="Aptos"/>
              </a:defRPr>
            </a:pPr>
            <a:r>
              <a:rPr sz="2025" b="1">
                <a:solidFill>
                  <a:srgbClr val="B899FF"/>
                </a:solidFill>
                <a:latin typeface="Aptos"/>
                <a:ea typeface="Aptos"/>
                <a:cs typeface="Aptos"/>
              </a:rPr>
              <a:t>Scenario contract</a:t>
            </a:r>
          </a:p>
        </p:txBody>
      </p:sp>
      <p:sp>
        <p:nvSpPr>
          <p:cNvPr id="35" name="">
            <a:extLst xmlns:a="http://schemas.openxmlformats.org/drawingml/2006/main">
              <a:ext uri="{FF2B5EF4-FFF2-40B4-BE49-F238E27FC236}">
                <a16:creationId xmlns:a16="http://schemas.microsoft.com/office/drawing/2014/main" id="{E3B11B0A-0E6C-41BF-B0E9-44193E5372A8}"/>
              </a:ext>
            </a:extLst>
          </p:cNvPr>
          <p:cNvSpPr>
            <a:spLocks xmlns:a="http://schemas.openxmlformats.org/drawingml/2006/main" noGrp="1"/>
          </p:cNvSpPr>
          <p:nvPr/>
        </p:nvSpPr>
        <p:spPr>
          <a:xfrm xmlns:a="http://schemas.openxmlformats.org/drawingml/2006/main">
            <a:off x="7543800" y="3048000"/>
            <a:ext cx="2476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6F1DF"/>
                </a:solidFill>
                <a:latin typeface="Aptos"/>
                <a:ea typeface="Aptos"/>
                <a:cs typeface="Aptos"/>
              </a:defRPr>
            </a:pPr>
            <a:r>
              <a:rPr sz="1500" b="0">
                <a:solidFill>
                  <a:srgbClr val="F6F1DF"/>
                </a:solidFill>
                <a:latin typeface="Aptos"/>
                <a:ea typeface="Aptos"/>
                <a:cs typeface="Aptos"/>
              </a:rPr>
              <a:t>Every adjustment is treated as an assumption, attached to the tool call, and kept separate from sourced facts.</a:t>
            </a:r>
          </a:p>
        </p:txBody>
      </p:sp>
      <p:sp>
        <p:nvSpPr>
          <p:cNvPr id="36" name="">
            <a:extLst xmlns:a="http://schemas.openxmlformats.org/drawingml/2006/main">
              <a:ext uri="{FF2B5EF4-FFF2-40B4-BE49-F238E27FC236}">
                <a16:creationId xmlns:a16="http://schemas.microsoft.com/office/drawing/2014/main" id="{E0B08C2D-C2C8-46E3-9886-5414E5783F09}"/>
              </a:ext>
            </a:extLst>
          </p:cNvPr>
          <p:cNvSpPr>
            <a:spLocks xmlns:a="http://schemas.openxmlformats.org/drawingml/2006/main" noGrp="1"/>
          </p:cNvSpPr>
          <p:nvPr/>
        </p:nvSpPr>
        <p:spPr>
          <a:xfrm xmlns:a="http://schemas.openxmlformats.org/drawingml/2006/main">
            <a:off x="7543800" y="40576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5EE39A"/>
                </a:solidFill>
                <a:latin typeface="Aptos"/>
                <a:ea typeface="Aptos"/>
                <a:cs typeface="Aptos"/>
              </a:defRPr>
            </a:pPr>
            <a:r>
              <a:rPr sz="1425" b="1">
                <a:solidFill>
                  <a:srgbClr val="5EE39A"/>
                </a:solidFill>
                <a:latin typeface="Aptos"/>
                <a:ea typeface="Aptos"/>
                <a:cs typeface="Aptos"/>
              </a:rPr>
              <a:t>No silent priors. No hidden knobs.</a:t>
            </a:r>
          </a:p>
        </p:txBody>
      </p:sp>
      <p:sp>
        <p:nvSpPr>
          <p:cNvPr id="37" name="">
            <a:extLst xmlns:a="http://schemas.openxmlformats.org/drawingml/2006/main">
              <a:ext uri="{FF2B5EF4-FFF2-40B4-BE49-F238E27FC236}">
                <a16:creationId xmlns:a16="http://schemas.microsoft.com/office/drawing/2014/main" id="{B37E52BC-9EEA-46A5-A908-AF6B9EB5A962}"/>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13</a:t>
            </a:r>
          </a:p>
        </p:txBody>
      </p:sp>
      <p:sp>
        <p:nvSpPr>
          <p:cNvPr id="38" name="">
            <a:extLst xmlns:a="http://schemas.openxmlformats.org/drawingml/2006/main">
              <a:ext uri="{FF2B5EF4-FFF2-40B4-BE49-F238E27FC236}">
                <a16:creationId xmlns:a16="http://schemas.microsoft.com/office/drawing/2014/main" id="{2E5CC1FE-A605-4C7A-8E50-237F6104FAB0}"/>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Data: forecast_group('D', adjustments=...) with 3,000 sims</a:t>
            </a:r>
          </a:p>
        </p:txBody>
      </p:sp>
    </p:spTree>
    <p:extLst>
      <p:ext uri="{BB962C8B-B14F-4D97-AF65-F5344CB8AC3E}">
        <p14:creationId xmlns:p14="http://schemas.microsoft.com/office/powerpoint/2010/main" val="28590425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434D50-7A54-428D-BCB9-B6696891172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70B"/>
          </a:solidFill>
          <a:ln xmlns:a="http://schemas.openxmlformats.org/drawingml/2006/main" w="14288">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0412430-221B-44E5-A203-62A79FD7947A}"/>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3" name="kicker-label">
            <a:extLst xmlns:a="http://schemas.openxmlformats.org/drawingml/2006/main">
              <a:ext uri="{FF2B5EF4-FFF2-40B4-BE49-F238E27FC236}">
                <a16:creationId xmlns:a16="http://schemas.microsoft.com/office/drawing/2014/main" id="{C0502EC7-6F07-45B8-8D1E-B10ABCE46F26}"/>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4" name="">
            <a:extLst xmlns:a="http://schemas.openxmlformats.org/drawingml/2006/main">
              <a:ext uri="{FF2B5EF4-FFF2-40B4-BE49-F238E27FC236}">
                <a16:creationId xmlns:a16="http://schemas.microsoft.com/office/drawing/2014/main" id="{C29169F1-E7AD-4451-8C69-FCD4A2722D7B}"/>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22:00</a:t>
            </a:r>
          </a:p>
        </p:txBody>
      </p:sp>
      <p:sp>
        <p:nvSpPr>
          <p:cNvPr id="5" name="">
            <a:extLst xmlns:a="http://schemas.openxmlformats.org/drawingml/2006/main">
              <a:ext uri="{FF2B5EF4-FFF2-40B4-BE49-F238E27FC236}">
                <a16:creationId xmlns:a16="http://schemas.microsoft.com/office/drawing/2014/main" id="{42B2919B-0AE5-4BA1-A609-42DF6B33F1C1}"/>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Typed claims turn source quality into something measurable.</a:t>
            </a:r>
          </a:p>
        </p:txBody>
      </p:sp>
      <p:sp>
        <p:nvSpPr>
          <p:cNvPr id="6" name="">
            <a:extLst xmlns:a="http://schemas.openxmlformats.org/drawingml/2006/main">
              <a:ext uri="{FF2B5EF4-FFF2-40B4-BE49-F238E27FC236}">
                <a16:creationId xmlns:a16="http://schemas.microsoft.com/office/drawing/2014/main" id="{7E43A7CD-54DE-4F59-86E6-B0CAB0EC8BDB}"/>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Each answer is broken into claims, each claim declares its type, and citations must support that type.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313393f742d4e58"/>
          <a:srcRect xmlns:a="http://schemas.openxmlformats.org/drawingml/2006/main" l="0" t="65" r="0" b="65"/>
          <a:stretch xmlns:a="http://schemas.openxmlformats.org/drawingml/2006/main">
            <a:fillRect l="0" t="0" r="0" b="0"/>
          </a:stretch>
        </p:blipFill>
        <p:spPr>
          <a:xfrm xmlns:a="http://schemas.openxmlformats.org/drawingml/2006/main">
            <a:off x="666750" y="1981200"/>
            <a:ext cx="6477000" cy="36385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92564BC-7B73-4764-9E3C-148F5DCF767F}"/>
              </a:ext>
            </a:extLst>
          </p:cNvPr>
          <p:cNvSpPr>
            <a:spLocks xmlns:a="http://schemas.openxmlformats.org/drawingml/2006/main" noGrp="1"/>
          </p:cNvSpPr>
          <p:nvPr/>
        </p:nvSpPr>
        <p:spPr>
          <a:xfrm xmlns:a="http://schemas.openxmlformats.org/drawingml/2006/main">
            <a:off x="7572375" y="2143125"/>
            <a:ext cx="3429000" cy="438150"/>
          </a:xfrm>
          <a:prstGeom xmlns:a="http://schemas.openxmlformats.org/drawingml/2006/main" prst="rect">
            <a:avLst/>
          </a:prstGeom>
          <a:solidFill xmlns:a="http://schemas.openxmlformats.org/drawingml/2006/main">
            <a:srgbClr val="12121B"/>
          </a:solidFill>
          <a:ln xmlns:a="http://schemas.openxmlformats.org/drawingml/2006/main" w="14288">
            <a:solidFill>
              <a:srgbClr val="5EE39A"/>
            </a:solidFill>
            <a:prstDash val="solid"/>
          </a:ln>
        </p:spPr>
      </p:sp>
      <p:sp>
        <p:nvSpPr>
          <p:cNvPr id="9" name="">
            <a:extLst xmlns:a="http://schemas.openxmlformats.org/drawingml/2006/main">
              <a:ext uri="{FF2B5EF4-FFF2-40B4-BE49-F238E27FC236}">
                <a16:creationId xmlns:a16="http://schemas.microsoft.com/office/drawing/2014/main" id="{76F927F9-1734-40AE-B9B7-1BD422526EFC}"/>
              </a:ext>
            </a:extLst>
          </p:cNvPr>
          <p:cNvSpPr>
            <a:spLocks xmlns:a="http://schemas.openxmlformats.org/drawingml/2006/main" noGrp="1"/>
          </p:cNvSpPr>
          <p:nvPr/>
        </p:nvSpPr>
        <p:spPr>
          <a:xfrm xmlns:a="http://schemas.openxmlformats.org/drawingml/2006/main">
            <a:off x="7762875" y="224790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5EE39A"/>
                </a:solidFill>
                <a:latin typeface="Aptos"/>
                <a:ea typeface="Aptos"/>
                <a:cs typeface="Aptos"/>
              </a:defRPr>
            </a:pPr>
            <a:r>
              <a:rPr sz="1200" b="1">
                <a:solidFill>
                  <a:srgbClr val="5EE39A"/>
                </a:solidFill>
                <a:latin typeface="Aptos"/>
                <a:ea typeface="Aptos"/>
                <a:cs typeface="Aptos"/>
              </a:rPr>
              <a:t>field_fact</a:t>
            </a:r>
          </a:p>
        </p:txBody>
      </p:sp>
      <p:sp>
        <p:nvSpPr>
          <p:cNvPr id="10" name="">
            <a:extLst xmlns:a="http://schemas.openxmlformats.org/drawingml/2006/main">
              <a:ext uri="{FF2B5EF4-FFF2-40B4-BE49-F238E27FC236}">
                <a16:creationId xmlns:a16="http://schemas.microsoft.com/office/drawing/2014/main" id="{5F6EF597-A29F-40CC-A938-8732F5B2F1F3}"/>
              </a:ext>
            </a:extLst>
          </p:cNvPr>
          <p:cNvSpPr>
            <a:spLocks xmlns:a="http://schemas.openxmlformats.org/drawingml/2006/main" noGrp="1"/>
          </p:cNvSpPr>
          <p:nvPr/>
        </p:nvSpPr>
        <p:spPr>
          <a:xfrm xmlns:a="http://schemas.openxmlformats.org/drawingml/2006/main">
            <a:off x="9448800" y="2257425"/>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official field + group labels</a:t>
            </a:r>
          </a:p>
        </p:txBody>
      </p:sp>
      <p:sp>
        <p:nvSpPr>
          <p:cNvPr id="11" name="">
            <a:extLst xmlns:a="http://schemas.openxmlformats.org/drawingml/2006/main">
              <a:ext uri="{FF2B5EF4-FFF2-40B4-BE49-F238E27FC236}">
                <a16:creationId xmlns:a16="http://schemas.microsoft.com/office/drawing/2014/main" id="{7A4192FF-55E7-4B39-A38C-17C4E3EE5589}"/>
              </a:ext>
            </a:extLst>
          </p:cNvPr>
          <p:cNvSpPr>
            <a:spLocks xmlns:a="http://schemas.openxmlformats.org/drawingml/2006/main" noGrp="1"/>
          </p:cNvSpPr>
          <p:nvPr/>
        </p:nvSpPr>
        <p:spPr>
          <a:xfrm xmlns:a="http://schemas.openxmlformats.org/drawingml/2006/main">
            <a:off x="7572375" y="2828925"/>
            <a:ext cx="3429000" cy="438150"/>
          </a:xfrm>
          <a:prstGeom xmlns:a="http://schemas.openxmlformats.org/drawingml/2006/main" prst="rect">
            <a:avLst/>
          </a:prstGeom>
          <a:solidFill xmlns:a="http://schemas.openxmlformats.org/drawingml/2006/main">
            <a:srgbClr val="12121B"/>
          </a:solidFill>
          <a:ln xmlns:a="http://schemas.openxmlformats.org/drawingml/2006/main" w="14288">
            <a:solidFill>
              <a:srgbClr val="5EE39A"/>
            </a:solidFill>
            <a:prstDash val="solid"/>
          </a:ln>
        </p:spPr>
      </p:sp>
      <p:sp>
        <p:nvSpPr>
          <p:cNvPr id="12" name="">
            <a:extLst xmlns:a="http://schemas.openxmlformats.org/drawingml/2006/main">
              <a:ext uri="{FF2B5EF4-FFF2-40B4-BE49-F238E27FC236}">
                <a16:creationId xmlns:a16="http://schemas.microsoft.com/office/drawing/2014/main" id="{0241F533-051C-434F-830B-7FFCDC1E03B0}"/>
              </a:ext>
            </a:extLst>
          </p:cNvPr>
          <p:cNvSpPr>
            <a:spLocks xmlns:a="http://schemas.openxmlformats.org/drawingml/2006/main" noGrp="1"/>
          </p:cNvSpPr>
          <p:nvPr/>
        </p:nvSpPr>
        <p:spPr>
          <a:xfrm xmlns:a="http://schemas.openxmlformats.org/drawingml/2006/main">
            <a:off x="7762875" y="293370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5EE39A"/>
                </a:solidFill>
                <a:latin typeface="Aptos"/>
                <a:ea typeface="Aptos"/>
                <a:cs typeface="Aptos"/>
              </a:defRPr>
            </a:pPr>
            <a:r>
              <a:rPr sz="1200" b="1">
                <a:solidFill>
                  <a:srgbClr val="5EE39A"/>
                </a:solidFill>
                <a:latin typeface="Aptos"/>
                <a:ea typeface="Aptos"/>
                <a:cs typeface="Aptos"/>
              </a:rPr>
              <a:t>model_output</a:t>
            </a:r>
          </a:p>
        </p:txBody>
      </p:sp>
      <p:sp>
        <p:nvSpPr>
          <p:cNvPr id="13" name="">
            <a:extLst xmlns:a="http://schemas.openxmlformats.org/drawingml/2006/main">
              <a:ext uri="{FF2B5EF4-FFF2-40B4-BE49-F238E27FC236}">
                <a16:creationId xmlns:a16="http://schemas.microsoft.com/office/drawing/2014/main" id="{7AA6E50E-7AC3-4457-812D-9E1009106497}"/>
              </a:ext>
            </a:extLst>
          </p:cNvPr>
          <p:cNvSpPr>
            <a:spLocks xmlns:a="http://schemas.openxmlformats.org/drawingml/2006/main" noGrp="1"/>
          </p:cNvSpPr>
          <p:nvPr/>
        </p:nvSpPr>
        <p:spPr>
          <a:xfrm xmlns:a="http://schemas.openxmlformats.org/drawingml/2006/main">
            <a:off x="9448800" y="2943225"/>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model logic + input support</a:t>
            </a:r>
          </a:p>
        </p:txBody>
      </p:sp>
      <p:sp>
        <p:nvSpPr>
          <p:cNvPr id="14" name="">
            <a:extLst xmlns:a="http://schemas.openxmlformats.org/drawingml/2006/main">
              <a:ext uri="{FF2B5EF4-FFF2-40B4-BE49-F238E27FC236}">
                <a16:creationId xmlns:a16="http://schemas.microsoft.com/office/drawing/2014/main" id="{DB20D4F3-CA9F-4D66-BC07-6E819109A308}"/>
              </a:ext>
            </a:extLst>
          </p:cNvPr>
          <p:cNvSpPr>
            <a:spLocks xmlns:a="http://schemas.openxmlformats.org/drawingml/2006/main" noGrp="1"/>
          </p:cNvSpPr>
          <p:nvPr/>
        </p:nvSpPr>
        <p:spPr>
          <a:xfrm xmlns:a="http://schemas.openxmlformats.org/drawingml/2006/main">
            <a:off x="7572375" y="3514725"/>
            <a:ext cx="3429000" cy="438150"/>
          </a:xfrm>
          <a:prstGeom xmlns:a="http://schemas.openxmlformats.org/drawingml/2006/main" prst="rect">
            <a:avLst/>
          </a:prstGeom>
          <a:solidFill xmlns:a="http://schemas.openxmlformats.org/drawingml/2006/main">
            <a:srgbClr val="12121B"/>
          </a:solidFill>
          <a:ln xmlns:a="http://schemas.openxmlformats.org/drawingml/2006/main" w="14288">
            <a:solidFill>
              <a:srgbClr val="FFD166"/>
            </a:solidFill>
            <a:prstDash val="solid"/>
          </a:ln>
        </p:spPr>
      </p:sp>
      <p:sp>
        <p:nvSpPr>
          <p:cNvPr id="15" name="">
            <a:extLst xmlns:a="http://schemas.openxmlformats.org/drawingml/2006/main">
              <a:ext uri="{FF2B5EF4-FFF2-40B4-BE49-F238E27FC236}">
                <a16:creationId xmlns:a16="http://schemas.microsoft.com/office/drawing/2014/main" id="{6FD70D7D-1D2B-408B-BC8A-46757460E2B7}"/>
              </a:ext>
            </a:extLst>
          </p:cNvPr>
          <p:cNvSpPr>
            <a:spLocks xmlns:a="http://schemas.openxmlformats.org/drawingml/2006/main" noGrp="1"/>
          </p:cNvSpPr>
          <p:nvPr/>
        </p:nvSpPr>
        <p:spPr>
          <a:xfrm xmlns:a="http://schemas.openxmlformats.org/drawingml/2006/main">
            <a:off x="7762875" y="361950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FD166"/>
                </a:solidFill>
                <a:latin typeface="Aptos"/>
                <a:ea typeface="Aptos"/>
                <a:cs typeface="Aptos"/>
              </a:defRPr>
            </a:pPr>
            <a:r>
              <a:rPr sz="1200" b="1">
                <a:solidFill>
                  <a:srgbClr val="FFD166"/>
                </a:solidFill>
                <a:latin typeface="Aptos"/>
                <a:ea typeface="Aptos"/>
                <a:cs typeface="Aptos"/>
              </a:rPr>
              <a:t>market_baseline</a:t>
            </a:r>
          </a:p>
        </p:txBody>
      </p:sp>
      <p:sp>
        <p:nvSpPr>
          <p:cNvPr id="16" name="">
            <a:extLst xmlns:a="http://schemas.openxmlformats.org/drawingml/2006/main">
              <a:ext uri="{FF2B5EF4-FFF2-40B4-BE49-F238E27FC236}">
                <a16:creationId xmlns:a16="http://schemas.microsoft.com/office/drawing/2014/main" id="{93725A83-BB75-4F0A-8527-D84048066187}"/>
              </a:ext>
            </a:extLst>
          </p:cNvPr>
          <p:cNvSpPr>
            <a:spLocks xmlns:a="http://schemas.openxmlformats.org/drawingml/2006/main" noGrp="1"/>
          </p:cNvSpPr>
          <p:nvPr/>
        </p:nvSpPr>
        <p:spPr>
          <a:xfrm xmlns:a="http://schemas.openxmlformats.org/drawingml/2006/main">
            <a:off x="9448800" y="3629025"/>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sample odds + source policy</a:t>
            </a:r>
          </a:p>
        </p:txBody>
      </p:sp>
      <p:sp>
        <p:nvSpPr>
          <p:cNvPr id="17" name="">
            <a:extLst xmlns:a="http://schemas.openxmlformats.org/drawingml/2006/main">
              <a:ext uri="{FF2B5EF4-FFF2-40B4-BE49-F238E27FC236}">
                <a16:creationId xmlns:a16="http://schemas.microsoft.com/office/drawing/2014/main" id="{097EBD38-9828-4626-AB50-117314BAC5A0}"/>
              </a:ext>
            </a:extLst>
          </p:cNvPr>
          <p:cNvSpPr>
            <a:spLocks xmlns:a="http://schemas.openxmlformats.org/drawingml/2006/main" noGrp="1"/>
          </p:cNvSpPr>
          <p:nvPr/>
        </p:nvSpPr>
        <p:spPr>
          <a:xfrm xmlns:a="http://schemas.openxmlformats.org/drawingml/2006/main">
            <a:off x="7572375" y="4200525"/>
            <a:ext cx="3429000" cy="438150"/>
          </a:xfrm>
          <a:prstGeom xmlns:a="http://schemas.openxmlformats.org/drawingml/2006/main" prst="rect">
            <a:avLst/>
          </a:prstGeom>
          <a:solidFill xmlns:a="http://schemas.openxmlformats.org/drawingml/2006/main">
            <a:srgbClr val="12121B"/>
          </a:solidFill>
          <a:ln xmlns:a="http://schemas.openxmlformats.org/drawingml/2006/main" w="14288">
            <a:solidFill>
              <a:srgbClr val="FFD166"/>
            </a:solidFill>
            <a:prstDash val="solid"/>
          </a:ln>
        </p:spPr>
      </p:sp>
      <p:sp>
        <p:nvSpPr>
          <p:cNvPr id="18" name="">
            <a:extLst xmlns:a="http://schemas.openxmlformats.org/drawingml/2006/main">
              <a:ext uri="{FF2B5EF4-FFF2-40B4-BE49-F238E27FC236}">
                <a16:creationId xmlns:a16="http://schemas.microsoft.com/office/drawing/2014/main" id="{9800473E-8B20-459D-8AC8-9FD82EB0F2B2}"/>
              </a:ext>
            </a:extLst>
          </p:cNvPr>
          <p:cNvSpPr>
            <a:spLocks xmlns:a="http://schemas.openxmlformats.org/drawingml/2006/main" noGrp="1"/>
          </p:cNvSpPr>
          <p:nvPr/>
        </p:nvSpPr>
        <p:spPr>
          <a:xfrm xmlns:a="http://schemas.openxmlformats.org/drawingml/2006/main">
            <a:off x="7762875" y="430530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FD166"/>
                </a:solidFill>
                <a:latin typeface="Aptos"/>
                <a:ea typeface="Aptos"/>
                <a:cs typeface="Aptos"/>
              </a:defRPr>
            </a:pPr>
            <a:r>
              <a:rPr sz="1200" b="1">
                <a:solidFill>
                  <a:srgbClr val="FFD166"/>
                </a:solidFill>
                <a:latin typeface="Aptos"/>
                <a:ea typeface="Aptos"/>
                <a:cs typeface="Aptos"/>
              </a:rPr>
              <a:t>uncertainty</a:t>
            </a:r>
          </a:p>
        </p:txBody>
      </p:sp>
      <p:sp>
        <p:nvSpPr>
          <p:cNvPr id="19" name="">
            <a:extLst xmlns:a="http://schemas.openxmlformats.org/drawingml/2006/main">
              <a:ext uri="{FF2B5EF4-FFF2-40B4-BE49-F238E27FC236}">
                <a16:creationId xmlns:a16="http://schemas.microsoft.com/office/drawing/2014/main" id="{2B97B880-4759-449A-BA0B-7979B98AE777}"/>
              </a:ext>
            </a:extLst>
          </p:cNvPr>
          <p:cNvSpPr>
            <a:spLocks xmlns:a="http://schemas.openxmlformats.org/drawingml/2006/main" noGrp="1"/>
          </p:cNvSpPr>
          <p:nvPr/>
        </p:nvSpPr>
        <p:spPr>
          <a:xfrm xmlns:a="http://schemas.openxmlformats.org/drawingml/2006/main">
            <a:off x="9448800" y="4314825"/>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model caveats + warnings</a:t>
            </a:r>
          </a:p>
        </p:txBody>
      </p:sp>
      <p:sp>
        <p:nvSpPr>
          <p:cNvPr id="20" name="">
            <a:extLst xmlns:a="http://schemas.openxmlformats.org/drawingml/2006/main">
              <a:ext uri="{FF2B5EF4-FFF2-40B4-BE49-F238E27FC236}">
                <a16:creationId xmlns:a16="http://schemas.microsoft.com/office/drawing/2014/main" id="{75FD5DC9-C644-4853-B4F4-B8DBC8413A08}"/>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14</a:t>
            </a:r>
          </a:p>
        </p:txBody>
      </p:sp>
      <p:sp>
        <p:nvSpPr>
          <p:cNvPr id="21" name="">
            <a:extLst xmlns:a="http://schemas.openxmlformats.org/drawingml/2006/main">
              <a:ext uri="{FF2B5EF4-FFF2-40B4-BE49-F238E27FC236}">
                <a16:creationId xmlns:a16="http://schemas.microsoft.com/office/drawing/2014/main" id="{2CE504FB-229E-4B05-9527-5C8F50C002B9}"/>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GIF generated from Episode 2 claim-verifier behavior</a:t>
            </a:r>
          </a:p>
        </p:txBody>
      </p:sp>
    </p:spTree>
    <p:extLst>
      <p:ext uri="{BB962C8B-B14F-4D97-AF65-F5344CB8AC3E}">
        <p14:creationId xmlns:p14="http://schemas.microsoft.com/office/powerpoint/2010/main" val="72543742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B4E07EB-F5C6-4997-A79F-D0B48B03E2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00D"/>
          </a:solidFill>
          <a:ln xmlns:a="http://schemas.openxmlformats.org/drawingml/2006/main" w="14288">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D5F1616-8831-47A0-A83B-C74774BD164D}"/>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3" name="kicker-label">
            <a:extLst xmlns:a="http://schemas.openxmlformats.org/drawingml/2006/main">
              <a:ext uri="{FF2B5EF4-FFF2-40B4-BE49-F238E27FC236}">
                <a16:creationId xmlns:a16="http://schemas.microsoft.com/office/drawing/2014/main" id="{04FEBB11-3DB9-484C-8A2F-FC344E99E025}"/>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4" name="">
            <a:extLst xmlns:a="http://schemas.openxmlformats.org/drawingml/2006/main">
              <a:ext uri="{FF2B5EF4-FFF2-40B4-BE49-F238E27FC236}">
                <a16:creationId xmlns:a16="http://schemas.microsoft.com/office/drawing/2014/main" id="{992D7A5A-740A-43D2-A75E-D52BC05EB75D}"/>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24:00</a:t>
            </a:r>
          </a:p>
        </p:txBody>
      </p:sp>
      <p:sp>
        <p:nvSpPr>
          <p:cNvPr id="5" name="">
            <a:extLst xmlns:a="http://schemas.openxmlformats.org/drawingml/2006/main">
              <a:ext uri="{FF2B5EF4-FFF2-40B4-BE49-F238E27FC236}">
                <a16:creationId xmlns:a16="http://schemas.microsoft.com/office/drawing/2014/main" id="{A8E8BA2C-46C2-4A75-A657-034F685544A3}"/>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The grounded agent wins because the harness tests behavior, not vibes.</a:t>
            </a:r>
          </a:p>
        </p:txBody>
      </p:sp>
      <p:sp>
        <p:nvSpPr>
          <p:cNvPr id="6" name="">
            <a:extLst xmlns:a="http://schemas.openxmlformats.org/drawingml/2006/main">
              <a:ext uri="{FF2B5EF4-FFF2-40B4-BE49-F238E27FC236}">
                <a16:creationId xmlns:a16="http://schemas.microsoft.com/office/drawing/2014/main" id="{A2D2D7EA-595C-4F92-A974-AF390350F9FC}"/>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Fourteen eval cases separate the naive baseline from the source-aware agent.</a:t>
            </a:r>
          </a:p>
        </p:txBody>
      </p:sp>
      <p:sp>
        <p:nvSpPr>
          <p:cNvPr id="7" name="">
            <a:extLst xmlns:a="http://schemas.openxmlformats.org/drawingml/2006/main">
              <a:ext uri="{FF2B5EF4-FFF2-40B4-BE49-F238E27FC236}">
                <a16:creationId xmlns:a16="http://schemas.microsoft.com/office/drawing/2014/main" id="{688219C5-075E-480E-8C7B-67C06AF620E0}"/>
              </a:ext>
            </a:extLst>
          </p:cNvPr>
          <p:cNvSpPr>
            <a:spLocks xmlns:a="http://schemas.openxmlformats.org/drawingml/2006/main" noGrp="1"/>
          </p:cNvSpPr>
          <p:nvPr/>
        </p:nvSpPr>
        <p:spPr>
          <a:xfrm xmlns:a="http://schemas.openxmlformats.org/drawingml/2006/main">
            <a:off x="2762250" y="23431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45B69"/>
                </a:solidFill>
                <a:latin typeface="Aptos"/>
                <a:ea typeface="Aptos"/>
                <a:cs typeface="Aptos"/>
              </a:defRPr>
            </a:pPr>
            <a:r>
              <a:rPr sz="1350" b="1">
                <a:solidFill>
                  <a:srgbClr val="F45B69"/>
                </a:solidFill>
                <a:latin typeface="Aptos"/>
                <a:ea typeface="Aptos"/>
                <a:cs typeface="Aptos"/>
              </a:rPr>
              <a:t>Baseline mock</a:t>
            </a:r>
          </a:p>
        </p:txBody>
      </p:sp>
      <p:sp>
        <p:nvSpPr>
          <p:cNvPr id="8" name="">
            <a:extLst xmlns:a="http://schemas.openxmlformats.org/drawingml/2006/main">
              <a:ext uri="{FF2B5EF4-FFF2-40B4-BE49-F238E27FC236}">
                <a16:creationId xmlns:a16="http://schemas.microsoft.com/office/drawing/2014/main" id="{B61B7910-452B-4AE7-9525-E4D87203C37E}"/>
              </a:ext>
            </a:extLst>
          </p:cNvPr>
          <p:cNvSpPr>
            <a:spLocks xmlns:a="http://schemas.openxmlformats.org/drawingml/2006/main" noGrp="1"/>
          </p:cNvSpPr>
          <p:nvPr/>
        </p:nvSpPr>
        <p:spPr>
          <a:xfrm xmlns:a="http://schemas.openxmlformats.org/drawingml/2006/main">
            <a:off x="4953000" y="23431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5EE39A"/>
                </a:solidFill>
                <a:latin typeface="Aptos"/>
                <a:ea typeface="Aptos"/>
                <a:cs typeface="Aptos"/>
              </a:defRPr>
            </a:pPr>
            <a:r>
              <a:rPr sz="1350" b="1">
                <a:solidFill>
                  <a:srgbClr val="5EE39A"/>
                </a:solidFill>
                <a:latin typeface="Aptos"/>
                <a:ea typeface="Aptos"/>
                <a:cs typeface="Aptos"/>
              </a:rPr>
              <a:t>Grounded mock</a:t>
            </a:r>
          </a:p>
        </p:txBody>
      </p:sp>
      <p:sp>
        <p:nvSpPr>
          <p:cNvPr id="9" name="">
            <a:extLst xmlns:a="http://schemas.openxmlformats.org/drawingml/2006/main">
              <a:ext uri="{FF2B5EF4-FFF2-40B4-BE49-F238E27FC236}">
                <a16:creationId xmlns:a16="http://schemas.microsoft.com/office/drawing/2014/main" id="{F49CA7F8-2583-4C1B-9933-6571AE4AA5C8}"/>
              </a:ext>
            </a:extLst>
          </p:cNvPr>
          <p:cNvSpPr>
            <a:spLocks xmlns:a="http://schemas.openxmlformats.org/drawingml/2006/main" noGrp="1"/>
          </p:cNvSpPr>
          <p:nvPr/>
        </p:nvSpPr>
        <p:spPr>
          <a:xfrm xmlns:a="http://schemas.openxmlformats.org/drawingml/2006/main">
            <a:off x="857250" y="281940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Pass rate</a:t>
            </a:r>
          </a:p>
        </p:txBody>
      </p:sp>
      <p:sp>
        <p:nvSpPr>
          <p:cNvPr id="10" name="">
            <a:extLst xmlns:a="http://schemas.openxmlformats.org/drawingml/2006/main">
              <a:ext uri="{FF2B5EF4-FFF2-40B4-BE49-F238E27FC236}">
                <a16:creationId xmlns:a16="http://schemas.microsoft.com/office/drawing/2014/main" id="{F81A6384-1E71-4C00-BC53-F8EBEA28E415}"/>
              </a:ext>
            </a:extLst>
          </p:cNvPr>
          <p:cNvSpPr>
            <a:spLocks xmlns:a="http://schemas.openxmlformats.org/drawingml/2006/main" noGrp="1"/>
          </p:cNvSpPr>
          <p:nvPr/>
        </p:nvSpPr>
        <p:spPr>
          <a:xfrm xmlns:a="http://schemas.openxmlformats.org/drawingml/2006/main">
            <a:off x="2857500" y="2819400"/>
            <a:ext cx="1428750" cy="228600"/>
          </a:xfrm>
          <a:prstGeom xmlns:a="http://schemas.openxmlformats.org/drawingml/2006/main" prst="rect">
            <a:avLst/>
          </a:prstGeom>
          <a:solidFill xmlns:a="http://schemas.openxmlformats.org/drawingml/2006/main">
            <a:srgbClr val="321217"/>
          </a:solidFill>
          <a:ln xmlns:a="http://schemas.openxmlformats.org/drawingml/2006/main" w="14288">
            <a:solidFill>
              <a:srgbClr val="F45B69"/>
            </a:solidFill>
            <a:prstDash val="solid"/>
          </a:ln>
        </p:spPr>
      </p:sp>
      <p:sp>
        <p:nvSpPr>
          <p:cNvPr id="11" name="">
            <a:extLst xmlns:a="http://schemas.openxmlformats.org/drawingml/2006/main">
              <a:ext uri="{FF2B5EF4-FFF2-40B4-BE49-F238E27FC236}">
                <a16:creationId xmlns:a16="http://schemas.microsoft.com/office/drawing/2014/main" id="{3F926000-4688-46C8-986E-6C5C846FAA0A}"/>
              </a:ext>
            </a:extLst>
          </p:cNvPr>
          <p:cNvSpPr>
            <a:spLocks xmlns:a="http://schemas.openxmlformats.org/drawingml/2006/main" noGrp="1"/>
          </p:cNvSpPr>
          <p:nvPr/>
        </p:nvSpPr>
        <p:spPr>
          <a:xfrm xmlns:a="http://schemas.openxmlformats.org/drawingml/2006/main">
            <a:off x="4400550" y="28003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F45B69"/>
                </a:solidFill>
                <a:latin typeface="Aptos"/>
                <a:ea typeface="Aptos"/>
                <a:cs typeface="Aptos"/>
              </a:defRPr>
            </a:pPr>
            <a:r>
              <a:rPr sz="1200" b="0">
                <a:solidFill>
                  <a:srgbClr val="F45B69"/>
                </a:solidFill>
                <a:latin typeface="Aptos"/>
                <a:ea typeface="Aptos"/>
                <a:cs typeface="Aptos"/>
              </a:rPr>
              <a:t>0%</a:t>
            </a:r>
          </a:p>
        </p:txBody>
      </p:sp>
      <p:sp>
        <p:nvSpPr>
          <p:cNvPr id="12" name="">
            <a:extLst xmlns:a="http://schemas.openxmlformats.org/drawingml/2006/main">
              <a:ext uri="{FF2B5EF4-FFF2-40B4-BE49-F238E27FC236}">
                <a16:creationId xmlns:a16="http://schemas.microsoft.com/office/drawing/2014/main" id="{E2233196-448C-4F67-B3CC-FCB72F8ADF2C}"/>
              </a:ext>
            </a:extLst>
          </p:cNvPr>
          <p:cNvSpPr>
            <a:spLocks xmlns:a="http://schemas.openxmlformats.org/drawingml/2006/main" noGrp="1"/>
          </p:cNvSpPr>
          <p:nvPr/>
        </p:nvSpPr>
        <p:spPr>
          <a:xfrm xmlns:a="http://schemas.openxmlformats.org/drawingml/2006/main">
            <a:off x="5048250" y="2819400"/>
            <a:ext cx="1428750" cy="228600"/>
          </a:xfrm>
          <a:prstGeom xmlns:a="http://schemas.openxmlformats.org/drawingml/2006/main" prst="rect">
            <a:avLst/>
          </a:prstGeom>
          <a:solidFill xmlns:a="http://schemas.openxmlformats.org/drawingml/2006/main">
            <a:srgbClr val="11261B"/>
          </a:solidFill>
          <a:ln xmlns:a="http://schemas.openxmlformats.org/drawingml/2006/main" w="14288">
            <a:solidFill>
              <a:srgbClr val="5EE39A"/>
            </a:solidFill>
            <a:prstDash val="solid"/>
          </a:ln>
        </p:spPr>
      </p:sp>
      <p:sp>
        <p:nvSpPr>
          <p:cNvPr id="13" name="">
            <a:extLst xmlns:a="http://schemas.openxmlformats.org/drawingml/2006/main">
              <a:ext uri="{FF2B5EF4-FFF2-40B4-BE49-F238E27FC236}">
                <a16:creationId xmlns:a16="http://schemas.microsoft.com/office/drawing/2014/main" id="{553ECAF1-F65F-4651-9395-300CB8A2086C}"/>
              </a:ext>
            </a:extLst>
          </p:cNvPr>
          <p:cNvSpPr>
            <a:spLocks xmlns:a="http://schemas.openxmlformats.org/drawingml/2006/main" noGrp="1"/>
          </p:cNvSpPr>
          <p:nvPr/>
        </p:nvSpPr>
        <p:spPr>
          <a:xfrm xmlns:a="http://schemas.openxmlformats.org/drawingml/2006/main">
            <a:off x="5048250" y="2819400"/>
            <a:ext cx="1428750" cy="2286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14" name="">
            <a:extLst xmlns:a="http://schemas.openxmlformats.org/drawingml/2006/main">
              <a:ext uri="{FF2B5EF4-FFF2-40B4-BE49-F238E27FC236}">
                <a16:creationId xmlns:a16="http://schemas.microsoft.com/office/drawing/2014/main" id="{43D831E6-6FF5-4A29-8F67-57B58142A022}"/>
              </a:ext>
            </a:extLst>
          </p:cNvPr>
          <p:cNvSpPr>
            <a:spLocks xmlns:a="http://schemas.openxmlformats.org/drawingml/2006/main" noGrp="1"/>
          </p:cNvSpPr>
          <p:nvPr/>
        </p:nvSpPr>
        <p:spPr>
          <a:xfrm xmlns:a="http://schemas.openxmlformats.org/drawingml/2006/main">
            <a:off x="6591300" y="28003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1">
                <a:solidFill>
                  <a:srgbClr val="5EE39A"/>
                </a:solidFill>
                <a:latin typeface="Aptos"/>
                <a:ea typeface="Aptos"/>
                <a:cs typeface="Aptos"/>
              </a:defRPr>
            </a:pPr>
            <a:r>
              <a:rPr sz="1200" b="1">
                <a:solidFill>
                  <a:srgbClr val="5EE39A"/>
                </a:solidFill>
                <a:latin typeface="Aptos"/>
                <a:ea typeface="Aptos"/>
                <a:cs typeface="Aptos"/>
              </a:rPr>
              <a:t>100%</a:t>
            </a:r>
          </a:p>
        </p:txBody>
      </p:sp>
      <p:sp>
        <p:nvSpPr>
          <p:cNvPr id="15" name="">
            <a:extLst xmlns:a="http://schemas.openxmlformats.org/drawingml/2006/main">
              <a:ext uri="{FF2B5EF4-FFF2-40B4-BE49-F238E27FC236}">
                <a16:creationId xmlns:a16="http://schemas.microsoft.com/office/drawing/2014/main" id="{2D78C713-09DD-48C5-A94A-1BCAB0A4A678}"/>
              </a:ext>
            </a:extLst>
          </p:cNvPr>
          <p:cNvSpPr>
            <a:spLocks xmlns:a="http://schemas.openxmlformats.org/drawingml/2006/main" noGrp="1"/>
          </p:cNvSpPr>
          <p:nvPr/>
        </p:nvSpPr>
        <p:spPr>
          <a:xfrm xmlns:a="http://schemas.openxmlformats.org/drawingml/2006/main">
            <a:off x="857250" y="32956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Tool recall</a:t>
            </a:r>
          </a:p>
        </p:txBody>
      </p:sp>
      <p:sp>
        <p:nvSpPr>
          <p:cNvPr id="16" name="">
            <a:extLst xmlns:a="http://schemas.openxmlformats.org/drawingml/2006/main">
              <a:ext uri="{FF2B5EF4-FFF2-40B4-BE49-F238E27FC236}">
                <a16:creationId xmlns:a16="http://schemas.microsoft.com/office/drawing/2014/main" id="{9607F61F-BF7C-4EDB-824B-5FA93D4A76C1}"/>
              </a:ext>
            </a:extLst>
          </p:cNvPr>
          <p:cNvSpPr>
            <a:spLocks xmlns:a="http://schemas.openxmlformats.org/drawingml/2006/main" noGrp="1"/>
          </p:cNvSpPr>
          <p:nvPr/>
        </p:nvSpPr>
        <p:spPr>
          <a:xfrm xmlns:a="http://schemas.openxmlformats.org/drawingml/2006/main">
            <a:off x="2857500" y="3295650"/>
            <a:ext cx="1428750" cy="228600"/>
          </a:xfrm>
          <a:prstGeom xmlns:a="http://schemas.openxmlformats.org/drawingml/2006/main" prst="rect">
            <a:avLst/>
          </a:prstGeom>
          <a:solidFill xmlns:a="http://schemas.openxmlformats.org/drawingml/2006/main">
            <a:srgbClr val="321217"/>
          </a:solidFill>
          <a:ln xmlns:a="http://schemas.openxmlformats.org/drawingml/2006/main" w="14288">
            <a:solidFill>
              <a:srgbClr val="F45B69"/>
            </a:solidFill>
            <a:prstDash val="solid"/>
          </a:ln>
        </p:spPr>
      </p:sp>
      <p:sp>
        <p:nvSpPr>
          <p:cNvPr id="17" name="">
            <a:extLst xmlns:a="http://schemas.openxmlformats.org/drawingml/2006/main">
              <a:ext uri="{FF2B5EF4-FFF2-40B4-BE49-F238E27FC236}">
                <a16:creationId xmlns:a16="http://schemas.microsoft.com/office/drawing/2014/main" id="{4DBB4C34-DDA6-4023-AA9E-65CDF4DFEA3E}"/>
              </a:ext>
            </a:extLst>
          </p:cNvPr>
          <p:cNvSpPr>
            <a:spLocks xmlns:a="http://schemas.openxmlformats.org/drawingml/2006/main" noGrp="1"/>
          </p:cNvSpPr>
          <p:nvPr/>
        </p:nvSpPr>
        <p:spPr>
          <a:xfrm xmlns:a="http://schemas.openxmlformats.org/drawingml/2006/main">
            <a:off x="4400550" y="327660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F45B69"/>
                </a:solidFill>
                <a:latin typeface="Aptos"/>
                <a:ea typeface="Aptos"/>
                <a:cs typeface="Aptos"/>
              </a:defRPr>
            </a:pPr>
            <a:r>
              <a:rPr sz="1200" b="0">
                <a:solidFill>
                  <a:srgbClr val="F45B69"/>
                </a:solidFill>
                <a:latin typeface="Aptos"/>
                <a:ea typeface="Aptos"/>
                <a:cs typeface="Aptos"/>
              </a:rPr>
              <a:t>0%</a:t>
            </a:r>
          </a:p>
        </p:txBody>
      </p:sp>
      <p:sp>
        <p:nvSpPr>
          <p:cNvPr id="18" name="">
            <a:extLst xmlns:a="http://schemas.openxmlformats.org/drawingml/2006/main">
              <a:ext uri="{FF2B5EF4-FFF2-40B4-BE49-F238E27FC236}">
                <a16:creationId xmlns:a16="http://schemas.microsoft.com/office/drawing/2014/main" id="{5DBEB953-1D02-4E9E-8C16-BA5D981DFCAB}"/>
              </a:ext>
            </a:extLst>
          </p:cNvPr>
          <p:cNvSpPr>
            <a:spLocks xmlns:a="http://schemas.openxmlformats.org/drawingml/2006/main" noGrp="1"/>
          </p:cNvSpPr>
          <p:nvPr/>
        </p:nvSpPr>
        <p:spPr>
          <a:xfrm xmlns:a="http://schemas.openxmlformats.org/drawingml/2006/main">
            <a:off x="5048250" y="3295650"/>
            <a:ext cx="1428750" cy="228600"/>
          </a:xfrm>
          <a:prstGeom xmlns:a="http://schemas.openxmlformats.org/drawingml/2006/main" prst="rect">
            <a:avLst/>
          </a:prstGeom>
          <a:solidFill xmlns:a="http://schemas.openxmlformats.org/drawingml/2006/main">
            <a:srgbClr val="11261B"/>
          </a:solidFill>
          <a:ln xmlns:a="http://schemas.openxmlformats.org/drawingml/2006/main" w="14288">
            <a:solidFill>
              <a:srgbClr val="5EE39A"/>
            </a:solidFill>
            <a:prstDash val="solid"/>
          </a:ln>
        </p:spPr>
      </p:sp>
      <p:sp>
        <p:nvSpPr>
          <p:cNvPr id="19" name="">
            <a:extLst xmlns:a="http://schemas.openxmlformats.org/drawingml/2006/main">
              <a:ext uri="{FF2B5EF4-FFF2-40B4-BE49-F238E27FC236}">
                <a16:creationId xmlns:a16="http://schemas.microsoft.com/office/drawing/2014/main" id="{769E8431-B636-46AD-9DB1-38F4470F97CB}"/>
              </a:ext>
            </a:extLst>
          </p:cNvPr>
          <p:cNvSpPr>
            <a:spLocks xmlns:a="http://schemas.openxmlformats.org/drawingml/2006/main" noGrp="1"/>
          </p:cNvSpPr>
          <p:nvPr/>
        </p:nvSpPr>
        <p:spPr>
          <a:xfrm xmlns:a="http://schemas.openxmlformats.org/drawingml/2006/main">
            <a:off x="5048250" y="3295650"/>
            <a:ext cx="1428750" cy="2286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20" name="">
            <a:extLst xmlns:a="http://schemas.openxmlformats.org/drawingml/2006/main">
              <a:ext uri="{FF2B5EF4-FFF2-40B4-BE49-F238E27FC236}">
                <a16:creationId xmlns:a16="http://schemas.microsoft.com/office/drawing/2014/main" id="{42BE5E78-F38E-4FBA-820F-38C23905894C}"/>
              </a:ext>
            </a:extLst>
          </p:cNvPr>
          <p:cNvSpPr>
            <a:spLocks xmlns:a="http://schemas.openxmlformats.org/drawingml/2006/main" noGrp="1"/>
          </p:cNvSpPr>
          <p:nvPr/>
        </p:nvSpPr>
        <p:spPr>
          <a:xfrm xmlns:a="http://schemas.openxmlformats.org/drawingml/2006/main">
            <a:off x="6591300" y="327660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1">
                <a:solidFill>
                  <a:srgbClr val="5EE39A"/>
                </a:solidFill>
                <a:latin typeface="Aptos"/>
                <a:ea typeface="Aptos"/>
                <a:cs typeface="Aptos"/>
              </a:defRPr>
            </a:pPr>
            <a:r>
              <a:rPr sz="1200" b="1">
                <a:solidFill>
                  <a:srgbClr val="5EE39A"/>
                </a:solidFill>
                <a:latin typeface="Aptos"/>
                <a:ea typeface="Aptos"/>
                <a:cs typeface="Aptos"/>
              </a:rPr>
              <a:t>100%</a:t>
            </a:r>
          </a:p>
        </p:txBody>
      </p:sp>
      <p:sp>
        <p:nvSpPr>
          <p:cNvPr id="21" name="">
            <a:extLst xmlns:a="http://schemas.openxmlformats.org/drawingml/2006/main">
              <a:ext uri="{FF2B5EF4-FFF2-40B4-BE49-F238E27FC236}">
                <a16:creationId xmlns:a16="http://schemas.microsoft.com/office/drawing/2014/main" id="{09625D10-BE35-46E3-A36A-45BCB5BE4BF3}"/>
              </a:ext>
            </a:extLst>
          </p:cNvPr>
          <p:cNvSpPr>
            <a:spLocks xmlns:a="http://schemas.openxmlformats.org/drawingml/2006/main" noGrp="1"/>
          </p:cNvSpPr>
          <p:nvPr/>
        </p:nvSpPr>
        <p:spPr>
          <a:xfrm xmlns:a="http://schemas.openxmlformats.org/drawingml/2006/main">
            <a:off x="857250" y="377190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Skill recall</a:t>
            </a:r>
          </a:p>
        </p:txBody>
      </p:sp>
      <p:sp>
        <p:nvSpPr>
          <p:cNvPr id="22" name="">
            <a:extLst xmlns:a="http://schemas.openxmlformats.org/drawingml/2006/main">
              <a:ext uri="{FF2B5EF4-FFF2-40B4-BE49-F238E27FC236}">
                <a16:creationId xmlns:a16="http://schemas.microsoft.com/office/drawing/2014/main" id="{915C62C1-9767-4E67-B849-BE7844625B50}"/>
              </a:ext>
            </a:extLst>
          </p:cNvPr>
          <p:cNvSpPr>
            <a:spLocks xmlns:a="http://schemas.openxmlformats.org/drawingml/2006/main" noGrp="1"/>
          </p:cNvSpPr>
          <p:nvPr/>
        </p:nvSpPr>
        <p:spPr>
          <a:xfrm xmlns:a="http://schemas.openxmlformats.org/drawingml/2006/main">
            <a:off x="2857500" y="3771900"/>
            <a:ext cx="1428750" cy="228600"/>
          </a:xfrm>
          <a:prstGeom xmlns:a="http://schemas.openxmlformats.org/drawingml/2006/main" prst="rect">
            <a:avLst/>
          </a:prstGeom>
          <a:solidFill xmlns:a="http://schemas.openxmlformats.org/drawingml/2006/main">
            <a:srgbClr val="321217"/>
          </a:solidFill>
          <a:ln xmlns:a="http://schemas.openxmlformats.org/drawingml/2006/main" w="14288">
            <a:solidFill>
              <a:srgbClr val="F45B69"/>
            </a:solidFill>
            <a:prstDash val="solid"/>
          </a:ln>
        </p:spPr>
      </p:sp>
      <p:sp>
        <p:nvSpPr>
          <p:cNvPr id="23" name="">
            <a:extLst xmlns:a="http://schemas.openxmlformats.org/drawingml/2006/main">
              <a:ext uri="{FF2B5EF4-FFF2-40B4-BE49-F238E27FC236}">
                <a16:creationId xmlns:a16="http://schemas.microsoft.com/office/drawing/2014/main" id="{25716362-7B98-4CBD-862A-ABFFAB70867B}"/>
              </a:ext>
            </a:extLst>
          </p:cNvPr>
          <p:cNvSpPr>
            <a:spLocks xmlns:a="http://schemas.openxmlformats.org/drawingml/2006/main" noGrp="1"/>
          </p:cNvSpPr>
          <p:nvPr/>
        </p:nvSpPr>
        <p:spPr>
          <a:xfrm xmlns:a="http://schemas.openxmlformats.org/drawingml/2006/main">
            <a:off x="4400550" y="37528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F45B69"/>
                </a:solidFill>
                <a:latin typeface="Aptos"/>
                <a:ea typeface="Aptos"/>
                <a:cs typeface="Aptos"/>
              </a:defRPr>
            </a:pPr>
            <a:r>
              <a:rPr sz="1200" b="0">
                <a:solidFill>
                  <a:srgbClr val="F45B69"/>
                </a:solidFill>
                <a:latin typeface="Aptos"/>
                <a:ea typeface="Aptos"/>
                <a:cs typeface="Aptos"/>
              </a:rPr>
              <a:t>0%</a:t>
            </a:r>
          </a:p>
        </p:txBody>
      </p:sp>
      <p:sp>
        <p:nvSpPr>
          <p:cNvPr id="24" name="">
            <a:extLst xmlns:a="http://schemas.openxmlformats.org/drawingml/2006/main">
              <a:ext uri="{FF2B5EF4-FFF2-40B4-BE49-F238E27FC236}">
                <a16:creationId xmlns:a16="http://schemas.microsoft.com/office/drawing/2014/main" id="{07E55677-84B3-4855-AE18-91A3BD7BC5D1}"/>
              </a:ext>
            </a:extLst>
          </p:cNvPr>
          <p:cNvSpPr>
            <a:spLocks xmlns:a="http://schemas.openxmlformats.org/drawingml/2006/main" noGrp="1"/>
          </p:cNvSpPr>
          <p:nvPr/>
        </p:nvSpPr>
        <p:spPr>
          <a:xfrm xmlns:a="http://schemas.openxmlformats.org/drawingml/2006/main">
            <a:off x="5048250" y="3771900"/>
            <a:ext cx="1428750" cy="228600"/>
          </a:xfrm>
          <a:prstGeom xmlns:a="http://schemas.openxmlformats.org/drawingml/2006/main" prst="rect">
            <a:avLst/>
          </a:prstGeom>
          <a:solidFill xmlns:a="http://schemas.openxmlformats.org/drawingml/2006/main">
            <a:srgbClr val="11261B"/>
          </a:solidFill>
          <a:ln xmlns:a="http://schemas.openxmlformats.org/drawingml/2006/main" w="14288">
            <a:solidFill>
              <a:srgbClr val="5EE39A"/>
            </a:solidFill>
            <a:prstDash val="solid"/>
          </a:ln>
        </p:spPr>
      </p:sp>
      <p:sp>
        <p:nvSpPr>
          <p:cNvPr id="25" name="">
            <a:extLst xmlns:a="http://schemas.openxmlformats.org/drawingml/2006/main">
              <a:ext uri="{FF2B5EF4-FFF2-40B4-BE49-F238E27FC236}">
                <a16:creationId xmlns:a16="http://schemas.microsoft.com/office/drawing/2014/main" id="{DBA8759D-5565-4002-9A5D-6C4B025A5D77}"/>
              </a:ext>
            </a:extLst>
          </p:cNvPr>
          <p:cNvSpPr>
            <a:spLocks xmlns:a="http://schemas.openxmlformats.org/drawingml/2006/main" noGrp="1"/>
          </p:cNvSpPr>
          <p:nvPr/>
        </p:nvSpPr>
        <p:spPr>
          <a:xfrm xmlns:a="http://schemas.openxmlformats.org/drawingml/2006/main">
            <a:off x="5048250" y="3771900"/>
            <a:ext cx="1428750" cy="2286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26" name="">
            <a:extLst xmlns:a="http://schemas.openxmlformats.org/drawingml/2006/main">
              <a:ext uri="{FF2B5EF4-FFF2-40B4-BE49-F238E27FC236}">
                <a16:creationId xmlns:a16="http://schemas.microsoft.com/office/drawing/2014/main" id="{3EC10A57-FFD6-47A2-8E82-7B7F9832596C}"/>
              </a:ext>
            </a:extLst>
          </p:cNvPr>
          <p:cNvSpPr>
            <a:spLocks xmlns:a="http://schemas.openxmlformats.org/drawingml/2006/main" noGrp="1"/>
          </p:cNvSpPr>
          <p:nvPr/>
        </p:nvSpPr>
        <p:spPr>
          <a:xfrm xmlns:a="http://schemas.openxmlformats.org/drawingml/2006/main">
            <a:off x="6591300" y="37528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1">
                <a:solidFill>
                  <a:srgbClr val="5EE39A"/>
                </a:solidFill>
                <a:latin typeface="Aptos"/>
                <a:ea typeface="Aptos"/>
                <a:cs typeface="Aptos"/>
              </a:defRPr>
            </a:pPr>
            <a:r>
              <a:rPr sz="1200" b="1">
                <a:solidFill>
                  <a:srgbClr val="5EE39A"/>
                </a:solidFill>
                <a:latin typeface="Aptos"/>
                <a:ea typeface="Aptos"/>
                <a:cs typeface="Aptos"/>
              </a:rPr>
              <a:t>100%</a:t>
            </a:r>
          </a:p>
        </p:txBody>
      </p:sp>
      <p:sp>
        <p:nvSpPr>
          <p:cNvPr id="27" name="">
            <a:extLst xmlns:a="http://schemas.openxmlformats.org/drawingml/2006/main">
              <a:ext uri="{FF2B5EF4-FFF2-40B4-BE49-F238E27FC236}">
                <a16:creationId xmlns:a16="http://schemas.microsoft.com/office/drawing/2014/main" id="{F9AA67E4-B7E5-45B8-9E18-1CB2CB0A8458}"/>
              </a:ext>
            </a:extLst>
          </p:cNvPr>
          <p:cNvSpPr>
            <a:spLocks xmlns:a="http://schemas.openxmlformats.org/drawingml/2006/main" noGrp="1"/>
          </p:cNvSpPr>
          <p:nvPr/>
        </p:nvSpPr>
        <p:spPr>
          <a:xfrm xmlns:a="http://schemas.openxmlformats.org/drawingml/2006/main">
            <a:off x="857250" y="42481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Citation recall</a:t>
            </a:r>
          </a:p>
        </p:txBody>
      </p:sp>
      <p:sp>
        <p:nvSpPr>
          <p:cNvPr id="28" name="">
            <a:extLst xmlns:a="http://schemas.openxmlformats.org/drawingml/2006/main">
              <a:ext uri="{FF2B5EF4-FFF2-40B4-BE49-F238E27FC236}">
                <a16:creationId xmlns:a16="http://schemas.microsoft.com/office/drawing/2014/main" id="{E86F78B1-BA32-49CB-AB5C-95ADC59ABC93}"/>
              </a:ext>
            </a:extLst>
          </p:cNvPr>
          <p:cNvSpPr>
            <a:spLocks xmlns:a="http://schemas.openxmlformats.org/drawingml/2006/main" noGrp="1"/>
          </p:cNvSpPr>
          <p:nvPr/>
        </p:nvSpPr>
        <p:spPr>
          <a:xfrm xmlns:a="http://schemas.openxmlformats.org/drawingml/2006/main">
            <a:off x="2857500" y="4248150"/>
            <a:ext cx="1428750" cy="228600"/>
          </a:xfrm>
          <a:prstGeom xmlns:a="http://schemas.openxmlformats.org/drawingml/2006/main" prst="rect">
            <a:avLst/>
          </a:prstGeom>
          <a:solidFill xmlns:a="http://schemas.openxmlformats.org/drawingml/2006/main">
            <a:srgbClr val="321217"/>
          </a:solidFill>
          <a:ln xmlns:a="http://schemas.openxmlformats.org/drawingml/2006/main" w="14288">
            <a:solidFill>
              <a:srgbClr val="F45B69"/>
            </a:solidFill>
            <a:prstDash val="solid"/>
          </a:ln>
        </p:spPr>
      </p:sp>
      <p:sp>
        <p:nvSpPr>
          <p:cNvPr id="29" name="">
            <a:extLst xmlns:a="http://schemas.openxmlformats.org/drawingml/2006/main">
              <a:ext uri="{FF2B5EF4-FFF2-40B4-BE49-F238E27FC236}">
                <a16:creationId xmlns:a16="http://schemas.microsoft.com/office/drawing/2014/main" id="{11DD1074-E043-43CD-8AD5-179F25CB739A}"/>
              </a:ext>
            </a:extLst>
          </p:cNvPr>
          <p:cNvSpPr>
            <a:spLocks xmlns:a="http://schemas.openxmlformats.org/drawingml/2006/main" noGrp="1"/>
          </p:cNvSpPr>
          <p:nvPr/>
        </p:nvSpPr>
        <p:spPr>
          <a:xfrm xmlns:a="http://schemas.openxmlformats.org/drawingml/2006/main">
            <a:off x="4400550" y="422910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F45B69"/>
                </a:solidFill>
                <a:latin typeface="Aptos"/>
                <a:ea typeface="Aptos"/>
                <a:cs typeface="Aptos"/>
              </a:defRPr>
            </a:pPr>
            <a:r>
              <a:rPr sz="1200" b="0">
                <a:solidFill>
                  <a:srgbClr val="F45B69"/>
                </a:solidFill>
                <a:latin typeface="Aptos"/>
                <a:ea typeface="Aptos"/>
                <a:cs typeface="Aptos"/>
              </a:rPr>
              <a:t>0%</a:t>
            </a:r>
          </a:p>
        </p:txBody>
      </p:sp>
      <p:sp>
        <p:nvSpPr>
          <p:cNvPr id="30" name="">
            <a:extLst xmlns:a="http://schemas.openxmlformats.org/drawingml/2006/main">
              <a:ext uri="{FF2B5EF4-FFF2-40B4-BE49-F238E27FC236}">
                <a16:creationId xmlns:a16="http://schemas.microsoft.com/office/drawing/2014/main" id="{F30586CF-E111-4596-A047-ED71B2FAC426}"/>
              </a:ext>
            </a:extLst>
          </p:cNvPr>
          <p:cNvSpPr>
            <a:spLocks xmlns:a="http://schemas.openxmlformats.org/drawingml/2006/main" noGrp="1"/>
          </p:cNvSpPr>
          <p:nvPr/>
        </p:nvSpPr>
        <p:spPr>
          <a:xfrm xmlns:a="http://schemas.openxmlformats.org/drawingml/2006/main">
            <a:off x="5048250" y="4248150"/>
            <a:ext cx="1428750" cy="228600"/>
          </a:xfrm>
          <a:prstGeom xmlns:a="http://schemas.openxmlformats.org/drawingml/2006/main" prst="rect">
            <a:avLst/>
          </a:prstGeom>
          <a:solidFill xmlns:a="http://schemas.openxmlformats.org/drawingml/2006/main">
            <a:srgbClr val="11261B"/>
          </a:solidFill>
          <a:ln xmlns:a="http://schemas.openxmlformats.org/drawingml/2006/main" w="14288">
            <a:solidFill>
              <a:srgbClr val="5EE39A"/>
            </a:solidFill>
            <a:prstDash val="solid"/>
          </a:ln>
        </p:spPr>
      </p:sp>
      <p:sp>
        <p:nvSpPr>
          <p:cNvPr id="31" name="">
            <a:extLst xmlns:a="http://schemas.openxmlformats.org/drawingml/2006/main">
              <a:ext uri="{FF2B5EF4-FFF2-40B4-BE49-F238E27FC236}">
                <a16:creationId xmlns:a16="http://schemas.microsoft.com/office/drawing/2014/main" id="{2663EC91-CA8C-40AF-AC57-89076809CA4E}"/>
              </a:ext>
            </a:extLst>
          </p:cNvPr>
          <p:cNvSpPr>
            <a:spLocks xmlns:a="http://schemas.openxmlformats.org/drawingml/2006/main" noGrp="1"/>
          </p:cNvSpPr>
          <p:nvPr/>
        </p:nvSpPr>
        <p:spPr>
          <a:xfrm xmlns:a="http://schemas.openxmlformats.org/drawingml/2006/main">
            <a:off x="5048250" y="4248150"/>
            <a:ext cx="1428750" cy="2286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32" name="">
            <a:extLst xmlns:a="http://schemas.openxmlformats.org/drawingml/2006/main">
              <a:ext uri="{FF2B5EF4-FFF2-40B4-BE49-F238E27FC236}">
                <a16:creationId xmlns:a16="http://schemas.microsoft.com/office/drawing/2014/main" id="{B3243E47-F364-4A42-AE93-FE8BAB7BCF69}"/>
              </a:ext>
            </a:extLst>
          </p:cNvPr>
          <p:cNvSpPr>
            <a:spLocks xmlns:a="http://schemas.openxmlformats.org/drawingml/2006/main" noGrp="1"/>
          </p:cNvSpPr>
          <p:nvPr/>
        </p:nvSpPr>
        <p:spPr>
          <a:xfrm xmlns:a="http://schemas.openxmlformats.org/drawingml/2006/main">
            <a:off x="6591300" y="422910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1">
                <a:solidFill>
                  <a:srgbClr val="5EE39A"/>
                </a:solidFill>
                <a:latin typeface="Aptos"/>
                <a:ea typeface="Aptos"/>
                <a:cs typeface="Aptos"/>
              </a:defRPr>
            </a:pPr>
            <a:r>
              <a:rPr sz="1200" b="1">
                <a:solidFill>
                  <a:srgbClr val="5EE39A"/>
                </a:solidFill>
                <a:latin typeface="Aptos"/>
                <a:ea typeface="Aptos"/>
                <a:cs typeface="Aptos"/>
              </a:rPr>
              <a:t>100%</a:t>
            </a:r>
          </a:p>
        </p:txBody>
      </p:sp>
      <p:sp>
        <p:nvSpPr>
          <p:cNvPr id="33" name="">
            <a:extLst xmlns:a="http://schemas.openxmlformats.org/drawingml/2006/main">
              <a:ext uri="{FF2B5EF4-FFF2-40B4-BE49-F238E27FC236}">
                <a16:creationId xmlns:a16="http://schemas.microsoft.com/office/drawing/2014/main" id="{76C37F73-B571-4EC8-AAAA-8EE0362111DE}"/>
              </a:ext>
            </a:extLst>
          </p:cNvPr>
          <p:cNvSpPr>
            <a:spLocks xmlns:a="http://schemas.openxmlformats.org/drawingml/2006/main" noGrp="1"/>
          </p:cNvSpPr>
          <p:nvPr/>
        </p:nvSpPr>
        <p:spPr>
          <a:xfrm xmlns:a="http://schemas.openxmlformats.org/drawingml/2006/main">
            <a:off x="857250" y="472440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Source support</a:t>
            </a:r>
          </a:p>
        </p:txBody>
      </p:sp>
      <p:sp>
        <p:nvSpPr>
          <p:cNvPr id="34" name="">
            <a:extLst xmlns:a="http://schemas.openxmlformats.org/drawingml/2006/main">
              <a:ext uri="{FF2B5EF4-FFF2-40B4-BE49-F238E27FC236}">
                <a16:creationId xmlns:a16="http://schemas.microsoft.com/office/drawing/2014/main" id="{5A78F84A-6434-422F-8D2A-CBCF3C5EEC83}"/>
              </a:ext>
            </a:extLst>
          </p:cNvPr>
          <p:cNvSpPr>
            <a:spLocks xmlns:a="http://schemas.openxmlformats.org/drawingml/2006/main" noGrp="1"/>
          </p:cNvSpPr>
          <p:nvPr/>
        </p:nvSpPr>
        <p:spPr>
          <a:xfrm xmlns:a="http://schemas.openxmlformats.org/drawingml/2006/main">
            <a:off x="2857500" y="4724400"/>
            <a:ext cx="1428750" cy="228600"/>
          </a:xfrm>
          <a:prstGeom xmlns:a="http://schemas.openxmlformats.org/drawingml/2006/main" prst="rect">
            <a:avLst/>
          </a:prstGeom>
          <a:solidFill xmlns:a="http://schemas.openxmlformats.org/drawingml/2006/main">
            <a:srgbClr val="321217"/>
          </a:solidFill>
          <a:ln xmlns:a="http://schemas.openxmlformats.org/drawingml/2006/main" w="14288">
            <a:solidFill>
              <a:srgbClr val="F45B69"/>
            </a:solidFill>
            <a:prstDash val="solid"/>
          </a:ln>
        </p:spPr>
      </p:sp>
      <p:sp>
        <p:nvSpPr>
          <p:cNvPr id="35" name="">
            <a:extLst xmlns:a="http://schemas.openxmlformats.org/drawingml/2006/main">
              <a:ext uri="{FF2B5EF4-FFF2-40B4-BE49-F238E27FC236}">
                <a16:creationId xmlns:a16="http://schemas.microsoft.com/office/drawing/2014/main" id="{862FE5DE-71E5-4F50-8AF1-4C1B34BCB39A}"/>
              </a:ext>
            </a:extLst>
          </p:cNvPr>
          <p:cNvSpPr>
            <a:spLocks xmlns:a="http://schemas.openxmlformats.org/drawingml/2006/main" noGrp="1"/>
          </p:cNvSpPr>
          <p:nvPr/>
        </p:nvSpPr>
        <p:spPr>
          <a:xfrm xmlns:a="http://schemas.openxmlformats.org/drawingml/2006/main">
            <a:off x="4400550" y="47053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F45B69"/>
                </a:solidFill>
                <a:latin typeface="Aptos"/>
                <a:ea typeface="Aptos"/>
                <a:cs typeface="Aptos"/>
              </a:defRPr>
            </a:pPr>
            <a:r>
              <a:rPr sz="1200" b="0">
                <a:solidFill>
                  <a:srgbClr val="F45B69"/>
                </a:solidFill>
                <a:latin typeface="Aptos"/>
                <a:ea typeface="Aptos"/>
                <a:cs typeface="Aptos"/>
              </a:rPr>
              <a:t>0%</a:t>
            </a:r>
          </a:p>
        </p:txBody>
      </p:sp>
      <p:sp>
        <p:nvSpPr>
          <p:cNvPr id="36" name="">
            <a:extLst xmlns:a="http://schemas.openxmlformats.org/drawingml/2006/main">
              <a:ext uri="{FF2B5EF4-FFF2-40B4-BE49-F238E27FC236}">
                <a16:creationId xmlns:a16="http://schemas.microsoft.com/office/drawing/2014/main" id="{0DEC6207-0FB9-4207-9EB7-9FA83E23F884}"/>
              </a:ext>
            </a:extLst>
          </p:cNvPr>
          <p:cNvSpPr>
            <a:spLocks xmlns:a="http://schemas.openxmlformats.org/drawingml/2006/main" noGrp="1"/>
          </p:cNvSpPr>
          <p:nvPr/>
        </p:nvSpPr>
        <p:spPr>
          <a:xfrm xmlns:a="http://schemas.openxmlformats.org/drawingml/2006/main">
            <a:off x="5048250" y="4724400"/>
            <a:ext cx="1428750" cy="228600"/>
          </a:xfrm>
          <a:prstGeom xmlns:a="http://schemas.openxmlformats.org/drawingml/2006/main" prst="rect">
            <a:avLst/>
          </a:prstGeom>
          <a:solidFill xmlns:a="http://schemas.openxmlformats.org/drawingml/2006/main">
            <a:srgbClr val="11261B"/>
          </a:solidFill>
          <a:ln xmlns:a="http://schemas.openxmlformats.org/drawingml/2006/main" w="14288">
            <a:solidFill>
              <a:srgbClr val="5EE39A"/>
            </a:solidFill>
            <a:prstDash val="solid"/>
          </a:ln>
        </p:spPr>
      </p:sp>
      <p:sp>
        <p:nvSpPr>
          <p:cNvPr id="37" name="">
            <a:extLst xmlns:a="http://schemas.openxmlformats.org/drawingml/2006/main">
              <a:ext uri="{FF2B5EF4-FFF2-40B4-BE49-F238E27FC236}">
                <a16:creationId xmlns:a16="http://schemas.microsoft.com/office/drawing/2014/main" id="{47B43A4F-82A8-4BD4-9140-958E68FB3C09}"/>
              </a:ext>
            </a:extLst>
          </p:cNvPr>
          <p:cNvSpPr>
            <a:spLocks xmlns:a="http://schemas.openxmlformats.org/drawingml/2006/main" noGrp="1"/>
          </p:cNvSpPr>
          <p:nvPr/>
        </p:nvSpPr>
        <p:spPr>
          <a:xfrm xmlns:a="http://schemas.openxmlformats.org/drawingml/2006/main">
            <a:off x="5048250" y="4724400"/>
            <a:ext cx="1428750" cy="2286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38" name="">
            <a:extLst xmlns:a="http://schemas.openxmlformats.org/drawingml/2006/main">
              <a:ext uri="{FF2B5EF4-FFF2-40B4-BE49-F238E27FC236}">
                <a16:creationId xmlns:a16="http://schemas.microsoft.com/office/drawing/2014/main" id="{651C00B1-7FA9-4012-B33B-A8B63DD379AA}"/>
              </a:ext>
            </a:extLst>
          </p:cNvPr>
          <p:cNvSpPr>
            <a:spLocks xmlns:a="http://schemas.openxmlformats.org/drawingml/2006/main" noGrp="1"/>
          </p:cNvSpPr>
          <p:nvPr/>
        </p:nvSpPr>
        <p:spPr>
          <a:xfrm xmlns:a="http://schemas.openxmlformats.org/drawingml/2006/main">
            <a:off x="6591300" y="47053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1">
                <a:solidFill>
                  <a:srgbClr val="5EE39A"/>
                </a:solidFill>
                <a:latin typeface="Aptos"/>
                <a:ea typeface="Aptos"/>
                <a:cs typeface="Aptos"/>
              </a:defRPr>
            </a:pPr>
            <a:r>
              <a:rPr sz="1200" b="1">
                <a:solidFill>
                  <a:srgbClr val="5EE39A"/>
                </a:solidFill>
                <a:latin typeface="Aptos"/>
                <a:ea typeface="Aptos"/>
                <a:cs typeface="Aptos"/>
              </a:rPr>
              <a:t>100%</a:t>
            </a:r>
          </a:p>
        </p:txBody>
      </p:sp>
      <p:sp>
        <p:nvSpPr>
          <p:cNvPr id="39" name="">
            <a:extLst xmlns:a="http://schemas.openxmlformats.org/drawingml/2006/main">
              <a:ext uri="{FF2B5EF4-FFF2-40B4-BE49-F238E27FC236}">
                <a16:creationId xmlns:a16="http://schemas.microsoft.com/office/drawing/2014/main" id="{E8FA2FEB-0ECB-4BB9-906A-0EA3E8BAE317}"/>
              </a:ext>
            </a:extLst>
          </p:cNvPr>
          <p:cNvSpPr>
            <a:spLocks xmlns:a="http://schemas.openxmlformats.org/drawingml/2006/main" noGrp="1"/>
          </p:cNvSpPr>
          <p:nvPr/>
        </p:nvSpPr>
        <p:spPr>
          <a:xfrm xmlns:a="http://schemas.openxmlformats.org/drawingml/2006/main">
            <a:off x="857250" y="52006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6F1DF"/>
                </a:solidFill>
                <a:latin typeface="Aptos"/>
                <a:ea typeface="Aptos"/>
                <a:cs typeface="Aptos"/>
              </a:defRPr>
            </a:pPr>
            <a:r>
              <a:rPr sz="1350" b="1">
                <a:solidFill>
                  <a:srgbClr val="F6F1DF"/>
                </a:solidFill>
                <a:latin typeface="Aptos"/>
                <a:ea typeface="Aptos"/>
                <a:cs typeface="Aptos"/>
              </a:rPr>
              <a:t>Probability sanity</a:t>
            </a:r>
          </a:p>
        </p:txBody>
      </p:sp>
      <p:sp>
        <p:nvSpPr>
          <p:cNvPr id="40" name="">
            <a:extLst xmlns:a="http://schemas.openxmlformats.org/drawingml/2006/main">
              <a:ext uri="{FF2B5EF4-FFF2-40B4-BE49-F238E27FC236}">
                <a16:creationId xmlns:a16="http://schemas.microsoft.com/office/drawing/2014/main" id="{1DE70921-B120-4D38-A62A-BF948E2842E7}"/>
              </a:ext>
            </a:extLst>
          </p:cNvPr>
          <p:cNvSpPr>
            <a:spLocks xmlns:a="http://schemas.openxmlformats.org/drawingml/2006/main" noGrp="1"/>
          </p:cNvSpPr>
          <p:nvPr/>
        </p:nvSpPr>
        <p:spPr>
          <a:xfrm xmlns:a="http://schemas.openxmlformats.org/drawingml/2006/main">
            <a:off x="2857500" y="5200650"/>
            <a:ext cx="1428750" cy="228600"/>
          </a:xfrm>
          <a:prstGeom xmlns:a="http://schemas.openxmlformats.org/drawingml/2006/main" prst="rect">
            <a:avLst/>
          </a:prstGeom>
          <a:solidFill xmlns:a="http://schemas.openxmlformats.org/drawingml/2006/main">
            <a:srgbClr val="321217"/>
          </a:solidFill>
          <a:ln xmlns:a="http://schemas.openxmlformats.org/drawingml/2006/main" w="14288">
            <a:solidFill>
              <a:srgbClr val="F45B69"/>
            </a:solidFill>
            <a:prstDash val="solid"/>
          </a:ln>
        </p:spPr>
      </p:sp>
      <p:sp>
        <p:nvSpPr>
          <p:cNvPr id="41" name="">
            <a:extLst xmlns:a="http://schemas.openxmlformats.org/drawingml/2006/main">
              <a:ext uri="{FF2B5EF4-FFF2-40B4-BE49-F238E27FC236}">
                <a16:creationId xmlns:a16="http://schemas.microsoft.com/office/drawing/2014/main" id="{B172052E-A45F-4CDB-BBAB-B4121C5ED3C6}"/>
              </a:ext>
            </a:extLst>
          </p:cNvPr>
          <p:cNvSpPr>
            <a:spLocks xmlns:a="http://schemas.openxmlformats.org/drawingml/2006/main" noGrp="1"/>
          </p:cNvSpPr>
          <p:nvPr/>
        </p:nvSpPr>
        <p:spPr>
          <a:xfrm xmlns:a="http://schemas.openxmlformats.org/drawingml/2006/main">
            <a:off x="2857500" y="5200650"/>
            <a:ext cx="612934" cy="228600"/>
          </a:xfrm>
          <a:prstGeom xmlns:a="http://schemas.openxmlformats.org/drawingml/2006/main" prst="rect">
            <a:avLst/>
          </a:prstGeom>
          <a:solidFill xmlns:a="http://schemas.openxmlformats.org/drawingml/2006/main">
            <a:srgbClr val="F45B69"/>
          </a:solidFill>
          <a:ln xmlns:a="http://schemas.openxmlformats.org/drawingml/2006/main" w="14288">
            <a:solidFill>
              <a:srgbClr val="F45B69"/>
            </a:solidFill>
            <a:prstDash val="solid"/>
          </a:ln>
        </p:spPr>
      </p:sp>
      <p:sp>
        <p:nvSpPr>
          <p:cNvPr id="42" name="">
            <a:extLst xmlns:a="http://schemas.openxmlformats.org/drawingml/2006/main">
              <a:ext uri="{FF2B5EF4-FFF2-40B4-BE49-F238E27FC236}">
                <a16:creationId xmlns:a16="http://schemas.microsoft.com/office/drawing/2014/main" id="{49630578-B281-495A-9A0F-6E26BBB65E7F}"/>
              </a:ext>
            </a:extLst>
          </p:cNvPr>
          <p:cNvSpPr>
            <a:spLocks xmlns:a="http://schemas.openxmlformats.org/drawingml/2006/main" noGrp="1"/>
          </p:cNvSpPr>
          <p:nvPr/>
        </p:nvSpPr>
        <p:spPr>
          <a:xfrm xmlns:a="http://schemas.openxmlformats.org/drawingml/2006/main">
            <a:off x="4400550" y="518160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0">
                <a:solidFill>
                  <a:srgbClr val="F45B69"/>
                </a:solidFill>
                <a:latin typeface="Aptos"/>
                <a:ea typeface="Aptos"/>
                <a:cs typeface="Aptos"/>
              </a:defRPr>
            </a:pPr>
            <a:r>
              <a:rPr sz="1200" b="0">
                <a:solidFill>
                  <a:srgbClr val="F45B69"/>
                </a:solidFill>
                <a:latin typeface="Aptos"/>
                <a:ea typeface="Aptos"/>
                <a:cs typeface="Aptos"/>
              </a:rPr>
              <a:t>42.9%</a:t>
            </a:r>
          </a:p>
        </p:txBody>
      </p:sp>
      <p:sp>
        <p:nvSpPr>
          <p:cNvPr id="43" name="">
            <a:extLst xmlns:a="http://schemas.openxmlformats.org/drawingml/2006/main">
              <a:ext uri="{FF2B5EF4-FFF2-40B4-BE49-F238E27FC236}">
                <a16:creationId xmlns:a16="http://schemas.microsoft.com/office/drawing/2014/main" id="{4398D6A3-7EE2-44C9-8267-E03F5F2BF2B0}"/>
              </a:ext>
            </a:extLst>
          </p:cNvPr>
          <p:cNvSpPr>
            <a:spLocks xmlns:a="http://schemas.openxmlformats.org/drawingml/2006/main" noGrp="1"/>
          </p:cNvSpPr>
          <p:nvPr/>
        </p:nvSpPr>
        <p:spPr>
          <a:xfrm xmlns:a="http://schemas.openxmlformats.org/drawingml/2006/main">
            <a:off x="5048250" y="5200650"/>
            <a:ext cx="1428750" cy="228600"/>
          </a:xfrm>
          <a:prstGeom xmlns:a="http://schemas.openxmlformats.org/drawingml/2006/main" prst="rect">
            <a:avLst/>
          </a:prstGeom>
          <a:solidFill xmlns:a="http://schemas.openxmlformats.org/drawingml/2006/main">
            <a:srgbClr val="11261B"/>
          </a:solidFill>
          <a:ln xmlns:a="http://schemas.openxmlformats.org/drawingml/2006/main" w="14288">
            <a:solidFill>
              <a:srgbClr val="5EE39A"/>
            </a:solidFill>
            <a:prstDash val="solid"/>
          </a:ln>
        </p:spPr>
      </p:sp>
      <p:sp>
        <p:nvSpPr>
          <p:cNvPr id="44" name="">
            <a:extLst xmlns:a="http://schemas.openxmlformats.org/drawingml/2006/main">
              <a:ext uri="{FF2B5EF4-FFF2-40B4-BE49-F238E27FC236}">
                <a16:creationId xmlns:a16="http://schemas.microsoft.com/office/drawing/2014/main" id="{20715A2F-C040-497A-AEA1-A5D1ADAFE6AE}"/>
              </a:ext>
            </a:extLst>
          </p:cNvPr>
          <p:cNvSpPr>
            <a:spLocks xmlns:a="http://schemas.openxmlformats.org/drawingml/2006/main" noGrp="1"/>
          </p:cNvSpPr>
          <p:nvPr/>
        </p:nvSpPr>
        <p:spPr>
          <a:xfrm xmlns:a="http://schemas.openxmlformats.org/drawingml/2006/main">
            <a:off x="5048250" y="5200650"/>
            <a:ext cx="1428750" cy="228600"/>
          </a:xfrm>
          <a:prstGeom xmlns:a="http://schemas.openxmlformats.org/drawingml/2006/main" prst="rect">
            <a:avLst/>
          </a:prstGeom>
          <a:solidFill xmlns:a="http://schemas.openxmlformats.org/drawingml/2006/main">
            <a:srgbClr val="5EE39A"/>
          </a:solidFill>
          <a:ln xmlns:a="http://schemas.openxmlformats.org/drawingml/2006/main" w="14288">
            <a:solidFill>
              <a:srgbClr val="5EE39A"/>
            </a:solidFill>
            <a:prstDash val="solid"/>
          </a:ln>
        </p:spPr>
      </p:sp>
      <p:sp>
        <p:nvSpPr>
          <p:cNvPr id="45" name="">
            <a:extLst xmlns:a="http://schemas.openxmlformats.org/drawingml/2006/main">
              <a:ext uri="{FF2B5EF4-FFF2-40B4-BE49-F238E27FC236}">
                <a16:creationId xmlns:a16="http://schemas.microsoft.com/office/drawing/2014/main" id="{916746FD-BDB8-4DC4-A624-932D4D21C6F4}"/>
              </a:ext>
            </a:extLst>
          </p:cNvPr>
          <p:cNvSpPr>
            <a:spLocks xmlns:a="http://schemas.openxmlformats.org/drawingml/2006/main" noGrp="1"/>
          </p:cNvSpPr>
          <p:nvPr/>
        </p:nvSpPr>
        <p:spPr>
          <a:xfrm xmlns:a="http://schemas.openxmlformats.org/drawingml/2006/main">
            <a:off x="6591300" y="518160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200" b="1">
                <a:solidFill>
                  <a:srgbClr val="5EE39A"/>
                </a:solidFill>
                <a:latin typeface="Aptos"/>
                <a:ea typeface="Aptos"/>
                <a:cs typeface="Aptos"/>
              </a:defRPr>
            </a:pPr>
            <a:r>
              <a:rPr sz="1200" b="1">
                <a:solidFill>
                  <a:srgbClr val="5EE39A"/>
                </a:solidFill>
                <a:latin typeface="Aptos"/>
                <a:ea typeface="Aptos"/>
                <a:cs typeface="Aptos"/>
              </a:rPr>
              <a:t>100%</a:t>
            </a:r>
          </a:p>
        </p:txBody>
      </p:sp>
      <p:sp>
        <p:nvSpPr>
          <p:cNvPr id="46" name="">
            <a:extLst xmlns:a="http://schemas.openxmlformats.org/drawingml/2006/main">
              <a:ext uri="{FF2B5EF4-FFF2-40B4-BE49-F238E27FC236}">
                <a16:creationId xmlns:a16="http://schemas.microsoft.com/office/drawing/2014/main" id="{8EE75EC9-EDE9-4CDD-8A0E-5CC93EDE5340}"/>
              </a:ext>
            </a:extLst>
          </p:cNvPr>
          <p:cNvSpPr>
            <a:spLocks xmlns:a="http://schemas.openxmlformats.org/drawingml/2006/main" noGrp="1"/>
          </p:cNvSpPr>
          <p:nvPr/>
        </p:nvSpPr>
        <p:spPr>
          <a:xfrm xmlns:a="http://schemas.openxmlformats.org/drawingml/2006/main">
            <a:off x="8096250" y="3028950"/>
            <a:ext cx="2381250" cy="1428750"/>
          </a:xfrm>
          <a:prstGeom xmlns:a="http://schemas.openxmlformats.org/drawingml/2006/main" prst="rect">
            <a:avLst/>
          </a:prstGeom>
          <a:solidFill xmlns:a="http://schemas.openxmlformats.org/drawingml/2006/main">
            <a:srgbClr val="101C16"/>
          </a:solidFill>
          <a:ln xmlns:a="http://schemas.openxmlformats.org/drawingml/2006/main" w="14288">
            <a:solidFill>
              <a:srgbClr val="5EE39A"/>
            </a:solidFill>
            <a:prstDash val="solid"/>
          </a:ln>
        </p:spPr>
      </p:sp>
      <p:sp>
        <p:nvSpPr>
          <p:cNvPr id="47" name="">
            <a:extLst xmlns:a="http://schemas.openxmlformats.org/drawingml/2006/main">
              <a:ext uri="{FF2B5EF4-FFF2-40B4-BE49-F238E27FC236}">
                <a16:creationId xmlns:a16="http://schemas.microsoft.com/office/drawing/2014/main" id="{7E3A432E-26E6-4255-B929-E13FEF56EF93}"/>
              </a:ext>
            </a:extLst>
          </p:cNvPr>
          <p:cNvSpPr>
            <a:spLocks xmlns:a="http://schemas.openxmlformats.org/drawingml/2006/main" noGrp="1"/>
          </p:cNvSpPr>
          <p:nvPr/>
        </p:nvSpPr>
        <p:spPr>
          <a:xfrm xmlns:a="http://schemas.openxmlformats.org/drawingml/2006/main">
            <a:off x="8401050" y="3333750"/>
            <a:ext cx="1714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900" b="1">
                <a:solidFill>
                  <a:srgbClr val="5EE39A"/>
                </a:solidFill>
                <a:latin typeface="Aptos"/>
                <a:ea typeface="Aptos"/>
                <a:cs typeface="Aptos"/>
              </a:defRPr>
            </a:pPr>
            <a:r>
              <a:rPr sz="3900" b="1">
                <a:solidFill>
                  <a:srgbClr val="5EE39A"/>
                </a:solidFill>
                <a:latin typeface="Aptos"/>
                <a:ea typeface="Aptos"/>
                <a:cs typeface="Aptos"/>
              </a:rPr>
              <a:t>14 / 14</a:t>
            </a:r>
          </a:p>
        </p:txBody>
      </p:sp>
      <p:sp>
        <p:nvSpPr>
          <p:cNvPr id="48" name="">
            <a:extLst xmlns:a="http://schemas.openxmlformats.org/drawingml/2006/main">
              <a:ext uri="{FF2B5EF4-FFF2-40B4-BE49-F238E27FC236}">
                <a16:creationId xmlns:a16="http://schemas.microsoft.com/office/drawing/2014/main" id="{9C374D5E-CEA2-43C1-B716-2A752F3F3894}"/>
              </a:ext>
            </a:extLst>
          </p:cNvPr>
          <p:cNvSpPr>
            <a:spLocks xmlns:a="http://schemas.openxmlformats.org/drawingml/2006/main" noGrp="1"/>
          </p:cNvSpPr>
          <p:nvPr/>
        </p:nvSpPr>
        <p:spPr>
          <a:xfrm xmlns:a="http://schemas.openxmlformats.org/drawingml/2006/main">
            <a:off x="8401050" y="392430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F6F1DF"/>
                </a:solidFill>
                <a:latin typeface="Aptos"/>
                <a:ea typeface="Aptos"/>
                <a:cs typeface="Aptos"/>
              </a:defRPr>
            </a:pPr>
            <a:r>
              <a:rPr sz="1350" b="0">
                <a:solidFill>
                  <a:srgbClr val="F6F1DF"/>
                </a:solidFill>
                <a:latin typeface="Aptos"/>
                <a:ea typeface="Aptos"/>
                <a:cs typeface="Aptos"/>
              </a:rPr>
              <a:t>grounded cases passed</a:t>
            </a:r>
          </a:p>
        </p:txBody>
      </p:sp>
      <p:sp>
        <p:nvSpPr>
          <p:cNvPr id="49" name="">
            <a:extLst xmlns:a="http://schemas.openxmlformats.org/drawingml/2006/main">
              <a:ext uri="{FF2B5EF4-FFF2-40B4-BE49-F238E27FC236}">
                <a16:creationId xmlns:a16="http://schemas.microsoft.com/office/drawing/2014/main" id="{F1F396B2-62AC-44E5-9967-02B24BC9EE3D}"/>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15</a:t>
            </a:r>
          </a:p>
        </p:txBody>
      </p:sp>
      <p:sp>
        <p:nvSpPr>
          <p:cNvPr id="50" name="">
            <a:extLst xmlns:a="http://schemas.openxmlformats.org/drawingml/2006/main">
              <a:ext uri="{FF2B5EF4-FFF2-40B4-BE49-F238E27FC236}">
                <a16:creationId xmlns:a16="http://schemas.microsoft.com/office/drawing/2014/main" id="{07B8222B-8D90-4342-BA8A-4ABE27A7F1A2}"/>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Data: reports/summary_baseline_mock.json and summary_grounded_mock.json</a:t>
            </a:r>
          </a:p>
        </p:txBody>
      </p:sp>
    </p:spTree>
    <p:extLst>
      <p:ext uri="{BB962C8B-B14F-4D97-AF65-F5344CB8AC3E}">
        <p14:creationId xmlns:p14="http://schemas.microsoft.com/office/powerpoint/2010/main" val="19407591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b1b299587ba444d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65FD9A-0012-4AE1-B10E-B5A596367D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61961"/>
            </a:srgbClr>
          </a:solidFill>
          <a:ln xmlns:a="http://schemas.openxmlformats.org/drawingml/2006/main" w="14288">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8714F06-6E23-4F2B-ABBA-3C482391CB81}"/>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4" name="kicker-label">
            <a:extLst xmlns:a="http://schemas.openxmlformats.org/drawingml/2006/main">
              <a:ext uri="{FF2B5EF4-FFF2-40B4-BE49-F238E27FC236}">
                <a16:creationId xmlns:a16="http://schemas.microsoft.com/office/drawing/2014/main" id="{B267FFC5-0F4A-4E29-AFD1-FE74DD5A320F}"/>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5" name="">
            <a:extLst xmlns:a="http://schemas.openxmlformats.org/drawingml/2006/main">
              <a:ext uri="{FF2B5EF4-FFF2-40B4-BE49-F238E27FC236}">
                <a16:creationId xmlns:a16="http://schemas.microsoft.com/office/drawing/2014/main" id="{FE918F4F-1170-4C1D-B921-B98E4302748C}"/>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25:30</a:t>
            </a:r>
          </a:p>
        </p:txBody>
      </p:sp>
      <p:sp>
        <p:nvSpPr>
          <p:cNvPr id="6" name="">
            <a:extLst xmlns:a="http://schemas.openxmlformats.org/drawingml/2006/main">
              <a:ext uri="{FF2B5EF4-FFF2-40B4-BE49-F238E27FC236}">
                <a16:creationId xmlns:a16="http://schemas.microsoft.com/office/drawing/2014/main" id="{0AB251CD-6AC2-45CD-9F21-E75E7E9BC711}"/>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A source-aware agent is honest about what it does not know.</a:t>
            </a:r>
          </a:p>
        </p:txBody>
      </p:sp>
      <p:sp>
        <p:nvSpPr>
          <p:cNvPr id="7" name="">
            <a:extLst xmlns:a="http://schemas.openxmlformats.org/drawingml/2006/main">
              <a:ext uri="{FF2B5EF4-FFF2-40B4-BE49-F238E27FC236}">
                <a16:creationId xmlns:a16="http://schemas.microsoft.com/office/drawing/2014/main" id="{94092795-C995-440A-B0AA-3D1C7301A928}"/>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Coverage is not the same as readiness for public predictions.</a:t>
            </a:r>
          </a:p>
        </p:txBody>
      </p:sp>
      <p:sp>
        <p:nvSpPr>
          <p:cNvPr id="8" name="">
            <a:extLst xmlns:a="http://schemas.openxmlformats.org/drawingml/2006/main">
              <a:ext uri="{FF2B5EF4-FFF2-40B4-BE49-F238E27FC236}">
                <a16:creationId xmlns:a16="http://schemas.microsoft.com/office/drawing/2014/main" id="{1E718615-E3E5-4047-8E8C-7ECD30EC6BEE}"/>
              </a:ext>
            </a:extLst>
          </p:cNvPr>
          <p:cNvSpPr>
            <a:spLocks xmlns:a="http://schemas.openxmlformats.org/drawingml/2006/main" noGrp="1"/>
          </p:cNvSpPr>
          <p:nvPr/>
        </p:nvSpPr>
        <p:spPr>
          <a:xfrm xmlns:a="http://schemas.openxmlformats.org/drawingml/2006/main">
            <a:off x="876300" y="2381250"/>
            <a:ext cx="6572250" cy="3619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5EE39A"/>
            </a:solidFill>
            <a:prstDash val="solid"/>
          </a:ln>
        </p:spPr>
      </p:sp>
      <p:sp>
        <p:nvSpPr>
          <p:cNvPr id="9" name="">
            <a:extLst xmlns:a="http://schemas.openxmlformats.org/drawingml/2006/main">
              <a:ext uri="{FF2B5EF4-FFF2-40B4-BE49-F238E27FC236}">
                <a16:creationId xmlns:a16="http://schemas.microsoft.com/office/drawing/2014/main" id="{5F04D8FB-AB06-4F8B-81B0-906CD27F731F}"/>
              </a:ext>
            </a:extLst>
          </p:cNvPr>
          <p:cNvSpPr>
            <a:spLocks xmlns:a="http://schemas.openxmlformats.org/drawingml/2006/main" noGrp="1"/>
          </p:cNvSpPr>
          <p:nvPr/>
        </p:nvSpPr>
        <p:spPr>
          <a:xfrm xmlns:a="http://schemas.openxmlformats.org/drawingml/2006/main">
            <a:off x="1085850" y="24574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5EE39A"/>
                </a:solidFill>
                <a:latin typeface="Aptos"/>
                <a:ea typeface="Aptos"/>
                <a:cs typeface="Aptos"/>
              </a:defRPr>
            </a:pPr>
            <a:r>
              <a:rPr sz="1350" b="1">
                <a:solidFill>
                  <a:srgbClr val="5EE39A"/>
                </a:solidFill>
                <a:latin typeface="Aptos"/>
                <a:ea typeface="Aptos"/>
                <a:cs typeface="Aptos"/>
              </a:rPr>
              <a:t>Field + groups</a:t>
            </a:r>
          </a:p>
        </p:txBody>
      </p:sp>
      <p:sp>
        <p:nvSpPr>
          <p:cNvPr id="10" name="">
            <a:extLst xmlns:a="http://schemas.openxmlformats.org/drawingml/2006/main">
              <a:ext uri="{FF2B5EF4-FFF2-40B4-BE49-F238E27FC236}">
                <a16:creationId xmlns:a16="http://schemas.microsoft.com/office/drawing/2014/main" id="{4E6B12FB-CF97-4AB9-9ED4-934B65D7CFB6}"/>
              </a:ext>
            </a:extLst>
          </p:cNvPr>
          <p:cNvSpPr>
            <a:spLocks xmlns:a="http://schemas.openxmlformats.org/drawingml/2006/main" noGrp="1"/>
          </p:cNvSpPr>
          <p:nvPr/>
        </p:nvSpPr>
        <p:spPr>
          <a:xfrm xmlns:a="http://schemas.openxmlformats.org/drawingml/2006/main">
            <a:off x="3524250" y="2466975"/>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6F1DF"/>
                </a:solidFill>
                <a:latin typeface="Aptos"/>
                <a:ea typeface="Aptos"/>
                <a:cs typeface="Aptos"/>
              </a:defRPr>
            </a:pPr>
            <a:r>
              <a:rPr sz="1200" b="0">
                <a:solidFill>
                  <a:srgbClr val="F6F1DF"/>
                </a:solidFill>
                <a:latin typeface="Aptos"/>
                <a:ea typeface="Aptos"/>
                <a:cs typeface="Aptos"/>
              </a:rPr>
              <a:t>official snapshot</a:t>
            </a:r>
          </a:p>
        </p:txBody>
      </p:sp>
      <p:sp>
        <p:nvSpPr>
          <p:cNvPr id="11" name="">
            <a:extLst xmlns:a="http://schemas.openxmlformats.org/drawingml/2006/main">
              <a:ext uri="{FF2B5EF4-FFF2-40B4-BE49-F238E27FC236}">
                <a16:creationId xmlns:a16="http://schemas.microsoft.com/office/drawing/2014/main" id="{CA58C899-AE57-4E9B-AE7A-4752908E79A6}"/>
              </a:ext>
            </a:extLst>
          </p:cNvPr>
          <p:cNvSpPr>
            <a:spLocks xmlns:a="http://schemas.openxmlformats.org/drawingml/2006/main" noGrp="1"/>
          </p:cNvSpPr>
          <p:nvPr/>
        </p:nvSpPr>
        <p:spPr>
          <a:xfrm xmlns:a="http://schemas.openxmlformats.org/drawingml/2006/main">
            <a:off x="876300" y="2895600"/>
            <a:ext cx="6572250" cy="3619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FFD166"/>
            </a:solidFill>
            <a:prstDash val="solid"/>
          </a:ln>
        </p:spPr>
      </p:sp>
      <p:sp>
        <p:nvSpPr>
          <p:cNvPr id="12" name="">
            <a:extLst xmlns:a="http://schemas.openxmlformats.org/drawingml/2006/main">
              <a:ext uri="{FF2B5EF4-FFF2-40B4-BE49-F238E27FC236}">
                <a16:creationId xmlns:a16="http://schemas.microsoft.com/office/drawing/2014/main" id="{C678712F-7B50-48BE-AC40-80CEC18E5A1A}"/>
              </a:ext>
            </a:extLst>
          </p:cNvPr>
          <p:cNvSpPr>
            <a:spLocks xmlns:a="http://schemas.openxmlformats.org/drawingml/2006/main" noGrp="1"/>
          </p:cNvSpPr>
          <p:nvPr/>
        </p:nvSpPr>
        <p:spPr>
          <a:xfrm xmlns:a="http://schemas.openxmlformats.org/drawingml/2006/main">
            <a:off x="1085850" y="297180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D166"/>
                </a:solidFill>
                <a:latin typeface="Aptos"/>
                <a:ea typeface="Aptos"/>
                <a:cs typeface="Aptos"/>
              </a:defRPr>
            </a:pPr>
            <a:r>
              <a:rPr sz="1350" b="1">
                <a:solidFill>
                  <a:srgbClr val="FFD166"/>
                </a:solidFill>
                <a:latin typeface="Aptos"/>
                <a:ea typeface="Aptos"/>
                <a:cs typeface="Aptos"/>
              </a:rPr>
              <a:t>Team priors</a:t>
            </a:r>
          </a:p>
        </p:txBody>
      </p:sp>
      <p:sp>
        <p:nvSpPr>
          <p:cNvPr id="13" name="">
            <a:extLst xmlns:a="http://schemas.openxmlformats.org/drawingml/2006/main">
              <a:ext uri="{FF2B5EF4-FFF2-40B4-BE49-F238E27FC236}">
                <a16:creationId xmlns:a16="http://schemas.microsoft.com/office/drawing/2014/main" id="{06700189-2C14-4ECD-A07B-76D9EB581337}"/>
              </a:ext>
            </a:extLst>
          </p:cNvPr>
          <p:cNvSpPr>
            <a:spLocks xmlns:a="http://schemas.openxmlformats.org/drawingml/2006/main" noGrp="1"/>
          </p:cNvSpPr>
          <p:nvPr/>
        </p:nvSpPr>
        <p:spPr>
          <a:xfrm xmlns:a="http://schemas.openxmlformats.org/drawingml/2006/main">
            <a:off x="3524250" y="2981325"/>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6F1DF"/>
                </a:solidFill>
                <a:latin typeface="Aptos"/>
                <a:ea typeface="Aptos"/>
                <a:cs typeface="Aptos"/>
              </a:defRPr>
            </a:pPr>
            <a:r>
              <a:rPr sz="1200" b="0">
                <a:solidFill>
                  <a:srgbClr val="F6F1DF"/>
                </a:solidFill>
                <a:latin typeface="Aptos"/>
                <a:ea typeface="Aptos"/>
                <a:cs typeface="Aptos"/>
              </a:rPr>
              <a:t>bundled demo only</a:t>
            </a:r>
          </a:p>
        </p:txBody>
      </p:sp>
      <p:sp>
        <p:nvSpPr>
          <p:cNvPr id="14" name="">
            <a:extLst xmlns:a="http://schemas.openxmlformats.org/drawingml/2006/main">
              <a:ext uri="{FF2B5EF4-FFF2-40B4-BE49-F238E27FC236}">
                <a16:creationId xmlns:a16="http://schemas.microsoft.com/office/drawing/2014/main" id="{7E358D13-6524-4BFB-A6BD-9C32F9A074B5}"/>
              </a:ext>
            </a:extLst>
          </p:cNvPr>
          <p:cNvSpPr>
            <a:spLocks xmlns:a="http://schemas.openxmlformats.org/drawingml/2006/main" noGrp="1"/>
          </p:cNvSpPr>
          <p:nvPr/>
        </p:nvSpPr>
        <p:spPr>
          <a:xfrm xmlns:a="http://schemas.openxmlformats.org/drawingml/2006/main">
            <a:off x="876300" y="3409950"/>
            <a:ext cx="6572250" cy="3619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FFD166"/>
            </a:solidFill>
            <a:prstDash val="solid"/>
          </a:ln>
        </p:spPr>
      </p:sp>
      <p:sp>
        <p:nvSpPr>
          <p:cNvPr id="15" name="">
            <a:extLst xmlns:a="http://schemas.openxmlformats.org/drawingml/2006/main">
              <a:ext uri="{FF2B5EF4-FFF2-40B4-BE49-F238E27FC236}">
                <a16:creationId xmlns:a16="http://schemas.microsoft.com/office/drawing/2014/main" id="{792B7B45-EB36-4268-8AC3-4A80EB63AADE}"/>
              </a:ext>
            </a:extLst>
          </p:cNvPr>
          <p:cNvSpPr>
            <a:spLocks xmlns:a="http://schemas.openxmlformats.org/drawingml/2006/main" noGrp="1"/>
          </p:cNvSpPr>
          <p:nvPr/>
        </p:nvSpPr>
        <p:spPr>
          <a:xfrm xmlns:a="http://schemas.openxmlformats.org/drawingml/2006/main">
            <a:off x="1085850" y="34861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D166"/>
                </a:solidFill>
                <a:latin typeface="Aptos"/>
                <a:ea typeface="Aptos"/>
                <a:cs typeface="Aptos"/>
              </a:defRPr>
            </a:pPr>
            <a:r>
              <a:rPr sz="1350" b="1">
                <a:solidFill>
                  <a:srgbClr val="FFD166"/>
                </a:solidFill>
                <a:latin typeface="Aptos"/>
                <a:ea typeface="Aptos"/>
                <a:cs typeface="Aptos"/>
              </a:rPr>
              <a:t>Market baseline</a:t>
            </a:r>
          </a:p>
        </p:txBody>
      </p:sp>
      <p:sp>
        <p:nvSpPr>
          <p:cNvPr id="16" name="">
            <a:extLst xmlns:a="http://schemas.openxmlformats.org/drawingml/2006/main">
              <a:ext uri="{FF2B5EF4-FFF2-40B4-BE49-F238E27FC236}">
                <a16:creationId xmlns:a16="http://schemas.microsoft.com/office/drawing/2014/main" id="{437D1E3B-9873-41E9-8C0C-31CE0BAD45D5}"/>
              </a:ext>
            </a:extLst>
          </p:cNvPr>
          <p:cNvSpPr>
            <a:spLocks xmlns:a="http://schemas.openxmlformats.org/drawingml/2006/main" noGrp="1"/>
          </p:cNvSpPr>
          <p:nvPr/>
        </p:nvSpPr>
        <p:spPr>
          <a:xfrm xmlns:a="http://schemas.openxmlformats.org/drawingml/2006/main">
            <a:off x="3524250" y="3495675"/>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6F1DF"/>
                </a:solidFill>
                <a:latin typeface="Aptos"/>
                <a:ea typeface="Aptos"/>
                <a:cs typeface="Aptos"/>
              </a:defRPr>
            </a:pPr>
            <a:r>
              <a:rPr sz="1200" b="0">
                <a:solidFill>
                  <a:srgbClr val="F6F1DF"/>
                </a:solidFill>
                <a:latin typeface="Aptos"/>
                <a:ea typeface="Aptos"/>
                <a:cs typeface="Aptos"/>
              </a:rPr>
              <a:t>sample only, not advice</a:t>
            </a:r>
          </a:p>
        </p:txBody>
      </p:sp>
      <p:sp>
        <p:nvSpPr>
          <p:cNvPr id="17" name="">
            <a:extLst xmlns:a="http://schemas.openxmlformats.org/drawingml/2006/main">
              <a:ext uri="{FF2B5EF4-FFF2-40B4-BE49-F238E27FC236}">
                <a16:creationId xmlns:a16="http://schemas.microsoft.com/office/drawing/2014/main" id="{84432928-B327-407B-B6B3-3872D66FE3AB}"/>
              </a:ext>
            </a:extLst>
          </p:cNvPr>
          <p:cNvSpPr>
            <a:spLocks xmlns:a="http://schemas.openxmlformats.org/drawingml/2006/main" noGrp="1"/>
          </p:cNvSpPr>
          <p:nvPr/>
        </p:nvSpPr>
        <p:spPr>
          <a:xfrm xmlns:a="http://schemas.openxmlformats.org/drawingml/2006/main">
            <a:off x="876300" y="3924300"/>
            <a:ext cx="6572250" cy="3619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F45B69"/>
            </a:solidFill>
            <a:prstDash val="solid"/>
          </a:ln>
        </p:spPr>
      </p:sp>
      <p:sp>
        <p:nvSpPr>
          <p:cNvPr id="18" name="">
            <a:extLst xmlns:a="http://schemas.openxmlformats.org/drawingml/2006/main">
              <a:ext uri="{FF2B5EF4-FFF2-40B4-BE49-F238E27FC236}">
                <a16:creationId xmlns:a16="http://schemas.microsoft.com/office/drawing/2014/main" id="{A1C9C3C4-C57F-4A0E-AC8D-E1A5B9782B31}"/>
              </a:ext>
            </a:extLst>
          </p:cNvPr>
          <p:cNvSpPr>
            <a:spLocks xmlns:a="http://schemas.openxmlformats.org/drawingml/2006/main" noGrp="1"/>
          </p:cNvSpPr>
          <p:nvPr/>
        </p:nvSpPr>
        <p:spPr>
          <a:xfrm xmlns:a="http://schemas.openxmlformats.org/drawingml/2006/main">
            <a:off x="1085850" y="400050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5B69"/>
                </a:solidFill>
                <a:latin typeface="Aptos"/>
                <a:ea typeface="Aptos"/>
                <a:cs typeface="Aptos"/>
              </a:defRPr>
            </a:pPr>
            <a:r>
              <a:rPr sz="1350" b="1">
                <a:solidFill>
                  <a:srgbClr val="F45B69"/>
                </a:solidFill>
                <a:latin typeface="Aptos"/>
                <a:ea typeface="Aptos"/>
                <a:cs typeface="Aptos"/>
              </a:rPr>
              <a:t>Injuries + lineups</a:t>
            </a:r>
          </a:p>
        </p:txBody>
      </p:sp>
      <p:sp>
        <p:nvSpPr>
          <p:cNvPr id="19" name="">
            <a:extLst xmlns:a="http://schemas.openxmlformats.org/drawingml/2006/main">
              <a:ext uri="{FF2B5EF4-FFF2-40B4-BE49-F238E27FC236}">
                <a16:creationId xmlns:a16="http://schemas.microsoft.com/office/drawing/2014/main" id="{4A607B3F-52F6-46B1-94AD-5911A5F5295A}"/>
              </a:ext>
            </a:extLst>
          </p:cNvPr>
          <p:cNvSpPr>
            <a:spLocks xmlns:a="http://schemas.openxmlformats.org/drawingml/2006/main" noGrp="1"/>
          </p:cNvSpPr>
          <p:nvPr/>
        </p:nvSpPr>
        <p:spPr>
          <a:xfrm xmlns:a="http://schemas.openxmlformats.org/drawingml/2006/main">
            <a:off x="3524250" y="4010025"/>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6F1DF"/>
                </a:solidFill>
                <a:latin typeface="Aptos"/>
                <a:ea typeface="Aptos"/>
                <a:cs typeface="Aptos"/>
              </a:defRPr>
            </a:pPr>
            <a:r>
              <a:rPr sz="1200" b="0">
                <a:solidFill>
                  <a:srgbClr val="F6F1DF"/>
                </a:solidFill>
                <a:latin typeface="Aptos"/>
                <a:ea typeface="Aptos"/>
                <a:cs typeface="Aptos"/>
              </a:rPr>
              <a:t>adapter slot / curated notes</a:t>
            </a:r>
          </a:p>
        </p:txBody>
      </p:sp>
      <p:sp>
        <p:nvSpPr>
          <p:cNvPr id="20" name="">
            <a:extLst xmlns:a="http://schemas.openxmlformats.org/drawingml/2006/main">
              <a:ext uri="{FF2B5EF4-FFF2-40B4-BE49-F238E27FC236}">
                <a16:creationId xmlns:a16="http://schemas.microsoft.com/office/drawing/2014/main" id="{06F07B7F-0EA4-4B02-B0A1-5E550CB93303}"/>
              </a:ext>
            </a:extLst>
          </p:cNvPr>
          <p:cNvSpPr>
            <a:spLocks xmlns:a="http://schemas.openxmlformats.org/drawingml/2006/main" noGrp="1"/>
          </p:cNvSpPr>
          <p:nvPr/>
        </p:nvSpPr>
        <p:spPr>
          <a:xfrm xmlns:a="http://schemas.openxmlformats.org/drawingml/2006/main">
            <a:off x="876300" y="4438650"/>
            <a:ext cx="6572250" cy="3619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F45B69"/>
            </a:solidFill>
            <a:prstDash val="solid"/>
          </a:ln>
        </p:spPr>
      </p:sp>
      <p:sp>
        <p:nvSpPr>
          <p:cNvPr id="21" name="">
            <a:extLst xmlns:a="http://schemas.openxmlformats.org/drawingml/2006/main">
              <a:ext uri="{FF2B5EF4-FFF2-40B4-BE49-F238E27FC236}">
                <a16:creationId xmlns:a16="http://schemas.microsoft.com/office/drawing/2014/main" id="{D5F3C522-7878-48D1-B325-43F67F2ADB9A}"/>
              </a:ext>
            </a:extLst>
          </p:cNvPr>
          <p:cNvSpPr>
            <a:spLocks xmlns:a="http://schemas.openxmlformats.org/drawingml/2006/main" noGrp="1"/>
          </p:cNvSpPr>
          <p:nvPr/>
        </p:nvSpPr>
        <p:spPr>
          <a:xfrm xmlns:a="http://schemas.openxmlformats.org/drawingml/2006/main">
            <a:off x="1085850" y="45148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5B69"/>
                </a:solidFill>
                <a:latin typeface="Aptos"/>
                <a:ea typeface="Aptos"/>
                <a:cs typeface="Aptos"/>
              </a:defRPr>
            </a:pPr>
            <a:r>
              <a:rPr sz="1350" b="1">
                <a:solidFill>
                  <a:srgbClr val="F45B69"/>
                </a:solidFill>
                <a:latin typeface="Aptos"/>
                <a:ea typeface="Aptos"/>
                <a:cs typeface="Aptos"/>
              </a:rPr>
              <a:t>Historical calibration</a:t>
            </a:r>
          </a:p>
        </p:txBody>
      </p:sp>
      <p:sp>
        <p:nvSpPr>
          <p:cNvPr id="22" name="">
            <a:extLst xmlns:a="http://schemas.openxmlformats.org/drawingml/2006/main">
              <a:ext uri="{FF2B5EF4-FFF2-40B4-BE49-F238E27FC236}">
                <a16:creationId xmlns:a16="http://schemas.microsoft.com/office/drawing/2014/main" id="{BB4CF075-A5A6-41D6-B495-155BC736397E}"/>
              </a:ext>
            </a:extLst>
          </p:cNvPr>
          <p:cNvSpPr>
            <a:spLocks xmlns:a="http://schemas.openxmlformats.org/drawingml/2006/main" noGrp="1"/>
          </p:cNvSpPr>
          <p:nvPr/>
        </p:nvSpPr>
        <p:spPr>
          <a:xfrm xmlns:a="http://schemas.openxmlformats.org/drawingml/2006/main">
            <a:off x="3524250" y="4524375"/>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6F1DF"/>
                </a:solidFill>
                <a:latin typeface="Aptos"/>
                <a:ea typeface="Aptos"/>
                <a:cs typeface="Aptos"/>
              </a:defRPr>
            </a:pPr>
            <a:r>
              <a:rPr sz="1200" b="0">
                <a:solidFill>
                  <a:srgbClr val="F6F1DF"/>
                </a:solidFill>
                <a:latin typeface="Aptos"/>
                <a:ea typeface="Aptos"/>
                <a:cs typeface="Aptos"/>
              </a:rPr>
              <a:t>placeholder not refreshed</a:t>
            </a:r>
          </a:p>
        </p:txBody>
      </p:sp>
      <p:sp>
        <p:nvSpPr>
          <p:cNvPr id="23" name="">
            <a:extLst xmlns:a="http://schemas.openxmlformats.org/drawingml/2006/main">
              <a:ext uri="{FF2B5EF4-FFF2-40B4-BE49-F238E27FC236}">
                <a16:creationId xmlns:a16="http://schemas.microsoft.com/office/drawing/2014/main" id="{E62E88C9-D4A0-4188-99F4-D62F02A5170A}"/>
              </a:ext>
            </a:extLst>
          </p:cNvPr>
          <p:cNvSpPr>
            <a:spLocks xmlns:a="http://schemas.openxmlformats.org/drawingml/2006/main" noGrp="1"/>
          </p:cNvSpPr>
          <p:nvPr/>
        </p:nvSpPr>
        <p:spPr>
          <a:xfrm xmlns:a="http://schemas.openxmlformats.org/drawingml/2006/main">
            <a:off x="876300" y="4953000"/>
            <a:ext cx="6572250" cy="36195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5EE39A"/>
            </a:solidFill>
            <a:prstDash val="solid"/>
          </a:ln>
        </p:spPr>
      </p:sp>
      <p:sp>
        <p:nvSpPr>
          <p:cNvPr id="24" name="">
            <a:extLst xmlns:a="http://schemas.openxmlformats.org/drawingml/2006/main">
              <a:ext uri="{FF2B5EF4-FFF2-40B4-BE49-F238E27FC236}">
                <a16:creationId xmlns:a16="http://schemas.microsoft.com/office/drawing/2014/main" id="{57A65E41-A9E0-4402-A512-1AD40B60D541}"/>
              </a:ext>
            </a:extLst>
          </p:cNvPr>
          <p:cNvSpPr>
            <a:spLocks xmlns:a="http://schemas.openxmlformats.org/drawingml/2006/main" noGrp="1"/>
          </p:cNvSpPr>
          <p:nvPr/>
        </p:nvSpPr>
        <p:spPr>
          <a:xfrm xmlns:a="http://schemas.openxmlformats.org/drawingml/2006/main">
            <a:off x="1085850" y="502920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5EE39A"/>
                </a:solidFill>
                <a:latin typeface="Aptos"/>
                <a:ea typeface="Aptos"/>
                <a:cs typeface="Aptos"/>
              </a:defRPr>
            </a:pPr>
            <a:r>
              <a:rPr sz="1350" b="1">
                <a:solidFill>
                  <a:srgbClr val="5EE39A"/>
                </a:solidFill>
                <a:latin typeface="Aptos"/>
                <a:ea typeface="Aptos"/>
                <a:cs typeface="Aptos"/>
              </a:rPr>
              <a:t>Rolling state</a:t>
            </a:r>
          </a:p>
        </p:txBody>
      </p:sp>
      <p:sp>
        <p:nvSpPr>
          <p:cNvPr id="25" name="">
            <a:extLst xmlns:a="http://schemas.openxmlformats.org/drawingml/2006/main">
              <a:ext uri="{FF2B5EF4-FFF2-40B4-BE49-F238E27FC236}">
                <a16:creationId xmlns:a16="http://schemas.microsoft.com/office/drawing/2014/main" id="{6A9CA68F-5D40-4AE9-AA44-06034E52545D}"/>
              </a:ext>
            </a:extLst>
          </p:cNvPr>
          <p:cNvSpPr>
            <a:spLocks xmlns:a="http://schemas.openxmlformats.org/drawingml/2006/main" noGrp="1"/>
          </p:cNvSpPr>
          <p:nvPr/>
        </p:nvSpPr>
        <p:spPr>
          <a:xfrm xmlns:a="http://schemas.openxmlformats.org/drawingml/2006/main">
            <a:off x="3524250" y="5038725"/>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6F1DF"/>
                </a:solidFill>
                <a:latin typeface="Aptos"/>
                <a:ea typeface="Aptos"/>
                <a:cs typeface="Aptos"/>
              </a:defRPr>
            </a:pPr>
            <a:r>
              <a:rPr sz="1200" b="0">
                <a:solidFill>
                  <a:srgbClr val="F6F1DF"/>
                </a:solidFill>
                <a:latin typeface="Aptos"/>
                <a:ea typeface="Aptos"/>
                <a:cs typeface="Aptos"/>
              </a:rPr>
              <a:t>supported when results supplied</a:t>
            </a:r>
          </a:p>
        </p:txBody>
      </p:sp>
      <p:sp>
        <p:nvSpPr>
          <p:cNvPr id="26" name="">
            <a:extLst xmlns:a="http://schemas.openxmlformats.org/drawingml/2006/main">
              <a:ext uri="{FF2B5EF4-FFF2-40B4-BE49-F238E27FC236}">
                <a16:creationId xmlns:a16="http://schemas.microsoft.com/office/drawing/2014/main" id="{4E404BC1-AD9A-43D2-8DDA-B12EEA76A67F}"/>
              </a:ext>
            </a:extLst>
          </p:cNvPr>
          <p:cNvSpPr>
            <a:spLocks xmlns:a="http://schemas.openxmlformats.org/drawingml/2006/main" noGrp="1"/>
          </p:cNvSpPr>
          <p:nvPr/>
        </p:nvSpPr>
        <p:spPr>
          <a:xfrm xmlns:a="http://schemas.openxmlformats.org/drawingml/2006/main">
            <a:off x="8096250" y="2857500"/>
            <a:ext cx="2095500" cy="1143000"/>
          </a:xfrm>
          <a:prstGeom xmlns:a="http://schemas.openxmlformats.org/drawingml/2006/main" prst="rect">
            <a:avLst/>
          </a:prstGeom>
          <a:solidFill xmlns:a="http://schemas.openxmlformats.org/drawingml/2006/main">
            <a:srgbClr val="2B1216"/>
          </a:solidFill>
          <a:ln xmlns:a="http://schemas.openxmlformats.org/drawingml/2006/main" w="14288">
            <a:solidFill>
              <a:srgbClr val="F45B69"/>
            </a:solidFill>
            <a:prstDash val="solid"/>
          </a:ln>
        </p:spPr>
      </p:sp>
      <p:sp>
        <p:nvSpPr>
          <p:cNvPr id="27" name="">
            <a:extLst xmlns:a="http://schemas.openxmlformats.org/drawingml/2006/main">
              <a:ext uri="{FF2B5EF4-FFF2-40B4-BE49-F238E27FC236}">
                <a16:creationId xmlns:a16="http://schemas.microsoft.com/office/drawing/2014/main" id="{B07FC6D0-6089-4BDD-BAB1-D30A7634FF1D}"/>
              </a:ext>
            </a:extLst>
          </p:cNvPr>
          <p:cNvSpPr>
            <a:spLocks xmlns:a="http://schemas.openxmlformats.org/drawingml/2006/main" noGrp="1"/>
          </p:cNvSpPr>
          <p:nvPr/>
        </p:nvSpPr>
        <p:spPr>
          <a:xfrm xmlns:a="http://schemas.openxmlformats.org/drawingml/2006/main">
            <a:off x="8362950" y="3086100"/>
            <a:ext cx="161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45B69"/>
                </a:solidFill>
                <a:latin typeface="Aptos"/>
                <a:ea typeface="Aptos"/>
                <a:cs typeface="Aptos"/>
              </a:defRPr>
            </a:pPr>
            <a:r>
              <a:rPr sz="1500" b="1">
                <a:solidFill>
                  <a:srgbClr val="F45B69"/>
                </a:solidFill>
                <a:latin typeface="Aptos"/>
                <a:ea typeface="Aptos"/>
                <a:cs typeface="Aptos"/>
              </a:rPr>
              <a:t>Before publishing</a:t>
            </a:r>
          </a:p>
        </p:txBody>
      </p:sp>
      <p:sp>
        <p:nvSpPr>
          <p:cNvPr id="28" name="">
            <a:extLst xmlns:a="http://schemas.openxmlformats.org/drawingml/2006/main">
              <a:ext uri="{FF2B5EF4-FFF2-40B4-BE49-F238E27FC236}">
                <a16:creationId xmlns:a16="http://schemas.microsoft.com/office/drawing/2014/main" id="{BEABB661-CA55-45C5-8B76-B42E7F6FA382}"/>
              </a:ext>
            </a:extLst>
          </p:cNvPr>
          <p:cNvSpPr>
            <a:spLocks xmlns:a="http://schemas.openxmlformats.org/drawingml/2006/main" noGrp="1"/>
          </p:cNvSpPr>
          <p:nvPr/>
        </p:nvSpPr>
        <p:spPr>
          <a:xfrm xmlns:a="http://schemas.openxmlformats.org/drawingml/2006/main">
            <a:off x="8334375" y="3448050"/>
            <a:ext cx="16192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6F1DF"/>
                </a:solidFill>
                <a:latin typeface="Aptos"/>
                <a:ea typeface="Aptos"/>
                <a:cs typeface="Aptos"/>
              </a:defRPr>
            </a:pPr>
            <a:r>
              <a:rPr sz="1125" b="0">
                <a:solidFill>
                  <a:srgbClr val="F6F1DF"/>
                </a:solidFill>
                <a:latin typeface="Aptos"/>
                <a:ea typeface="Aptos"/>
                <a:cs typeface="Aptos"/>
              </a:rPr>
              <a:t>refresh live squads, injuries, lineups, rankings, odds, and source rights</a:t>
            </a:r>
          </a:p>
        </p:txBody>
      </p:sp>
      <p:sp>
        <p:nvSpPr>
          <p:cNvPr id="29" name="">
            <a:extLst xmlns:a="http://schemas.openxmlformats.org/drawingml/2006/main">
              <a:ext uri="{FF2B5EF4-FFF2-40B4-BE49-F238E27FC236}">
                <a16:creationId xmlns:a16="http://schemas.microsoft.com/office/drawing/2014/main" id="{099F3AAE-902A-4CEA-AF0A-D66ED5C59EEB}"/>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16</a:t>
            </a:r>
          </a:p>
        </p:txBody>
      </p:sp>
      <p:sp>
        <p:nvSpPr>
          <p:cNvPr id="30" name="">
            <a:extLst xmlns:a="http://schemas.openxmlformats.org/drawingml/2006/main">
              <a:ext uri="{FF2B5EF4-FFF2-40B4-BE49-F238E27FC236}">
                <a16:creationId xmlns:a16="http://schemas.microsoft.com/office/drawing/2014/main" id="{99BF2A3C-49DC-4E8B-BF42-7ACC529EC4A7}"/>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Fan image: A.Savin / Wikimedia Commons CC BY-SA 4.0</a:t>
            </a:r>
          </a:p>
        </p:txBody>
      </p:sp>
    </p:spTree>
    <p:extLst>
      <p:ext uri="{BB962C8B-B14F-4D97-AF65-F5344CB8AC3E}">
        <p14:creationId xmlns:p14="http://schemas.microsoft.com/office/powerpoint/2010/main" val="83948415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5AA22E-9C8F-4D30-BBA6-00D77E7525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D1216"/>
          </a:solidFill>
          <a:ln xmlns:a="http://schemas.openxmlformats.org/drawingml/2006/main" w="14288">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250A1AF-49B7-40A8-8346-92B4C7519AC4}"/>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3" name="kicker-label">
            <a:extLst xmlns:a="http://schemas.openxmlformats.org/drawingml/2006/main">
              <a:ext uri="{FF2B5EF4-FFF2-40B4-BE49-F238E27FC236}">
                <a16:creationId xmlns:a16="http://schemas.microsoft.com/office/drawing/2014/main" id="{06B9B627-6C4C-46EB-A594-CFE47BD7299C}"/>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4" name="">
            <a:extLst xmlns:a="http://schemas.openxmlformats.org/drawingml/2006/main">
              <a:ext uri="{FF2B5EF4-FFF2-40B4-BE49-F238E27FC236}">
                <a16:creationId xmlns:a16="http://schemas.microsoft.com/office/drawing/2014/main" id="{A1C204A9-8F67-4EF1-925E-478DA8CFDB23}"/>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27:00</a:t>
            </a:r>
          </a:p>
        </p:txBody>
      </p:sp>
      <p:sp>
        <p:nvSpPr>
          <p:cNvPr id="5" name="">
            <a:extLst xmlns:a="http://schemas.openxmlformats.org/drawingml/2006/main">
              <a:ext uri="{FF2B5EF4-FFF2-40B4-BE49-F238E27FC236}">
                <a16:creationId xmlns:a16="http://schemas.microsoft.com/office/drawing/2014/main" id="{5D988572-DFB5-4903-84B6-8477AECDCECF}"/>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The YouTube run of show alternates concepts with experiments.</a:t>
            </a:r>
          </a:p>
        </p:txBody>
      </p:sp>
      <p:sp>
        <p:nvSpPr>
          <p:cNvPr id="6" name="">
            <a:extLst xmlns:a="http://schemas.openxmlformats.org/drawingml/2006/main">
              <a:ext uri="{FF2B5EF4-FFF2-40B4-BE49-F238E27FC236}">
                <a16:creationId xmlns:a16="http://schemas.microsoft.com/office/drawing/2014/main" id="{385FC7E7-3901-402B-B45E-A4D4D5A293AA}"/>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A 30-minute episode needs rhythm: explain the pattern, run a simulation, then inspect the guardrail.</a:t>
            </a:r>
          </a:p>
        </p:txBody>
      </p:sp>
      <p:sp>
        <p:nvSpPr>
          <p:cNvPr id="7" name="">
            <a:extLst xmlns:a="http://schemas.openxmlformats.org/drawingml/2006/main">
              <a:ext uri="{FF2B5EF4-FFF2-40B4-BE49-F238E27FC236}">
                <a16:creationId xmlns:a16="http://schemas.microsoft.com/office/drawing/2014/main" id="{68D56B8C-5F7B-4ADB-92B8-D017354505CE}"/>
              </a:ext>
            </a:extLst>
          </p:cNvPr>
          <p:cNvSpPr>
            <a:spLocks xmlns:a="http://schemas.openxmlformats.org/drawingml/2006/main" noGrp="1"/>
          </p:cNvSpPr>
          <p:nvPr/>
        </p:nvSpPr>
        <p:spPr>
          <a:xfrm xmlns:a="http://schemas.openxmlformats.org/drawingml/2006/main">
            <a:off x="819150" y="2133600"/>
            <a:ext cx="2076450" cy="571500"/>
          </a:xfrm>
          <a:prstGeom xmlns:a="http://schemas.openxmlformats.org/drawingml/2006/main" prst="rect">
            <a:avLst/>
          </a:prstGeom>
          <a:solidFill xmlns:a="http://schemas.openxmlformats.org/drawingml/2006/main">
            <a:srgbClr val="111B24"/>
          </a:solidFill>
          <a:ln xmlns:a="http://schemas.openxmlformats.org/drawingml/2006/main" w="14288">
            <a:solidFill>
              <a:srgbClr val="5EE39A"/>
            </a:solidFill>
            <a:prstDash val="solid"/>
          </a:ln>
        </p:spPr>
      </p:sp>
      <p:sp>
        <p:nvSpPr>
          <p:cNvPr id="8" name="">
            <a:extLst xmlns:a="http://schemas.openxmlformats.org/drawingml/2006/main">
              <a:ext uri="{FF2B5EF4-FFF2-40B4-BE49-F238E27FC236}">
                <a16:creationId xmlns:a16="http://schemas.microsoft.com/office/drawing/2014/main" id="{19CC3D73-6AEE-40A5-842D-676A2D8FA388}"/>
              </a:ext>
            </a:extLst>
          </p:cNvPr>
          <p:cNvSpPr>
            <a:spLocks xmlns:a="http://schemas.openxmlformats.org/drawingml/2006/main" noGrp="1"/>
          </p:cNvSpPr>
          <p:nvPr/>
        </p:nvSpPr>
        <p:spPr>
          <a:xfrm xmlns:a="http://schemas.openxmlformats.org/drawingml/2006/main">
            <a:off x="971550" y="2257425"/>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5EE39A"/>
                </a:solidFill>
                <a:latin typeface="Aptos"/>
                <a:ea typeface="Aptos"/>
                <a:cs typeface="Aptos"/>
              </a:defRPr>
            </a:pPr>
            <a:r>
              <a:rPr sz="1350" b="1">
                <a:solidFill>
                  <a:srgbClr val="5EE39A"/>
                </a:solidFill>
                <a:latin typeface="Aptos"/>
                <a:ea typeface="Aptos"/>
                <a:cs typeface="Aptos"/>
              </a:rPr>
              <a:t>00:00</a:t>
            </a:r>
          </a:p>
        </p:txBody>
      </p:sp>
      <p:sp>
        <p:nvSpPr>
          <p:cNvPr id="9" name="">
            <a:extLst xmlns:a="http://schemas.openxmlformats.org/drawingml/2006/main">
              <a:ext uri="{FF2B5EF4-FFF2-40B4-BE49-F238E27FC236}">
                <a16:creationId xmlns:a16="http://schemas.microsoft.com/office/drawing/2014/main" id="{B3EF1789-394D-4A0C-B7C8-631F93A83D58}"/>
              </a:ext>
            </a:extLst>
          </p:cNvPr>
          <p:cNvSpPr>
            <a:spLocks xmlns:a="http://schemas.openxmlformats.org/drawingml/2006/main" noGrp="1"/>
          </p:cNvSpPr>
          <p:nvPr/>
        </p:nvSpPr>
        <p:spPr>
          <a:xfrm xmlns:a="http://schemas.openxmlformats.org/drawingml/2006/main">
            <a:off x="1657350" y="2266950"/>
            <a:ext cx="990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hook + promise</a:t>
            </a:r>
          </a:p>
        </p:txBody>
      </p:sp>
      <p:sp>
        <p:nvSpPr>
          <p:cNvPr id="10" name="">
            <a:extLst xmlns:a="http://schemas.openxmlformats.org/drawingml/2006/main">
              <a:ext uri="{FF2B5EF4-FFF2-40B4-BE49-F238E27FC236}">
                <a16:creationId xmlns:a16="http://schemas.microsoft.com/office/drawing/2014/main" id="{349D7B4C-5690-4D58-9E5E-3176EA121A21}"/>
              </a:ext>
            </a:extLst>
          </p:cNvPr>
          <p:cNvSpPr>
            <a:spLocks xmlns:a="http://schemas.openxmlformats.org/drawingml/2006/main" noGrp="1"/>
          </p:cNvSpPr>
          <p:nvPr/>
        </p:nvSpPr>
        <p:spPr>
          <a:xfrm xmlns:a="http://schemas.openxmlformats.org/drawingml/2006/main">
            <a:off x="3390900" y="2133600"/>
            <a:ext cx="2076450" cy="571500"/>
          </a:xfrm>
          <a:prstGeom xmlns:a="http://schemas.openxmlformats.org/drawingml/2006/main" prst="rect">
            <a:avLst/>
          </a:prstGeom>
          <a:solidFill xmlns:a="http://schemas.openxmlformats.org/drawingml/2006/main">
            <a:srgbClr val="111B24"/>
          </a:solidFill>
          <a:ln xmlns:a="http://schemas.openxmlformats.org/drawingml/2006/main" w="14288">
            <a:solidFill>
              <a:srgbClr val="7CC7FF"/>
            </a:solidFill>
            <a:prstDash val="solid"/>
          </a:ln>
        </p:spPr>
      </p:sp>
      <p:sp>
        <p:nvSpPr>
          <p:cNvPr id="11" name="">
            <a:extLst xmlns:a="http://schemas.openxmlformats.org/drawingml/2006/main">
              <a:ext uri="{FF2B5EF4-FFF2-40B4-BE49-F238E27FC236}">
                <a16:creationId xmlns:a16="http://schemas.microsoft.com/office/drawing/2014/main" id="{AEABC17C-0D7F-40EF-9154-B3E7B7E254D4}"/>
              </a:ext>
            </a:extLst>
          </p:cNvPr>
          <p:cNvSpPr>
            <a:spLocks xmlns:a="http://schemas.openxmlformats.org/drawingml/2006/main" noGrp="1"/>
          </p:cNvSpPr>
          <p:nvPr/>
        </p:nvSpPr>
        <p:spPr>
          <a:xfrm xmlns:a="http://schemas.openxmlformats.org/drawingml/2006/main">
            <a:off x="3543300" y="2257425"/>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7CC7FF"/>
                </a:solidFill>
                <a:latin typeface="Aptos"/>
                <a:ea typeface="Aptos"/>
                <a:cs typeface="Aptos"/>
              </a:defRPr>
            </a:pPr>
            <a:r>
              <a:rPr sz="1350" b="1">
                <a:solidFill>
                  <a:srgbClr val="7CC7FF"/>
                </a:solidFill>
                <a:latin typeface="Aptos"/>
                <a:ea typeface="Aptos"/>
                <a:cs typeface="Aptos"/>
              </a:rPr>
              <a:t>04:00</a:t>
            </a:r>
          </a:p>
        </p:txBody>
      </p:sp>
      <p:sp>
        <p:nvSpPr>
          <p:cNvPr id="12" name="">
            <a:extLst xmlns:a="http://schemas.openxmlformats.org/drawingml/2006/main">
              <a:ext uri="{FF2B5EF4-FFF2-40B4-BE49-F238E27FC236}">
                <a16:creationId xmlns:a16="http://schemas.microsoft.com/office/drawing/2014/main" id="{D95F6F6F-B51B-4A3B-8060-58619C868219}"/>
              </a:ext>
            </a:extLst>
          </p:cNvPr>
          <p:cNvSpPr>
            <a:spLocks xmlns:a="http://schemas.openxmlformats.org/drawingml/2006/main" noGrp="1"/>
          </p:cNvSpPr>
          <p:nvPr/>
        </p:nvSpPr>
        <p:spPr>
          <a:xfrm xmlns:a="http://schemas.openxmlformats.org/drawingml/2006/main">
            <a:off x="4229100" y="2266950"/>
            <a:ext cx="990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architecture</a:t>
            </a:r>
          </a:p>
        </p:txBody>
      </p:sp>
      <p:sp>
        <p:nvSpPr>
          <p:cNvPr id="13" name="">
            <a:extLst xmlns:a="http://schemas.openxmlformats.org/drawingml/2006/main">
              <a:ext uri="{FF2B5EF4-FFF2-40B4-BE49-F238E27FC236}">
                <a16:creationId xmlns:a16="http://schemas.microsoft.com/office/drawing/2014/main" id="{B6BF55DF-EECA-41D8-A5C3-AE68A7FD3C64}"/>
              </a:ext>
            </a:extLst>
          </p:cNvPr>
          <p:cNvSpPr>
            <a:spLocks xmlns:a="http://schemas.openxmlformats.org/drawingml/2006/main" noGrp="1"/>
          </p:cNvSpPr>
          <p:nvPr/>
        </p:nvSpPr>
        <p:spPr>
          <a:xfrm xmlns:a="http://schemas.openxmlformats.org/drawingml/2006/main">
            <a:off x="5962650" y="2133600"/>
            <a:ext cx="2076450" cy="571500"/>
          </a:xfrm>
          <a:prstGeom xmlns:a="http://schemas.openxmlformats.org/drawingml/2006/main" prst="rect">
            <a:avLst/>
          </a:prstGeom>
          <a:solidFill xmlns:a="http://schemas.openxmlformats.org/drawingml/2006/main">
            <a:srgbClr val="111B24"/>
          </a:solidFill>
          <a:ln xmlns:a="http://schemas.openxmlformats.org/drawingml/2006/main" w="14288">
            <a:solidFill>
              <a:srgbClr val="5EE39A"/>
            </a:solidFill>
            <a:prstDash val="solid"/>
          </a:ln>
        </p:spPr>
      </p:sp>
      <p:sp>
        <p:nvSpPr>
          <p:cNvPr id="14" name="">
            <a:extLst xmlns:a="http://schemas.openxmlformats.org/drawingml/2006/main">
              <a:ext uri="{FF2B5EF4-FFF2-40B4-BE49-F238E27FC236}">
                <a16:creationId xmlns:a16="http://schemas.microsoft.com/office/drawing/2014/main" id="{EE69D9D9-97AF-4582-8440-1BDDB4E3C872}"/>
              </a:ext>
            </a:extLst>
          </p:cNvPr>
          <p:cNvSpPr>
            <a:spLocks xmlns:a="http://schemas.openxmlformats.org/drawingml/2006/main" noGrp="1"/>
          </p:cNvSpPr>
          <p:nvPr/>
        </p:nvSpPr>
        <p:spPr>
          <a:xfrm xmlns:a="http://schemas.openxmlformats.org/drawingml/2006/main">
            <a:off x="6115050" y="2257425"/>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5EE39A"/>
                </a:solidFill>
                <a:latin typeface="Aptos"/>
                <a:ea typeface="Aptos"/>
                <a:cs typeface="Aptos"/>
              </a:defRPr>
            </a:pPr>
            <a:r>
              <a:rPr sz="1350" b="1">
                <a:solidFill>
                  <a:srgbClr val="5EE39A"/>
                </a:solidFill>
                <a:latin typeface="Aptos"/>
                <a:ea typeface="Aptos"/>
                <a:cs typeface="Aptos"/>
              </a:rPr>
              <a:t>06:00</a:t>
            </a:r>
          </a:p>
        </p:txBody>
      </p:sp>
      <p:sp>
        <p:nvSpPr>
          <p:cNvPr id="15" name="">
            <a:extLst xmlns:a="http://schemas.openxmlformats.org/drawingml/2006/main">
              <a:ext uri="{FF2B5EF4-FFF2-40B4-BE49-F238E27FC236}">
                <a16:creationId xmlns:a16="http://schemas.microsoft.com/office/drawing/2014/main" id="{87FE5392-E379-4D9D-A520-8D53BC704AD2}"/>
              </a:ext>
            </a:extLst>
          </p:cNvPr>
          <p:cNvSpPr>
            <a:spLocks xmlns:a="http://schemas.openxmlformats.org/drawingml/2006/main" noGrp="1"/>
          </p:cNvSpPr>
          <p:nvPr/>
        </p:nvSpPr>
        <p:spPr>
          <a:xfrm xmlns:a="http://schemas.openxmlformats.org/drawingml/2006/main">
            <a:off x="6800850" y="2266950"/>
            <a:ext cx="990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pre-flight</a:t>
            </a:r>
          </a:p>
        </p:txBody>
      </p:sp>
      <p:sp>
        <p:nvSpPr>
          <p:cNvPr id="16" name="">
            <a:extLst xmlns:a="http://schemas.openxmlformats.org/drawingml/2006/main">
              <a:ext uri="{FF2B5EF4-FFF2-40B4-BE49-F238E27FC236}">
                <a16:creationId xmlns:a16="http://schemas.microsoft.com/office/drawing/2014/main" id="{6943688E-8186-4DAD-93A8-A8E33290FB57}"/>
              </a:ext>
            </a:extLst>
          </p:cNvPr>
          <p:cNvSpPr>
            <a:spLocks xmlns:a="http://schemas.openxmlformats.org/drawingml/2006/main" noGrp="1"/>
          </p:cNvSpPr>
          <p:nvPr/>
        </p:nvSpPr>
        <p:spPr>
          <a:xfrm xmlns:a="http://schemas.openxmlformats.org/drawingml/2006/main">
            <a:off x="8534400" y="2133600"/>
            <a:ext cx="2076450" cy="571500"/>
          </a:xfrm>
          <a:prstGeom xmlns:a="http://schemas.openxmlformats.org/drawingml/2006/main" prst="rect">
            <a:avLst/>
          </a:prstGeom>
          <a:solidFill xmlns:a="http://schemas.openxmlformats.org/drawingml/2006/main">
            <a:srgbClr val="111B24"/>
          </a:solidFill>
          <a:ln xmlns:a="http://schemas.openxmlformats.org/drawingml/2006/main" w="14288">
            <a:solidFill>
              <a:srgbClr val="7CC7FF"/>
            </a:solidFill>
            <a:prstDash val="solid"/>
          </a:ln>
        </p:spPr>
      </p:sp>
      <p:sp>
        <p:nvSpPr>
          <p:cNvPr id="17" name="">
            <a:extLst xmlns:a="http://schemas.openxmlformats.org/drawingml/2006/main">
              <a:ext uri="{FF2B5EF4-FFF2-40B4-BE49-F238E27FC236}">
                <a16:creationId xmlns:a16="http://schemas.microsoft.com/office/drawing/2014/main" id="{E143657F-C6B5-49F4-BF18-E36AAD7BCDCB}"/>
              </a:ext>
            </a:extLst>
          </p:cNvPr>
          <p:cNvSpPr>
            <a:spLocks xmlns:a="http://schemas.openxmlformats.org/drawingml/2006/main" noGrp="1"/>
          </p:cNvSpPr>
          <p:nvPr/>
        </p:nvSpPr>
        <p:spPr>
          <a:xfrm xmlns:a="http://schemas.openxmlformats.org/drawingml/2006/main">
            <a:off x="8686800" y="2257425"/>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7CC7FF"/>
                </a:solidFill>
                <a:latin typeface="Aptos"/>
                <a:ea typeface="Aptos"/>
                <a:cs typeface="Aptos"/>
              </a:defRPr>
            </a:pPr>
            <a:r>
              <a:rPr sz="1350" b="1">
                <a:solidFill>
                  <a:srgbClr val="7CC7FF"/>
                </a:solidFill>
                <a:latin typeface="Aptos"/>
                <a:ea typeface="Aptos"/>
                <a:cs typeface="Aptos"/>
              </a:rPr>
              <a:t>09:00</a:t>
            </a:r>
          </a:p>
        </p:txBody>
      </p:sp>
      <p:sp>
        <p:nvSpPr>
          <p:cNvPr id="18" name="">
            <a:extLst xmlns:a="http://schemas.openxmlformats.org/drawingml/2006/main">
              <a:ext uri="{FF2B5EF4-FFF2-40B4-BE49-F238E27FC236}">
                <a16:creationId xmlns:a16="http://schemas.microsoft.com/office/drawing/2014/main" id="{7825EEC9-71B0-40F7-A977-7A643A8470BB}"/>
              </a:ext>
            </a:extLst>
          </p:cNvPr>
          <p:cNvSpPr>
            <a:spLocks xmlns:a="http://schemas.openxmlformats.org/drawingml/2006/main" noGrp="1"/>
          </p:cNvSpPr>
          <p:nvPr/>
        </p:nvSpPr>
        <p:spPr>
          <a:xfrm xmlns:a="http://schemas.openxmlformats.org/drawingml/2006/main">
            <a:off x="9372600" y="2266950"/>
            <a:ext cx="990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MCP boundary</a:t>
            </a:r>
          </a:p>
        </p:txBody>
      </p:sp>
      <p:sp>
        <p:nvSpPr>
          <p:cNvPr id="19" name="">
            <a:extLst xmlns:a="http://schemas.openxmlformats.org/drawingml/2006/main">
              <a:ext uri="{FF2B5EF4-FFF2-40B4-BE49-F238E27FC236}">
                <a16:creationId xmlns:a16="http://schemas.microsoft.com/office/drawing/2014/main" id="{2E519DFB-C095-4D1F-A6E0-697C03390808}"/>
              </a:ext>
            </a:extLst>
          </p:cNvPr>
          <p:cNvSpPr>
            <a:spLocks xmlns:a="http://schemas.openxmlformats.org/drawingml/2006/main" noGrp="1"/>
          </p:cNvSpPr>
          <p:nvPr/>
        </p:nvSpPr>
        <p:spPr>
          <a:xfrm xmlns:a="http://schemas.openxmlformats.org/drawingml/2006/main">
            <a:off x="819150" y="3067050"/>
            <a:ext cx="2076450" cy="571500"/>
          </a:xfrm>
          <a:prstGeom xmlns:a="http://schemas.openxmlformats.org/drawingml/2006/main" prst="rect">
            <a:avLst/>
          </a:prstGeom>
          <a:solidFill xmlns:a="http://schemas.openxmlformats.org/drawingml/2006/main">
            <a:srgbClr val="111B24"/>
          </a:solidFill>
          <a:ln xmlns:a="http://schemas.openxmlformats.org/drawingml/2006/main" w="14288">
            <a:solidFill>
              <a:srgbClr val="5EE39A"/>
            </a:solidFill>
            <a:prstDash val="solid"/>
          </a:ln>
        </p:spPr>
      </p:sp>
      <p:sp>
        <p:nvSpPr>
          <p:cNvPr id="20" name="">
            <a:extLst xmlns:a="http://schemas.openxmlformats.org/drawingml/2006/main">
              <a:ext uri="{FF2B5EF4-FFF2-40B4-BE49-F238E27FC236}">
                <a16:creationId xmlns:a16="http://schemas.microsoft.com/office/drawing/2014/main" id="{22C0F569-9809-407F-837A-3A04802A93B6}"/>
              </a:ext>
            </a:extLst>
          </p:cNvPr>
          <p:cNvSpPr>
            <a:spLocks xmlns:a="http://schemas.openxmlformats.org/drawingml/2006/main" noGrp="1"/>
          </p:cNvSpPr>
          <p:nvPr/>
        </p:nvSpPr>
        <p:spPr>
          <a:xfrm xmlns:a="http://schemas.openxmlformats.org/drawingml/2006/main">
            <a:off x="971550" y="3190875"/>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5EE39A"/>
                </a:solidFill>
                <a:latin typeface="Aptos"/>
                <a:ea typeface="Aptos"/>
                <a:cs typeface="Aptos"/>
              </a:defRPr>
            </a:pPr>
            <a:r>
              <a:rPr sz="1350" b="1">
                <a:solidFill>
                  <a:srgbClr val="5EE39A"/>
                </a:solidFill>
                <a:latin typeface="Aptos"/>
                <a:ea typeface="Aptos"/>
                <a:cs typeface="Aptos"/>
              </a:rPr>
              <a:t>12:00</a:t>
            </a:r>
          </a:p>
        </p:txBody>
      </p:sp>
      <p:sp>
        <p:nvSpPr>
          <p:cNvPr id="21" name="">
            <a:extLst xmlns:a="http://schemas.openxmlformats.org/drawingml/2006/main">
              <a:ext uri="{FF2B5EF4-FFF2-40B4-BE49-F238E27FC236}">
                <a16:creationId xmlns:a16="http://schemas.microsoft.com/office/drawing/2014/main" id="{C7E75FEB-8667-4BCD-8A25-A54EB518F294}"/>
              </a:ext>
            </a:extLst>
          </p:cNvPr>
          <p:cNvSpPr>
            <a:spLocks xmlns:a="http://schemas.openxmlformats.org/drawingml/2006/main" noGrp="1"/>
          </p:cNvSpPr>
          <p:nvPr/>
        </p:nvSpPr>
        <p:spPr>
          <a:xfrm xmlns:a="http://schemas.openxmlformats.org/drawingml/2006/main">
            <a:off x="1657350" y="3200400"/>
            <a:ext cx="990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Group D sim</a:t>
            </a:r>
          </a:p>
        </p:txBody>
      </p:sp>
      <p:sp>
        <p:nvSpPr>
          <p:cNvPr id="22" name="">
            <a:extLst xmlns:a="http://schemas.openxmlformats.org/drawingml/2006/main">
              <a:ext uri="{FF2B5EF4-FFF2-40B4-BE49-F238E27FC236}">
                <a16:creationId xmlns:a16="http://schemas.microsoft.com/office/drawing/2014/main" id="{48D773FA-7FBA-41D7-8314-92A9D771379D}"/>
              </a:ext>
            </a:extLst>
          </p:cNvPr>
          <p:cNvSpPr>
            <a:spLocks xmlns:a="http://schemas.openxmlformats.org/drawingml/2006/main" noGrp="1"/>
          </p:cNvSpPr>
          <p:nvPr/>
        </p:nvSpPr>
        <p:spPr>
          <a:xfrm xmlns:a="http://schemas.openxmlformats.org/drawingml/2006/main">
            <a:off x="3390900" y="3067050"/>
            <a:ext cx="2076450" cy="571500"/>
          </a:xfrm>
          <a:prstGeom xmlns:a="http://schemas.openxmlformats.org/drawingml/2006/main" prst="rect">
            <a:avLst/>
          </a:prstGeom>
          <a:solidFill xmlns:a="http://schemas.openxmlformats.org/drawingml/2006/main">
            <a:srgbClr val="111B24"/>
          </a:solidFill>
          <a:ln xmlns:a="http://schemas.openxmlformats.org/drawingml/2006/main" w="14288">
            <a:solidFill>
              <a:srgbClr val="7CC7FF"/>
            </a:solidFill>
            <a:prstDash val="solid"/>
          </a:ln>
        </p:spPr>
      </p:sp>
      <p:sp>
        <p:nvSpPr>
          <p:cNvPr id="23" name="">
            <a:extLst xmlns:a="http://schemas.openxmlformats.org/drawingml/2006/main">
              <a:ext uri="{FF2B5EF4-FFF2-40B4-BE49-F238E27FC236}">
                <a16:creationId xmlns:a16="http://schemas.microsoft.com/office/drawing/2014/main" id="{5660107D-D531-4DB6-9829-E1033A639FA8}"/>
              </a:ext>
            </a:extLst>
          </p:cNvPr>
          <p:cNvSpPr>
            <a:spLocks xmlns:a="http://schemas.openxmlformats.org/drawingml/2006/main" noGrp="1"/>
          </p:cNvSpPr>
          <p:nvPr/>
        </p:nvSpPr>
        <p:spPr>
          <a:xfrm xmlns:a="http://schemas.openxmlformats.org/drawingml/2006/main">
            <a:off x="3543300" y="3190875"/>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7CC7FF"/>
                </a:solidFill>
                <a:latin typeface="Aptos"/>
                <a:ea typeface="Aptos"/>
                <a:cs typeface="Aptos"/>
              </a:defRPr>
            </a:pPr>
            <a:r>
              <a:rPr sz="1350" b="1">
                <a:solidFill>
                  <a:srgbClr val="7CC7FF"/>
                </a:solidFill>
                <a:latin typeface="Aptos"/>
                <a:ea typeface="Aptos"/>
                <a:cs typeface="Aptos"/>
              </a:rPr>
              <a:t>16:00</a:t>
            </a:r>
          </a:p>
        </p:txBody>
      </p:sp>
      <p:sp>
        <p:nvSpPr>
          <p:cNvPr id="24" name="">
            <a:extLst xmlns:a="http://schemas.openxmlformats.org/drawingml/2006/main">
              <a:ext uri="{FF2B5EF4-FFF2-40B4-BE49-F238E27FC236}">
                <a16:creationId xmlns:a16="http://schemas.microsoft.com/office/drawing/2014/main" id="{77292BEC-7790-43AF-B564-C0B84588C5EB}"/>
              </a:ext>
            </a:extLst>
          </p:cNvPr>
          <p:cNvSpPr>
            <a:spLocks xmlns:a="http://schemas.openxmlformats.org/drawingml/2006/main" noGrp="1"/>
          </p:cNvSpPr>
          <p:nvPr/>
        </p:nvSpPr>
        <p:spPr>
          <a:xfrm xmlns:a="http://schemas.openxmlformats.org/drawingml/2006/main">
            <a:off x="4229100" y="3200400"/>
            <a:ext cx="990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tournament sim</a:t>
            </a:r>
          </a:p>
        </p:txBody>
      </p:sp>
      <p:sp>
        <p:nvSpPr>
          <p:cNvPr id="25" name="">
            <a:extLst xmlns:a="http://schemas.openxmlformats.org/drawingml/2006/main">
              <a:ext uri="{FF2B5EF4-FFF2-40B4-BE49-F238E27FC236}">
                <a16:creationId xmlns:a16="http://schemas.microsoft.com/office/drawing/2014/main" id="{7E12F179-1324-4B90-A914-EFB8C9B1A76E}"/>
              </a:ext>
            </a:extLst>
          </p:cNvPr>
          <p:cNvSpPr>
            <a:spLocks xmlns:a="http://schemas.openxmlformats.org/drawingml/2006/main" noGrp="1"/>
          </p:cNvSpPr>
          <p:nvPr/>
        </p:nvSpPr>
        <p:spPr>
          <a:xfrm xmlns:a="http://schemas.openxmlformats.org/drawingml/2006/main">
            <a:off x="5962650" y="3067050"/>
            <a:ext cx="2076450" cy="571500"/>
          </a:xfrm>
          <a:prstGeom xmlns:a="http://schemas.openxmlformats.org/drawingml/2006/main" prst="rect">
            <a:avLst/>
          </a:prstGeom>
          <a:solidFill xmlns:a="http://schemas.openxmlformats.org/drawingml/2006/main">
            <a:srgbClr val="111B24"/>
          </a:solidFill>
          <a:ln xmlns:a="http://schemas.openxmlformats.org/drawingml/2006/main" w="14288">
            <a:solidFill>
              <a:srgbClr val="5EE39A"/>
            </a:solidFill>
            <a:prstDash val="solid"/>
          </a:ln>
        </p:spPr>
      </p:sp>
      <p:sp>
        <p:nvSpPr>
          <p:cNvPr id="26" name="">
            <a:extLst xmlns:a="http://schemas.openxmlformats.org/drawingml/2006/main">
              <a:ext uri="{FF2B5EF4-FFF2-40B4-BE49-F238E27FC236}">
                <a16:creationId xmlns:a16="http://schemas.microsoft.com/office/drawing/2014/main" id="{1DD62D3B-82E3-4B92-90F0-F9F413B8334C}"/>
              </a:ext>
            </a:extLst>
          </p:cNvPr>
          <p:cNvSpPr>
            <a:spLocks xmlns:a="http://schemas.openxmlformats.org/drawingml/2006/main" noGrp="1"/>
          </p:cNvSpPr>
          <p:nvPr/>
        </p:nvSpPr>
        <p:spPr>
          <a:xfrm xmlns:a="http://schemas.openxmlformats.org/drawingml/2006/main">
            <a:off x="6115050" y="3190875"/>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5EE39A"/>
                </a:solidFill>
                <a:latin typeface="Aptos"/>
                <a:ea typeface="Aptos"/>
                <a:cs typeface="Aptos"/>
              </a:defRPr>
            </a:pPr>
            <a:r>
              <a:rPr sz="1350" b="1">
                <a:solidFill>
                  <a:srgbClr val="5EE39A"/>
                </a:solidFill>
                <a:latin typeface="Aptos"/>
                <a:ea typeface="Aptos"/>
                <a:cs typeface="Aptos"/>
              </a:rPr>
              <a:t>22:00</a:t>
            </a:r>
          </a:p>
        </p:txBody>
      </p:sp>
      <p:sp>
        <p:nvSpPr>
          <p:cNvPr id="27" name="">
            <a:extLst xmlns:a="http://schemas.openxmlformats.org/drawingml/2006/main">
              <a:ext uri="{FF2B5EF4-FFF2-40B4-BE49-F238E27FC236}">
                <a16:creationId xmlns:a16="http://schemas.microsoft.com/office/drawing/2014/main" id="{0A61742C-A84E-4C98-B7E1-365CCD891FEB}"/>
              </a:ext>
            </a:extLst>
          </p:cNvPr>
          <p:cNvSpPr>
            <a:spLocks xmlns:a="http://schemas.openxmlformats.org/drawingml/2006/main" noGrp="1"/>
          </p:cNvSpPr>
          <p:nvPr/>
        </p:nvSpPr>
        <p:spPr>
          <a:xfrm xmlns:a="http://schemas.openxmlformats.org/drawingml/2006/main">
            <a:off x="6800850" y="3200400"/>
            <a:ext cx="990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claim/eval audit</a:t>
            </a:r>
          </a:p>
        </p:txBody>
      </p:sp>
      <p:sp>
        <p:nvSpPr>
          <p:cNvPr id="28" name="">
            <a:extLst xmlns:a="http://schemas.openxmlformats.org/drawingml/2006/main">
              <a:ext uri="{FF2B5EF4-FFF2-40B4-BE49-F238E27FC236}">
                <a16:creationId xmlns:a16="http://schemas.microsoft.com/office/drawing/2014/main" id="{7BDF0576-4EC3-48C0-8D2B-966EF35B4F29}"/>
              </a:ext>
            </a:extLst>
          </p:cNvPr>
          <p:cNvSpPr>
            <a:spLocks xmlns:a="http://schemas.openxmlformats.org/drawingml/2006/main" noGrp="1"/>
          </p:cNvSpPr>
          <p:nvPr/>
        </p:nvSpPr>
        <p:spPr>
          <a:xfrm xmlns:a="http://schemas.openxmlformats.org/drawingml/2006/main">
            <a:off x="8534400" y="3067050"/>
            <a:ext cx="2076450" cy="571500"/>
          </a:xfrm>
          <a:prstGeom xmlns:a="http://schemas.openxmlformats.org/drawingml/2006/main" prst="rect">
            <a:avLst/>
          </a:prstGeom>
          <a:solidFill xmlns:a="http://schemas.openxmlformats.org/drawingml/2006/main">
            <a:srgbClr val="111B24"/>
          </a:solidFill>
          <a:ln xmlns:a="http://schemas.openxmlformats.org/drawingml/2006/main" w="14288">
            <a:solidFill>
              <a:srgbClr val="7CC7FF"/>
            </a:solidFill>
            <a:prstDash val="solid"/>
          </a:ln>
        </p:spPr>
      </p:sp>
      <p:sp>
        <p:nvSpPr>
          <p:cNvPr id="29" name="">
            <a:extLst xmlns:a="http://schemas.openxmlformats.org/drawingml/2006/main">
              <a:ext uri="{FF2B5EF4-FFF2-40B4-BE49-F238E27FC236}">
                <a16:creationId xmlns:a16="http://schemas.microsoft.com/office/drawing/2014/main" id="{6E722485-5DFD-484D-8DFD-526E6D0A5052}"/>
              </a:ext>
            </a:extLst>
          </p:cNvPr>
          <p:cNvSpPr>
            <a:spLocks xmlns:a="http://schemas.openxmlformats.org/drawingml/2006/main" noGrp="1"/>
          </p:cNvSpPr>
          <p:nvPr/>
        </p:nvSpPr>
        <p:spPr>
          <a:xfrm xmlns:a="http://schemas.openxmlformats.org/drawingml/2006/main">
            <a:off x="8686800" y="3190875"/>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7CC7FF"/>
                </a:solidFill>
                <a:latin typeface="Aptos"/>
                <a:ea typeface="Aptos"/>
                <a:cs typeface="Aptos"/>
              </a:defRPr>
            </a:pPr>
            <a:r>
              <a:rPr sz="1350" b="1">
                <a:solidFill>
                  <a:srgbClr val="7CC7FF"/>
                </a:solidFill>
                <a:latin typeface="Aptos"/>
                <a:ea typeface="Aptos"/>
                <a:cs typeface="Aptos"/>
              </a:rPr>
              <a:t>28:30</a:t>
            </a:r>
          </a:p>
        </p:txBody>
      </p:sp>
      <p:sp>
        <p:nvSpPr>
          <p:cNvPr id="30" name="">
            <a:extLst xmlns:a="http://schemas.openxmlformats.org/drawingml/2006/main">
              <a:ext uri="{FF2B5EF4-FFF2-40B4-BE49-F238E27FC236}">
                <a16:creationId xmlns:a16="http://schemas.microsoft.com/office/drawing/2014/main" id="{5343DCA9-9BA6-45C3-B7CA-2B53D5B63D17}"/>
              </a:ext>
            </a:extLst>
          </p:cNvPr>
          <p:cNvSpPr>
            <a:spLocks xmlns:a="http://schemas.openxmlformats.org/drawingml/2006/main" noGrp="1"/>
          </p:cNvSpPr>
          <p:nvPr/>
        </p:nvSpPr>
        <p:spPr>
          <a:xfrm xmlns:a="http://schemas.openxmlformats.org/drawingml/2006/main">
            <a:off x="9372600" y="3200400"/>
            <a:ext cx="990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6F1DF"/>
                </a:solidFill>
                <a:latin typeface="Aptos"/>
                <a:ea typeface="Aptos"/>
                <a:cs typeface="Aptos"/>
              </a:defRPr>
            </a:pPr>
            <a:r>
              <a:rPr sz="1125" b="0">
                <a:solidFill>
                  <a:srgbClr val="F6F1DF"/>
                </a:solidFill>
                <a:latin typeface="Aptos"/>
                <a:ea typeface="Aptos"/>
                <a:cs typeface="Aptos"/>
              </a:rPr>
              <a:t>recap</a:t>
            </a:r>
          </a:p>
        </p:txBody>
      </p:sp>
      <p:sp>
        <p:nvSpPr>
          <p:cNvPr id="31" name="">
            <a:extLst xmlns:a="http://schemas.openxmlformats.org/drawingml/2006/main">
              <a:ext uri="{FF2B5EF4-FFF2-40B4-BE49-F238E27FC236}">
                <a16:creationId xmlns:a16="http://schemas.microsoft.com/office/drawing/2014/main" id="{3F04A9E4-0D7C-4573-A6DD-5B829B9C4406}"/>
              </a:ext>
            </a:extLst>
          </p:cNvPr>
          <p:cNvSpPr>
            <a:spLocks xmlns:a="http://schemas.openxmlformats.org/drawingml/2006/main" noGrp="1"/>
          </p:cNvSpPr>
          <p:nvPr/>
        </p:nvSpPr>
        <p:spPr>
          <a:xfrm xmlns:a="http://schemas.openxmlformats.org/drawingml/2006/main">
            <a:off x="1143000" y="4800600"/>
            <a:ext cx="2381250" cy="1047750"/>
          </a:xfrm>
          <a:prstGeom xmlns:a="http://schemas.openxmlformats.org/drawingml/2006/main" prst="rect">
            <a:avLst/>
          </a:prstGeom>
          <a:solidFill xmlns:a="http://schemas.openxmlformats.org/drawingml/2006/main">
            <a:srgbClr val="0C1824"/>
          </a:solidFill>
          <a:ln xmlns:a="http://schemas.openxmlformats.org/drawingml/2006/main" w="14288">
            <a:solidFill>
              <a:srgbClr val="7CC7FF"/>
            </a:solidFill>
            <a:prstDash val="solid"/>
          </a:ln>
        </p:spPr>
      </p:sp>
      <p:sp>
        <p:nvSpPr>
          <p:cNvPr id="32" name="">
            <a:extLst xmlns:a="http://schemas.openxmlformats.org/drawingml/2006/main">
              <a:ext uri="{FF2B5EF4-FFF2-40B4-BE49-F238E27FC236}">
                <a16:creationId xmlns:a16="http://schemas.microsoft.com/office/drawing/2014/main" id="{009D60FC-367D-4B65-8C83-58C39DCA2C39}"/>
              </a:ext>
            </a:extLst>
          </p:cNvPr>
          <p:cNvSpPr>
            <a:spLocks xmlns:a="http://schemas.openxmlformats.org/drawingml/2006/main" noGrp="1"/>
          </p:cNvSpPr>
          <p:nvPr/>
        </p:nvSpPr>
        <p:spPr>
          <a:xfrm xmlns:a="http://schemas.openxmlformats.org/drawingml/2006/main">
            <a:off x="1314450" y="49530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CC7FF"/>
                </a:solidFill>
                <a:latin typeface="Aptos"/>
                <a:ea typeface="Aptos"/>
                <a:cs typeface="Aptos"/>
              </a:defRPr>
            </a:pPr>
            <a:r>
              <a:rPr sz="900" b="1">
                <a:solidFill>
                  <a:srgbClr val="7CC7FF"/>
                </a:solidFill>
                <a:latin typeface="Aptos"/>
                <a:ea typeface="Aptos"/>
                <a:cs typeface="Aptos"/>
              </a:rPr>
              <a:t>VIDEO LOOP</a:t>
            </a:r>
          </a:p>
        </p:txBody>
      </p:sp>
      <p:sp>
        <p:nvSpPr>
          <p:cNvPr id="33" name="">
            <a:extLst xmlns:a="http://schemas.openxmlformats.org/drawingml/2006/main">
              <a:ext uri="{FF2B5EF4-FFF2-40B4-BE49-F238E27FC236}">
                <a16:creationId xmlns:a16="http://schemas.microsoft.com/office/drawing/2014/main" id="{F77508F0-89A6-4F71-8F47-947060B227C3}"/>
              </a:ext>
            </a:extLst>
          </p:cNvPr>
          <p:cNvSpPr>
            <a:spLocks xmlns:a="http://schemas.openxmlformats.org/drawingml/2006/main" noGrp="1"/>
          </p:cNvSpPr>
          <p:nvPr/>
        </p:nvSpPr>
        <p:spPr>
          <a:xfrm xmlns:a="http://schemas.openxmlformats.org/drawingml/2006/main">
            <a:off x="1314450" y="5200650"/>
            <a:ext cx="2038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6F1DF"/>
                </a:solidFill>
                <a:latin typeface="Aptos"/>
                <a:ea typeface="Aptos"/>
                <a:cs typeface="Aptos"/>
              </a:defRPr>
            </a:pPr>
            <a:r>
              <a:rPr sz="1500" b="1">
                <a:solidFill>
                  <a:srgbClr val="F6F1DF"/>
                </a:solidFill>
                <a:latin typeface="Aptos"/>
                <a:ea typeface="Aptos"/>
                <a:cs typeface="Aptos"/>
              </a:rPr>
              <a:t>Agent loop animation</a:t>
            </a:r>
          </a:p>
        </p:txBody>
      </p:sp>
      <p:sp>
        <p:nvSpPr>
          <p:cNvPr id="34" name="">
            <a:extLst xmlns:a="http://schemas.openxmlformats.org/drawingml/2006/main">
              <a:ext uri="{FF2B5EF4-FFF2-40B4-BE49-F238E27FC236}">
                <a16:creationId xmlns:a16="http://schemas.microsoft.com/office/drawing/2014/main" id="{1033A9DB-7168-4B4F-88CC-9A0193ABC691}"/>
              </a:ext>
            </a:extLst>
          </p:cNvPr>
          <p:cNvSpPr>
            <a:spLocks xmlns:a="http://schemas.openxmlformats.org/drawingml/2006/main" noGrp="1"/>
          </p:cNvSpPr>
          <p:nvPr/>
        </p:nvSpPr>
        <p:spPr>
          <a:xfrm xmlns:a="http://schemas.openxmlformats.org/drawingml/2006/main">
            <a:off x="1314450" y="5715000"/>
            <a:ext cx="2038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B6C1AD"/>
                </a:solidFill>
                <a:latin typeface="Aptos"/>
                <a:ea typeface="Aptos"/>
                <a:cs typeface="Aptos"/>
              </a:defRPr>
            </a:pPr>
            <a:r>
              <a:rPr sz="975" b="0">
                <a:solidFill>
                  <a:srgbClr val="B6C1AD"/>
                </a:solidFill>
                <a:latin typeface="Aptos"/>
                <a:ea typeface="Aptos"/>
                <a:cs typeface="Aptos"/>
              </a:rPr>
              <a:t>assets/agent_loop.mp4</a:t>
            </a:r>
          </a:p>
        </p:txBody>
      </p:sp>
      <p:sp>
        <p:nvSpPr>
          <p:cNvPr id="35" name="">
            <a:extLst xmlns:a="http://schemas.openxmlformats.org/drawingml/2006/main">
              <a:ext uri="{FF2B5EF4-FFF2-40B4-BE49-F238E27FC236}">
                <a16:creationId xmlns:a16="http://schemas.microsoft.com/office/drawing/2014/main" id="{B48C74C9-05D1-49DC-82A3-421A906794F7}"/>
              </a:ext>
            </a:extLst>
          </p:cNvPr>
          <p:cNvSpPr>
            <a:spLocks xmlns:a="http://schemas.openxmlformats.org/drawingml/2006/main" noGrp="1"/>
          </p:cNvSpPr>
          <p:nvPr/>
        </p:nvSpPr>
        <p:spPr>
          <a:xfrm xmlns:a="http://schemas.openxmlformats.org/drawingml/2006/main">
            <a:off x="4000500" y="4800600"/>
            <a:ext cx="2381250" cy="1047750"/>
          </a:xfrm>
          <a:prstGeom xmlns:a="http://schemas.openxmlformats.org/drawingml/2006/main" prst="rect">
            <a:avLst/>
          </a:prstGeom>
          <a:solidFill xmlns:a="http://schemas.openxmlformats.org/drawingml/2006/main">
            <a:srgbClr val="0C1824"/>
          </a:solidFill>
          <a:ln xmlns:a="http://schemas.openxmlformats.org/drawingml/2006/main" w="14288">
            <a:solidFill>
              <a:srgbClr val="FFD166"/>
            </a:solidFill>
            <a:prstDash val="solid"/>
          </a:ln>
        </p:spPr>
      </p:sp>
      <p:sp>
        <p:nvSpPr>
          <p:cNvPr id="36" name="">
            <a:extLst xmlns:a="http://schemas.openxmlformats.org/drawingml/2006/main">
              <a:ext uri="{FF2B5EF4-FFF2-40B4-BE49-F238E27FC236}">
                <a16:creationId xmlns:a16="http://schemas.microsoft.com/office/drawing/2014/main" id="{F1249538-3A51-4C70-A1C9-D93D9C347517}"/>
              </a:ext>
            </a:extLst>
          </p:cNvPr>
          <p:cNvSpPr>
            <a:spLocks xmlns:a="http://schemas.openxmlformats.org/drawingml/2006/main" noGrp="1"/>
          </p:cNvSpPr>
          <p:nvPr/>
        </p:nvSpPr>
        <p:spPr>
          <a:xfrm xmlns:a="http://schemas.openxmlformats.org/drawingml/2006/main">
            <a:off x="4171950" y="49530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D166"/>
                </a:solidFill>
                <a:latin typeface="Aptos"/>
                <a:ea typeface="Aptos"/>
                <a:cs typeface="Aptos"/>
              </a:defRPr>
            </a:pPr>
            <a:r>
              <a:rPr sz="900" b="1">
                <a:solidFill>
                  <a:srgbClr val="FFD166"/>
                </a:solidFill>
                <a:latin typeface="Aptos"/>
                <a:ea typeface="Aptos"/>
                <a:cs typeface="Aptos"/>
              </a:rPr>
              <a:t>VIDEO LOOP</a:t>
            </a:r>
          </a:p>
        </p:txBody>
      </p:sp>
      <p:sp>
        <p:nvSpPr>
          <p:cNvPr id="37" name="">
            <a:extLst xmlns:a="http://schemas.openxmlformats.org/drawingml/2006/main">
              <a:ext uri="{FF2B5EF4-FFF2-40B4-BE49-F238E27FC236}">
                <a16:creationId xmlns:a16="http://schemas.microsoft.com/office/drawing/2014/main" id="{1CAC5EEC-37DD-466C-8CB0-E0026CAD605F}"/>
              </a:ext>
            </a:extLst>
          </p:cNvPr>
          <p:cNvSpPr>
            <a:spLocks xmlns:a="http://schemas.openxmlformats.org/drawingml/2006/main" noGrp="1"/>
          </p:cNvSpPr>
          <p:nvPr/>
        </p:nvSpPr>
        <p:spPr>
          <a:xfrm xmlns:a="http://schemas.openxmlformats.org/drawingml/2006/main">
            <a:off x="4171950" y="5200650"/>
            <a:ext cx="2038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6F1DF"/>
                </a:solidFill>
                <a:latin typeface="Aptos"/>
                <a:ea typeface="Aptos"/>
                <a:cs typeface="Aptos"/>
              </a:defRPr>
            </a:pPr>
            <a:r>
              <a:rPr sz="1500" b="1">
                <a:solidFill>
                  <a:srgbClr val="F6F1DF"/>
                </a:solidFill>
                <a:latin typeface="Aptos"/>
                <a:ea typeface="Aptos"/>
                <a:cs typeface="Aptos"/>
              </a:rPr>
              <a:t>Champion bar race</a:t>
            </a:r>
          </a:p>
        </p:txBody>
      </p:sp>
      <p:sp>
        <p:nvSpPr>
          <p:cNvPr id="38" name="">
            <a:extLst xmlns:a="http://schemas.openxmlformats.org/drawingml/2006/main">
              <a:ext uri="{FF2B5EF4-FFF2-40B4-BE49-F238E27FC236}">
                <a16:creationId xmlns:a16="http://schemas.microsoft.com/office/drawing/2014/main" id="{0EF40ABD-9CC3-43B1-806D-466DC31E725E}"/>
              </a:ext>
            </a:extLst>
          </p:cNvPr>
          <p:cNvSpPr>
            <a:spLocks xmlns:a="http://schemas.openxmlformats.org/drawingml/2006/main" noGrp="1"/>
          </p:cNvSpPr>
          <p:nvPr/>
        </p:nvSpPr>
        <p:spPr>
          <a:xfrm xmlns:a="http://schemas.openxmlformats.org/drawingml/2006/main">
            <a:off x="4171950" y="5715000"/>
            <a:ext cx="2038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B6C1AD"/>
                </a:solidFill>
                <a:latin typeface="Aptos"/>
                <a:ea typeface="Aptos"/>
                <a:cs typeface="Aptos"/>
              </a:defRPr>
            </a:pPr>
            <a:r>
              <a:rPr sz="975" b="0">
                <a:solidFill>
                  <a:srgbClr val="B6C1AD"/>
                </a:solidFill>
                <a:latin typeface="Aptos"/>
                <a:ea typeface="Aptos"/>
                <a:cs typeface="Aptos"/>
              </a:rPr>
              <a:t>assets/champion_bar_race.mp4</a:t>
            </a:r>
          </a:p>
        </p:txBody>
      </p:sp>
      <p:sp>
        <p:nvSpPr>
          <p:cNvPr id="39" name="">
            <a:extLst xmlns:a="http://schemas.openxmlformats.org/drawingml/2006/main">
              <a:ext uri="{FF2B5EF4-FFF2-40B4-BE49-F238E27FC236}">
                <a16:creationId xmlns:a16="http://schemas.microsoft.com/office/drawing/2014/main" id="{C5E05783-630D-40A2-B4A4-CF0AE07EE14D}"/>
              </a:ext>
            </a:extLst>
          </p:cNvPr>
          <p:cNvSpPr>
            <a:spLocks xmlns:a="http://schemas.openxmlformats.org/drawingml/2006/main" noGrp="1"/>
          </p:cNvSpPr>
          <p:nvPr/>
        </p:nvSpPr>
        <p:spPr>
          <a:xfrm xmlns:a="http://schemas.openxmlformats.org/drawingml/2006/main">
            <a:off x="6858000" y="4800600"/>
            <a:ext cx="2381250" cy="1047750"/>
          </a:xfrm>
          <a:prstGeom xmlns:a="http://schemas.openxmlformats.org/drawingml/2006/main" prst="rect">
            <a:avLst/>
          </a:prstGeom>
          <a:solidFill xmlns:a="http://schemas.openxmlformats.org/drawingml/2006/main">
            <a:srgbClr val="0C1824"/>
          </a:solidFill>
          <a:ln xmlns:a="http://schemas.openxmlformats.org/drawingml/2006/main" w="14288">
            <a:solidFill>
              <a:srgbClr val="5EE39A"/>
            </a:solidFill>
            <a:prstDash val="solid"/>
          </a:ln>
        </p:spPr>
      </p:sp>
      <p:sp>
        <p:nvSpPr>
          <p:cNvPr id="40" name="">
            <a:extLst xmlns:a="http://schemas.openxmlformats.org/drawingml/2006/main">
              <a:ext uri="{FF2B5EF4-FFF2-40B4-BE49-F238E27FC236}">
                <a16:creationId xmlns:a16="http://schemas.microsoft.com/office/drawing/2014/main" id="{2E39356B-91C9-4B87-A49F-DCB2C7B584C8}"/>
              </a:ext>
            </a:extLst>
          </p:cNvPr>
          <p:cNvSpPr>
            <a:spLocks xmlns:a="http://schemas.openxmlformats.org/drawingml/2006/main" noGrp="1"/>
          </p:cNvSpPr>
          <p:nvPr/>
        </p:nvSpPr>
        <p:spPr>
          <a:xfrm xmlns:a="http://schemas.openxmlformats.org/drawingml/2006/main">
            <a:off x="7029450" y="49530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5EE39A"/>
                </a:solidFill>
                <a:latin typeface="Aptos"/>
                <a:ea typeface="Aptos"/>
                <a:cs typeface="Aptos"/>
              </a:defRPr>
            </a:pPr>
            <a:r>
              <a:rPr sz="900" b="1">
                <a:solidFill>
                  <a:srgbClr val="5EE39A"/>
                </a:solidFill>
                <a:latin typeface="Aptos"/>
                <a:ea typeface="Aptos"/>
                <a:cs typeface="Aptos"/>
              </a:rPr>
              <a:t>VIDEO LOOP</a:t>
            </a:r>
          </a:p>
        </p:txBody>
      </p:sp>
      <p:sp>
        <p:nvSpPr>
          <p:cNvPr id="41" name="">
            <a:extLst xmlns:a="http://schemas.openxmlformats.org/drawingml/2006/main">
              <a:ext uri="{FF2B5EF4-FFF2-40B4-BE49-F238E27FC236}">
                <a16:creationId xmlns:a16="http://schemas.microsoft.com/office/drawing/2014/main" id="{444755EA-F43A-4B35-A7A8-67966BB6059D}"/>
              </a:ext>
            </a:extLst>
          </p:cNvPr>
          <p:cNvSpPr>
            <a:spLocks xmlns:a="http://schemas.openxmlformats.org/drawingml/2006/main" noGrp="1"/>
          </p:cNvSpPr>
          <p:nvPr/>
        </p:nvSpPr>
        <p:spPr>
          <a:xfrm xmlns:a="http://schemas.openxmlformats.org/drawingml/2006/main">
            <a:off x="7029450" y="5200650"/>
            <a:ext cx="2038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6F1DF"/>
                </a:solidFill>
                <a:latin typeface="Aptos"/>
                <a:ea typeface="Aptos"/>
                <a:cs typeface="Aptos"/>
              </a:defRPr>
            </a:pPr>
            <a:r>
              <a:rPr sz="1500" b="1">
                <a:solidFill>
                  <a:srgbClr val="F6F1DF"/>
                </a:solidFill>
                <a:latin typeface="Aptos"/>
                <a:ea typeface="Aptos"/>
                <a:cs typeface="Aptos"/>
              </a:rPr>
              <a:t>Rolling forecast shift</a:t>
            </a:r>
          </a:p>
        </p:txBody>
      </p:sp>
      <p:sp>
        <p:nvSpPr>
          <p:cNvPr id="42" name="">
            <a:extLst xmlns:a="http://schemas.openxmlformats.org/drawingml/2006/main">
              <a:ext uri="{FF2B5EF4-FFF2-40B4-BE49-F238E27FC236}">
                <a16:creationId xmlns:a16="http://schemas.microsoft.com/office/drawing/2014/main" id="{1477BBCD-1C42-4E53-930B-223D689AF814}"/>
              </a:ext>
            </a:extLst>
          </p:cNvPr>
          <p:cNvSpPr>
            <a:spLocks xmlns:a="http://schemas.openxmlformats.org/drawingml/2006/main" noGrp="1"/>
          </p:cNvSpPr>
          <p:nvPr/>
        </p:nvSpPr>
        <p:spPr>
          <a:xfrm xmlns:a="http://schemas.openxmlformats.org/drawingml/2006/main">
            <a:off x="7029450" y="5715000"/>
            <a:ext cx="2038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B6C1AD"/>
                </a:solidFill>
                <a:latin typeface="Aptos"/>
                <a:ea typeface="Aptos"/>
                <a:cs typeface="Aptos"/>
              </a:defRPr>
            </a:pPr>
            <a:r>
              <a:rPr sz="975" b="0">
                <a:solidFill>
                  <a:srgbClr val="B6C1AD"/>
                </a:solidFill>
                <a:latin typeface="Aptos"/>
                <a:ea typeface="Aptos"/>
                <a:cs typeface="Aptos"/>
              </a:rPr>
              <a:t>assets/rolling_forecast_shift.mp4</a:t>
            </a:r>
          </a:p>
        </p:txBody>
      </p:sp>
      <p:sp>
        <p:nvSpPr>
          <p:cNvPr id="43" name="">
            <a:extLst xmlns:a="http://schemas.openxmlformats.org/drawingml/2006/main">
              <a:ext uri="{FF2B5EF4-FFF2-40B4-BE49-F238E27FC236}">
                <a16:creationId xmlns:a16="http://schemas.microsoft.com/office/drawing/2014/main" id="{5D57A9CD-19F6-4E5C-9EFA-D58678AC44A1}"/>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17</a:t>
            </a:r>
          </a:p>
        </p:txBody>
      </p:sp>
      <p:sp>
        <p:nvSpPr>
          <p:cNvPr id="44" name="">
            <a:extLst xmlns:a="http://schemas.openxmlformats.org/drawingml/2006/main">
              <a:ext uri="{FF2B5EF4-FFF2-40B4-BE49-F238E27FC236}">
                <a16:creationId xmlns:a16="http://schemas.microsoft.com/office/drawing/2014/main" id="{0A73369D-DF79-4E56-9E12-7C9B0421A139}"/>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MP4 loops are included in the media pack next to the deck output</a:t>
            </a:r>
          </a:p>
        </p:txBody>
      </p:sp>
    </p:spTree>
    <p:extLst>
      <p:ext uri="{BB962C8B-B14F-4D97-AF65-F5344CB8AC3E}">
        <p14:creationId xmlns:p14="http://schemas.microsoft.com/office/powerpoint/2010/main" val="175380544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675469517fd0411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A23D83-0E7F-4F86-AE2B-352426873D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65882"/>
            </a:srgbClr>
          </a:solidFill>
          <a:ln xmlns:a="http://schemas.openxmlformats.org/drawingml/2006/main" w="14288">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46BD65B-DD28-4073-9AF2-BF1F1CAFEBE9}"/>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4" name="kicker-label">
            <a:extLst xmlns:a="http://schemas.openxmlformats.org/drawingml/2006/main">
              <a:ext uri="{FF2B5EF4-FFF2-40B4-BE49-F238E27FC236}">
                <a16:creationId xmlns:a16="http://schemas.microsoft.com/office/drawing/2014/main" id="{647AA2A0-BA29-4A61-90D8-E0FEE0233E2E}"/>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FORECAST VAR</a:t>
            </a:r>
          </a:p>
        </p:txBody>
      </p:sp>
      <p:sp>
        <p:nvSpPr>
          <p:cNvPr id="5" name="">
            <a:extLst xmlns:a="http://schemas.openxmlformats.org/drawingml/2006/main">
              <a:ext uri="{FF2B5EF4-FFF2-40B4-BE49-F238E27FC236}">
                <a16:creationId xmlns:a16="http://schemas.microsoft.com/office/drawing/2014/main" id="{B3DA7BA7-09D4-4C8F-9573-03B953F3419C}"/>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28:30</a:t>
            </a:r>
          </a:p>
        </p:txBody>
      </p:sp>
      <p:sp>
        <p:nvSpPr>
          <p:cNvPr id="6" name="">
            <a:extLst xmlns:a="http://schemas.openxmlformats.org/drawingml/2006/main">
              <a:ext uri="{FF2B5EF4-FFF2-40B4-BE49-F238E27FC236}">
                <a16:creationId xmlns:a16="http://schemas.microsoft.com/office/drawing/2014/main" id="{C0E5466C-E024-4E04-988E-47B2FDE28A11}"/>
              </a:ext>
            </a:extLst>
          </p:cNvPr>
          <p:cNvSpPr>
            <a:spLocks xmlns:a="http://schemas.openxmlformats.org/drawingml/2006/main" noGrp="1"/>
          </p:cNvSpPr>
          <p:nvPr/>
        </p:nvSpPr>
        <p:spPr>
          <a:xfrm xmlns:a="http://schemas.openxmlformats.org/drawingml/2006/main">
            <a:off x="609600" y="704850"/>
            <a:ext cx="7524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6F1DF"/>
                </a:solidFill>
                <a:latin typeface="Aptos Display"/>
                <a:ea typeface="Aptos Display"/>
                <a:cs typeface="Aptos Display"/>
              </a:defRPr>
            </a:pPr>
            <a:r>
              <a:rPr sz="3300" b="1">
                <a:solidFill>
                  <a:srgbClr val="F6F1DF"/>
                </a:solidFill>
                <a:latin typeface="Aptos Display"/>
                <a:ea typeface="Aptos Display"/>
                <a:cs typeface="Aptos Display"/>
              </a:rPr>
              <a:t>The reusable agent-engineering pattern is bigger than football.</a:t>
            </a:r>
          </a:p>
        </p:txBody>
      </p:sp>
      <p:sp>
        <p:nvSpPr>
          <p:cNvPr id="7" name="">
            <a:extLst xmlns:a="http://schemas.openxmlformats.org/drawingml/2006/main">
              <a:ext uri="{FF2B5EF4-FFF2-40B4-BE49-F238E27FC236}">
                <a16:creationId xmlns:a16="http://schemas.microsoft.com/office/drawing/2014/main" id="{3484A22B-B0AD-4BF6-830B-7F87B619F48D}"/>
              </a:ext>
            </a:extLst>
          </p:cNvPr>
          <p:cNvSpPr>
            <a:spLocks xmlns:a="http://schemas.openxmlformats.org/drawingml/2006/main" noGrp="1"/>
          </p:cNvSpPr>
          <p:nvPr/>
        </p:nvSpPr>
        <p:spPr>
          <a:xfrm xmlns:a="http://schemas.openxmlformats.org/drawingml/2006/main">
            <a:off x="628650" y="1657350"/>
            <a:ext cx="6858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6C1AD"/>
                </a:solidFill>
                <a:latin typeface="Aptos"/>
                <a:ea typeface="Aptos"/>
                <a:cs typeface="Aptos"/>
              </a:defRPr>
            </a:pPr>
            <a:r>
              <a:rPr sz="1500" b="0">
                <a:solidFill>
                  <a:srgbClr val="B6C1AD"/>
                </a:solidFill>
                <a:latin typeface="Aptos"/>
                <a:ea typeface="Aptos"/>
                <a:cs typeface="Aptos"/>
              </a:rPr>
              <a:t>Validate the world, retrieve evidence, call deterministic tools, verify claims, disclose uncertainty.</a:t>
            </a:r>
          </a:p>
        </p:txBody>
      </p:sp>
      <p:sp>
        <p:nvSpPr>
          <p:cNvPr id="8" name="">
            <a:extLst xmlns:a="http://schemas.openxmlformats.org/drawingml/2006/main">
              <a:ext uri="{FF2B5EF4-FFF2-40B4-BE49-F238E27FC236}">
                <a16:creationId xmlns:a16="http://schemas.microsoft.com/office/drawing/2014/main" id="{A6255404-58BD-496B-BAEE-0221A63372DB}"/>
              </a:ext>
            </a:extLst>
          </p:cNvPr>
          <p:cNvSpPr>
            <a:spLocks xmlns:a="http://schemas.openxmlformats.org/drawingml/2006/main" noGrp="1"/>
          </p:cNvSpPr>
          <p:nvPr/>
        </p:nvSpPr>
        <p:spPr>
          <a:xfrm xmlns:a="http://schemas.openxmlformats.org/drawingml/2006/main">
            <a:off x="857250" y="3143250"/>
            <a:ext cx="1676400" cy="99060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5EE39A"/>
            </a:solidFill>
            <a:prstDash val="solid"/>
          </a:ln>
        </p:spPr>
      </p:sp>
      <p:sp>
        <p:nvSpPr>
          <p:cNvPr id="9" name="">
            <a:extLst xmlns:a="http://schemas.openxmlformats.org/drawingml/2006/main">
              <a:ext uri="{FF2B5EF4-FFF2-40B4-BE49-F238E27FC236}">
                <a16:creationId xmlns:a16="http://schemas.microsoft.com/office/drawing/2014/main" id="{F4C9ECAC-3D1B-4E35-8D16-DACDEE58116E}"/>
              </a:ext>
            </a:extLst>
          </p:cNvPr>
          <p:cNvSpPr>
            <a:spLocks xmlns:a="http://schemas.openxmlformats.org/drawingml/2006/main" noGrp="1"/>
          </p:cNvSpPr>
          <p:nvPr/>
        </p:nvSpPr>
        <p:spPr>
          <a:xfrm xmlns:a="http://schemas.openxmlformats.org/drawingml/2006/main">
            <a:off x="1028700" y="3352800"/>
            <a:ext cx="1314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5EE39A"/>
                </a:solidFill>
                <a:latin typeface="Aptos"/>
                <a:ea typeface="Aptos"/>
                <a:cs typeface="Aptos"/>
              </a:defRPr>
            </a:pPr>
            <a:r>
              <a:rPr sz="1800" b="1">
                <a:solidFill>
                  <a:srgbClr val="5EE39A"/>
                </a:solidFill>
                <a:latin typeface="Aptos"/>
                <a:ea typeface="Aptos"/>
                <a:cs typeface="Aptos"/>
              </a:rPr>
              <a:t>Validate</a:t>
            </a:r>
          </a:p>
        </p:txBody>
      </p:sp>
      <p:sp>
        <p:nvSpPr>
          <p:cNvPr id="10" name="">
            <a:extLst xmlns:a="http://schemas.openxmlformats.org/drawingml/2006/main">
              <a:ext uri="{FF2B5EF4-FFF2-40B4-BE49-F238E27FC236}">
                <a16:creationId xmlns:a16="http://schemas.microsoft.com/office/drawing/2014/main" id="{07537C0A-BE07-4AF9-8C7B-05D7A3D70515}"/>
              </a:ext>
            </a:extLst>
          </p:cNvPr>
          <p:cNvSpPr>
            <a:spLocks xmlns:a="http://schemas.openxmlformats.org/drawingml/2006/main" noGrp="1"/>
          </p:cNvSpPr>
          <p:nvPr/>
        </p:nvSpPr>
        <p:spPr>
          <a:xfrm xmlns:a="http://schemas.openxmlformats.org/drawingml/2006/main">
            <a:off x="1028700" y="3733800"/>
            <a:ext cx="1314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6F1DF"/>
                </a:solidFill>
                <a:latin typeface="Aptos"/>
                <a:ea typeface="Aptos"/>
                <a:cs typeface="Aptos"/>
              </a:defRPr>
            </a:pPr>
            <a:r>
              <a:rPr sz="1125" b="0">
                <a:solidFill>
                  <a:srgbClr val="F6F1DF"/>
                </a:solidFill>
                <a:latin typeface="Aptos"/>
                <a:ea typeface="Aptos"/>
                <a:cs typeface="Aptos"/>
              </a:rPr>
              <a:t>world + inputs</a:t>
            </a:r>
          </a:p>
        </p:txBody>
      </p:sp>
      <p:sp>
        <p:nvSpPr>
          <p:cNvPr id="11" name="">
            <a:extLst xmlns:a="http://schemas.openxmlformats.org/drawingml/2006/main">
              <a:ext uri="{FF2B5EF4-FFF2-40B4-BE49-F238E27FC236}">
                <a16:creationId xmlns:a16="http://schemas.microsoft.com/office/drawing/2014/main" id="{ABDCA743-64A5-4720-9884-0E5CBECD8329}"/>
              </a:ext>
            </a:extLst>
          </p:cNvPr>
          <p:cNvSpPr>
            <a:spLocks xmlns:a="http://schemas.openxmlformats.org/drawingml/2006/main" noGrp="1"/>
          </p:cNvSpPr>
          <p:nvPr/>
        </p:nvSpPr>
        <p:spPr>
          <a:xfrm xmlns:a="http://schemas.openxmlformats.org/drawingml/2006/main">
            <a:off x="2952750" y="3143250"/>
            <a:ext cx="1676400" cy="99060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7CC7FF"/>
            </a:solidFill>
            <a:prstDash val="solid"/>
          </a:ln>
        </p:spPr>
      </p:sp>
      <p:sp>
        <p:nvSpPr>
          <p:cNvPr id="12" name="">
            <a:extLst xmlns:a="http://schemas.openxmlformats.org/drawingml/2006/main">
              <a:ext uri="{FF2B5EF4-FFF2-40B4-BE49-F238E27FC236}">
                <a16:creationId xmlns:a16="http://schemas.microsoft.com/office/drawing/2014/main" id="{455C19D5-B9BB-4EF3-8313-9E863ABE15A6}"/>
              </a:ext>
            </a:extLst>
          </p:cNvPr>
          <p:cNvSpPr>
            <a:spLocks xmlns:a="http://schemas.openxmlformats.org/drawingml/2006/main" noGrp="1"/>
          </p:cNvSpPr>
          <p:nvPr/>
        </p:nvSpPr>
        <p:spPr>
          <a:xfrm xmlns:a="http://schemas.openxmlformats.org/drawingml/2006/main">
            <a:off x="3124200" y="3352800"/>
            <a:ext cx="1314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7CC7FF"/>
                </a:solidFill>
                <a:latin typeface="Aptos"/>
                <a:ea typeface="Aptos"/>
                <a:cs typeface="Aptos"/>
              </a:defRPr>
            </a:pPr>
            <a:r>
              <a:rPr sz="1800" b="1">
                <a:solidFill>
                  <a:srgbClr val="7CC7FF"/>
                </a:solidFill>
                <a:latin typeface="Aptos"/>
                <a:ea typeface="Aptos"/>
                <a:cs typeface="Aptos"/>
              </a:rPr>
              <a:t>Retrieve</a:t>
            </a:r>
          </a:p>
        </p:txBody>
      </p:sp>
      <p:sp>
        <p:nvSpPr>
          <p:cNvPr id="13" name="">
            <a:extLst xmlns:a="http://schemas.openxmlformats.org/drawingml/2006/main">
              <a:ext uri="{FF2B5EF4-FFF2-40B4-BE49-F238E27FC236}">
                <a16:creationId xmlns:a16="http://schemas.microsoft.com/office/drawing/2014/main" id="{0F15BABA-5355-4320-9F8A-71020C4BF7F3}"/>
              </a:ext>
            </a:extLst>
          </p:cNvPr>
          <p:cNvSpPr>
            <a:spLocks xmlns:a="http://schemas.openxmlformats.org/drawingml/2006/main" noGrp="1"/>
          </p:cNvSpPr>
          <p:nvPr/>
        </p:nvSpPr>
        <p:spPr>
          <a:xfrm xmlns:a="http://schemas.openxmlformats.org/drawingml/2006/main">
            <a:off x="3124200" y="3733800"/>
            <a:ext cx="1314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6F1DF"/>
                </a:solidFill>
                <a:latin typeface="Aptos"/>
                <a:ea typeface="Aptos"/>
                <a:cs typeface="Aptos"/>
              </a:defRPr>
            </a:pPr>
            <a:r>
              <a:rPr sz="1125" b="0">
                <a:solidFill>
                  <a:srgbClr val="F6F1DF"/>
                </a:solidFill>
                <a:latin typeface="Aptos"/>
                <a:ea typeface="Aptos"/>
                <a:cs typeface="Aptos"/>
              </a:rPr>
              <a:t>source context</a:t>
            </a:r>
          </a:p>
        </p:txBody>
      </p:sp>
      <p:sp>
        <p:nvSpPr>
          <p:cNvPr id="14" name="">
            <a:extLst xmlns:a="http://schemas.openxmlformats.org/drawingml/2006/main">
              <a:ext uri="{FF2B5EF4-FFF2-40B4-BE49-F238E27FC236}">
                <a16:creationId xmlns:a16="http://schemas.microsoft.com/office/drawing/2014/main" id="{78A4D95B-4621-43CC-8585-1091DB10FFC1}"/>
              </a:ext>
            </a:extLst>
          </p:cNvPr>
          <p:cNvSpPr>
            <a:spLocks xmlns:a="http://schemas.openxmlformats.org/drawingml/2006/main" noGrp="1"/>
          </p:cNvSpPr>
          <p:nvPr/>
        </p:nvSpPr>
        <p:spPr>
          <a:xfrm xmlns:a="http://schemas.openxmlformats.org/drawingml/2006/main">
            <a:off x="5048250" y="3143250"/>
            <a:ext cx="1676400" cy="99060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FFD166"/>
            </a:solidFill>
            <a:prstDash val="solid"/>
          </a:ln>
        </p:spPr>
      </p:sp>
      <p:sp>
        <p:nvSpPr>
          <p:cNvPr id="15" name="">
            <a:extLst xmlns:a="http://schemas.openxmlformats.org/drawingml/2006/main">
              <a:ext uri="{FF2B5EF4-FFF2-40B4-BE49-F238E27FC236}">
                <a16:creationId xmlns:a16="http://schemas.microsoft.com/office/drawing/2014/main" id="{46F507BD-EB46-4C4B-9289-48C467F5CE2A}"/>
              </a:ext>
            </a:extLst>
          </p:cNvPr>
          <p:cNvSpPr>
            <a:spLocks xmlns:a="http://schemas.openxmlformats.org/drawingml/2006/main" noGrp="1"/>
          </p:cNvSpPr>
          <p:nvPr/>
        </p:nvSpPr>
        <p:spPr>
          <a:xfrm xmlns:a="http://schemas.openxmlformats.org/drawingml/2006/main">
            <a:off x="5219700" y="3352800"/>
            <a:ext cx="1314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D166"/>
                </a:solidFill>
                <a:latin typeface="Aptos"/>
                <a:ea typeface="Aptos"/>
                <a:cs typeface="Aptos"/>
              </a:defRPr>
            </a:pPr>
            <a:r>
              <a:rPr sz="1800" b="1">
                <a:solidFill>
                  <a:srgbClr val="FFD166"/>
                </a:solidFill>
                <a:latin typeface="Aptos"/>
                <a:ea typeface="Aptos"/>
                <a:cs typeface="Aptos"/>
              </a:rPr>
              <a:t>Compute</a:t>
            </a:r>
          </a:p>
        </p:txBody>
      </p:sp>
      <p:sp>
        <p:nvSpPr>
          <p:cNvPr id="16" name="">
            <a:extLst xmlns:a="http://schemas.openxmlformats.org/drawingml/2006/main">
              <a:ext uri="{FF2B5EF4-FFF2-40B4-BE49-F238E27FC236}">
                <a16:creationId xmlns:a16="http://schemas.microsoft.com/office/drawing/2014/main" id="{ADF711B8-1EC2-4E40-B0AD-0BBC0F64C6BA}"/>
              </a:ext>
            </a:extLst>
          </p:cNvPr>
          <p:cNvSpPr>
            <a:spLocks xmlns:a="http://schemas.openxmlformats.org/drawingml/2006/main" noGrp="1"/>
          </p:cNvSpPr>
          <p:nvPr/>
        </p:nvSpPr>
        <p:spPr>
          <a:xfrm xmlns:a="http://schemas.openxmlformats.org/drawingml/2006/main">
            <a:off x="5219700" y="3733800"/>
            <a:ext cx="1314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6F1DF"/>
                </a:solidFill>
                <a:latin typeface="Aptos"/>
                <a:ea typeface="Aptos"/>
                <a:cs typeface="Aptos"/>
              </a:defRPr>
            </a:pPr>
            <a:r>
              <a:rPr sz="1125" b="0">
                <a:solidFill>
                  <a:srgbClr val="F6F1DF"/>
                </a:solidFill>
                <a:latin typeface="Aptos"/>
                <a:ea typeface="Aptos"/>
                <a:cs typeface="Aptos"/>
              </a:rPr>
              <a:t>tool boundary</a:t>
            </a:r>
          </a:p>
        </p:txBody>
      </p:sp>
      <p:sp>
        <p:nvSpPr>
          <p:cNvPr id="17" name="">
            <a:extLst xmlns:a="http://schemas.openxmlformats.org/drawingml/2006/main">
              <a:ext uri="{FF2B5EF4-FFF2-40B4-BE49-F238E27FC236}">
                <a16:creationId xmlns:a16="http://schemas.microsoft.com/office/drawing/2014/main" id="{79170B02-51B0-4249-826D-D66F150C6EB0}"/>
              </a:ext>
            </a:extLst>
          </p:cNvPr>
          <p:cNvSpPr>
            <a:spLocks xmlns:a="http://schemas.openxmlformats.org/drawingml/2006/main" noGrp="1"/>
          </p:cNvSpPr>
          <p:nvPr/>
        </p:nvSpPr>
        <p:spPr>
          <a:xfrm xmlns:a="http://schemas.openxmlformats.org/drawingml/2006/main">
            <a:off x="7143750" y="3143250"/>
            <a:ext cx="1676400" cy="99060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B899FF"/>
            </a:solidFill>
            <a:prstDash val="solid"/>
          </a:ln>
        </p:spPr>
      </p:sp>
      <p:sp>
        <p:nvSpPr>
          <p:cNvPr id="18" name="">
            <a:extLst xmlns:a="http://schemas.openxmlformats.org/drawingml/2006/main">
              <a:ext uri="{FF2B5EF4-FFF2-40B4-BE49-F238E27FC236}">
                <a16:creationId xmlns:a16="http://schemas.microsoft.com/office/drawing/2014/main" id="{A0C426E1-8B7D-4788-9D77-92844DF62FA0}"/>
              </a:ext>
            </a:extLst>
          </p:cNvPr>
          <p:cNvSpPr>
            <a:spLocks xmlns:a="http://schemas.openxmlformats.org/drawingml/2006/main" noGrp="1"/>
          </p:cNvSpPr>
          <p:nvPr/>
        </p:nvSpPr>
        <p:spPr>
          <a:xfrm xmlns:a="http://schemas.openxmlformats.org/drawingml/2006/main">
            <a:off x="7315200" y="3352800"/>
            <a:ext cx="1314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B899FF"/>
                </a:solidFill>
                <a:latin typeface="Aptos"/>
                <a:ea typeface="Aptos"/>
                <a:cs typeface="Aptos"/>
              </a:defRPr>
            </a:pPr>
            <a:r>
              <a:rPr sz="1800" b="1">
                <a:solidFill>
                  <a:srgbClr val="B899FF"/>
                </a:solidFill>
                <a:latin typeface="Aptos"/>
                <a:ea typeface="Aptos"/>
                <a:cs typeface="Aptos"/>
              </a:rPr>
              <a:t>Verify</a:t>
            </a:r>
          </a:p>
        </p:txBody>
      </p:sp>
      <p:sp>
        <p:nvSpPr>
          <p:cNvPr id="19" name="">
            <a:extLst xmlns:a="http://schemas.openxmlformats.org/drawingml/2006/main">
              <a:ext uri="{FF2B5EF4-FFF2-40B4-BE49-F238E27FC236}">
                <a16:creationId xmlns:a16="http://schemas.microsoft.com/office/drawing/2014/main" id="{7C0891F5-F3F4-4CC1-9D15-6B54843F053A}"/>
              </a:ext>
            </a:extLst>
          </p:cNvPr>
          <p:cNvSpPr>
            <a:spLocks xmlns:a="http://schemas.openxmlformats.org/drawingml/2006/main" noGrp="1"/>
          </p:cNvSpPr>
          <p:nvPr/>
        </p:nvSpPr>
        <p:spPr>
          <a:xfrm xmlns:a="http://schemas.openxmlformats.org/drawingml/2006/main">
            <a:off x="7315200" y="3733800"/>
            <a:ext cx="1314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6F1DF"/>
                </a:solidFill>
                <a:latin typeface="Aptos"/>
                <a:ea typeface="Aptos"/>
                <a:cs typeface="Aptos"/>
              </a:defRPr>
            </a:pPr>
            <a:r>
              <a:rPr sz="1125" b="0">
                <a:solidFill>
                  <a:srgbClr val="F6F1DF"/>
                </a:solidFill>
                <a:latin typeface="Aptos"/>
                <a:ea typeface="Aptos"/>
                <a:cs typeface="Aptos"/>
              </a:rPr>
              <a:t>typed claims</a:t>
            </a:r>
          </a:p>
        </p:txBody>
      </p:sp>
      <p:sp>
        <p:nvSpPr>
          <p:cNvPr id="20" name="">
            <a:extLst xmlns:a="http://schemas.openxmlformats.org/drawingml/2006/main">
              <a:ext uri="{FF2B5EF4-FFF2-40B4-BE49-F238E27FC236}">
                <a16:creationId xmlns:a16="http://schemas.microsoft.com/office/drawing/2014/main" id="{F2A537FA-F4A0-43CD-9C48-0CB3741D3DF3}"/>
              </a:ext>
            </a:extLst>
          </p:cNvPr>
          <p:cNvSpPr>
            <a:spLocks xmlns:a="http://schemas.openxmlformats.org/drawingml/2006/main" noGrp="1"/>
          </p:cNvSpPr>
          <p:nvPr/>
        </p:nvSpPr>
        <p:spPr>
          <a:xfrm xmlns:a="http://schemas.openxmlformats.org/drawingml/2006/main">
            <a:off x="9239250" y="3143250"/>
            <a:ext cx="1676400" cy="990600"/>
          </a:xfrm>
          <a:prstGeom xmlns:a="http://schemas.openxmlformats.org/drawingml/2006/main" prst="rect">
            <a:avLst/>
          </a:prstGeom>
          <a:solidFill xmlns:a="http://schemas.openxmlformats.org/drawingml/2006/main">
            <a:srgbClr val="07130F">
              <a:alpha val="80000"/>
            </a:srgbClr>
          </a:solidFill>
          <a:ln xmlns:a="http://schemas.openxmlformats.org/drawingml/2006/main" w="14288">
            <a:solidFill>
              <a:srgbClr val="F45B69"/>
            </a:solidFill>
            <a:prstDash val="solid"/>
          </a:ln>
        </p:spPr>
      </p:sp>
      <p:sp>
        <p:nvSpPr>
          <p:cNvPr id="21" name="">
            <a:extLst xmlns:a="http://schemas.openxmlformats.org/drawingml/2006/main">
              <a:ext uri="{FF2B5EF4-FFF2-40B4-BE49-F238E27FC236}">
                <a16:creationId xmlns:a16="http://schemas.microsoft.com/office/drawing/2014/main" id="{D3FD930D-9785-4F21-B4F4-A2B6D3CF409C}"/>
              </a:ext>
            </a:extLst>
          </p:cNvPr>
          <p:cNvSpPr>
            <a:spLocks xmlns:a="http://schemas.openxmlformats.org/drawingml/2006/main" noGrp="1"/>
          </p:cNvSpPr>
          <p:nvPr/>
        </p:nvSpPr>
        <p:spPr>
          <a:xfrm xmlns:a="http://schemas.openxmlformats.org/drawingml/2006/main">
            <a:off x="9410700" y="3352800"/>
            <a:ext cx="1314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45B69"/>
                </a:solidFill>
                <a:latin typeface="Aptos"/>
                <a:ea typeface="Aptos"/>
                <a:cs typeface="Aptos"/>
              </a:defRPr>
            </a:pPr>
            <a:r>
              <a:rPr sz="1800" b="1">
                <a:solidFill>
                  <a:srgbClr val="F45B69"/>
                </a:solidFill>
                <a:latin typeface="Aptos"/>
                <a:ea typeface="Aptos"/>
                <a:cs typeface="Aptos"/>
              </a:rPr>
              <a:t>Evaluate</a:t>
            </a:r>
          </a:p>
        </p:txBody>
      </p:sp>
      <p:sp>
        <p:nvSpPr>
          <p:cNvPr id="22" name="">
            <a:extLst xmlns:a="http://schemas.openxmlformats.org/drawingml/2006/main">
              <a:ext uri="{FF2B5EF4-FFF2-40B4-BE49-F238E27FC236}">
                <a16:creationId xmlns:a16="http://schemas.microsoft.com/office/drawing/2014/main" id="{575B7799-4EFA-4303-914D-44C7FFFF787D}"/>
              </a:ext>
            </a:extLst>
          </p:cNvPr>
          <p:cNvSpPr>
            <a:spLocks xmlns:a="http://schemas.openxmlformats.org/drawingml/2006/main" noGrp="1"/>
          </p:cNvSpPr>
          <p:nvPr/>
        </p:nvSpPr>
        <p:spPr>
          <a:xfrm xmlns:a="http://schemas.openxmlformats.org/drawingml/2006/main">
            <a:off x="9410700" y="3733800"/>
            <a:ext cx="1314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6F1DF"/>
                </a:solidFill>
                <a:latin typeface="Aptos"/>
                <a:ea typeface="Aptos"/>
                <a:cs typeface="Aptos"/>
              </a:defRPr>
            </a:pPr>
            <a:r>
              <a:rPr sz="1125" b="0">
                <a:solidFill>
                  <a:srgbClr val="F6F1DF"/>
                </a:solidFill>
                <a:latin typeface="Aptos"/>
                <a:ea typeface="Aptos"/>
                <a:cs typeface="Aptos"/>
              </a:rPr>
              <a:t>regression gates</a:t>
            </a:r>
          </a:p>
        </p:txBody>
      </p:sp>
      <p:sp>
        <p:nvSpPr>
          <p:cNvPr id="23" name="">
            <a:extLst xmlns:a="http://schemas.openxmlformats.org/drawingml/2006/main">
              <a:ext uri="{FF2B5EF4-FFF2-40B4-BE49-F238E27FC236}">
                <a16:creationId xmlns:a16="http://schemas.microsoft.com/office/drawing/2014/main" id="{0368051F-E848-4E2D-83EB-362785038884}"/>
              </a:ext>
            </a:extLst>
          </p:cNvPr>
          <p:cNvSpPr>
            <a:spLocks xmlns:a="http://schemas.openxmlformats.org/drawingml/2006/main" noGrp="1"/>
          </p:cNvSpPr>
          <p:nvPr/>
        </p:nvSpPr>
        <p:spPr>
          <a:xfrm xmlns:a="http://schemas.openxmlformats.org/drawingml/2006/main">
            <a:off x="1466850" y="495300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325" b="1">
                <a:solidFill>
                  <a:srgbClr val="F6F1DF"/>
                </a:solidFill>
                <a:latin typeface="Aptos"/>
                <a:ea typeface="Aptos"/>
                <a:cs typeface="Aptos"/>
              </a:defRPr>
            </a:pPr>
            <a:r>
              <a:rPr sz="2325" b="1">
                <a:solidFill>
                  <a:srgbClr val="F6F1DF"/>
                </a:solidFill>
                <a:latin typeface="Aptos"/>
                <a:ea typeface="Aptos"/>
                <a:cs typeface="Aptos"/>
              </a:rPr>
              <a:t>World Cup prediction is the demo. Source-aware uncertainty is the lesson.</a:t>
            </a:r>
          </a:p>
        </p:txBody>
      </p:sp>
      <p:sp>
        <p:nvSpPr>
          <p:cNvPr id="24" name="">
            <a:extLst xmlns:a="http://schemas.openxmlformats.org/drawingml/2006/main">
              <a:ext uri="{FF2B5EF4-FFF2-40B4-BE49-F238E27FC236}">
                <a16:creationId xmlns:a16="http://schemas.microsoft.com/office/drawing/2014/main" id="{5708B9C5-6BD9-4ADC-9C13-0D5C9ED5CB80}"/>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18</a:t>
            </a:r>
          </a:p>
        </p:txBody>
      </p:sp>
      <p:sp>
        <p:nvSpPr>
          <p:cNvPr id="25" name="">
            <a:extLst xmlns:a="http://schemas.openxmlformats.org/drawingml/2006/main">
              <a:ext uri="{FF2B5EF4-FFF2-40B4-BE49-F238E27FC236}">
                <a16:creationId xmlns:a16="http://schemas.microsoft.com/office/drawing/2014/main" id="{0D475189-3C06-4929-8351-5824A6AE3BA0}"/>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Generated pitch visual; no official marks used</a:t>
            </a:r>
          </a:p>
        </p:txBody>
      </p:sp>
    </p:spTree>
    <p:extLst>
      <p:ext uri="{BB962C8B-B14F-4D97-AF65-F5344CB8AC3E}">
        <p14:creationId xmlns:p14="http://schemas.microsoft.com/office/powerpoint/2010/main" val="20194090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C35F7C-D05E-4788-AC5A-151E1DCAA4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806"/>
          </a:solidFill>
          <a:ln xmlns:a="http://schemas.openxmlformats.org/drawingml/2006/main" w="14288">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CA7C72B-15F0-49AC-BC7C-545C4612E13A}"/>
              </a:ext>
            </a:extLst>
          </p:cNvPr>
          <p:cNvSpPr>
            <a:spLocks xmlns:a="http://schemas.openxmlformats.org/drawingml/2006/main" noGrp="1"/>
          </p:cNvSpPr>
          <p:nvPr/>
        </p:nvSpPr>
        <p:spPr>
          <a:xfrm xmlns:a="http://schemas.openxmlformats.org/drawingml/2006/main">
            <a:off x="609600" y="409575"/>
            <a:ext cx="323850" cy="28575"/>
          </a:xfrm>
          <a:prstGeom xmlns:a="http://schemas.openxmlformats.org/drawingml/2006/main" prst="rect">
            <a:avLst/>
          </a:prstGeom>
          <a:solidFill xmlns:a="http://schemas.openxmlformats.org/drawingml/2006/main">
            <a:srgbClr val="5EE39A"/>
          </a:solidFill>
          <a:ln xmlns:a="http://schemas.openxmlformats.org/drawingml/2006/main" w="0">
            <a:solidFill>
              <a:srgbClr val="5EE39A"/>
            </a:solidFill>
            <a:prstDash val="solid"/>
          </a:ln>
        </p:spPr>
      </p:sp>
      <p:sp>
        <p:nvSpPr>
          <p:cNvPr id="3" name="kicker-label">
            <a:extLst xmlns:a="http://schemas.openxmlformats.org/drawingml/2006/main">
              <a:ext uri="{FF2B5EF4-FFF2-40B4-BE49-F238E27FC236}">
                <a16:creationId xmlns:a16="http://schemas.microsoft.com/office/drawing/2014/main" id="{CA302912-E6DF-485A-9FC3-635AC5057E4F}"/>
              </a:ext>
            </a:extLst>
          </p:cNvPr>
          <p:cNvSpPr>
            <a:spLocks xmlns:a="http://schemas.openxmlformats.org/drawingml/2006/main" noGrp="1"/>
          </p:cNvSpPr>
          <p:nvPr/>
        </p:nvSpPr>
        <p:spPr>
          <a:xfrm xmlns:a="http://schemas.openxmlformats.org/drawingml/2006/main">
            <a:off x="1028700" y="30480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EE39A"/>
                </a:solidFill>
                <a:latin typeface="Aptos"/>
                <a:ea typeface="Aptos"/>
                <a:cs typeface="Aptos"/>
              </a:defRPr>
            </a:pPr>
            <a:r>
              <a:rPr sz="1125" b="1">
                <a:solidFill>
                  <a:srgbClr val="5EE39A"/>
                </a:solidFill>
                <a:latin typeface="Aptos"/>
                <a:ea typeface="Aptos"/>
                <a:cs typeface="Aptos"/>
              </a:rPr>
              <a:t>CREDITS + GUARDRAILS</a:t>
            </a:r>
          </a:p>
        </p:txBody>
      </p:sp>
      <p:sp>
        <p:nvSpPr>
          <p:cNvPr id="4" name="">
            <a:extLst xmlns:a="http://schemas.openxmlformats.org/drawingml/2006/main">
              <a:ext uri="{FF2B5EF4-FFF2-40B4-BE49-F238E27FC236}">
                <a16:creationId xmlns:a16="http://schemas.microsoft.com/office/drawing/2014/main" id="{DA5367C0-ADA0-41C1-9155-5F9054E4DEF1}"/>
              </a:ext>
            </a:extLst>
          </p:cNvPr>
          <p:cNvSpPr>
            <a:spLocks xmlns:a="http://schemas.openxmlformats.org/drawingml/2006/main" noGrp="1"/>
          </p:cNvSpPr>
          <p:nvPr/>
        </p:nvSpPr>
        <p:spPr>
          <a:xfrm xmlns:a="http://schemas.openxmlformats.org/drawingml/2006/main">
            <a:off x="10763250" y="304800"/>
            <a:ext cx="819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B6C1AD"/>
                </a:solidFill>
                <a:latin typeface="Aptos"/>
                <a:ea typeface="Aptos"/>
                <a:cs typeface="Aptos"/>
              </a:defRPr>
            </a:pPr>
            <a:r>
              <a:rPr sz="1050" b="1">
                <a:solidFill>
                  <a:srgbClr val="B6C1AD"/>
                </a:solidFill>
                <a:latin typeface="Aptos"/>
                <a:ea typeface="Aptos"/>
                <a:cs typeface="Aptos"/>
              </a:rPr>
              <a:t>29:30</a:t>
            </a:r>
          </a:p>
        </p:txBody>
      </p:sp>
      <p:sp>
        <p:nvSpPr>
          <p:cNvPr id="5" name="">
            <a:extLst xmlns:a="http://schemas.openxmlformats.org/drawingml/2006/main">
              <a:ext uri="{FF2B5EF4-FFF2-40B4-BE49-F238E27FC236}">
                <a16:creationId xmlns:a16="http://schemas.microsoft.com/office/drawing/2014/main" id="{6FEBB0FD-36BA-4264-A11C-EDE7F68ACD52}"/>
              </a:ext>
            </a:extLst>
          </p:cNvPr>
          <p:cNvSpPr>
            <a:spLocks xmlns:a="http://schemas.openxmlformats.org/drawingml/2006/main" noGrp="1"/>
          </p:cNvSpPr>
          <p:nvPr/>
        </p:nvSpPr>
        <p:spPr>
          <a:xfrm xmlns:a="http://schemas.openxmlformats.org/drawingml/2006/main">
            <a:off x="609600" y="72390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6F1DF"/>
                </a:solidFill>
                <a:latin typeface="Aptos Display"/>
                <a:ea typeface="Aptos Display"/>
                <a:cs typeface="Aptos Display"/>
              </a:defRPr>
            </a:pPr>
            <a:r>
              <a:rPr sz="3150" b="1">
                <a:solidFill>
                  <a:srgbClr val="F6F1DF"/>
                </a:solidFill>
                <a:latin typeface="Aptos Display"/>
                <a:ea typeface="Aptos Display"/>
                <a:cs typeface="Aptos Display"/>
              </a:rPr>
              <a:t>Sources, media, and publishing caveats</a:t>
            </a:r>
          </a:p>
        </p:txBody>
      </p:sp>
      <p:sp>
        <p:nvSpPr>
          <p:cNvPr id="6" name="">
            <a:extLst xmlns:a="http://schemas.openxmlformats.org/drawingml/2006/main">
              <a:ext uri="{FF2B5EF4-FFF2-40B4-BE49-F238E27FC236}">
                <a16:creationId xmlns:a16="http://schemas.microsoft.com/office/drawing/2014/main" id="{2BAA5019-7365-4071-AD7E-AD13F7E59085}"/>
              </a:ext>
            </a:extLst>
          </p:cNvPr>
          <p:cNvSpPr>
            <a:spLocks xmlns:a="http://schemas.openxmlformats.org/drawingml/2006/main" noGrp="1"/>
          </p:cNvSpPr>
          <p:nvPr/>
        </p:nvSpPr>
        <p:spPr>
          <a:xfrm xmlns:a="http://schemas.openxmlformats.org/drawingml/2006/main">
            <a:off x="800100" y="161925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6F1DF"/>
                </a:solidFill>
                <a:latin typeface="Aptos"/>
                <a:ea typeface="Aptos"/>
                <a:cs typeface="Aptos"/>
              </a:defRPr>
            </a:pPr>
            <a:r>
              <a:rPr sz="1350" b="0">
                <a:solidFill>
                  <a:srgbClr val="F6F1DF"/>
                </a:solidFill>
                <a:latin typeface="Aptos"/>
                <a:ea typeface="Aptos"/>
                <a:cs typeface="Aptos"/>
              </a:rPr>
              <a:t>• Episode 2 repo: Forecast VAR source-aware edition</a:t>
            </a:r>
          </a:p>
        </p:txBody>
      </p:sp>
      <p:sp>
        <p:nvSpPr>
          <p:cNvPr id="7" name="">
            <a:extLst xmlns:a="http://schemas.openxmlformats.org/drawingml/2006/main">
              <a:ext uri="{FF2B5EF4-FFF2-40B4-BE49-F238E27FC236}">
                <a16:creationId xmlns:a16="http://schemas.microsoft.com/office/drawing/2014/main" id="{27FC6538-A30A-42D0-8343-AC5F4F14FCC8}"/>
              </a:ext>
            </a:extLst>
          </p:cNvPr>
          <p:cNvSpPr>
            <a:spLocks xmlns:a="http://schemas.openxmlformats.org/drawingml/2006/main" noGrp="1"/>
          </p:cNvSpPr>
          <p:nvPr/>
        </p:nvSpPr>
        <p:spPr>
          <a:xfrm xmlns:a="http://schemas.openxmlformats.org/drawingml/2006/main">
            <a:off x="800100" y="207645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6F1DF"/>
                </a:solidFill>
                <a:latin typeface="Aptos"/>
                <a:ea typeface="Aptos"/>
                <a:cs typeface="Aptos"/>
              </a:defRPr>
            </a:pPr>
            <a:r>
              <a:rPr sz="1350" b="0">
                <a:solidFill>
                  <a:srgbClr val="F6F1DF"/>
                </a:solidFill>
                <a:latin typeface="Aptos"/>
                <a:ea typeface="Aptos"/>
                <a:cs typeface="Aptos"/>
              </a:rPr>
              <a:t>• FIFA pages checked for 2026 format/groups/schedule context</a:t>
            </a:r>
          </a:p>
        </p:txBody>
      </p:sp>
      <p:sp>
        <p:nvSpPr>
          <p:cNvPr id="8" name="">
            <a:extLst xmlns:a="http://schemas.openxmlformats.org/drawingml/2006/main">
              <a:ext uri="{FF2B5EF4-FFF2-40B4-BE49-F238E27FC236}">
                <a16:creationId xmlns:a16="http://schemas.microsoft.com/office/drawing/2014/main" id="{B763C6A5-9212-4BB6-83F4-54EE55DFAE3B}"/>
              </a:ext>
            </a:extLst>
          </p:cNvPr>
          <p:cNvSpPr>
            <a:spLocks xmlns:a="http://schemas.openxmlformats.org/drawingml/2006/main" noGrp="1"/>
          </p:cNvSpPr>
          <p:nvPr/>
        </p:nvSpPr>
        <p:spPr>
          <a:xfrm xmlns:a="http://schemas.openxmlformats.org/drawingml/2006/main">
            <a:off x="800100" y="253365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6F1DF"/>
                </a:solidFill>
                <a:latin typeface="Aptos"/>
                <a:ea typeface="Aptos"/>
                <a:cs typeface="Aptos"/>
              </a:defRPr>
            </a:pPr>
            <a:r>
              <a:rPr sz="1350" b="0">
                <a:solidFill>
                  <a:srgbClr val="F6F1DF"/>
                </a:solidFill>
                <a:latin typeface="Aptos"/>
                <a:ea typeface="Aptos"/>
                <a:cs typeface="Aptos"/>
              </a:rPr>
              <a:t>• Project outputs: data_validation, source_refresh, eval summaries, simulation tools</a:t>
            </a:r>
          </a:p>
        </p:txBody>
      </p:sp>
      <p:sp>
        <p:nvSpPr>
          <p:cNvPr id="9" name="">
            <a:extLst xmlns:a="http://schemas.openxmlformats.org/drawingml/2006/main">
              <a:ext uri="{FF2B5EF4-FFF2-40B4-BE49-F238E27FC236}">
                <a16:creationId xmlns:a16="http://schemas.microsoft.com/office/drawing/2014/main" id="{B8A38499-66F6-46FF-88BB-E326FC5D6D12}"/>
              </a:ext>
            </a:extLst>
          </p:cNvPr>
          <p:cNvSpPr>
            <a:spLocks xmlns:a="http://schemas.openxmlformats.org/drawingml/2006/main" noGrp="1"/>
          </p:cNvSpPr>
          <p:nvPr/>
        </p:nvSpPr>
        <p:spPr>
          <a:xfrm xmlns:a="http://schemas.openxmlformats.org/drawingml/2006/main">
            <a:off x="800100" y="299085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D166"/>
                </a:solidFill>
                <a:latin typeface="Aptos"/>
                <a:ea typeface="Aptos"/>
                <a:cs typeface="Aptos"/>
              </a:defRPr>
            </a:pPr>
            <a:r>
              <a:rPr sz="1350" b="0">
                <a:solidFill>
                  <a:srgbClr val="FFD166"/>
                </a:solidFill>
                <a:latin typeface="Aptos"/>
                <a:ea typeface="Aptos"/>
                <a:cs typeface="Aptos"/>
              </a:rPr>
              <a:t>• All probabilities in this deck are demo-model outputs, not betting advice</a:t>
            </a:r>
          </a:p>
        </p:txBody>
      </p:sp>
      <p:sp>
        <p:nvSpPr>
          <p:cNvPr id="10" name="">
            <a:extLst xmlns:a="http://schemas.openxmlformats.org/drawingml/2006/main">
              <a:ext uri="{FF2B5EF4-FFF2-40B4-BE49-F238E27FC236}">
                <a16:creationId xmlns:a16="http://schemas.microsoft.com/office/drawing/2014/main" id="{2A94BA43-D77C-456F-96F4-3B561DECA3DD}"/>
              </a:ext>
            </a:extLst>
          </p:cNvPr>
          <p:cNvSpPr>
            <a:spLocks xmlns:a="http://schemas.openxmlformats.org/drawingml/2006/main" noGrp="1"/>
          </p:cNvSpPr>
          <p:nvPr/>
        </p:nvSpPr>
        <p:spPr>
          <a:xfrm xmlns:a="http://schemas.openxmlformats.org/drawingml/2006/main">
            <a:off x="800100" y="3448050"/>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D166"/>
                </a:solidFill>
                <a:latin typeface="Aptos"/>
                <a:ea typeface="Aptos"/>
                <a:cs typeface="Aptos"/>
              </a:defRPr>
            </a:pPr>
            <a:r>
              <a:rPr sz="1350" b="0">
                <a:solidFill>
                  <a:srgbClr val="FFD166"/>
                </a:solidFill>
                <a:latin typeface="Aptos"/>
                <a:ea typeface="Aptos"/>
                <a:cs typeface="Aptos"/>
              </a:rPr>
              <a:t>• Refresh official field, squads, injuries, lineups, rankings, odds, and licensing before public forecasts</a:t>
            </a:r>
          </a:p>
        </p:txBody>
      </p:sp>
      <p:sp>
        <p:nvSpPr>
          <p:cNvPr id="11" name="">
            <a:extLst xmlns:a="http://schemas.openxmlformats.org/drawingml/2006/main">
              <a:ext uri="{FF2B5EF4-FFF2-40B4-BE49-F238E27FC236}">
                <a16:creationId xmlns:a16="http://schemas.microsoft.com/office/drawing/2014/main" id="{AD1149F9-9AD6-4A71-8BDF-AD9B8AF45F71}"/>
              </a:ext>
            </a:extLst>
          </p:cNvPr>
          <p:cNvSpPr>
            <a:spLocks xmlns:a="http://schemas.openxmlformats.org/drawingml/2006/main" noGrp="1"/>
          </p:cNvSpPr>
          <p:nvPr/>
        </p:nvSpPr>
        <p:spPr>
          <a:xfrm xmlns:a="http://schemas.openxmlformats.org/drawingml/2006/main">
            <a:off x="7620000" y="1524000"/>
            <a:ext cx="3143250" cy="3714750"/>
          </a:xfrm>
          <a:prstGeom xmlns:a="http://schemas.openxmlformats.org/drawingml/2006/main" prst="rect">
            <a:avLst/>
          </a:prstGeom>
          <a:solidFill xmlns:a="http://schemas.openxmlformats.org/drawingml/2006/main">
            <a:srgbClr val="11140F"/>
          </a:solidFill>
          <a:ln xmlns:a="http://schemas.openxmlformats.org/drawingml/2006/main" w="14288">
            <a:solidFill>
              <a:srgbClr val="2C4A3B"/>
            </a:solidFill>
            <a:prstDash val="solid"/>
          </a:ln>
        </p:spPr>
      </p:sp>
      <p:sp>
        <p:nvSpPr>
          <p:cNvPr id="12" name="">
            <a:extLst xmlns:a="http://schemas.openxmlformats.org/drawingml/2006/main">
              <a:ext uri="{FF2B5EF4-FFF2-40B4-BE49-F238E27FC236}">
                <a16:creationId xmlns:a16="http://schemas.microsoft.com/office/drawing/2014/main" id="{CCCEC6AE-A83D-49A2-BDF7-395A9D48EC17}"/>
              </a:ext>
            </a:extLst>
          </p:cNvPr>
          <p:cNvSpPr>
            <a:spLocks xmlns:a="http://schemas.openxmlformats.org/drawingml/2006/main" noGrp="1"/>
          </p:cNvSpPr>
          <p:nvPr/>
        </p:nvSpPr>
        <p:spPr>
          <a:xfrm xmlns:a="http://schemas.openxmlformats.org/drawingml/2006/main">
            <a:off x="7886700" y="1790700"/>
            <a:ext cx="2381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5EE39A"/>
                </a:solidFill>
                <a:latin typeface="Aptos"/>
                <a:ea typeface="Aptos"/>
                <a:cs typeface="Aptos"/>
              </a:defRPr>
            </a:pPr>
            <a:r>
              <a:rPr sz="1875" b="1">
                <a:solidFill>
                  <a:srgbClr val="5EE39A"/>
                </a:solidFill>
                <a:latin typeface="Aptos"/>
                <a:ea typeface="Aptos"/>
                <a:cs typeface="Aptos"/>
              </a:rPr>
              <a:t>Media credits</a:t>
            </a:r>
          </a:p>
        </p:txBody>
      </p:sp>
      <p:sp>
        <p:nvSpPr>
          <p:cNvPr id="13" name="">
            <a:extLst xmlns:a="http://schemas.openxmlformats.org/drawingml/2006/main">
              <a:ext uri="{FF2B5EF4-FFF2-40B4-BE49-F238E27FC236}">
                <a16:creationId xmlns:a16="http://schemas.microsoft.com/office/drawing/2014/main" id="{7109FB49-89BA-4C49-B8E8-15C11B916AAF}"/>
              </a:ext>
            </a:extLst>
          </p:cNvPr>
          <p:cNvSpPr>
            <a:spLocks xmlns:a="http://schemas.openxmlformats.org/drawingml/2006/main" noGrp="1"/>
          </p:cNvSpPr>
          <p:nvPr/>
        </p:nvSpPr>
        <p:spPr>
          <a:xfrm xmlns:a="http://schemas.openxmlformats.org/drawingml/2006/main">
            <a:off x="7905750" y="22669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Jeremy Ng / Unsplash, CC0</a:t>
            </a:r>
          </a:p>
        </p:txBody>
      </p:sp>
      <p:sp>
        <p:nvSpPr>
          <p:cNvPr id="14" name="">
            <a:extLst xmlns:a="http://schemas.openxmlformats.org/drawingml/2006/main">
              <a:ext uri="{FF2B5EF4-FFF2-40B4-BE49-F238E27FC236}">
                <a16:creationId xmlns:a16="http://schemas.microsoft.com/office/drawing/2014/main" id="{7CEBF7BA-C183-45B0-A2BB-1074C2BA203B}"/>
              </a:ext>
            </a:extLst>
          </p:cNvPr>
          <p:cNvSpPr>
            <a:spLocks xmlns:a="http://schemas.openxmlformats.org/drawingml/2006/main" noGrp="1"/>
          </p:cNvSpPr>
          <p:nvPr/>
        </p:nvSpPr>
        <p:spPr>
          <a:xfrm xmlns:a="http://schemas.openxmlformats.org/drawingml/2006/main">
            <a:off x="7905750" y="262890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Agencia Brasil, CC BY 3.0 BR</a:t>
            </a:r>
          </a:p>
        </p:txBody>
      </p:sp>
      <p:sp>
        <p:nvSpPr>
          <p:cNvPr id="15" name="">
            <a:extLst xmlns:a="http://schemas.openxmlformats.org/drawingml/2006/main">
              <a:ext uri="{FF2B5EF4-FFF2-40B4-BE49-F238E27FC236}">
                <a16:creationId xmlns:a16="http://schemas.microsoft.com/office/drawing/2014/main" id="{C23C15C2-3D14-4425-A0DF-B8666DEDD706}"/>
              </a:ext>
            </a:extLst>
          </p:cNvPr>
          <p:cNvSpPr>
            <a:spLocks xmlns:a="http://schemas.openxmlformats.org/drawingml/2006/main" noGrp="1"/>
          </p:cNvSpPr>
          <p:nvPr/>
        </p:nvSpPr>
        <p:spPr>
          <a:xfrm xmlns:a="http://schemas.openxmlformats.org/drawingml/2006/main">
            <a:off x="7905750" y="29908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Erik Drost, CC BY 3.0</a:t>
            </a:r>
          </a:p>
        </p:txBody>
      </p:sp>
      <p:sp>
        <p:nvSpPr>
          <p:cNvPr id="16" name="">
            <a:extLst xmlns:a="http://schemas.openxmlformats.org/drawingml/2006/main">
              <a:ext uri="{FF2B5EF4-FFF2-40B4-BE49-F238E27FC236}">
                <a16:creationId xmlns:a16="http://schemas.microsoft.com/office/drawing/2014/main" id="{29C93B5C-CF38-465C-8179-FBEB2B9F3082}"/>
              </a:ext>
            </a:extLst>
          </p:cNvPr>
          <p:cNvSpPr>
            <a:spLocks xmlns:a="http://schemas.openxmlformats.org/drawingml/2006/main" noGrp="1"/>
          </p:cNvSpPr>
          <p:nvPr/>
        </p:nvSpPr>
        <p:spPr>
          <a:xfrm xmlns:a="http://schemas.openxmlformats.org/drawingml/2006/main">
            <a:off x="7905750" y="335280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GoToVan, CC BY-SA 2.0</a:t>
            </a:r>
          </a:p>
        </p:txBody>
      </p:sp>
      <p:sp>
        <p:nvSpPr>
          <p:cNvPr id="17" name="">
            <a:extLst xmlns:a="http://schemas.openxmlformats.org/drawingml/2006/main">
              <a:ext uri="{FF2B5EF4-FFF2-40B4-BE49-F238E27FC236}">
                <a16:creationId xmlns:a16="http://schemas.microsoft.com/office/drawing/2014/main" id="{3F622B81-9DC8-4E4E-A384-4E96A2E91A9B}"/>
              </a:ext>
            </a:extLst>
          </p:cNvPr>
          <p:cNvSpPr>
            <a:spLocks xmlns:a="http://schemas.openxmlformats.org/drawingml/2006/main" noGrp="1"/>
          </p:cNvSpPr>
          <p:nvPr/>
        </p:nvSpPr>
        <p:spPr>
          <a:xfrm xmlns:a="http://schemas.openxmlformats.org/drawingml/2006/main">
            <a:off x="7905750" y="37147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A.Savin, CC BY-SA 4.0</a:t>
            </a:r>
          </a:p>
        </p:txBody>
      </p:sp>
      <p:sp>
        <p:nvSpPr>
          <p:cNvPr id="18" name="">
            <a:extLst xmlns:a="http://schemas.openxmlformats.org/drawingml/2006/main">
              <a:ext uri="{FF2B5EF4-FFF2-40B4-BE49-F238E27FC236}">
                <a16:creationId xmlns:a16="http://schemas.microsoft.com/office/drawing/2014/main" id="{2A03220E-F27B-4894-93B3-FB22D81EB702}"/>
              </a:ext>
            </a:extLst>
          </p:cNvPr>
          <p:cNvSpPr>
            <a:spLocks xmlns:a="http://schemas.openxmlformats.org/drawingml/2006/main" noGrp="1"/>
          </p:cNvSpPr>
          <p:nvPr/>
        </p:nvSpPr>
        <p:spPr>
          <a:xfrm xmlns:a="http://schemas.openxmlformats.org/drawingml/2006/main">
            <a:off x="7905750" y="407670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Public domain goalkeeper photo</a:t>
            </a:r>
          </a:p>
        </p:txBody>
      </p:sp>
      <p:sp>
        <p:nvSpPr>
          <p:cNvPr id="19" name="">
            <a:extLst xmlns:a="http://schemas.openxmlformats.org/drawingml/2006/main">
              <a:ext uri="{FF2B5EF4-FFF2-40B4-BE49-F238E27FC236}">
                <a16:creationId xmlns:a16="http://schemas.microsoft.com/office/drawing/2014/main" id="{A7881F61-26B6-4E4F-81A5-FC96CDE9F7EF}"/>
              </a:ext>
            </a:extLst>
          </p:cNvPr>
          <p:cNvSpPr>
            <a:spLocks xmlns:a="http://schemas.openxmlformats.org/drawingml/2006/main" noGrp="1"/>
          </p:cNvSpPr>
          <p:nvPr/>
        </p:nvSpPr>
        <p:spPr>
          <a:xfrm xmlns:a="http://schemas.openxmlformats.org/drawingml/2006/main">
            <a:off x="7905750" y="44386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6C1AD"/>
                </a:solidFill>
                <a:latin typeface="Aptos"/>
                <a:ea typeface="Aptos"/>
                <a:cs typeface="Aptos"/>
              </a:defRPr>
            </a:pPr>
            <a:r>
              <a:rPr sz="1125" b="0">
                <a:solidFill>
                  <a:srgbClr val="B6C1AD"/>
                </a:solidFill>
                <a:latin typeface="Aptos"/>
                <a:ea typeface="Aptos"/>
                <a:cs typeface="Aptos"/>
              </a:rPr>
              <a:t>Local GIF/MP4 loops from deterministic outputs</a:t>
            </a:r>
          </a:p>
        </p:txBody>
      </p:sp>
      <p:sp>
        <p:nvSpPr>
          <p:cNvPr id="20" name="">
            <a:extLst xmlns:a="http://schemas.openxmlformats.org/drawingml/2006/main">
              <a:ext uri="{FF2B5EF4-FFF2-40B4-BE49-F238E27FC236}">
                <a16:creationId xmlns:a16="http://schemas.microsoft.com/office/drawing/2014/main" id="{0A0D0937-D73B-4E71-8C81-8A98DFD93928}"/>
              </a:ext>
            </a:extLst>
          </p:cNvPr>
          <p:cNvSpPr>
            <a:spLocks xmlns:a="http://schemas.openxmlformats.org/drawingml/2006/main" noGrp="1"/>
          </p:cNvSpPr>
          <p:nvPr/>
        </p:nvSpPr>
        <p:spPr>
          <a:xfrm xmlns:a="http://schemas.openxmlformats.org/drawingml/2006/main">
            <a:off x="800100" y="5810250"/>
            <a:ext cx="7810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EE39A"/>
                </a:solidFill>
                <a:latin typeface="Aptos"/>
                <a:ea typeface="Aptos"/>
                <a:cs typeface="Aptos"/>
              </a:defRPr>
            </a:pPr>
            <a:r>
              <a:rPr sz="1500" b="1">
                <a:solidFill>
                  <a:srgbClr val="5EE39A"/>
                </a:solidFill>
                <a:latin typeface="Aptos"/>
                <a:ea typeface="Aptos"/>
                <a:cs typeface="Aptos"/>
              </a:rPr>
              <a:t>Deck built as editable PPTX with speaker notes and media pack.</a:t>
            </a:r>
          </a:p>
        </p:txBody>
      </p:sp>
      <p:sp>
        <p:nvSpPr>
          <p:cNvPr id="21" name="">
            <a:extLst xmlns:a="http://schemas.openxmlformats.org/drawingml/2006/main">
              <a:ext uri="{FF2B5EF4-FFF2-40B4-BE49-F238E27FC236}">
                <a16:creationId xmlns:a16="http://schemas.microsoft.com/office/drawing/2014/main" id="{F828584B-9F44-4319-B085-17B1B8D5B599}"/>
              </a:ext>
            </a:extLst>
          </p:cNvPr>
          <p:cNvSpPr>
            <a:spLocks xmlns:a="http://schemas.openxmlformats.org/drawingml/2006/main" noGrp="1"/>
          </p:cNvSpPr>
          <p:nvPr/>
        </p:nvSpPr>
        <p:spPr>
          <a:xfrm xmlns:a="http://schemas.openxmlformats.org/drawingml/2006/main">
            <a:off x="609600" y="63627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6C1AD"/>
                </a:solidFill>
                <a:latin typeface="Aptos"/>
                <a:ea typeface="Aptos"/>
                <a:cs typeface="Aptos"/>
              </a:defRPr>
            </a:pPr>
            <a:r>
              <a:rPr sz="975" b="1">
                <a:solidFill>
                  <a:srgbClr val="B6C1AD"/>
                </a:solidFill>
                <a:latin typeface="Aptos"/>
                <a:ea typeface="Aptos"/>
                <a:cs typeface="Aptos"/>
              </a:rPr>
              <a:t>19</a:t>
            </a:r>
          </a:p>
        </p:txBody>
      </p:sp>
      <p:sp>
        <p:nvSpPr>
          <p:cNvPr id="22" name="">
            <a:extLst xmlns:a="http://schemas.openxmlformats.org/drawingml/2006/main">
              <a:ext uri="{FF2B5EF4-FFF2-40B4-BE49-F238E27FC236}">
                <a16:creationId xmlns:a16="http://schemas.microsoft.com/office/drawing/2014/main" id="{19090F9C-FA34-4721-A2EC-5FE51EC83ADA}"/>
              </a:ext>
            </a:extLst>
          </p:cNvPr>
          <p:cNvSpPr>
            <a:spLocks xmlns:a="http://schemas.openxmlformats.org/drawingml/2006/main" noGrp="1"/>
          </p:cNvSpPr>
          <p:nvPr/>
        </p:nvSpPr>
        <p:spPr>
          <a:xfrm xmlns:a="http://schemas.openxmlformats.org/drawingml/2006/main">
            <a:off x="990600" y="63627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B6C1AD"/>
                </a:solidFill>
                <a:latin typeface="Aptos"/>
                <a:ea typeface="Aptos"/>
                <a:cs typeface="Aptos"/>
              </a:defRPr>
            </a:pPr>
            <a:r>
              <a:rPr sz="900" b="0">
                <a:solidFill>
                  <a:srgbClr val="B6C1AD"/>
                </a:solidFill>
                <a:latin typeface="Aptos"/>
                <a:ea typeface="Aptos"/>
                <a:cs typeface="Aptos"/>
              </a:rPr>
              <a:t>Appendix / credits slide</a:t>
            </a:r>
          </a:p>
        </p:txBody>
      </p:sp>
    </p:spTree>
    <p:extLst>
      <p:ext uri="{BB962C8B-B14F-4D97-AF65-F5344CB8AC3E}">
        <p14:creationId xmlns:p14="http://schemas.microsoft.com/office/powerpoint/2010/main" val="14040292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2026-05-18T05:47:37.1800000Z</dcterms:created>
  <dcterms:modified xsi:type="dcterms:W3CDTF">2026-05-18T05:47:37.1800000Z</dcterms:modified>
</coreProperties>
</file>