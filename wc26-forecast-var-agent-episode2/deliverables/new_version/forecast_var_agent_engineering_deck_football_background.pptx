
<file path=[Content_Types].xml><?xml version="1.0" encoding="utf-8"?>
<Types xmlns="http://schemas.openxmlformats.org/package/2006/content-types">
  <Default Extension="jpeg" ContentType="image/jpeg"/>
  <Default Extension="jpg" ContentType="image/jp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82" r:id="rId4"/>
    <p:sldId id="258" r:id="rId5"/>
    <p:sldId id="259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6" r:id="rId21"/>
    <p:sldId id="275" r:id="rId22"/>
    <p:sldId id="277" r:id="rId23"/>
    <p:sldId id="278" r:id="rId24"/>
    <p:sldId id="280" r:id="rId25"/>
    <p:sldId id="281" r:id="rId2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596"/>
    <p:restoredTop sz="96165"/>
  </p:normalViewPr>
  <p:slideViewPr>
    <p:cSldViewPr snapToGrid="0" snapToObjects="1">
      <p:cViewPr varScale="1">
        <p:scale>
          <a:sx n="118" d="100"/>
          <a:sy n="118" d="100"/>
        </p:scale>
        <p:origin x="39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31914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9616A-266E-08A1-5E73-22BB14233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0C800D-0D22-F6C4-499F-F9E0C821F2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099A80-8628-1EA0-FE69-E8A2670B02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02740E-122B-CC5F-D9C0-38E813BB4C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9712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21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20.png"/><Relationship Id="rId5" Type="http://schemas.openxmlformats.org/officeDocument/2006/relationships/image" Target="../media/image19.jpg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14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c26_slide_work/assets/stadium_hero_dark35.png"/>
          <p:cNvPicPr>
            <a:picLocks noChangeAspect="1"/>
          </p:cNvPicPr>
          <p:nvPr/>
        </p:nvPicPr>
        <p:blipFill>
          <a:blip r:embed="rId3"/>
          <a:srcRect l="1" r="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66928" y="475488"/>
            <a:ext cx="2834640" cy="292608"/>
          </a:xfrm>
          <a:prstGeom prst="roundRect">
            <a:avLst>
              <a:gd name="adj" fmla="val 18750"/>
            </a:avLst>
          </a:prstGeom>
          <a:solidFill>
            <a:srgbClr val="0B6E4F">
              <a:alpha val="96000"/>
            </a:srgbClr>
          </a:solidFill>
          <a:ln w="12700">
            <a:solidFill>
              <a:srgbClr val="0B6E4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640080" y="539496"/>
            <a:ext cx="26883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7FAFC"/>
                </a:solidFill>
              </a:rPr>
              <a:t>WORLD CUP 2026 · AGENT ENGINEERING</a:t>
            </a:r>
            <a:endParaRPr lang="en-US" sz="720" dirty="0"/>
          </a:p>
        </p:txBody>
      </p:sp>
      <p:sp>
        <p:nvSpPr>
          <p:cNvPr id="5" name="Text 2"/>
          <p:cNvSpPr/>
          <p:nvPr/>
        </p:nvSpPr>
        <p:spPr>
          <a:xfrm>
            <a:off x="548640" y="105156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Forecast VAR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566928" y="1828800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E7EEF6"/>
                </a:solidFill>
              </a:rPr>
              <a:t>A technical slide deck for building, grounding, and evaluating a World Cup prediction agent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94360" y="2907792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071B36"/>
          </a:solidFill>
          <a:ln w="12700">
            <a:solidFill>
              <a:srgbClr val="D7B65D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04088" y="3072384"/>
            <a:ext cx="1700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D7B65D"/>
                </a:solidFill>
              </a:rPr>
              <a:t>48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704088" y="3429000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F7FAFC"/>
                </a:solidFill>
              </a:rPr>
              <a:t>validated field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04088" y="3657600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9CB3C9"/>
                </a:solidFill>
              </a:rPr>
              <a:t>teams</a:t>
            </a:r>
            <a:endParaRPr lang="en-US" sz="680" dirty="0"/>
          </a:p>
        </p:txBody>
      </p:sp>
      <p:sp>
        <p:nvSpPr>
          <p:cNvPr id="11" name="Shape 8"/>
          <p:cNvSpPr/>
          <p:nvPr/>
        </p:nvSpPr>
        <p:spPr>
          <a:xfrm>
            <a:off x="2697480" y="2907792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071B36"/>
          </a:solidFill>
          <a:ln w="12700">
            <a:solidFill>
              <a:srgbClr val="D7B65D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2807208" y="3072384"/>
            <a:ext cx="1700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D7B65D"/>
                </a:solidFill>
              </a:rPr>
              <a:t>12</a:t>
            </a:r>
            <a:endParaRPr lang="en-US" sz="2300" dirty="0"/>
          </a:p>
        </p:txBody>
      </p:sp>
      <p:sp>
        <p:nvSpPr>
          <p:cNvPr id="13" name="Text 10"/>
          <p:cNvSpPr/>
          <p:nvPr/>
        </p:nvSpPr>
        <p:spPr>
          <a:xfrm>
            <a:off x="2807208" y="3429000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F7FAFC"/>
                </a:solidFill>
              </a:rPr>
              <a:t>groups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2807208" y="3657600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9CB3C9"/>
                </a:solidFill>
              </a:rPr>
              <a:t>groups of four</a:t>
            </a:r>
            <a:endParaRPr lang="en-US" sz="680" dirty="0"/>
          </a:p>
        </p:txBody>
      </p:sp>
      <p:sp>
        <p:nvSpPr>
          <p:cNvPr id="15" name="Shape 12"/>
          <p:cNvSpPr/>
          <p:nvPr/>
        </p:nvSpPr>
        <p:spPr>
          <a:xfrm>
            <a:off x="4800600" y="2907792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071B36"/>
          </a:solidFill>
          <a:ln w="12700">
            <a:solidFill>
              <a:srgbClr val="D7B65D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910328" y="3072384"/>
            <a:ext cx="1700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D7B65D"/>
                </a:solidFill>
              </a:rPr>
              <a:t>gpt-5.4-nano</a:t>
            </a:r>
            <a:endParaRPr lang="en-US" sz="2300" dirty="0"/>
          </a:p>
        </p:txBody>
      </p:sp>
      <p:sp>
        <p:nvSpPr>
          <p:cNvPr id="17" name="Text 14"/>
          <p:cNvSpPr/>
          <p:nvPr/>
        </p:nvSpPr>
        <p:spPr>
          <a:xfrm>
            <a:off x="4910328" y="3429000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F7FAFC"/>
                </a:solidFill>
              </a:rPr>
              <a:t>agent model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4910328" y="3657600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9CB3C9"/>
                </a:solidFill>
              </a:rPr>
              <a:t>orchestrator</a:t>
            </a:r>
            <a:endParaRPr lang="en-US" sz="680" dirty="0"/>
          </a:p>
        </p:txBody>
      </p:sp>
      <p:sp>
        <p:nvSpPr>
          <p:cNvPr id="19" name="Shape 16"/>
          <p:cNvSpPr/>
          <p:nvPr/>
        </p:nvSpPr>
        <p:spPr>
          <a:xfrm>
            <a:off x="6903720" y="2907792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071B36"/>
          </a:solidFill>
          <a:ln w="12700">
            <a:solidFill>
              <a:srgbClr val="D7B65D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7013448" y="3072384"/>
            <a:ext cx="1700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D7B65D"/>
                </a:solidFill>
              </a:rPr>
              <a:t>Monte Carlo</a:t>
            </a:r>
            <a:endParaRPr lang="en-US" sz="2300" dirty="0"/>
          </a:p>
        </p:txBody>
      </p:sp>
      <p:sp>
        <p:nvSpPr>
          <p:cNvPr id="21" name="Text 18"/>
          <p:cNvSpPr/>
          <p:nvPr/>
        </p:nvSpPr>
        <p:spPr>
          <a:xfrm>
            <a:off x="7013448" y="3429000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F7FAFC"/>
                </a:solidFill>
              </a:rPr>
              <a:t>simulator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7013448" y="3657600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9CB3C9"/>
                </a:solidFill>
              </a:rPr>
              <a:t>Python tool</a:t>
            </a:r>
            <a:endParaRPr lang="en-US" sz="680" dirty="0"/>
          </a:p>
        </p:txBody>
      </p:sp>
      <p:sp>
        <p:nvSpPr>
          <p:cNvPr id="23" name="Text 20"/>
          <p:cNvSpPr/>
          <p:nvPr/>
        </p:nvSpPr>
        <p:spPr>
          <a:xfrm>
            <a:off x="612648" y="507492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7FAFC"/>
                </a:solidFill>
              </a:rPr>
              <a:t>The drama: first the predictions. Then the VAR room: every source, tool call, claim type, and evaluation check.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502920" y="6556248"/>
            <a:ext cx="8732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9CB3C9"/>
                </a:solidFill>
              </a:rPr>
              <a:t>Demo priors, educational simulator — not betting advice · Photo: Liondartois / CC BY-SA 4.0 / Wikimedia Commons; cropped + darkened</a:t>
            </a:r>
            <a:endParaRPr lang="en-US" sz="680" dirty="0"/>
          </a:p>
        </p:txBody>
      </p:sp>
      <p:sp>
        <p:nvSpPr>
          <p:cNvPr id="25" name="Text 22"/>
          <p:cNvSpPr/>
          <p:nvPr/>
        </p:nvSpPr>
        <p:spPr>
          <a:xfrm>
            <a:off x="9857232" y="6556248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80" dirty="0">
                <a:solidFill>
                  <a:srgbClr val="9CB3C9"/>
                </a:solidFill>
              </a:rPr>
              <a:t>AI Reality Lab · Forecast VAR</a:t>
            </a:r>
            <a:endParaRPr lang="en-US" sz="6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14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c26_slide_work/assets/trophy_stage_dark55.png"/>
          <p:cNvPicPr>
            <a:picLocks noChangeAspect="1"/>
          </p:cNvPicPr>
          <p:nvPr/>
        </p:nvPicPr>
        <p:blipFill>
          <a:blip r:embed="rId3"/>
          <a:srcRect l="1" r="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5603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7B6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 VAR</a:t>
            </a:r>
            <a:endParaRPr lang="en-US" sz="850" dirty="0"/>
          </a:p>
        </p:txBody>
      </p:sp>
      <p:sp>
        <p:nvSpPr>
          <p:cNvPr id="4" name="Text 1"/>
          <p:cNvSpPr/>
          <p:nvPr/>
        </p:nvSpPr>
        <p:spPr>
          <a:xfrm>
            <a:off x="502920" y="512064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Prediction snapshot: the model names its favourites before we inspect the machine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502920" y="1170432"/>
            <a:ext cx="11155680" cy="0"/>
          </a:xfrm>
          <a:prstGeom prst="line">
            <a:avLst/>
          </a:prstGeom>
          <a:noFill/>
          <a:ln w="13970">
            <a:solidFill>
              <a:srgbClr val="0F8D68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640080" y="1417320"/>
            <a:ext cx="2514600" cy="1005840"/>
          </a:xfrm>
          <a:prstGeom prst="roundRect">
            <a:avLst>
              <a:gd name="adj" fmla="val 7273"/>
            </a:avLst>
          </a:prstGeom>
          <a:solidFill>
            <a:srgbClr val="071B36"/>
          </a:solidFill>
          <a:ln w="12700">
            <a:solidFill>
              <a:srgbClr val="D7B65D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49808" y="1581912"/>
            <a:ext cx="2295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D7B65D"/>
                </a:solidFill>
              </a:rPr>
              <a:t>21.7%</a:t>
            </a:r>
            <a:endParaRPr lang="en-US" sz="2300" dirty="0"/>
          </a:p>
        </p:txBody>
      </p:sp>
      <p:sp>
        <p:nvSpPr>
          <p:cNvPr id="8" name="Text 5"/>
          <p:cNvSpPr/>
          <p:nvPr/>
        </p:nvSpPr>
        <p:spPr>
          <a:xfrm>
            <a:off x="749808" y="1938528"/>
            <a:ext cx="2295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F7FAFC"/>
                </a:solidFill>
              </a:rPr>
              <a:t>1. Argentina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49808" y="2167128"/>
            <a:ext cx="22951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9CB3C9"/>
                </a:solidFill>
              </a:rPr>
              <a:t>Final: 35.5% · SF: 52.8%</a:t>
            </a:r>
            <a:endParaRPr lang="en-US" sz="680" dirty="0"/>
          </a:p>
        </p:txBody>
      </p:sp>
      <p:sp>
        <p:nvSpPr>
          <p:cNvPr id="10" name="Shape 7"/>
          <p:cNvSpPr/>
          <p:nvPr/>
        </p:nvSpPr>
        <p:spPr>
          <a:xfrm>
            <a:off x="3429000" y="1417320"/>
            <a:ext cx="2514600" cy="1005840"/>
          </a:xfrm>
          <a:prstGeom prst="roundRect">
            <a:avLst>
              <a:gd name="adj" fmla="val 7273"/>
            </a:avLst>
          </a:prstGeom>
          <a:solidFill>
            <a:srgbClr val="071B36"/>
          </a:solidFill>
          <a:ln w="12700">
            <a:solidFill>
              <a:srgbClr val="63D6C6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538728" y="1581912"/>
            <a:ext cx="2295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63D6C6"/>
                </a:solidFill>
              </a:rPr>
              <a:t>13.7%</a:t>
            </a:r>
            <a:endParaRPr lang="en-US" sz="2300" dirty="0"/>
          </a:p>
        </p:txBody>
      </p:sp>
      <p:sp>
        <p:nvSpPr>
          <p:cNvPr id="12" name="Text 9"/>
          <p:cNvSpPr/>
          <p:nvPr/>
        </p:nvSpPr>
        <p:spPr>
          <a:xfrm>
            <a:off x="3538728" y="1938528"/>
            <a:ext cx="2295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F7FAFC"/>
                </a:solidFill>
              </a:rPr>
              <a:t>2. France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3538728" y="2167128"/>
            <a:ext cx="22951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9CB3C9"/>
                </a:solidFill>
              </a:rPr>
              <a:t>Final: 26.7% · SF: 44.3%</a:t>
            </a:r>
            <a:endParaRPr lang="en-US" sz="680" dirty="0"/>
          </a:p>
        </p:txBody>
      </p:sp>
      <p:sp>
        <p:nvSpPr>
          <p:cNvPr id="14" name="Shape 11"/>
          <p:cNvSpPr/>
          <p:nvPr/>
        </p:nvSpPr>
        <p:spPr>
          <a:xfrm>
            <a:off x="6217920" y="1417320"/>
            <a:ext cx="2514600" cy="1005840"/>
          </a:xfrm>
          <a:prstGeom prst="roundRect">
            <a:avLst>
              <a:gd name="adj" fmla="val 7273"/>
            </a:avLst>
          </a:prstGeom>
          <a:solidFill>
            <a:srgbClr val="071B36"/>
          </a:solidFill>
          <a:ln w="12700">
            <a:solidFill>
              <a:srgbClr val="63D6C6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327648" y="1581912"/>
            <a:ext cx="2295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63D6C6"/>
                </a:solidFill>
              </a:rPr>
              <a:t>13.0%</a:t>
            </a:r>
            <a:endParaRPr lang="en-US" sz="2300" dirty="0"/>
          </a:p>
        </p:txBody>
      </p:sp>
      <p:sp>
        <p:nvSpPr>
          <p:cNvPr id="16" name="Text 13"/>
          <p:cNvSpPr/>
          <p:nvPr/>
        </p:nvSpPr>
        <p:spPr>
          <a:xfrm>
            <a:off x="6327648" y="1938528"/>
            <a:ext cx="2295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F7FAFC"/>
                </a:solidFill>
              </a:rPr>
              <a:t>3. Spain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6327648" y="2167128"/>
            <a:ext cx="22951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9CB3C9"/>
                </a:solidFill>
              </a:rPr>
              <a:t>Final: 23.5% · SF: 40.2%</a:t>
            </a:r>
            <a:endParaRPr lang="en-US" sz="680" dirty="0"/>
          </a:p>
        </p:txBody>
      </p:sp>
      <p:sp>
        <p:nvSpPr>
          <p:cNvPr id="18" name="Shape 15"/>
          <p:cNvSpPr/>
          <p:nvPr/>
        </p:nvSpPr>
        <p:spPr>
          <a:xfrm>
            <a:off x="9006840" y="1417320"/>
            <a:ext cx="2514600" cy="1005840"/>
          </a:xfrm>
          <a:prstGeom prst="roundRect">
            <a:avLst>
              <a:gd name="adj" fmla="val 7273"/>
            </a:avLst>
          </a:prstGeom>
          <a:solidFill>
            <a:srgbClr val="071B36"/>
          </a:solidFill>
          <a:ln w="12700">
            <a:solidFill>
              <a:srgbClr val="63D6C6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9116568" y="1581912"/>
            <a:ext cx="2295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63D6C6"/>
                </a:solidFill>
              </a:rPr>
              <a:t>11.8%</a:t>
            </a:r>
            <a:endParaRPr lang="en-US" sz="2300" dirty="0"/>
          </a:p>
        </p:txBody>
      </p:sp>
      <p:sp>
        <p:nvSpPr>
          <p:cNvPr id="20" name="Text 17"/>
          <p:cNvSpPr/>
          <p:nvPr/>
        </p:nvSpPr>
        <p:spPr>
          <a:xfrm>
            <a:off x="9116568" y="1938528"/>
            <a:ext cx="2295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F7FAFC"/>
                </a:solidFill>
              </a:rPr>
              <a:t>4. England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9116568" y="2167128"/>
            <a:ext cx="22951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80" dirty="0">
                <a:solidFill>
                  <a:srgbClr val="9CB3C9"/>
                </a:solidFill>
              </a:rPr>
              <a:t>Final: 22.0% · SF: 35.7%</a:t>
            </a:r>
            <a:endParaRPr lang="en-US" sz="680" dirty="0"/>
          </a:p>
        </p:txBody>
      </p:sp>
      <p:sp>
        <p:nvSpPr>
          <p:cNvPr id="22" name="Shape 19"/>
          <p:cNvSpPr/>
          <p:nvPr/>
        </p:nvSpPr>
        <p:spPr>
          <a:xfrm>
            <a:off x="621792" y="2743200"/>
            <a:ext cx="5577840" cy="2971800"/>
          </a:xfrm>
          <a:prstGeom prst="roundRect">
            <a:avLst>
              <a:gd name="adj" fmla="val 2462"/>
            </a:avLst>
          </a:prstGeom>
          <a:solidFill>
            <a:srgbClr val="071B36"/>
          </a:solidFill>
          <a:ln w="12700">
            <a:solidFill>
              <a:srgbClr val="1D5872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1" descr="/mnt/data/wc26_slide_work/deck_figures/mc_champion_probs_wi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239" y="2798064"/>
            <a:ext cx="5368947" cy="2862072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6446520" y="2743200"/>
            <a:ext cx="5074920" cy="2971800"/>
          </a:xfrm>
          <a:prstGeom prst="roundRect">
            <a:avLst>
              <a:gd name="adj" fmla="val 2462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7B65D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1"/>
          <p:cNvSpPr/>
          <p:nvPr/>
        </p:nvSpPr>
        <p:spPr>
          <a:xfrm>
            <a:off x="6592824" y="2862072"/>
            <a:ext cx="4782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6142B"/>
                </a:solidFill>
              </a:rPr>
              <a:t>Sports drama, engineering restraint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6592824" y="3182112"/>
            <a:ext cx="4782312" cy="2404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213547"/>
                </a:solidFill>
              </a:rPr>
              <a:t>The headline is Argentina as projected champion in the educational simulation. The agent is not allowed to say “Argentina will win.” It must say: “Argentina is the top modelled favourite under demo priors, with 21.7% champion probability.”</a:t>
            </a:r>
            <a:endParaRPr lang="en-US" sz="880" dirty="0"/>
          </a:p>
          <a:p>
            <a:pPr marL="0" indent="0">
              <a:buNone/>
            </a:pP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213547"/>
                </a:solidFill>
              </a:rPr>
              <a:t>Agent concept: predictions are model-derived claims, not facts. They need model citations, probability sanity checks, and uncertainty warnings.</a:t>
            </a:r>
            <a:endParaRPr lang="en-US" sz="880" dirty="0"/>
          </a:p>
        </p:txBody>
      </p:sp>
      <p:sp>
        <p:nvSpPr>
          <p:cNvPr id="27" name="Text 23"/>
          <p:cNvSpPr/>
          <p:nvPr/>
        </p:nvSpPr>
        <p:spPr>
          <a:xfrm>
            <a:off x="502920" y="6556248"/>
            <a:ext cx="8732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9CB3C9"/>
                </a:solidFill>
              </a:rPr>
              <a:t>Demo priors, educational simulator — not betting advice · Photo: Hossein Zohrevand / CC BY 4.0 / Wikimedia Commons; cropped + darkened</a:t>
            </a:r>
            <a:endParaRPr lang="en-US" sz="680" dirty="0"/>
          </a:p>
        </p:txBody>
      </p:sp>
      <p:sp>
        <p:nvSpPr>
          <p:cNvPr id="28" name="Text 24"/>
          <p:cNvSpPr/>
          <p:nvPr/>
        </p:nvSpPr>
        <p:spPr>
          <a:xfrm>
            <a:off x="9857232" y="6556248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80" dirty="0">
                <a:solidFill>
                  <a:srgbClr val="9CB3C9"/>
                </a:solidFill>
              </a:rPr>
              <a:t>AI Reality Lab · Forecast VAR</a:t>
            </a:r>
            <a:endParaRPr lang="en-US" sz="6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42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5AD3A7-CA74-E3B0-8538-049D26A26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c26_slide_work/assets/trophy_stage_dark55.png">
            <a:extLst>
              <a:ext uri="{FF2B5EF4-FFF2-40B4-BE49-F238E27FC236}">
                <a16:creationId xmlns:a16="http://schemas.microsoft.com/office/drawing/2014/main" id="{3B3A5B37-FE62-B8FB-72D7-6DDD061249F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" r="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C0538EFE-B0A3-036F-A849-E272645CCF21}"/>
              </a:ext>
            </a:extLst>
          </p:cNvPr>
          <p:cNvSpPr/>
          <p:nvPr/>
        </p:nvSpPr>
        <p:spPr>
          <a:xfrm>
            <a:off x="502920" y="25603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7B6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 VAR</a:t>
            </a:r>
            <a:endParaRPr lang="en-US" sz="850" dirty="0"/>
          </a:p>
        </p:txBody>
      </p:sp>
      <p:sp>
        <p:nvSpPr>
          <p:cNvPr id="27" name="Text 23">
            <a:extLst>
              <a:ext uri="{FF2B5EF4-FFF2-40B4-BE49-F238E27FC236}">
                <a16:creationId xmlns:a16="http://schemas.microsoft.com/office/drawing/2014/main" id="{54D9FBB6-0EDD-1D18-5BC2-83770F7AAF1C}"/>
              </a:ext>
            </a:extLst>
          </p:cNvPr>
          <p:cNvSpPr/>
          <p:nvPr/>
        </p:nvSpPr>
        <p:spPr>
          <a:xfrm>
            <a:off x="502920" y="6556248"/>
            <a:ext cx="8732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9CB3C9"/>
                </a:solidFill>
              </a:rPr>
              <a:t>Demo priors, educational simulator — not betting advice · Photo: Hossein Zohrevand / CC BY 4.0 / Wikimedia Commons; cropped + darkened</a:t>
            </a:r>
            <a:endParaRPr lang="en-US" sz="680" dirty="0"/>
          </a:p>
        </p:txBody>
      </p:sp>
      <p:sp>
        <p:nvSpPr>
          <p:cNvPr id="28" name="Text 24">
            <a:extLst>
              <a:ext uri="{FF2B5EF4-FFF2-40B4-BE49-F238E27FC236}">
                <a16:creationId xmlns:a16="http://schemas.microsoft.com/office/drawing/2014/main" id="{B93B55E4-FC3B-C677-12A2-62376599F7E8}"/>
              </a:ext>
            </a:extLst>
          </p:cNvPr>
          <p:cNvSpPr/>
          <p:nvPr/>
        </p:nvSpPr>
        <p:spPr>
          <a:xfrm>
            <a:off x="9857232" y="6556248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80" dirty="0">
                <a:solidFill>
                  <a:srgbClr val="9CB3C9"/>
                </a:solidFill>
              </a:rPr>
              <a:t>AI Reality Lab · Forecast VAR</a:t>
            </a:r>
            <a:endParaRPr lang="en-US" sz="68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C9975757-D86C-6863-9661-619905977A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081" y="86214"/>
            <a:ext cx="10619531" cy="6694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0576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14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c26_slide_work/assets/football_ball_closeup_dark68.png"/>
          <p:cNvPicPr>
            <a:picLocks noChangeAspect="1"/>
          </p:cNvPicPr>
          <p:nvPr/>
        </p:nvPicPr>
        <p:blipFill>
          <a:blip r:embed="rId3"/>
          <a:srcRect l="1" r="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5603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7B6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 VAR</a:t>
            </a:r>
            <a:endParaRPr lang="en-US" sz="850" dirty="0"/>
          </a:p>
        </p:txBody>
      </p:sp>
      <p:sp>
        <p:nvSpPr>
          <p:cNvPr id="4" name="Text 1"/>
          <p:cNvSpPr/>
          <p:nvPr/>
        </p:nvSpPr>
        <p:spPr>
          <a:xfrm>
            <a:off x="502920" y="512064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Group stage forecast: twelve group races, twelve likely winners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502920" y="1170432"/>
            <a:ext cx="11155680" cy="0"/>
          </a:xfrm>
          <a:prstGeom prst="line">
            <a:avLst/>
          </a:prstGeom>
          <a:noFill/>
          <a:ln w="13970">
            <a:solidFill>
              <a:srgbClr val="0F8D68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94360" y="1417320"/>
            <a:ext cx="6675120" cy="4389120"/>
          </a:xfrm>
          <a:prstGeom prst="roundRect">
            <a:avLst>
              <a:gd name="adj" fmla="val 1667"/>
            </a:avLst>
          </a:prstGeom>
          <a:solidFill>
            <a:srgbClr val="071B36"/>
          </a:solidFill>
          <a:ln w="12700">
            <a:solidFill>
              <a:srgbClr val="1D5872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1" descr="/mnt/data/wc26_slide_work/deck_figures/all_group_winn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" y="2159452"/>
            <a:ext cx="6565392" cy="2904857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543800" y="1417320"/>
            <a:ext cx="3977640" cy="4389120"/>
          </a:xfrm>
          <a:prstGeom prst="roundRect">
            <a:avLst>
              <a:gd name="adj" fmla="val 1839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0F8D68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7690104" y="1536192"/>
            <a:ext cx="3685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6142B"/>
                </a:solidFill>
              </a:rPr>
              <a:t>Predicted group winners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7690104" y="1856232"/>
            <a:ext cx="3685032" cy="3822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213547"/>
                </a:solidFill>
              </a:rPr>
              <a:t>Group A: Mexico (51%)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213547"/>
                </a:solidFill>
              </a:rPr>
              <a:t>Group B: Switzerland (47%)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213547"/>
                </a:solidFill>
              </a:rPr>
              <a:t>Group C: Brazil (63%)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213547"/>
                </a:solidFill>
              </a:rPr>
              <a:t>Group D: USA (50%)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213547"/>
                </a:solidFill>
              </a:rPr>
              <a:t>Group E: Germany (60%)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213547"/>
                </a:solidFill>
              </a:rPr>
              <a:t>Group F: Netherlands (59%)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213547"/>
                </a:solidFill>
              </a:rPr>
              <a:t>Group G: Belgium (64%)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213547"/>
                </a:solidFill>
              </a:rPr>
              <a:t>Group H: Spain (67%)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213547"/>
                </a:solidFill>
              </a:rPr>
              <a:t>Group I: France (71%)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213547"/>
                </a:solidFill>
              </a:rPr>
              <a:t>Group J: Argentina (72%)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213547"/>
                </a:solidFill>
              </a:rPr>
              <a:t>Group K: Portugal (64%)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213547"/>
                </a:solidFill>
              </a:rPr>
              <a:t>Group L: England (65%)</a:t>
            </a:r>
            <a:endParaRPr lang="en-US" sz="880" dirty="0"/>
          </a:p>
          <a:p>
            <a:pPr marL="0" indent="0">
              <a:buNone/>
            </a:pP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213547"/>
                </a:solidFill>
              </a:rPr>
              <a:t>Engineering note: group winners are not asserted as facts. Each is a model_output claim grounded in team priors, group membership, and the simulation routine.</a:t>
            </a:r>
            <a:endParaRPr lang="en-US" sz="880" dirty="0"/>
          </a:p>
        </p:txBody>
      </p:sp>
      <p:sp>
        <p:nvSpPr>
          <p:cNvPr id="11" name="Text 7"/>
          <p:cNvSpPr/>
          <p:nvPr/>
        </p:nvSpPr>
        <p:spPr>
          <a:xfrm>
            <a:off x="502920" y="6556248"/>
            <a:ext cx="8732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9CB3C9"/>
                </a:solidFill>
              </a:rPr>
              <a:t>Demo priors, educational simulator — not betting advice · Photo: Alejan98 / CC0 / Wikimedia Commons; cropped + darkened</a:t>
            </a:r>
            <a:endParaRPr lang="en-US" sz="680" dirty="0"/>
          </a:p>
        </p:txBody>
      </p:sp>
      <p:sp>
        <p:nvSpPr>
          <p:cNvPr id="12" name="Text 8"/>
          <p:cNvSpPr/>
          <p:nvPr/>
        </p:nvSpPr>
        <p:spPr>
          <a:xfrm>
            <a:off x="9857232" y="6556248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80" dirty="0">
                <a:solidFill>
                  <a:srgbClr val="9CB3C9"/>
                </a:solidFill>
              </a:rPr>
              <a:t>AI Reality Lab · Forecast VAR</a:t>
            </a:r>
            <a:endParaRPr lang="en-US" sz="6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14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7B6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PREDICTIONS → MATCHES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Game-by-game forecasting: every group match becomes a probability distribution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155680" cy="0"/>
          </a:xfrm>
          <a:prstGeom prst="line">
            <a:avLst/>
          </a:prstGeom>
          <a:noFill/>
          <a:ln w="13970">
            <a:solidFill>
              <a:srgbClr val="0F8D68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5669280" cy="2743200"/>
          </a:xfrm>
          <a:prstGeom prst="roundRect">
            <a:avLst>
              <a:gd name="adj" fmla="val 2667"/>
            </a:avLst>
          </a:prstGeom>
          <a:solidFill>
            <a:srgbClr val="071B36"/>
          </a:solidFill>
          <a:ln w="12700">
            <a:solidFill>
              <a:srgbClr val="1D5872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6537960" y="1417320"/>
            <a:ext cx="4892040" cy="2743200"/>
          </a:xfrm>
          <a:prstGeom prst="roundRect">
            <a:avLst>
              <a:gd name="adj" fmla="val 2667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7B65D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684264" y="1536192"/>
            <a:ext cx="45994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6142B"/>
                </a:solidFill>
              </a:rPr>
              <a:t>Example: Group D match picks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684264" y="1856232"/>
            <a:ext cx="4599432" cy="21762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213547"/>
                </a:solidFill>
              </a:rPr>
              <a:t>USA vs Paraguay: USA 49.7%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213547"/>
                </a:solidFill>
              </a:rPr>
              <a:t>USA vs Australia: USA 50.9%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213547"/>
                </a:solidFill>
              </a:rPr>
              <a:t>USA vs Türkiye: USA 46.3%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213547"/>
                </a:solidFill>
              </a:rPr>
              <a:t>Paraguay vs Australia: Paraguay 37.6%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213547"/>
                </a:solidFill>
              </a:rPr>
              <a:t>Paraguay vs Türkiye: Türkiye 39.7%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213547"/>
                </a:solidFill>
              </a:rPr>
              <a:t>Australia vs Türkiye: Türkiye 40.9%</a:t>
            </a:r>
            <a:endParaRPr lang="en-US" sz="880" dirty="0"/>
          </a:p>
        </p:txBody>
      </p:sp>
      <p:sp>
        <p:nvSpPr>
          <p:cNvPr id="10" name="Shape 7"/>
          <p:cNvSpPr/>
          <p:nvPr/>
        </p:nvSpPr>
        <p:spPr>
          <a:xfrm>
            <a:off x="594360" y="4389120"/>
            <a:ext cx="5669280" cy="1463040"/>
          </a:xfrm>
          <a:prstGeom prst="roundRect">
            <a:avLst>
              <a:gd name="adj" fmla="val 5000"/>
            </a:avLst>
          </a:prstGeom>
          <a:solidFill>
            <a:srgbClr val="061222"/>
          </a:solidFill>
          <a:ln w="12700">
            <a:solidFill>
              <a:srgbClr val="1E4F72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713232" y="4480560"/>
            <a:ext cx="5065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3D6C6"/>
                </a:solidFill>
              </a:rPr>
              <a:t>Tool output shape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713232" y="4773168"/>
            <a:ext cx="5065776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DDE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forecast_match("USA", "Australia")</a:t>
            </a:r>
            <a:endParaRPr lang="en-US" sz="740" dirty="0"/>
          </a:p>
          <a:p>
            <a:pPr marL="0" indent="0">
              <a:buNone/>
            </a:pPr>
            <a:r>
              <a:rPr lang="en-US" sz="740" dirty="0">
                <a:solidFill>
                  <a:srgbClr val="DDE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{</a:t>
            </a:r>
            <a:endParaRPr lang="en-US" sz="740" dirty="0"/>
          </a:p>
          <a:p>
            <a:pPr marL="0" indent="0">
              <a:buNone/>
            </a:pPr>
            <a:r>
              <a:rPr lang="en-US" sz="740" dirty="0">
                <a:solidFill>
                  <a:srgbClr val="DDE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p_team_a_win: 0.5088,</a:t>
            </a:r>
            <a:endParaRPr lang="en-US" sz="740" dirty="0"/>
          </a:p>
          <a:p>
            <a:pPr marL="0" indent="0">
              <a:buNone/>
            </a:pPr>
            <a:r>
              <a:rPr lang="en-US" sz="740" dirty="0">
                <a:solidFill>
                  <a:srgbClr val="DDE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p_draw: 0.2099,</a:t>
            </a:r>
            <a:endParaRPr lang="en-US" sz="740" dirty="0"/>
          </a:p>
          <a:p>
            <a:pPr marL="0" indent="0">
              <a:buNone/>
            </a:pPr>
            <a:r>
              <a:rPr lang="en-US" sz="740" dirty="0">
                <a:solidFill>
                  <a:srgbClr val="DDE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p_team_b_win: 0.2813,</a:t>
            </a:r>
            <a:endParaRPr lang="en-US" sz="740" dirty="0"/>
          </a:p>
          <a:p>
            <a:pPr marL="0" indent="0">
              <a:buNone/>
            </a:pPr>
            <a:r>
              <a:rPr lang="en-US" sz="740" dirty="0">
                <a:solidFill>
                  <a:srgbClr val="DDE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citations: ["SRC-SAMPLE-TEAM-PRIORS",</a:t>
            </a:r>
            <a:endParaRPr lang="en-US" sz="740" dirty="0"/>
          </a:p>
          <a:p>
            <a:pPr marL="0" indent="0">
              <a:buNone/>
            </a:pPr>
            <a:r>
              <a:rPr lang="en-US" sz="740" dirty="0">
                <a:solidFill>
                  <a:srgbClr val="DDE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"MODEL-FORECAST-VAR-V1"]</a:t>
            </a:r>
            <a:endParaRPr lang="en-US" sz="740" dirty="0"/>
          </a:p>
          <a:p>
            <a:pPr marL="0" indent="0">
              <a:buNone/>
            </a:pPr>
            <a:r>
              <a:rPr lang="en-US" sz="740" dirty="0">
                <a:solidFill>
                  <a:srgbClr val="DDE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740" dirty="0"/>
          </a:p>
        </p:txBody>
      </p:sp>
      <p:sp>
        <p:nvSpPr>
          <p:cNvPr id="13" name="Shape 10"/>
          <p:cNvSpPr/>
          <p:nvPr/>
        </p:nvSpPr>
        <p:spPr>
          <a:xfrm>
            <a:off x="6537960" y="4389120"/>
            <a:ext cx="4892040" cy="1463040"/>
          </a:xfrm>
          <a:prstGeom prst="roundRect">
            <a:avLst>
              <a:gd name="adj" fmla="val 5000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63D6C6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684264" y="4480560"/>
            <a:ext cx="4599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6142B"/>
                </a:solidFill>
              </a:rPr>
              <a:t>Agent engineering concept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684264" y="4828032"/>
            <a:ext cx="4599432" cy="896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213547"/>
                </a:solidFill>
              </a:rPr>
              <a:t>A sport agent should never collapse a match to a single deterministic winner. It should return a structured probability distribution plus the model and data sources that produced it.</a:t>
            </a:r>
            <a:endParaRPr lang="en-US" sz="880" dirty="0"/>
          </a:p>
        </p:txBody>
      </p:sp>
      <p:sp>
        <p:nvSpPr>
          <p:cNvPr id="16" name="Text 13"/>
          <p:cNvSpPr/>
          <p:nvPr/>
        </p:nvSpPr>
        <p:spPr>
          <a:xfrm>
            <a:off x="502920" y="6556248"/>
            <a:ext cx="8732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9CB3C9"/>
                </a:solidFill>
              </a:rPr>
              <a:t>Demo priors, educational simulator — not betting advice · Photo: Hossein Zohrevand / CC BY 4.0 / Wikimedia Commons; cropped + darkened</a:t>
            </a:r>
            <a:endParaRPr lang="en-US" sz="680" dirty="0"/>
          </a:p>
        </p:txBody>
      </p:sp>
      <p:sp>
        <p:nvSpPr>
          <p:cNvPr id="17" name="Text 14"/>
          <p:cNvSpPr/>
          <p:nvPr/>
        </p:nvSpPr>
        <p:spPr>
          <a:xfrm>
            <a:off x="9857232" y="6556248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80" dirty="0">
                <a:solidFill>
                  <a:srgbClr val="9CB3C9"/>
                </a:solidFill>
              </a:rPr>
              <a:t>AI Reality Lab · Forecast VAR</a:t>
            </a:r>
            <a:endParaRPr lang="en-US" sz="680" dirty="0"/>
          </a:p>
        </p:txBody>
      </p:sp>
      <p:pic>
        <p:nvPicPr>
          <p:cNvPr id="18" name="Image 0" descr="/mnt/data/wc26_slide_work/deck_figures/group_match_confidence.png">
            <a:extLst>
              <a:ext uri="{FF2B5EF4-FFF2-40B4-BE49-F238E27FC236}">
                <a16:creationId xmlns:a16="http://schemas.microsoft.com/office/drawing/2014/main" id="{6256C09A-6F43-FFBC-7962-0283D6DA6A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1648046"/>
            <a:ext cx="5559552" cy="228174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14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c26_slide_work/assets/forecast_var_room_dark60.png"/>
          <p:cNvPicPr>
            <a:picLocks noChangeAspect="1"/>
          </p:cNvPicPr>
          <p:nvPr/>
        </p:nvPicPr>
        <p:blipFill>
          <a:blip r:embed="rId3"/>
          <a:srcRect l="1" r="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5603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7B6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 VAR</a:t>
            </a:r>
            <a:endParaRPr lang="en-US" sz="850" dirty="0"/>
          </a:p>
        </p:txBody>
      </p:sp>
      <p:sp>
        <p:nvSpPr>
          <p:cNvPr id="4" name="Text 1"/>
          <p:cNvSpPr/>
          <p:nvPr/>
        </p:nvSpPr>
        <p:spPr>
          <a:xfrm>
            <a:off x="502920" y="512064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Group D example: model forecast vs market baseline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502920" y="1170432"/>
            <a:ext cx="11155680" cy="0"/>
          </a:xfrm>
          <a:prstGeom prst="line">
            <a:avLst/>
          </a:prstGeom>
          <a:noFill/>
          <a:ln w="13970">
            <a:solidFill>
              <a:srgbClr val="0F8D68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94360" y="1417320"/>
            <a:ext cx="4937760" cy="3566160"/>
          </a:xfrm>
          <a:prstGeom prst="roundRect">
            <a:avLst>
              <a:gd name="adj" fmla="val 2051"/>
            </a:avLst>
          </a:prstGeom>
          <a:solidFill>
            <a:srgbClr val="071B36"/>
          </a:solidFill>
          <a:ln w="12700">
            <a:solidFill>
              <a:srgbClr val="1D5872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1" descr="/mnt/data/wc26_slide_work/wc26-forecast-var-agent-episode2-source-aware-gpt54nano/figures/model_vs_market_usa_australi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" y="1842516"/>
            <a:ext cx="4828032" cy="271576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806440" y="1417320"/>
            <a:ext cx="5623560" cy="3566160"/>
          </a:xfrm>
          <a:prstGeom prst="roundRect">
            <a:avLst>
              <a:gd name="adj" fmla="val 2051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7B65D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5952744" y="1536192"/>
            <a:ext cx="5330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6142B"/>
                </a:solidFill>
              </a:rPr>
              <a:t>Example: USA vs. Australia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5952744" y="1856232"/>
            <a:ext cx="5330952" cy="2999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880" dirty="0">
                <a:solidFill>
                  <a:srgbClr val="213547"/>
                </a:solidFill>
              </a:rPr>
              <a:t>The agent compares two different probability sources:</a:t>
            </a:r>
          </a:p>
          <a:p>
            <a:endParaRPr lang="en-US" sz="880" dirty="0">
              <a:solidFill>
                <a:srgbClr val="213547"/>
              </a:solidFill>
            </a:endParaRPr>
          </a:p>
          <a:p>
            <a:r>
              <a:rPr lang="en-US" sz="880" dirty="0">
                <a:solidFill>
                  <a:srgbClr val="213547"/>
                </a:solidFill>
              </a:rPr>
              <a:t>1. Forecast model</a:t>
            </a:r>
          </a:p>
          <a:p>
            <a:r>
              <a:rPr lang="en-US" sz="880" dirty="0">
                <a:solidFill>
                  <a:srgbClr val="213547"/>
                </a:solidFill>
              </a:rPr>
              <a:t>Uses bundled team priors and match features.</a:t>
            </a:r>
          </a:p>
          <a:p>
            <a:r>
              <a:rPr lang="en-US" sz="880" dirty="0">
                <a:solidFill>
                  <a:srgbClr val="213547"/>
                </a:solidFill>
              </a:rPr>
              <a:t>USA 50.9% · Draw 21.0% · Australia 28.1%</a:t>
            </a:r>
          </a:p>
          <a:p>
            <a:endParaRPr lang="en-US" sz="880" dirty="0">
              <a:solidFill>
                <a:srgbClr val="213547"/>
              </a:solidFill>
            </a:endParaRPr>
          </a:p>
          <a:p>
            <a:r>
              <a:rPr lang="en-US" sz="880" dirty="0">
                <a:solidFill>
                  <a:srgbClr val="213547"/>
                </a:solidFill>
              </a:rPr>
              <a:t>2. Market baseline</a:t>
            </a:r>
          </a:p>
          <a:p>
            <a:r>
              <a:rPr lang="en-US" sz="880" dirty="0">
                <a:solidFill>
                  <a:srgbClr val="213547"/>
                </a:solidFill>
              </a:rPr>
              <a:t>Takes bundled demo odds: 1.82 / 3.65 / 4.35, </a:t>
            </a:r>
            <a:br>
              <a:rPr lang="en-US" sz="880" dirty="0">
                <a:solidFill>
                  <a:srgbClr val="213547"/>
                </a:solidFill>
              </a:rPr>
            </a:br>
            <a:r>
              <a:rPr lang="en-US" sz="880" dirty="0">
                <a:solidFill>
                  <a:srgbClr val="213547"/>
                </a:solidFill>
              </a:rPr>
              <a:t>(</a:t>
            </a:r>
            <a:r>
              <a:rPr lang="en-US" sz="880" dirty="0" err="1">
                <a:solidFill>
                  <a:srgbClr val="213547"/>
                </a:solidFill>
              </a:rPr>
              <a:t>as_of_utc</a:t>
            </a:r>
            <a:r>
              <a:rPr lang="en-US" sz="880" dirty="0">
                <a:solidFill>
                  <a:srgbClr val="213547"/>
                </a:solidFill>
              </a:rPr>
              <a:t>: 2026-05-16T00:00:00Z, </a:t>
            </a:r>
            <a:r>
              <a:rPr lang="en-US" sz="880" dirty="0" err="1">
                <a:solidFill>
                  <a:srgbClr val="213547"/>
                </a:solidFill>
              </a:rPr>
              <a:t>source_id</a:t>
            </a:r>
            <a:r>
              <a:rPr lang="en-US" sz="880" dirty="0">
                <a:solidFill>
                  <a:srgbClr val="213547"/>
                </a:solidFill>
              </a:rPr>
              <a:t>: SRC-SAMPLE-MARKET-ODDS)</a:t>
            </a:r>
          </a:p>
          <a:p>
            <a:r>
              <a:rPr lang="en-US" sz="880" dirty="0">
                <a:solidFill>
                  <a:srgbClr val="213547"/>
                </a:solidFill>
              </a:rPr>
              <a:t>then de-</a:t>
            </a:r>
            <a:r>
              <a:rPr lang="en-US" sz="880" dirty="0" err="1">
                <a:solidFill>
                  <a:srgbClr val="213547"/>
                </a:solidFill>
              </a:rPr>
              <a:t>vigs</a:t>
            </a:r>
            <a:r>
              <a:rPr lang="en-US" sz="880" dirty="0">
                <a:solidFill>
                  <a:srgbClr val="213547"/>
                </a:solidFill>
              </a:rPr>
              <a:t> them by removing bookmaker margin.</a:t>
            </a:r>
          </a:p>
          <a:p>
            <a:r>
              <a:rPr lang="en-US" sz="880" dirty="0">
                <a:solidFill>
                  <a:srgbClr val="213547"/>
                </a:solidFill>
              </a:rPr>
              <a:t>USA 52.2% · Draw 26.0% · Australia 21.8%</a:t>
            </a:r>
          </a:p>
          <a:p>
            <a:endParaRPr lang="en-US" sz="880" dirty="0">
              <a:solidFill>
                <a:srgbClr val="213547"/>
              </a:solidFill>
            </a:endParaRPr>
          </a:p>
          <a:p>
            <a:r>
              <a:rPr lang="en-US" sz="880" dirty="0">
                <a:solidFill>
                  <a:srgbClr val="213547"/>
                </a:solidFill>
              </a:rPr>
              <a:t>What changes?</a:t>
            </a:r>
          </a:p>
          <a:p>
            <a:r>
              <a:rPr lang="en-US" sz="880" dirty="0">
                <a:solidFill>
                  <a:srgbClr val="213547"/>
                </a:solidFill>
              </a:rPr>
              <a:t>The market baseline is slightly higher on USA (+1.3 pts)</a:t>
            </a:r>
          </a:p>
          <a:p>
            <a:r>
              <a:rPr lang="en-US" sz="880" dirty="0">
                <a:solidFill>
                  <a:srgbClr val="213547"/>
                </a:solidFill>
              </a:rPr>
              <a:t>and lower on Australia (-6.3 pts). The agent reports the</a:t>
            </a:r>
          </a:p>
          <a:p>
            <a:r>
              <a:rPr lang="en-US" sz="880" dirty="0">
                <a:solidFill>
                  <a:srgbClr val="213547"/>
                </a:solidFill>
              </a:rPr>
              <a:t>difference, but does not turn it into a betting recommendation.</a:t>
            </a:r>
            <a:endParaRPr lang="en-US" sz="880" dirty="0"/>
          </a:p>
        </p:txBody>
      </p:sp>
      <p:sp>
        <p:nvSpPr>
          <p:cNvPr id="11" name="Shape 7"/>
          <p:cNvSpPr/>
          <p:nvPr/>
        </p:nvSpPr>
        <p:spPr>
          <a:xfrm>
            <a:off x="594360" y="5257800"/>
            <a:ext cx="5120640" cy="822960"/>
          </a:xfrm>
          <a:prstGeom prst="roundRect">
            <a:avLst>
              <a:gd name="adj" fmla="val 8889"/>
            </a:avLst>
          </a:prstGeom>
          <a:solidFill>
            <a:srgbClr val="061222"/>
          </a:solidFill>
          <a:ln w="12700">
            <a:solidFill>
              <a:srgbClr val="1E4F72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713232" y="5349240"/>
            <a:ext cx="4882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3D6C6"/>
                </a:solidFill>
              </a:rPr>
              <a:t>MCP tool</a:t>
            </a:r>
            <a:endParaRPr lang="en-US" sz="750" dirty="0"/>
          </a:p>
        </p:txBody>
      </p:sp>
      <p:sp>
        <p:nvSpPr>
          <p:cNvPr id="13" name="Text 9"/>
          <p:cNvSpPr/>
          <p:nvPr/>
        </p:nvSpPr>
        <p:spPr>
          <a:xfrm>
            <a:off x="713232" y="5641848"/>
            <a:ext cx="4882896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DDE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extract_market_baseline("USA", "Australia")</a:t>
            </a:r>
            <a:endParaRPr lang="en-US" sz="740" dirty="0"/>
          </a:p>
          <a:p>
            <a:pPr marL="0" indent="0">
              <a:buNone/>
            </a:pPr>
            <a:r>
              <a:rPr lang="en-US" sz="740" dirty="0">
                <a:solidFill>
                  <a:srgbClr val="DDE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{ market_p_team_a_win, market_p_draw, market_p_team_b_win, bookmaker_margin }</a:t>
            </a:r>
            <a:endParaRPr lang="en-US" sz="740" dirty="0"/>
          </a:p>
        </p:txBody>
      </p:sp>
      <p:sp>
        <p:nvSpPr>
          <p:cNvPr id="14" name="Shape 10"/>
          <p:cNvSpPr/>
          <p:nvPr/>
        </p:nvSpPr>
        <p:spPr>
          <a:xfrm>
            <a:off x="5989320" y="5257800"/>
            <a:ext cx="5440680" cy="822960"/>
          </a:xfrm>
          <a:prstGeom prst="roundRect">
            <a:avLst>
              <a:gd name="adj" fmla="val 8889"/>
            </a:avLst>
          </a:prstGeom>
          <a:solidFill>
            <a:srgbClr val="061222"/>
          </a:solidFill>
          <a:ln w="12700">
            <a:solidFill>
              <a:srgbClr val="1E4F72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6108192" y="5349240"/>
            <a:ext cx="5202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3D6C6"/>
                </a:solidFill>
              </a:rPr>
              <a:t>Claim contract</a:t>
            </a:r>
            <a:endParaRPr lang="en-US" sz="750" dirty="0"/>
          </a:p>
        </p:txBody>
      </p:sp>
      <p:sp>
        <p:nvSpPr>
          <p:cNvPr id="16" name="Text 12"/>
          <p:cNvSpPr/>
          <p:nvPr/>
        </p:nvSpPr>
        <p:spPr>
          <a:xfrm>
            <a:off x="6108192" y="5609190"/>
            <a:ext cx="5202936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740" dirty="0" err="1">
                <a:solidFill>
                  <a:srgbClr val="DDE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model_output</a:t>
            </a:r>
            <a:r>
              <a:rPr lang="en-US" sz="740" dirty="0">
                <a:solidFill>
                  <a:srgbClr val="DDE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Forecast VAR probability from team priors</a:t>
            </a:r>
          </a:p>
          <a:p>
            <a:r>
              <a:rPr lang="en-US" sz="740" dirty="0" err="1">
                <a:solidFill>
                  <a:srgbClr val="DDE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market_baseline</a:t>
            </a:r>
            <a:r>
              <a:rPr lang="en-US" sz="740" dirty="0">
                <a:solidFill>
                  <a:srgbClr val="DDE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de-</a:t>
            </a:r>
            <a:r>
              <a:rPr lang="en-US" sz="740" dirty="0" err="1">
                <a:solidFill>
                  <a:srgbClr val="DDE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vigged</a:t>
            </a:r>
            <a:r>
              <a:rPr lang="en-US" sz="740" dirty="0">
                <a:solidFill>
                  <a:srgbClr val="DDE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probability from bundled demo odds</a:t>
            </a:r>
          </a:p>
          <a:p>
            <a:r>
              <a:rPr lang="en-US" sz="740" dirty="0">
                <a:solidFill>
                  <a:srgbClr val="DDE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guardrail: disclose timestamp, margin, source, and “not betting advice”</a:t>
            </a:r>
          </a:p>
        </p:txBody>
      </p:sp>
      <p:sp>
        <p:nvSpPr>
          <p:cNvPr id="17" name="Text 13"/>
          <p:cNvSpPr/>
          <p:nvPr/>
        </p:nvSpPr>
        <p:spPr>
          <a:xfrm>
            <a:off x="502920" y="6556248"/>
            <a:ext cx="8732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9CB3C9"/>
                </a:solidFill>
              </a:rPr>
              <a:t>Demo priors, educational simulator — not betting advice · Photo: Alimohammed11 / CC BY 4.0 / Wikimedia Commons; cropped + darkened</a:t>
            </a:r>
            <a:endParaRPr lang="en-US" sz="680" dirty="0"/>
          </a:p>
        </p:txBody>
      </p:sp>
      <p:sp>
        <p:nvSpPr>
          <p:cNvPr id="18" name="Text 14"/>
          <p:cNvSpPr/>
          <p:nvPr/>
        </p:nvSpPr>
        <p:spPr>
          <a:xfrm>
            <a:off x="9857232" y="6556248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80" dirty="0">
                <a:solidFill>
                  <a:srgbClr val="9CB3C9"/>
                </a:solidFill>
              </a:rPr>
              <a:t>AI Reality Lab · Forecast VAR</a:t>
            </a:r>
            <a:endParaRPr lang="en-US" sz="6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14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25603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7B6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</a:t>
            </a:r>
            <a:endParaRPr lang="en-US" sz="850" dirty="0"/>
          </a:p>
        </p:txBody>
      </p:sp>
      <p:sp>
        <p:nvSpPr>
          <p:cNvPr id="4" name="Text 1"/>
          <p:cNvSpPr/>
          <p:nvPr/>
        </p:nvSpPr>
        <p:spPr>
          <a:xfrm>
            <a:off x="502920" y="512064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key design choice: the LLM is not the forecasting model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502920" y="1170432"/>
            <a:ext cx="11155680" cy="0"/>
          </a:xfrm>
          <a:prstGeom prst="line">
            <a:avLst/>
          </a:prstGeom>
          <a:noFill/>
          <a:ln w="13970">
            <a:solidFill>
              <a:srgbClr val="0F8D68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640080" y="1508760"/>
            <a:ext cx="2021373" cy="777240"/>
          </a:xfrm>
          <a:prstGeom prst="roundRect">
            <a:avLst>
              <a:gd name="adj" fmla="val 9412"/>
            </a:avLst>
          </a:prstGeom>
          <a:solidFill>
            <a:srgbClr val="08213D"/>
          </a:solidFill>
          <a:ln w="12700">
            <a:solidFill>
              <a:srgbClr val="0F8D68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13232" y="1627632"/>
            <a:ext cx="187506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D7B65D"/>
                </a:solidFill>
              </a:rPr>
              <a:t>USER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713232" y="1865376"/>
            <a:ext cx="187506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7FAFC"/>
                </a:solidFill>
              </a:rPr>
              <a:t>Question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688885" y="1901952"/>
            <a:ext cx="146304" cy="0"/>
          </a:xfrm>
          <a:prstGeom prst="line">
            <a:avLst/>
          </a:prstGeom>
          <a:noFill/>
          <a:ln w="17780">
            <a:solidFill>
              <a:srgbClr val="D7B65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2862621" y="1508760"/>
            <a:ext cx="2021373" cy="777240"/>
          </a:xfrm>
          <a:prstGeom prst="roundRect">
            <a:avLst>
              <a:gd name="adj" fmla="val 9412"/>
            </a:avLst>
          </a:prstGeom>
          <a:solidFill>
            <a:srgbClr val="08213D"/>
          </a:solidFill>
          <a:ln w="12700">
            <a:solidFill>
              <a:srgbClr val="0F8D68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2935773" y="1627632"/>
            <a:ext cx="187506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3D6C6"/>
                </a:solidFill>
              </a:rPr>
              <a:t>AGENT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2935773" y="1865376"/>
            <a:ext cx="187506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7FAFC"/>
                </a:solidFill>
              </a:rPr>
              <a:t>gpt-5.4-nano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911425" y="1901952"/>
            <a:ext cx="146304" cy="0"/>
          </a:xfrm>
          <a:prstGeom prst="line">
            <a:avLst/>
          </a:prstGeom>
          <a:noFill/>
          <a:ln w="17780">
            <a:solidFill>
              <a:srgbClr val="D7B65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5085161" y="1508760"/>
            <a:ext cx="2021373" cy="777240"/>
          </a:xfrm>
          <a:prstGeom prst="roundRect">
            <a:avLst>
              <a:gd name="adj" fmla="val 9412"/>
            </a:avLst>
          </a:prstGeom>
          <a:solidFill>
            <a:srgbClr val="08213D"/>
          </a:solidFill>
          <a:ln w="12700">
            <a:solidFill>
              <a:srgbClr val="0F8D68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158313" y="1627632"/>
            <a:ext cx="187506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D7B65D"/>
                </a:solidFill>
              </a:rPr>
              <a:t>PROTOCOL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5158313" y="1865376"/>
            <a:ext cx="187506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7FAFC"/>
                </a:solidFill>
              </a:rPr>
              <a:t>MCP tools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7133966" y="1901952"/>
            <a:ext cx="146304" cy="0"/>
          </a:xfrm>
          <a:prstGeom prst="line">
            <a:avLst/>
          </a:prstGeom>
          <a:noFill/>
          <a:ln w="17780">
            <a:solidFill>
              <a:srgbClr val="D7B65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7307702" y="1508760"/>
            <a:ext cx="2021373" cy="777240"/>
          </a:xfrm>
          <a:prstGeom prst="roundRect">
            <a:avLst>
              <a:gd name="adj" fmla="val 9412"/>
            </a:avLst>
          </a:prstGeom>
          <a:solidFill>
            <a:srgbClr val="08213D"/>
          </a:solidFill>
          <a:ln w="12700">
            <a:solidFill>
              <a:srgbClr val="0F8D68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7380854" y="1627632"/>
            <a:ext cx="187506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3D6C6"/>
                </a:solidFill>
              </a:rPr>
              <a:t>ENGINE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7380854" y="1865376"/>
            <a:ext cx="187506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7FAFC"/>
                </a:solidFill>
              </a:rPr>
              <a:t>Python simulator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9356507" y="1901952"/>
            <a:ext cx="146304" cy="0"/>
          </a:xfrm>
          <a:prstGeom prst="line">
            <a:avLst/>
          </a:prstGeom>
          <a:noFill/>
          <a:ln w="17780">
            <a:solidFill>
              <a:srgbClr val="D7B65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9530243" y="1508760"/>
            <a:ext cx="2021373" cy="777240"/>
          </a:xfrm>
          <a:prstGeom prst="roundRect">
            <a:avLst>
              <a:gd name="adj" fmla="val 9412"/>
            </a:avLst>
          </a:prstGeom>
          <a:solidFill>
            <a:srgbClr val="08213D"/>
          </a:solidFill>
          <a:ln w="12700">
            <a:solidFill>
              <a:srgbClr val="0F8D68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9603395" y="1627632"/>
            <a:ext cx="187506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D7B65D"/>
                </a:solidFill>
              </a:rPr>
              <a:t>VAR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9603395" y="1865376"/>
            <a:ext cx="187506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7FAFC"/>
                </a:solidFill>
              </a:rPr>
              <a:t>Verifier + eval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731520" y="2880360"/>
            <a:ext cx="5303520" cy="2240280"/>
          </a:xfrm>
          <a:prstGeom prst="roundRect">
            <a:avLst>
              <a:gd name="adj" fmla="val 3265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63D6C6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877824" y="2999232"/>
            <a:ext cx="5010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6142B"/>
                </a:solidFill>
              </a:rPr>
              <a:t>What gpt-5.4-nano does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877824" y="3319272"/>
            <a:ext cx="5010912" cy="1673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213547"/>
                </a:solidFill>
              </a:rPr>
              <a:t>• Route the question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213547"/>
                </a:solidFill>
              </a:rPr>
              <a:t>• Select skills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213547"/>
                </a:solidFill>
              </a:rPr>
              <a:t>• Call MCP tools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213547"/>
                </a:solidFill>
              </a:rPr>
              <a:t>• Explain source status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213547"/>
                </a:solidFill>
              </a:rPr>
              <a:t>• Format structured claims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213547"/>
                </a:solidFill>
              </a:rPr>
              <a:t>• Refuse fake certainty</a:t>
            </a:r>
            <a:endParaRPr lang="en-US" sz="880" dirty="0"/>
          </a:p>
        </p:txBody>
      </p:sp>
      <p:sp>
        <p:nvSpPr>
          <p:cNvPr id="28" name="Shape 25"/>
          <p:cNvSpPr/>
          <p:nvPr/>
        </p:nvSpPr>
        <p:spPr>
          <a:xfrm>
            <a:off x="6355080" y="2880360"/>
            <a:ext cx="5074920" cy="2240280"/>
          </a:xfrm>
          <a:prstGeom prst="roundRect">
            <a:avLst>
              <a:gd name="adj" fmla="val 3265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7B65D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6501384" y="2999232"/>
            <a:ext cx="4782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6142B"/>
                </a:solidFill>
              </a:rPr>
              <a:t>What Python tools do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6501384" y="3319272"/>
            <a:ext cx="4782312" cy="1673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213547"/>
                </a:solidFill>
              </a:rPr>
              <a:t>• Validate the field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213547"/>
                </a:solidFill>
              </a:rPr>
              <a:t>• Retrieve source cards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213547"/>
                </a:solidFill>
              </a:rPr>
              <a:t>• Compute match probabilities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213547"/>
                </a:solidFill>
              </a:rPr>
              <a:t>• Run group simulations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213547"/>
                </a:solidFill>
              </a:rPr>
              <a:t>• Run Monte Carlo tournaments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213547"/>
                </a:solidFill>
              </a:rPr>
              <a:t>• Verify claim support</a:t>
            </a:r>
            <a:endParaRPr lang="en-US" sz="880" dirty="0"/>
          </a:p>
        </p:txBody>
      </p:sp>
      <p:sp>
        <p:nvSpPr>
          <p:cNvPr id="31" name="Text 28"/>
          <p:cNvSpPr/>
          <p:nvPr/>
        </p:nvSpPr>
        <p:spPr>
          <a:xfrm>
            <a:off x="822960" y="55778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7FAFC"/>
                </a:solidFill>
              </a:rPr>
              <a:t>The model presents the forecast. The tools calculate it. The harness checks it.</a:t>
            </a:r>
            <a:endParaRPr lang="en-US" sz="1800" dirty="0"/>
          </a:p>
        </p:txBody>
      </p:sp>
      <p:sp>
        <p:nvSpPr>
          <p:cNvPr id="32" name="Text 29"/>
          <p:cNvSpPr/>
          <p:nvPr/>
        </p:nvSpPr>
        <p:spPr>
          <a:xfrm>
            <a:off x="502920" y="6556248"/>
            <a:ext cx="8732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9CB3C9"/>
                </a:solidFill>
              </a:rPr>
              <a:t>Demo priors, educational simulator — not betting advice · Photo: Troutfarm27 / CC BY-SA 4.0 / Wikimedia Commons; cropped + darkened</a:t>
            </a:r>
            <a:endParaRPr lang="en-US" sz="680" dirty="0"/>
          </a:p>
        </p:txBody>
      </p:sp>
      <p:sp>
        <p:nvSpPr>
          <p:cNvPr id="33" name="Text 30"/>
          <p:cNvSpPr/>
          <p:nvPr/>
        </p:nvSpPr>
        <p:spPr>
          <a:xfrm>
            <a:off x="9857232" y="6556248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80" dirty="0">
                <a:solidFill>
                  <a:srgbClr val="9CB3C9"/>
                </a:solidFill>
              </a:rPr>
              <a:t>AI Reality Lab · Forecast VAR</a:t>
            </a:r>
            <a:endParaRPr lang="en-US" sz="6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14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7B6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Full technical map: 14-step walkthrough grouped into seven runtime layers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155680" cy="0"/>
          </a:xfrm>
          <a:prstGeom prst="line">
            <a:avLst/>
          </a:prstGeom>
          <a:noFill/>
          <a:ln w="13970">
            <a:solidFill>
              <a:srgbClr val="0F8D68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234440"/>
            <a:ext cx="1386361" cy="777240"/>
          </a:xfrm>
          <a:prstGeom prst="roundRect">
            <a:avLst>
              <a:gd name="adj" fmla="val 9412"/>
            </a:avLst>
          </a:prstGeom>
          <a:solidFill>
            <a:srgbClr val="08213D"/>
          </a:solidFill>
          <a:ln w="12700">
            <a:solidFill>
              <a:srgbClr val="0F8D68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13232" y="1353312"/>
            <a:ext cx="124005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D7B65D"/>
                </a:solidFill>
              </a:rPr>
              <a:t>1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713232" y="1591056"/>
            <a:ext cx="124005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7FAFC"/>
                </a:solidFill>
              </a:rPr>
              <a:t>Source registry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053873" y="1627632"/>
            <a:ext cx="146304" cy="0"/>
          </a:xfrm>
          <a:prstGeom prst="line">
            <a:avLst/>
          </a:prstGeom>
          <a:noFill/>
          <a:ln w="17780">
            <a:solidFill>
              <a:srgbClr val="D7B65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227609" y="1234440"/>
            <a:ext cx="1386361" cy="777240"/>
          </a:xfrm>
          <a:prstGeom prst="roundRect">
            <a:avLst>
              <a:gd name="adj" fmla="val 9412"/>
            </a:avLst>
          </a:prstGeom>
          <a:solidFill>
            <a:srgbClr val="08213D"/>
          </a:solidFill>
          <a:ln w="12700">
            <a:solidFill>
              <a:srgbClr val="0F8D68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300761" y="1353312"/>
            <a:ext cx="124005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D7B65D"/>
                </a:solidFill>
              </a:rPr>
              <a:t>2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2300761" y="1591056"/>
            <a:ext cx="124005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7FAFC"/>
                </a:solidFill>
              </a:rPr>
              <a:t>Pre-flight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41402" y="1627632"/>
            <a:ext cx="146304" cy="0"/>
          </a:xfrm>
          <a:prstGeom prst="line">
            <a:avLst/>
          </a:prstGeom>
          <a:noFill/>
          <a:ln w="17780">
            <a:solidFill>
              <a:srgbClr val="D7B65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815138" y="1234440"/>
            <a:ext cx="1386361" cy="777240"/>
          </a:xfrm>
          <a:prstGeom prst="roundRect">
            <a:avLst>
              <a:gd name="adj" fmla="val 9412"/>
            </a:avLst>
          </a:prstGeom>
          <a:solidFill>
            <a:srgbClr val="08213D"/>
          </a:solidFill>
          <a:ln w="12700">
            <a:solidFill>
              <a:srgbClr val="0F8D68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888290" y="1353312"/>
            <a:ext cx="124005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D7B65D"/>
                </a:solidFill>
              </a:rPr>
              <a:t>3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888290" y="1591056"/>
            <a:ext cx="124005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7FAFC"/>
                </a:solidFill>
              </a:rPr>
              <a:t>RAG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228931" y="1627632"/>
            <a:ext cx="146304" cy="0"/>
          </a:xfrm>
          <a:prstGeom prst="line">
            <a:avLst/>
          </a:prstGeom>
          <a:noFill/>
          <a:ln w="17780">
            <a:solidFill>
              <a:srgbClr val="D7B65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402667" y="1234440"/>
            <a:ext cx="1386361" cy="777240"/>
          </a:xfrm>
          <a:prstGeom prst="roundRect">
            <a:avLst>
              <a:gd name="adj" fmla="val 9412"/>
            </a:avLst>
          </a:prstGeom>
          <a:solidFill>
            <a:srgbClr val="08213D"/>
          </a:solidFill>
          <a:ln w="12700">
            <a:solidFill>
              <a:srgbClr val="0F8D68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75819" y="1353312"/>
            <a:ext cx="124005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D7B65D"/>
                </a:solidFill>
              </a:rPr>
              <a:t>4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5475819" y="1591056"/>
            <a:ext cx="124005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7FAFC"/>
                </a:solidFill>
              </a:rPr>
              <a:t>Skills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816460" y="1627632"/>
            <a:ext cx="146304" cy="0"/>
          </a:xfrm>
          <a:prstGeom prst="line">
            <a:avLst/>
          </a:prstGeom>
          <a:noFill/>
          <a:ln w="17780">
            <a:solidFill>
              <a:srgbClr val="D7B65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990196" y="1234440"/>
            <a:ext cx="1386361" cy="777240"/>
          </a:xfrm>
          <a:prstGeom prst="roundRect">
            <a:avLst>
              <a:gd name="adj" fmla="val 9412"/>
            </a:avLst>
          </a:prstGeom>
          <a:solidFill>
            <a:srgbClr val="08213D"/>
          </a:solidFill>
          <a:ln w="12700">
            <a:solidFill>
              <a:srgbClr val="0F8D68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063348" y="1353312"/>
            <a:ext cx="124005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D7B65D"/>
                </a:solidFill>
              </a:rPr>
              <a:t>5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7063348" y="1591056"/>
            <a:ext cx="124005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7FAFC"/>
                </a:solidFill>
              </a:rPr>
              <a:t>MCP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8403989" y="1627632"/>
            <a:ext cx="146304" cy="0"/>
          </a:xfrm>
          <a:prstGeom prst="line">
            <a:avLst/>
          </a:prstGeom>
          <a:noFill/>
          <a:ln w="17780">
            <a:solidFill>
              <a:srgbClr val="D7B65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8577725" y="1234440"/>
            <a:ext cx="1386361" cy="777240"/>
          </a:xfrm>
          <a:prstGeom prst="roundRect">
            <a:avLst>
              <a:gd name="adj" fmla="val 9412"/>
            </a:avLst>
          </a:prstGeom>
          <a:solidFill>
            <a:srgbClr val="08213D"/>
          </a:solidFill>
          <a:ln w="12700">
            <a:solidFill>
              <a:srgbClr val="0F8D68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650877" y="1353312"/>
            <a:ext cx="124005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D7B65D"/>
                </a:solidFill>
              </a:rPr>
              <a:t>6–11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8650877" y="1591056"/>
            <a:ext cx="124005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7FAFC"/>
                </a:solidFill>
              </a:rPr>
              <a:t>Forecast tools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991518" y="1627632"/>
            <a:ext cx="146304" cy="0"/>
          </a:xfrm>
          <a:prstGeom prst="line">
            <a:avLst/>
          </a:prstGeom>
          <a:noFill/>
          <a:ln w="17780">
            <a:solidFill>
              <a:srgbClr val="D7B65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10165254" y="1234440"/>
            <a:ext cx="1386361" cy="777240"/>
          </a:xfrm>
          <a:prstGeom prst="roundRect">
            <a:avLst>
              <a:gd name="adj" fmla="val 9412"/>
            </a:avLst>
          </a:prstGeom>
          <a:solidFill>
            <a:srgbClr val="08213D"/>
          </a:solidFill>
          <a:ln w="12700">
            <a:solidFill>
              <a:srgbClr val="0F8D68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0238406" y="1353312"/>
            <a:ext cx="124005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D7B65D"/>
                </a:solidFill>
              </a:rPr>
              <a:t>12–14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10238406" y="1591056"/>
            <a:ext cx="124005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7FAFC"/>
                </a:solidFill>
              </a:rPr>
              <a:t>Output + QA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94360" y="2331720"/>
            <a:ext cx="5303520" cy="731520"/>
          </a:xfrm>
          <a:prstGeom prst="roundRect">
            <a:avLst>
              <a:gd name="adj" fmla="val 10000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0F8D68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40664" y="2450592"/>
            <a:ext cx="5010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6142B"/>
                </a:solidFill>
              </a:rPr>
              <a:t>Source registry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40664" y="2770632"/>
            <a:ext cx="5010912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213547"/>
                </a:solidFill>
              </a:rPr>
              <a:t>Allowed sources, statuses, demo/live policy, adapter slots.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6217920" y="2331720"/>
            <a:ext cx="5303520" cy="731520"/>
          </a:xfrm>
          <a:prstGeom prst="roundRect">
            <a:avLst>
              <a:gd name="adj" fmla="val 10000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7B65D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364224" y="2450592"/>
            <a:ext cx="5010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6142B"/>
                </a:solidFill>
              </a:rPr>
              <a:t>Pre-flight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364224" y="2770632"/>
            <a:ext cx="5010912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213547"/>
                </a:solidFill>
              </a:rPr>
              <a:t>Validate field, feature rows, and evidence before retrieval or forecasting.</a:t>
            </a:r>
            <a:endParaRPr lang="en-US" sz="880" dirty="0"/>
          </a:p>
        </p:txBody>
      </p:sp>
      <p:sp>
        <p:nvSpPr>
          <p:cNvPr id="38" name="Shape 36"/>
          <p:cNvSpPr/>
          <p:nvPr/>
        </p:nvSpPr>
        <p:spPr>
          <a:xfrm>
            <a:off x="594360" y="3246120"/>
            <a:ext cx="5303520" cy="731520"/>
          </a:xfrm>
          <a:prstGeom prst="roundRect">
            <a:avLst>
              <a:gd name="adj" fmla="val 10000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0F8D68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740664" y="3364992"/>
            <a:ext cx="5010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6142B"/>
                </a:solidFill>
              </a:rPr>
              <a:t>RAG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40664" y="3685032"/>
            <a:ext cx="5010912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213547"/>
                </a:solidFill>
              </a:rPr>
              <a:t>Retrieve source cards after pre-flight passes; evidence is candidate support.</a:t>
            </a:r>
            <a:endParaRPr lang="en-US" sz="880" dirty="0"/>
          </a:p>
        </p:txBody>
      </p:sp>
      <p:sp>
        <p:nvSpPr>
          <p:cNvPr id="41" name="Shape 39"/>
          <p:cNvSpPr/>
          <p:nvPr/>
        </p:nvSpPr>
        <p:spPr>
          <a:xfrm>
            <a:off x="6217920" y="3246120"/>
            <a:ext cx="5303520" cy="731520"/>
          </a:xfrm>
          <a:prstGeom prst="roundRect">
            <a:avLst>
              <a:gd name="adj" fmla="val 10000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7B65D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364224" y="3364992"/>
            <a:ext cx="5010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6142B"/>
                </a:solidFill>
              </a:rPr>
              <a:t>Skills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364224" y="3685032"/>
            <a:ext cx="5010912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213547"/>
                </a:solidFill>
              </a:rPr>
              <a:t>Procedures for source triage, forecast modelling, uncertainty, and eval review.</a:t>
            </a:r>
            <a:endParaRPr lang="en-US" sz="880" dirty="0"/>
          </a:p>
        </p:txBody>
      </p:sp>
      <p:sp>
        <p:nvSpPr>
          <p:cNvPr id="44" name="Shape 42"/>
          <p:cNvSpPr/>
          <p:nvPr/>
        </p:nvSpPr>
        <p:spPr>
          <a:xfrm>
            <a:off x="594360" y="4160520"/>
            <a:ext cx="5303520" cy="731520"/>
          </a:xfrm>
          <a:prstGeom prst="roundRect">
            <a:avLst>
              <a:gd name="adj" fmla="val 10000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0F8D68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740664" y="4279392"/>
            <a:ext cx="5010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6142B"/>
                </a:solidFill>
              </a:rPr>
              <a:t>Forecast tools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740664" y="4599432"/>
            <a:ext cx="5010912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213547"/>
                </a:solidFill>
              </a:rPr>
              <a:t>Grounding split, match model, group simulation, Monte Carlo, rolling state.</a:t>
            </a:r>
            <a:endParaRPr lang="en-US" sz="880" dirty="0"/>
          </a:p>
        </p:txBody>
      </p:sp>
      <p:sp>
        <p:nvSpPr>
          <p:cNvPr id="47" name="Shape 45"/>
          <p:cNvSpPr/>
          <p:nvPr/>
        </p:nvSpPr>
        <p:spPr>
          <a:xfrm>
            <a:off x="6217920" y="4160520"/>
            <a:ext cx="5303520" cy="731520"/>
          </a:xfrm>
          <a:prstGeom prst="roundRect">
            <a:avLst>
              <a:gd name="adj" fmla="val 10000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7B65D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6364224" y="4279392"/>
            <a:ext cx="5010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6142B"/>
                </a:solidFill>
              </a:rPr>
              <a:t>Output + claims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6364224" y="4599432"/>
            <a:ext cx="5010912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213547"/>
                </a:solidFill>
              </a:rPr>
              <a:t>Structured answer with typed claims, citations, warnings, abstention, metadata.</a:t>
            </a:r>
            <a:endParaRPr lang="en-US" sz="880" dirty="0"/>
          </a:p>
        </p:txBody>
      </p:sp>
      <p:sp>
        <p:nvSpPr>
          <p:cNvPr id="50" name="Shape 48"/>
          <p:cNvSpPr/>
          <p:nvPr/>
        </p:nvSpPr>
        <p:spPr>
          <a:xfrm>
            <a:off x="594360" y="5074920"/>
            <a:ext cx="5303520" cy="731520"/>
          </a:xfrm>
          <a:prstGeom prst="roundRect">
            <a:avLst>
              <a:gd name="adj" fmla="val 10000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0F8D68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740664" y="5193792"/>
            <a:ext cx="5010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6142B"/>
                </a:solidFill>
              </a:rPr>
              <a:t>Eval + live path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740664" y="5513832"/>
            <a:ext cx="5010912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213547"/>
                </a:solidFill>
              </a:rPr>
              <a:t>Verifier and harness score support; live mode reuses the same contract.</a:t>
            </a:r>
            <a:endParaRPr lang="en-US" sz="880" dirty="0"/>
          </a:p>
        </p:txBody>
      </p:sp>
      <p:sp>
        <p:nvSpPr>
          <p:cNvPr id="53" name="Text 51"/>
          <p:cNvSpPr/>
          <p:nvPr/>
        </p:nvSpPr>
        <p:spPr>
          <a:xfrm>
            <a:off x="502920" y="6556248"/>
            <a:ext cx="8732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9CB3C9"/>
                </a:solidFill>
              </a:rPr>
              <a:t>Demo priors, educational simulator — not betting advice · Photo: Troutfarm27 / CC BY-SA 4.0 / Wikimedia Commons; cropped + darkened</a:t>
            </a:r>
            <a:endParaRPr lang="en-US" sz="680" dirty="0"/>
          </a:p>
        </p:txBody>
      </p:sp>
      <p:sp>
        <p:nvSpPr>
          <p:cNvPr id="54" name="Text 52"/>
          <p:cNvSpPr/>
          <p:nvPr/>
        </p:nvSpPr>
        <p:spPr>
          <a:xfrm>
            <a:off x="9857232" y="6556248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80" dirty="0">
                <a:solidFill>
                  <a:srgbClr val="9CB3C9"/>
                </a:solidFill>
              </a:rPr>
              <a:t>AI Reality Lab · Forecast VAR</a:t>
            </a:r>
            <a:endParaRPr lang="en-US" sz="6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14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Image 0" descr="/mnt/data/wc26_slide_work/assets/football_ball_closeup_dark74.png">
            <a:extLst>
              <a:ext uri="{FF2B5EF4-FFF2-40B4-BE49-F238E27FC236}">
                <a16:creationId xmlns:a16="http://schemas.microsoft.com/office/drawing/2014/main" id="{4B7E0B76-8C33-272B-4608-48F79B43D1C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" r="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17" name="Text 0">
            <a:extLst>
              <a:ext uri="{FF2B5EF4-FFF2-40B4-BE49-F238E27FC236}">
                <a16:creationId xmlns:a16="http://schemas.microsoft.com/office/drawing/2014/main" id="{774DD3AE-B523-2D26-D343-CD408AFD6D0C}"/>
              </a:ext>
            </a:extLst>
          </p:cNvPr>
          <p:cNvSpPr/>
          <p:nvPr/>
        </p:nvSpPr>
        <p:spPr>
          <a:xfrm>
            <a:off x="502920" y="25603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7B6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 VAR</a:t>
            </a:r>
            <a:endParaRPr lang="en-US" sz="850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57684F9B-FEDA-1D4E-35E5-224CA9181116}"/>
              </a:ext>
            </a:extLst>
          </p:cNvPr>
          <p:cNvSpPr/>
          <p:nvPr/>
        </p:nvSpPr>
        <p:spPr>
          <a:xfrm>
            <a:off x="502920" y="512064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1 — Source registry: the agent must say what it is allowed to know</a:t>
            </a:r>
            <a:endParaRPr lang="en-US" sz="2400" dirty="0"/>
          </a:p>
        </p:txBody>
      </p:sp>
      <p:sp>
        <p:nvSpPr>
          <p:cNvPr id="19" name="Shape 2">
            <a:extLst>
              <a:ext uri="{FF2B5EF4-FFF2-40B4-BE49-F238E27FC236}">
                <a16:creationId xmlns:a16="http://schemas.microsoft.com/office/drawing/2014/main" id="{0132696F-27D8-3B10-9FDA-1D5EAE90E3FF}"/>
              </a:ext>
            </a:extLst>
          </p:cNvPr>
          <p:cNvSpPr/>
          <p:nvPr/>
        </p:nvSpPr>
        <p:spPr>
          <a:xfrm>
            <a:off x="502920" y="1170432"/>
            <a:ext cx="11155680" cy="0"/>
          </a:xfrm>
          <a:prstGeom prst="line">
            <a:avLst/>
          </a:prstGeom>
          <a:noFill/>
          <a:ln w="13970">
            <a:solidFill>
              <a:srgbClr val="0F8D68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3">
            <a:extLst>
              <a:ext uri="{FF2B5EF4-FFF2-40B4-BE49-F238E27FC236}">
                <a16:creationId xmlns:a16="http://schemas.microsoft.com/office/drawing/2014/main" id="{CD85C065-6A0E-518C-A295-C0146087C6B2}"/>
              </a:ext>
            </a:extLst>
          </p:cNvPr>
          <p:cNvSpPr/>
          <p:nvPr/>
        </p:nvSpPr>
        <p:spPr>
          <a:xfrm>
            <a:off x="548640" y="1325879"/>
            <a:ext cx="5303520" cy="4553689"/>
          </a:xfrm>
          <a:prstGeom prst="roundRect">
            <a:avLst>
              <a:gd name="adj" fmla="val 1778"/>
            </a:avLst>
          </a:prstGeom>
          <a:solidFill>
            <a:srgbClr val="071B36"/>
          </a:solidFill>
          <a:ln w="12700">
            <a:solidFill>
              <a:srgbClr val="1D5872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1" descr="/mnt/data/wc26_slide_work/wc26-forecast-var-agent-episode2-source-aware-gpt54nano/figures/source_coverage_status.png">
            <a:extLst>
              <a:ext uri="{FF2B5EF4-FFF2-40B4-BE49-F238E27FC236}">
                <a16:creationId xmlns:a16="http://schemas.microsoft.com/office/drawing/2014/main" id="{F7BA65F5-E5E4-D03E-6570-44AB9A5406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" y="2313440"/>
            <a:ext cx="5193792" cy="2596896"/>
          </a:xfrm>
          <a:prstGeom prst="rect">
            <a:avLst/>
          </a:prstGeom>
        </p:spPr>
      </p:pic>
      <p:sp>
        <p:nvSpPr>
          <p:cNvPr id="22" name="Shape 4">
            <a:extLst>
              <a:ext uri="{FF2B5EF4-FFF2-40B4-BE49-F238E27FC236}">
                <a16:creationId xmlns:a16="http://schemas.microsoft.com/office/drawing/2014/main" id="{B65DC8D0-36B5-D241-0243-C4A73B7131A4}"/>
              </a:ext>
            </a:extLst>
          </p:cNvPr>
          <p:cNvSpPr/>
          <p:nvPr/>
        </p:nvSpPr>
        <p:spPr>
          <a:xfrm>
            <a:off x="6172200" y="1325880"/>
            <a:ext cx="5257800" cy="1134278"/>
          </a:xfrm>
          <a:prstGeom prst="roundRect">
            <a:avLst>
              <a:gd name="adj" fmla="val 3902"/>
            </a:avLst>
          </a:prstGeom>
          <a:solidFill>
            <a:srgbClr val="061222"/>
          </a:solidFill>
          <a:ln w="12700">
            <a:solidFill>
              <a:srgbClr val="1E4F72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5">
            <a:extLst>
              <a:ext uri="{FF2B5EF4-FFF2-40B4-BE49-F238E27FC236}">
                <a16:creationId xmlns:a16="http://schemas.microsoft.com/office/drawing/2014/main" id="{B86D6DFE-FB47-D7B7-8828-BCC0AE9A408A}"/>
              </a:ext>
            </a:extLst>
          </p:cNvPr>
          <p:cNvSpPr/>
          <p:nvPr/>
        </p:nvSpPr>
        <p:spPr>
          <a:xfrm>
            <a:off x="6291072" y="1417320"/>
            <a:ext cx="5020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3D6C6"/>
                </a:solidFill>
              </a:rPr>
              <a:t>source_registry.json</a:t>
            </a:r>
            <a:endParaRPr lang="en-US" sz="750" dirty="0"/>
          </a:p>
        </p:txBody>
      </p:sp>
      <p:sp>
        <p:nvSpPr>
          <p:cNvPr id="24" name="Text 6">
            <a:extLst>
              <a:ext uri="{FF2B5EF4-FFF2-40B4-BE49-F238E27FC236}">
                <a16:creationId xmlns:a16="http://schemas.microsoft.com/office/drawing/2014/main" id="{817E9D4F-1860-00E8-7525-85F0A1AFA167}"/>
              </a:ext>
            </a:extLst>
          </p:cNvPr>
          <p:cNvSpPr/>
          <p:nvPr/>
        </p:nvSpPr>
        <p:spPr>
          <a:xfrm>
            <a:off x="6291072" y="1513981"/>
            <a:ext cx="5020056" cy="94618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DDE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740" dirty="0"/>
          </a:p>
          <a:p>
            <a:pPr marL="0" indent="0">
              <a:buNone/>
            </a:pPr>
            <a:r>
              <a:rPr lang="en-US" sz="740" dirty="0">
                <a:solidFill>
                  <a:srgbClr val="DDE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"source_id": "SRC-SAMPLE-TEAM-PRIORS",</a:t>
            </a:r>
            <a:endParaRPr lang="en-US" sz="740" dirty="0"/>
          </a:p>
          <a:p>
            <a:pPr marL="0" indent="0">
              <a:buNone/>
            </a:pPr>
            <a:r>
              <a:rPr lang="en-US" sz="740" dirty="0">
                <a:solidFill>
                  <a:srgbClr val="DDE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"status": "bundled_demo_only",</a:t>
            </a:r>
            <a:endParaRPr lang="en-US" sz="740" dirty="0"/>
          </a:p>
          <a:p>
            <a:pPr marL="0" indent="0">
              <a:buNone/>
            </a:pPr>
            <a:r>
              <a:rPr lang="en-US" sz="740" dirty="0">
                <a:solidFill>
                  <a:srgbClr val="DDE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"adds": ["strength_rating", "travel_load"],</a:t>
            </a:r>
            <a:endParaRPr lang="en-US" sz="740" dirty="0"/>
          </a:p>
          <a:p>
            <a:pPr marL="0" indent="0">
              <a:buNone/>
            </a:pPr>
            <a:r>
              <a:rPr lang="en-US" sz="740" dirty="0">
                <a:solidFill>
                  <a:srgbClr val="DDE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"forecast_use": ["match", "group", "simulation"]</a:t>
            </a:r>
            <a:endParaRPr lang="en-US" sz="740" dirty="0"/>
          </a:p>
          <a:p>
            <a:pPr marL="0" indent="0">
              <a:buNone/>
            </a:pPr>
            <a:r>
              <a:rPr lang="en-US" sz="740" dirty="0">
                <a:solidFill>
                  <a:srgbClr val="DDE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740" dirty="0"/>
          </a:p>
        </p:txBody>
      </p:sp>
      <p:sp>
        <p:nvSpPr>
          <p:cNvPr id="25" name="Shape 7">
            <a:extLst>
              <a:ext uri="{FF2B5EF4-FFF2-40B4-BE49-F238E27FC236}">
                <a16:creationId xmlns:a16="http://schemas.microsoft.com/office/drawing/2014/main" id="{A121A237-6D2A-5AA6-8B60-A878A850439B}"/>
              </a:ext>
            </a:extLst>
          </p:cNvPr>
          <p:cNvSpPr/>
          <p:nvPr/>
        </p:nvSpPr>
        <p:spPr>
          <a:xfrm>
            <a:off x="6172200" y="2615605"/>
            <a:ext cx="5257800" cy="3263963"/>
          </a:xfrm>
          <a:prstGeom prst="roundRect">
            <a:avLst>
              <a:gd name="adj" fmla="val 3756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7B65D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8">
            <a:extLst>
              <a:ext uri="{FF2B5EF4-FFF2-40B4-BE49-F238E27FC236}">
                <a16:creationId xmlns:a16="http://schemas.microsoft.com/office/drawing/2014/main" id="{FD99673E-157B-9737-2969-FB55D2516900}"/>
              </a:ext>
            </a:extLst>
          </p:cNvPr>
          <p:cNvSpPr/>
          <p:nvPr/>
        </p:nvSpPr>
        <p:spPr>
          <a:xfrm>
            <a:off x="6318504" y="2708362"/>
            <a:ext cx="4965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6142B"/>
                </a:solidFill>
              </a:rPr>
              <a:t>Agent concept: source governance</a:t>
            </a:r>
            <a:endParaRPr lang="en-US" sz="1200" dirty="0"/>
          </a:p>
        </p:txBody>
      </p:sp>
      <p:sp>
        <p:nvSpPr>
          <p:cNvPr id="27" name="Text 9">
            <a:extLst>
              <a:ext uri="{FF2B5EF4-FFF2-40B4-BE49-F238E27FC236}">
                <a16:creationId xmlns:a16="http://schemas.microsoft.com/office/drawing/2014/main" id="{ACCBAF50-D540-1917-5E35-826E0E54EE23}"/>
              </a:ext>
            </a:extLst>
          </p:cNvPr>
          <p:cNvSpPr/>
          <p:nvPr/>
        </p:nvSpPr>
        <p:spPr>
          <a:xfrm>
            <a:off x="6318504" y="3007952"/>
            <a:ext cx="4965192" cy="2679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880" dirty="0"/>
              <a:t>The source registry is just the agent’s “allowed ingredients” list.</a:t>
            </a:r>
          </a:p>
          <a:p>
            <a:endParaRPr lang="en-US" sz="880" dirty="0"/>
          </a:p>
          <a:p>
            <a:r>
              <a:rPr lang="en-US" sz="880" dirty="0"/>
              <a:t>Example: USA vs Australia odds</a:t>
            </a:r>
          </a:p>
          <a:p>
            <a:endParaRPr lang="en-US" sz="880" dirty="0"/>
          </a:p>
          <a:p>
            <a:r>
              <a:rPr lang="en-US" sz="880" dirty="0"/>
              <a:t>It says:</a:t>
            </a:r>
          </a:p>
          <a:p>
            <a:r>
              <a:rPr lang="en-US" sz="880" dirty="0"/>
              <a:t>• We can use this bundled odds file</a:t>
            </a:r>
          </a:p>
          <a:p>
            <a:r>
              <a:rPr lang="en-US" sz="880" dirty="0"/>
              <a:t>• It is only demo data</a:t>
            </a:r>
          </a:p>
          <a:p>
            <a:r>
              <a:rPr lang="en-US" sz="880" dirty="0"/>
              <a:t>• It is good enough for showing how model-vs-market comparison works</a:t>
            </a:r>
          </a:p>
          <a:p>
            <a:r>
              <a:rPr lang="en-US" sz="880" dirty="0"/>
              <a:t>• It should not be described as live odds</a:t>
            </a:r>
          </a:p>
          <a:p>
            <a:endParaRPr lang="en-US" sz="880" dirty="0"/>
          </a:p>
          <a:p>
            <a:r>
              <a:rPr lang="en-US" sz="880" dirty="0"/>
              <a:t>So the agent can say:</a:t>
            </a:r>
          </a:p>
          <a:p>
            <a:r>
              <a:rPr lang="en-US" sz="880" dirty="0"/>
              <a:t>“Using the demo odds row, the market-style baseline is USA 52.2%, draw 26.0%, Australia 21.8%.”</a:t>
            </a:r>
          </a:p>
          <a:p>
            <a:endParaRPr lang="en-US" sz="880" dirty="0"/>
          </a:p>
          <a:p>
            <a:r>
              <a:rPr lang="en-US" sz="880" dirty="0"/>
              <a:t>But it should not say:</a:t>
            </a:r>
          </a:p>
          <a:p>
            <a:r>
              <a:rPr lang="en-US" sz="880" dirty="0"/>
              <a:t>“Bookmakers currently think USA will win.”</a:t>
            </a:r>
          </a:p>
          <a:p>
            <a:endParaRPr lang="en-US" sz="880" dirty="0"/>
          </a:p>
          <a:p>
            <a:r>
              <a:rPr lang="en-US" sz="880" dirty="0"/>
              <a:t>That’s the whole governance idea:</a:t>
            </a:r>
          </a:p>
          <a:p>
            <a:r>
              <a:rPr lang="en-US" sz="880" dirty="0"/>
              <a:t>before the agent uses a source, it checks what that source is allowed to mean, and if it is allowed to be used at all.</a:t>
            </a:r>
          </a:p>
          <a:p>
            <a:pPr marL="0" indent="0">
              <a:buNone/>
            </a:pPr>
            <a:endParaRPr lang="en-US" sz="880" dirty="0"/>
          </a:p>
        </p:txBody>
      </p:sp>
      <p:sp>
        <p:nvSpPr>
          <p:cNvPr id="28" name="Text 10">
            <a:extLst>
              <a:ext uri="{FF2B5EF4-FFF2-40B4-BE49-F238E27FC236}">
                <a16:creationId xmlns:a16="http://schemas.microsoft.com/office/drawing/2014/main" id="{F9372ECD-B8A6-58FF-1467-F21ACCB2C485}"/>
              </a:ext>
            </a:extLst>
          </p:cNvPr>
          <p:cNvSpPr/>
          <p:nvPr/>
        </p:nvSpPr>
        <p:spPr>
          <a:xfrm>
            <a:off x="502920" y="6556248"/>
            <a:ext cx="8732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9CB3C9"/>
                </a:solidFill>
              </a:rPr>
              <a:t>Demo priors, educational simulator — not betting advice</a:t>
            </a:r>
            <a:endParaRPr lang="en-US" sz="680" dirty="0"/>
          </a:p>
        </p:txBody>
      </p:sp>
      <p:sp>
        <p:nvSpPr>
          <p:cNvPr id="29" name="Text 11">
            <a:extLst>
              <a:ext uri="{FF2B5EF4-FFF2-40B4-BE49-F238E27FC236}">
                <a16:creationId xmlns:a16="http://schemas.microsoft.com/office/drawing/2014/main" id="{13D55BAA-6725-C09D-DB3E-57A1F9C5952A}"/>
              </a:ext>
            </a:extLst>
          </p:cNvPr>
          <p:cNvSpPr/>
          <p:nvPr/>
        </p:nvSpPr>
        <p:spPr>
          <a:xfrm>
            <a:off x="9857232" y="6556248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80" dirty="0">
                <a:solidFill>
                  <a:srgbClr val="9CB3C9"/>
                </a:solidFill>
              </a:rPr>
              <a:t>AI Reality Lab · Forecast VAR</a:t>
            </a:r>
            <a:endParaRPr lang="en-US" sz="6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14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7B6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 VAR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2 — Pre-flight gate: validate before RAG, tools, or forecasts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155680" cy="0"/>
          </a:xfrm>
          <a:prstGeom prst="line">
            <a:avLst/>
          </a:prstGeom>
          <a:noFill/>
          <a:ln w="13970">
            <a:solidFill>
              <a:srgbClr val="0F8D68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94360" y="1371600"/>
            <a:ext cx="4754880" cy="3566160"/>
          </a:xfrm>
          <a:prstGeom prst="roundRect">
            <a:avLst>
              <a:gd name="adj" fmla="val 2051"/>
            </a:avLst>
          </a:prstGeom>
          <a:solidFill>
            <a:srgbClr val="071B36"/>
          </a:solidFill>
          <a:ln w="12700">
            <a:solidFill>
              <a:srgbClr val="1D5872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/mnt/data/wc26_slide_work/wc26-forecast-var-agent-episode2-source-aware-gpt54nano/figures/preflight_readin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1935328"/>
            <a:ext cx="4645152" cy="243870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0" y="1371600"/>
            <a:ext cx="5577840" cy="1965960"/>
          </a:xfrm>
          <a:prstGeom prst="roundRect">
            <a:avLst>
              <a:gd name="adj" fmla="val 3721"/>
            </a:avLst>
          </a:prstGeom>
          <a:solidFill>
            <a:srgbClr val="061222"/>
          </a:solidFill>
          <a:ln w="12700">
            <a:solidFill>
              <a:srgbClr val="1E4F72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788152" y="1463040"/>
            <a:ext cx="5340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3D6C6"/>
                </a:solidFill>
              </a:rPr>
              <a:t>src/forecast_var/tools.py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5788152" y="1755648"/>
            <a:ext cx="5340096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DDE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preflight_forecast_context():</a:t>
            </a:r>
            <a:endParaRPr lang="en-US" sz="740" dirty="0"/>
          </a:p>
          <a:p>
            <a:pPr marL="0" indent="0">
              <a:buNone/>
            </a:pPr>
            <a:r>
              <a:rPr lang="en-US" sz="740" dirty="0">
                <a:solidFill>
                  <a:srgbClr val="DDE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validation = validate_tournament_field()</a:t>
            </a:r>
            <a:endParaRPr lang="en-US" sz="740" dirty="0"/>
          </a:p>
          <a:p>
            <a:pPr marL="0" indent="0">
              <a:buNone/>
            </a:pPr>
            <a:r>
              <a:rPr lang="en-US" sz="740" dirty="0">
                <a:solidFill>
                  <a:srgbClr val="DDE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missing = teams - feature_rows</a:t>
            </a:r>
            <a:endParaRPr lang="en-US" sz="740" dirty="0"/>
          </a:p>
          <a:p>
            <a:pPr marL="0" indent="0">
              <a:buNone/>
            </a:pPr>
            <a:r>
              <a:rPr lang="en-US" sz="740" dirty="0">
                <a:solidFill>
                  <a:srgbClr val="DDE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extra = feature_rows - teams</a:t>
            </a:r>
            <a:endParaRPr lang="en-US" sz="740" dirty="0"/>
          </a:p>
          <a:p>
            <a:pPr marL="0" indent="0">
              <a:buNone/>
            </a:pPr>
            <a:r>
              <a:rPr lang="en-US" sz="740" dirty="0">
                <a:solidFill>
                  <a:srgbClr val="DDE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ready = validation["valid"] and not missing and evidence_count &gt; 0</a:t>
            </a:r>
            <a:endParaRPr lang="en-US" sz="740" dirty="0"/>
          </a:p>
          <a:p>
            <a:pPr marL="0" indent="0">
              <a:buNone/>
            </a:pPr>
            <a:r>
              <a:rPr lang="en-US" sz="740" dirty="0">
                <a:solidFill>
                  <a:srgbClr val="DDE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{"ready_for_forecast": ready, ...}</a:t>
            </a:r>
            <a:endParaRPr lang="en-US" sz="740" dirty="0"/>
          </a:p>
        </p:txBody>
      </p:sp>
      <p:sp>
        <p:nvSpPr>
          <p:cNvPr id="10" name="Shape 7"/>
          <p:cNvSpPr/>
          <p:nvPr/>
        </p:nvSpPr>
        <p:spPr>
          <a:xfrm>
            <a:off x="5669280" y="3657600"/>
            <a:ext cx="5577840" cy="1280160"/>
          </a:xfrm>
          <a:prstGeom prst="roundRect">
            <a:avLst>
              <a:gd name="adj" fmla="val 5714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0F8D68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815584" y="3776472"/>
            <a:ext cx="5285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6142B"/>
                </a:solidFill>
              </a:rPr>
              <a:t>Output format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815584" y="4096512"/>
            <a:ext cx="5285232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213547"/>
                </a:solidFill>
              </a:rPr>
              <a:t>ready_for_forecast: true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213547"/>
                </a:solidFill>
              </a:rPr>
              <a:t>field_valid: true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213547"/>
                </a:solidFill>
              </a:rPr>
              <a:t>teams: 48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213547"/>
                </a:solidFill>
              </a:rPr>
              <a:t>feature_rows: 48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213547"/>
                </a:solidFill>
              </a:rPr>
              <a:t>evidence_docs: 73</a:t>
            </a:r>
            <a:endParaRPr lang="en-US" sz="880" dirty="0"/>
          </a:p>
        </p:txBody>
      </p:sp>
      <p:sp>
        <p:nvSpPr>
          <p:cNvPr id="13" name="Text 10"/>
          <p:cNvSpPr/>
          <p:nvPr/>
        </p:nvSpPr>
        <p:spPr>
          <a:xfrm>
            <a:off x="502920" y="6556248"/>
            <a:ext cx="8732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9CB3C9"/>
                </a:solidFill>
              </a:rPr>
              <a:t>Demo priors, educational simulator — not betting advice · Photo: Alejan98 / CC0 / Wikimedia Commons; cropped + darkened</a:t>
            </a:r>
            <a:endParaRPr lang="en-US" sz="680" dirty="0"/>
          </a:p>
        </p:txBody>
      </p:sp>
      <p:sp>
        <p:nvSpPr>
          <p:cNvPr id="14" name="Text 11"/>
          <p:cNvSpPr/>
          <p:nvPr/>
        </p:nvSpPr>
        <p:spPr>
          <a:xfrm>
            <a:off x="9857232" y="6556248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80" dirty="0">
                <a:solidFill>
                  <a:srgbClr val="9CB3C9"/>
                </a:solidFill>
              </a:rPr>
              <a:t>AI Reality Lab · Forecast VAR</a:t>
            </a:r>
            <a:endParaRPr lang="en-US" sz="6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14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c26_slide_work/assets/forecast_var_room_dark68.png"/>
          <p:cNvPicPr>
            <a:picLocks noChangeAspect="1"/>
          </p:cNvPicPr>
          <p:nvPr/>
        </p:nvPicPr>
        <p:blipFill>
          <a:blip r:embed="rId3"/>
          <a:srcRect l="1" r="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5603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7B6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 VAR</a:t>
            </a:r>
            <a:endParaRPr lang="en-US" sz="850" dirty="0"/>
          </a:p>
        </p:txBody>
      </p:sp>
      <p:sp>
        <p:nvSpPr>
          <p:cNvPr id="4" name="Text 1"/>
          <p:cNvSpPr/>
          <p:nvPr/>
        </p:nvSpPr>
        <p:spPr>
          <a:xfrm>
            <a:off x="502920" y="512064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3 — RAG: retrieve source cards after pre-flight passes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502920" y="1170432"/>
            <a:ext cx="11155680" cy="0"/>
          </a:xfrm>
          <a:prstGeom prst="line">
            <a:avLst/>
          </a:prstGeom>
          <a:noFill/>
          <a:ln w="13970">
            <a:solidFill>
              <a:srgbClr val="0F8D68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640080" y="1417320"/>
            <a:ext cx="5166360" cy="2194560"/>
          </a:xfrm>
          <a:prstGeom prst="roundRect">
            <a:avLst>
              <a:gd name="adj" fmla="val 3333"/>
            </a:avLst>
          </a:prstGeom>
          <a:solidFill>
            <a:srgbClr val="061222"/>
          </a:solidFill>
          <a:ln w="12700">
            <a:solidFill>
              <a:srgbClr val="1E4F72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58952" y="1508760"/>
            <a:ext cx="4928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3D6C6"/>
                </a:solidFill>
              </a:rPr>
              <a:t>RAG tool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758952" y="1801368"/>
            <a:ext cx="4928616" cy="1737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740" dirty="0">
                <a:solidFill>
                  <a:srgbClr val="DDE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</a:t>
            </a:r>
            <a:r>
              <a:rPr lang="en-US" sz="740" dirty="0" err="1">
                <a:solidFill>
                  <a:srgbClr val="DDE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search_source_cards</a:t>
            </a:r>
            <a:r>
              <a:rPr lang="en-US" sz="740" dirty="0">
                <a:solidFill>
                  <a:srgbClr val="DDE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(query, k=5):</a:t>
            </a:r>
          </a:p>
          <a:p>
            <a:r>
              <a:rPr lang="en-US" sz="740" dirty="0">
                <a:solidFill>
                  <a:srgbClr val="DDE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cards = </a:t>
            </a:r>
            <a:r>
              <a:rPr lang="en-US" sz="740" dirty="0" err="1">
                <a:solidFill>
                  <a:srgbClr val="DDE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token_overlap_search</a:t>
            </a:r>
            <a:r>
              <a:rPr lang="en-US" sz="740" dirty="0">
                <a:solidFill>
                  <a:srgbClr val="DDE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(query, k=k)</a:t>
            </a:r>
          </a:p>
          <a:p>
            <a:r>
              <a:rPr lang="en-US" sz="740" dirty="0">
                <a:solidFill>
                  <a:srgbClr val="DDE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{</a:t>
            </a:r>
          </a:p>
          <a:p>
            <a:r>
              <a:rPr lang="en-US" sz="740" dirty="0">
                <a:solidFill>
                  <a:srgbClr val="DDE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"query": query,</a:t>
            </a:r>
          </a:p>
          <a:p>
            <a:r>
              <a:rPr lang="en-US" sz="740" dirty="0">
                <a:solidFill>
                  <a:srgbClr val="DDE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</a:t>
            </a:r>
            <a:r>
              <a:rPr lang="en-US" sz="740" dirty="0" err="1">
                <a:solidFill>
                  <a:srgbClr val="DDE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candidate_evidence</a:t>
            </a:r>
            <a:r>
              <a:rPr lang="en-US" sz="740" dirty="0">
                <a:solidFill>
                  <a:srgbClr val="DDE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": cards,</a:t>
            </a:r>
          </a:p>
          <a:p>
            <a:r>
              <a:rPr lang="en-US" sz="740" dirty="0">
                <a:solidFill>
                  <a:srgbClr val="DDE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"citations": [c["</a:t>
            </a:r>
            <a:r>
              <a:rPr lang="en-US" sz="740" dirty="0" err="1">
                <a:solidFill>
                  <a:srgbClr val="DDE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citation_id</a:t>
            </a:r>
            <a:r>
              <a:rPr lang="en-US" sz="740" dirty="0">
                <a:solidFill>
                  <a:srgbClr val="DDE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"] for c in cards],</a:t>
            </a:r>
          </a:p>
          <a:p>
            <a:r>
              <a:rPr lang="en-US" sz="740" dirty="0">
                <a:solidFill>
                  <a:srgbClr val="DDE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"warning": "Retrieval is not validation."</a:t>
            </a:r>
          </a:p>
          <a:p>
            <a:r>
              <a:rPr lang="en-US" sz="740" dirty="0">
                <a:solidFill>
                  <a:srgbClr val="DDE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740" dirty="0"/>
          </a:p>
        </p:txBody>
      </p:sp>
      <p:sp>
        <p:nvSpPr>
          <p:cNvPr id="9" name="Shape 6"/>
          <p:cNvSpPr/>
          <p:nvPr/>
        </p:nvSpPr>
        <p:spPr>
          <a:xfrm>
            <a:off x="6080760" y="1417320"/>
            <a:ext cx="5166360" cy="2194560"/>
          </a:xfrm>
          <a:prstGeom prst="roundRect">
            <a:avLst>
              <a:gd name="adj" fmla="val 3333"/>
            </a:avLst>
          </a:prstGeom>
          <a:solidFill>
            <a:srgbClr val="061222"/>
          </a:solidFill>
          <a:ln w="12700">
            <a:solidFill>
              <a:srgbClr val="1E4F72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199632" y="1508760"/>
            <a:ext cx="4928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3D6C6"/>
                </a:solidFill>
              </a:rPr>
              <a:t>source_cards.jsonl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6199632" y="1801368"/>
            <a:ext cx="4928616" cy="1737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10000"/>
          </a:bodyPr>
          <a:lstStyle/>
          <a:p>
            <a:r>
              <a:rPr lang="en-US" sz="740" dirty="0">
                <a:solidFill>
                  <a:srgbClr val="DDE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</a:p>
          <a:p>
            <a:r>
              <a:rPr lang="en-US" sz="740" dirty="0">
                <a:solidFill>
                  <a:srgbClr val="DDE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"query": "Compare USA vs Australia model and market baseline",</a:t>
            </a:r>
          </a:p>
          <a:p>
            <a:r>
              <a:rPr lang="en-US" sz="740" dirty="0">
                <a:solidFill>
                  <a:srgbClr val="DDE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</a:t>
            </a:r>
            <a:r>
              <a:rPr lang="en-US" sz="740" dirty="0" err="1">
                <a:solidFill>
                  <a:srgbClr val="DDE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candidate_evidence</a:t>
            </a:r>
            <a:r>
              <a:rPr lang="en-US" sz="740" dirty="0">
                <a:solidFill>
                  <a:srgbClr val="DDE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": [</a:t>
            </a:r>
          </a:p>
          <a:p>
            <a:r>
              <a:rPr lang="en-US" sz="740" dirty="0">
                <a:solidFill>
                  <a:srgbClr val="DDE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</a:p>
          <a:p>
            <a:r>
              <a:rPr lang="en-US" sz="740" dirty="0">
                <a:solidFill>
                  <a:srgbClr val="DDE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"id": "TEAM-USA",</a:t>
            </a:r>
          </a:p>
          <a:p>
            <a:r>
              <a:rPr lang="en-US" sz="740" dirty="0">
                <a:solidFill>
                  <a:srgbClr val="DDE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"title": "Demo team feature profile: USA",</a:t>
            </a:r>
          </a:p>
          <a:p>
            <a:r>
              <a:rPr lang="en-US" sz="740" dirty="0">
                <a:solidFill>
                  <a:srgbClr val="DDE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"supports": ["</a:t>
            </a:r>
            <a:r>
              <a:rPr lang="en-US" sz="740" dirty="0" err="1">
                <a:solidFill>
                  <a:srgbClr val="DDE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model_input</a:t>
            </a:r>
            <a:r>
              <a:rPr lang="en-US" sz="740" dirty="0">
                <a:solidFill>
                  <a:srgbClr val="DDE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", "</a:t>
            </a:r>
            <a:r>
              <a:rPr lang="en-US" sz="740" dirty="0" err="1">
                <a:solidFill>
                  <a:srgbClr val="DDE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team_strength_input</a:t>
            </a:r>
            <a:r>
              <a:rPr lang="en-US" sz="740" dirty="0">
                <a:solidFill>
                  <a:srgbClr val="DDE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"]</a:t>
            </a:r>
          </a:p>
          <a:p>
            <a:r>
              <a:rPr lang="en-US" sz="740" dirty="0">
                <a:solidFill>
                  <a:srgbClr val="DDE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</a:t>
            </a:r>
          </a:p>
          <a:p>
            <a:r>
              <a:rPr lang="en-US" sz="740" dirty="0">
                <a:solidFill>
                  <a:srgbClr val="DDE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</a:p>
          <a:p>
            <a:r>
              <a:rPr lang="en-US" sz="740" dirty="0">
                <a:solidFill>
                  <a:srgbClr val="DDE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"id": "TEAM-Australia",</a:t>
            </a:r>
          </a:p>
          <a:p>
            <a:r>
              <a:rPr lang="en-US" sz="740" dirty="0">
                <a:solidFill>
                  <a:srgbClr val="DDE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"title": "Demo team feature profile: Australia",</a:t>
            </a:r>
          </a:p>
          <a:p>
            <a:r>
              <a:rPr lang="en-US" sz="740" dirty="0">
                <a:solidFill>
                  <a:srgbClr val="DDE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"supports": ["</a:t>
            </a:r>
            <a:r>
              <a:rPr lang="en-US" sz="740" dirty="0" err="1">
                <a:solidFill>
                  <a:srgbClr val="DDE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model_input</a:t>
            </a:r>
            <a:r>
              <a:rPr lang="en-US" sz="740" dirty="0">
                <a:solidFill>
                  <a:srgbClr val="DDE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", "</a:t>
            </a:r>
            <a:r>
              <a:rPr lang="en-US" sz="740" dirty="0" err="1">
                <a:solidFill>
                  <a:srgbClr val="DDE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team_strength_input</a:t>
            </a:r>
            <a:r>
              <a:rPr lang="en-US" sz="740" dirty="0">
                <a:solidFill>
                  <a:srgbClr val="DDE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"]</a:t>
            </a:r>
          </a:p>
          <a:p>
            <a:r>
              <a:rPr lang="en-US" sz="740" dirty="0">
                <a:solidFill>
                  <a:srgbClr val="DDE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</a:t>
            </a:r>
          </a:p>
          <a:p>
            <a:r>
              <a:rPr lang="en-US" sz="740" dirty="0">
                <a:solidFill>
                  <a:srgbClr val="DDE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</a:p>
          <a:p>
            <a:r>
              <a:rPr lang="en-US" sz="740" dirty="0">
                <a:solidFill>
                  <a:srgbClr val="DDE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"id": "MARKET-G-D-USA-AUS",</a:t>
            </a:r>
          </a:p>
          <a:p>
            <a:r>
              <a:rPr lang="en-US" sz="740" dirty="0">
                <a:solidFill>
                  <a:srgbClr val="DDE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"title": "Demo market baseline: USA vs Australia",</a:t>
            </a:r>
          </a:p>
          <a:p>
            <a:r>
              <a:rPr lang="en-US" sz="740" dirty="0">
                <a:solidFill>
                  <a:srgbClr val="DDE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"supports": ["</a:t>
            </a:r>
            <a:r>
              <a:rPr lang="en-US" sz="740" dirty="0" err="1">
                <a:solidFill>
                  <a:srgbClr val="DDE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market_baseline</a:t>
            </a:r>
            <a:r>
              <a:rPr lang="en-US" sz="740" dirty="0">
                <a:solidFill>
                  <a:srgbClr val="DDE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"]</a:t>
            </a:r>
          </a:p>
          <a:p>
            <a:r>
              <a:rPr lang="en-US" sz="740" dirty="0">
                <a:solidFill>
                  <a:srgbClr val="DDE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</a:p>
          <a:p>
            <a:r>
              <a:rPr lang="en-US" sz="740" dirty="0">
                <a:solidFill>
                  <a:srgbClr val="DDE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],</a:t>
            </a:r>
          </a:p>
          <a:p>
            <a:r>
              <a:rPr lang="en-US" sz="740" dirty="0">
                <a:solidFill>
                  <a:srgbClr val="DDE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"warning": "retrieval is not validation"</a:t>
            </a:r>
          </a:p>
          <a:p>
            <a:r>
              <a:rPr lang="en-US" sz="740" dirty="0">
                <a:solidFill>
                  <a:srgbClr val="DDE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6BAF73A-E328-5C30-28EB-CE973D78AFEC}"/>
              </a:ext>
            </a:extLst>
          </p:cNvPr>
          <p:cNvGrpSpPr/>
          <p:nvPr/>
        </p:nvGrpSpPr>
        <p:grpSpPr>
          <a:xfrm>
            <a:off x="640080" y="3739896"/>
            <a:ext cx="10607040" cy="1609343"/>
            <a:chOff x="640080" y="3739896"/>
            <a:chExt cx="5166360" cy="2432304"/>
          </a:xfrm>
        </p:grpSpPr>
        <p:sp>
          <p:nvSpPr>
            <p:cNvPr id="12" name="Shape 9"/>
            <p:cNvSpPr/>
            <p:nvPr/>
          </p:nvSpPr>
          <p:spPr>
            <a:xfrm>
              <a:off x="640080" y="3739896"/>
              <a:ext cx="5166360" cy="2432304"/>
            </a:xfrm>
            <a:prstGeom prst="roundRect">
              <a:avLst>
                <a:gd name="adj" fmla="val 6154"/>
              </a:avLst>
            </a:prstGeom>
            <a:solidFill>
              <a:srgbClr val="FFFFFF">
                <a:alpha val="96000"/>
              </a:srgbClr>
            </a:solidFill>
            <a:ln w="12700">
              <a:solidFill>
                <a:srgbClr val="D7B65D">
                  <a:alpha val="5500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 11"/>
            <p:cNvSpPr/>
            <p:nvPr/>
          </p:nvSpPr>
          <p:spPr>
            <a:xfrm>
              <a:off x="786384" y="3815222"/>
              <a:ext cx="4901184" cy="2313434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t">
              <a:normAutofit/>
            </a:bodyPr>
            <a:lstStyle/>
            <a:p>
              <a:r>
                <a:rPr lang="en-US" sz="1400" b="1" dirty="0">
                  <a:solidFill>
                    <a:srgbClr val="06142B"/>
                  </a:solidFill>
                </a:rPr>
                <a:t>Agent concept: retrieval is not enough</a:t>
              </a:r>
              <a:endParaRPr lang="en-US" sz="1400" dirty="0"/>
            </a:p>
            <a:p>
              <a:endParaRPr lang="en-US" sz="880" dirty="0">
                <a:solidFill>
                  <a:srgbClr val="213547"/>
                </a:solidFill>
              </a:endParaRPr>
            </a:p>
            <a:p>
              <a:r>
                <a:rPr lang="en-US" sz="900" dirty="0">
                  <a:solidFill>
                    <a:srgbClr val="213547"/>
                  </a:solidFill>
                </a:rPr>
                <a:t>Example query:</a:t>
              </a:r>
            </a:p>
            <a:p>
              <a:r>
                <a:rPr lang="en-US" sz="900" dirty="0">
                  <a:solidFill>
                    <a:srgbClr val="213547"/>
                  </a:solidFill>
                </a:rPr>
                <a:t>“Compare USA vs Australia model and market baseline.”</a:t>
              </a:r>
            </a:p>
            <a:p>
              <a:endParaRPr lang="en-US" sz="900" dirty="0">
                <a:solidFill>
                  <a:srgbClr val="213547"/>
                </a:solidFill>
              </a:endParaRPr>
            </a:p>
            <a:p>
              <a:r>
                <a:rPr lang="en-US" sz="900" dirty="0">
                  <a:solidFill>
                    <a:srgbClr val="213547"/>
                  </a:solidFill>
                </a:rPr>
                <a:t>RAG may retrieve:</a:t>
              </a:r>
            </a:p>
            <a:p>
              <a:r>
                <a:rPr lang="en-US" sz="900" dirty="0">
                  <a:solidFill>
                    <a:srgbClr val="213547"/>
                  </a:solidFill>
                </a:rPr>
                <a:t>• USA team feature row</a:t>
              </a:r>
            </a:p>
            <a:p>
              <a:r>
                <a:rPr lang="en-US" sz="900" dirty="0">
                  <a:solidFill>
                    <a:srgbClr val="213547"/>
                  </a:solidFill>
                </a:rPr>
                <a:t>• Australia team feature row</a:t>
              </a:r>
            </a:p>
            <a:p>
              <a:r>
                <a:rPr lang="en-US" sz="900" dirty="0">
                  <a:solidFill>
                    <a:srgbClr val="213547"/>
                  </a:solidFill>
                </a:rPr>
                <a:t>• bundled demo odds row</a:t>
              </a:r>
            </a:p>
            <a:p>
              <a:r>
                <a:rPr lang="en-US" sz="900" dirty="0">
                  <a:solidFill>
                    <a:srgbClr val="213547"/>
                  </a:solidFill>
                </a:rPr>
                <a:t>• market-baseline policy note</a:t>
              </a:r>
            </a:p>
          </p:txBody>
        </p:sp>
      </p:grpSp>
      <p:sp>
        <p:nvSpPr>
          <p:cNvPr id="15" name="Text 12"/>
          <p:cNvSpPr/>
          <p:nvPr/>
        </p:nvSpPr>
        <p:spPr>
          <a:xfrm>
            <a:off x="502920" y="6556248"/>
            <a:ext cx="8732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9CB3C9"/>
                </a:solidFill>
              </a:rPr>
              <a:t>Demo priors, educational simulator — not betting advice · Photo: ArmieVas / CC0 / Wikimedia Commons; cropped + darkened</a:t>
            </a:r>
            <a:endParaRPr lang="en-US" sz="680" dirty="0"/>
          </a:p>
        </p:txBody>
      </p:sp>
      <p:sp>
        <p:nvSpPr>
          <p:cNvPr id="16" name="Text 13"/>
          <p:cNvSpPr/>
          <p:nvPr/>
        </p:nvSpPr>
        <p:spPr>
          <a:xfrm>
            <a:off x="9857232" y="6556248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80" dirty="0">
                <a:solidFill>
                  <a:srgbClr val="9CB3C9"/>
                </a:solidFill>
              </a:rPr>
              <a:t>AI Reality Lab · Forecast VAR</a:t>
            </a:r>
            <a:endParaRPr lang="en-US" sz="680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EE033E87-55B5-2214-4E06-C414A3F91578}"/>
              </a:ext>
            </a:extLst>
          </p:cNvPr>
          <p:cNvGrpSpPr/>
          <p:nvPr/>
        </p:nvGrpSpPr>
        <p:grpSpPr>
          <a:xfrm>
            <a:off x="637903" y="5470126"/>
            <a:ext cx="10607040" cy="854038"/>
            <a:chOff x="6035040" y="3739896"/>
            <a:chExt cx="10759385" cy="2412274"/>
          </a:xfrm>
        </p:grpSpPr>
        <p:sp>
          <p:nvSpPr>
            <p:cNvPr id="17" name="Shape 9">
              <a:extLst>
                <a:ext uri="{FF2B5EF4-FFF2-40B4-BE49-F238E27FC236}">
                  <a16:creationId xmlns:a16="http://schemas.microsoft.com/office/drawing/2014/main" id="{DC6D0F78-0210-85B2-12C6-7F22ED05947F}"/>
                </a:ext>
              </a:extLst>
            </p:cNvPr>
            <p:cNvSpPr/>
            <p:nvPr/>
          </p:nvSpPr>
          <p:spPr>
            <a:xfrm>
              <a:off x="6035040" y="3739896"/>
              <a:ext cx="10759385" cy="2412274"/>
            </a:xfrm>
            <a:prstGeom prst="roundRect">
              <a:avLst>
                <a:gd name="adj" fmla="val 6154"/>
              </a:avLst>
            </a:prstGeom>
            <a:solidFill>
              <a:srgbClr val="FFFFFF">
                <a:alpha val="96000"/>
              </a:srgbClr>
            </a:solidFill>
            <a:ln w="12700">
              <a:solidFill>
                <a:srgbClr val="D7B65D">
                  <a:alpha val="5500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 11">
              <a:extLst>
                <a:ext uri="{FF2B5EF4-FFF2-40B4-BE49-F238E27FC236}">
                  <a16:creationId xmlns:a16="http://schemas.microsoft.com/office/drawing/2014/main" id="{39B0473D-1032-0DEB-7D34-0CB7C9CB19B0}"/>
                </a:ext>
              </a:extLst>
            </p:cNvPr>
            <p:cNvSpPr/>
            <p:nvPr/>
          </p:nvSpPr>
          <p:spPr>
            <a:xfrm>
              <a:off x="6341938" y="4001043"/>
              <a:ext cx="4901184" cy="1852312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t">
              <a:normAutofit/>
            </a:bodyPr>
            <a:lstStyle/>
            <a:p>
              <a:endParaRPr lang="en-US" sz="900" dirty="0">
                <a:solidFill>
                  <a:srgbClr val="213547"/>
                </a:solidFill>
              </a:endParaRPr>
            </a:p>
            <a:p>
              <a:endParaRPr lang="en-US" sz="900" dirty="0">
                <a:solidFill>
                  <a:srgbClr val="213547"/>
                </a:solidFill>
              </a:endParaRPr>
            </a:p>
            <a:p>
              <a:r>
                <a:rPr lang="en-US" sz="900" dirty="0">
                  <a:solidFill>
                    <a:srgbClr val="213547"/>
                  </a:solidFill>
                </a:rPr>
                <a:t>RAG brings possible receipts into the room.</a:t>
              </a:r>
            </a:p>
            <a:p>
              <a:r>
                <a:rPr lang="en-US" sz="900" dirty="0">
                  <a:solidFill>
                    <a:srgbClr val="213547"/>
                  </a:solidFill>
                </a:rPr>
                <a:t>Grounding and verification decide whether those receipts actually support the claim.</a:t>
              </a:r>
            </a:p>
          </p:txBody>
        </p:sp>
      </p:grpSp>
      <p:sp>
        <p:nvSpPr>
          <p:cNvPr id="24" name="Text 11">
            <a:extLst>
              <a:ext uri="{FF2B5EF4-FFF2-40B4-BE49-F238E27FC236}">
                <a16:creationId xmlns:a16="http://schemas.microsoft.com/office/drawing/2014/main" id="{355BBAEF-BC3C-0D1B-DF7B-3E6458F07B08}"/>
              </a:ext>
            </a:extLst>
          </p:cNvPr>
          <p:cNvSpPr/>
          <p:nvPr/>
        </p:nvSpPr>
        <p:spPr>
          <a:xfrm>
            <a:off x="4490204" y="4534041"/>
            <a:ext cx="3211286" cy="78638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endParaRPr lang="en-US" sz="880" dirty="0">
              <a:solidFill>
                <a:srgbClr val="213547"/>
              </a:solidFill>
            </a:endParaRPr>
          </a:p>
          <a:p>
            <a:r>
              <a:rPr lang="en-US" sz="900" dirty="0">
                <a:solidFill>
                  <a:srgbClr val="213547"/>
                </a:solidFill>
              </a:rPr>
              <a:t>What RAG does:</a:t>
            </a:r>
          </a:p>
          <a:p>
            <a:r>
              <a:rPr lang="en-US" sz="900" dirty="0">
                <a:solidFill>
                  <a:srgbClr val="213547"/>
                </a:solidFill>
              </a:rPr>
              <a:t>• finds relevant source snippets</a:t>
            </a:r>
          </a:p>
          <a:p>
            <a:r>
              <a:rPr lang="en-US" sz="900" dirty="0">
                <a:solidFill>
                  <a:srgbClr val="213547"/>
                </a:solidFill>
              </a:rPr>
              <a:t>• gives the agent citation handles</a:t>
            </a:r>
          </a:p>
          <a:p>
            <a:r>
              <a:rPr lang="en-US" sz="900" dirty="0">
                <a:solidFill>
                  <a:srgbClr val="213547"/>
                </a:solidFill>
              </a:rPr>
              <a:t>• narrows the context window</a:t>
            </a:r>
          </a:p>
        </p:txBody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DAC12AC7-B3BF-0333-6D6F-D5454DE43391}"/>
              </a:ext>
            </a:extLst>
          </p:cNvPr>
          <p:cNvSpPr/>
          <p:nvPr/>
        </p:nvSpPr>
        <p:spPr>
          <a:xfrm>
            <a:off x="7858173" y="4665171"/>
            <a:ext cx="2988208" cy="65336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900" dirty="0">
                <a:solidFill>
                  <a:srgbClr val="213547"/>
                </a:solidFill>
              </a:rPr>
              <a:t>What RAG does not do:</a:t>
            </a:r>
          </a:p>
          <a:p>
            <a:r>
              <a:rPr lang="en-US" sz="900" dirty="0">
                <a:solidFill>
                  <a:srgbClr val="213547"/>
                </a:solidFill>
              </a:rPr>
              <a:t>• prove the answer is correct</a:t>
            </a:r>
          </a:p>
          <a:p>
            <a:r>
              <a:rPr lang="en-US" sz="900" dirty="0">
                <a:solidFill>
                  <a:srgbClr val="213547"/>
                </a:solidFill>
              </a:rPr>
              <a:t>• check claim type</a:t>
            </a:r>
          </a:p>
          <a:p>
            <a:r>
              <a:rPr lang="en-US" sz="900" dirty="0">
                <a:solidFill>
                  <a:srgbClr val="213547"/>
                </a:solidFill>
              </a:rPr>
              <a:t>• decide whether a model probability is factual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5F80D45-B14F-FB09-90B2-47869D33B3EE}"/>
              </a:ext>
            </a:extLst>
          </p:cNvPr>
          <p:cNvSpPr txBox="1"/>
          <p:nvPr/>
        </p:nvSpPr>
        <p:spPr>
          <a:xfrm>
            <a:off x="866666" y="5495080"/>
            <a:ext cx="17700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6142B"/>
                </a:solidFill>
              </a:rPr>
              <a:t>Takeaway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614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Real football background" descr="Licensed football background phot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  <p:sp>
        <p:nvSpPr>
          <p:cNvPr id="2" name="Text 0"/>
          <p:cNvSpPr/>
          <p:nvPr/>
        </p:nvSpPr>
        <p:spPr>
          <a:xfrm>
            <a:off x="502920" y="25603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7B6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 VAR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4 — Skills: procedural memory for a safer football forecaster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155680" cy="0"/>
          </a:xfrm>
          <a:prstGeom prst="line">
            <a:avLst/>
          </a:prstGeom>
          <a:noFill/>
          <a:ln w="13970">
            <a:solidFill>
              <a:srgbClr val="0F8D68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94360" y="1325880"/>
            <a:ext cx="5577840" cy="2514600"/>
          </a:xfrm>
          <a:prstGeom prst="roundRect">
            <a:avLst>
              <a:gd name="adj" fmla="val 2909"/>
            </a:avLst>
          </a:prstGeom>
          <a:solidFill>
            <a:srgbClr val="061222"/>
          </a:solidFill>
          <a:ln w="12700">
            <a:solidFill>
              <a:srgbClr val="1E4F72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13232" y="1417320"/>
            <a:ext cx="5340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3D6C6"/>
                </a:solidFill>
              </a:rPr>
              <a:t>SKILL.md example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713232" y="1709928"/>
            <a:ext cx="5340096" cy="2057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DDE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  <a:endParaRPr lang="en-US" sz="740" dirty="0"/>
          </a:p>
          <a:p>
            <a:pPr marL="0" indent="0">
              <a:buNone/>
            </a:pPr>
            <a:r>
              <a:rPr lang="en-US" sz="740" dirty="0">
                <a:solidFill>
                  <a:srgbClr val="DDE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forecast-modeling</a:t>
            </a:r>
            <a:endParaRPr lang="en-US" sz="740" dirty="0"/>
          </a:p>
          <a:p>
            <a:pPr marL="0" indent="0">
              <a:buNone/>
            </a:pPr>
            <a:r>
              <a:rPr lang="en-US" sz="740" dirty="0">
                <a:solidFill>
                  <a:srgbClr val="DDE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description: use deterministic forecasting tools instead of free-form guessing. use when the user asks for match probabilities, favourites, winners, group forecasts, rankings, monte carlo simulations, rolling forecasts, or model explanations.</a:t>
            </a:r>
            <a:endParaRPr lang="en-US" sz="740" dirty="0"/>
          </a:p>
          <a:p>
            <a:pPr marL="0" indent="0">
              <a:buNone/>
            </a:pPr>
            <a:r>
              <a:rPr lang="en-US" sz="740" dirty="0">
                <a:solidFill>
                  <a:srgbClr val="DDE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  <a:endParaRPr lang="en-US" sz="740" dirty="0"/>
          </a:p>
          <a:p>
            <a:pPr marL="0" indent="0">
              <a:buNone/>
            </a:pPr>
            <a:endParaRPr lang="en-US" sz="740" dirty="0"/>
          </a:p>
          <a:p>
            <a:pPr marL="0" indent="0">
              <a:buNone/>
            </a:pPr>
            <a:r>
              <a:rPr lang="en-US" sz="740" dirty="0">
                <a:solidFill>
                  <a:srgbClr val="DDE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Call the narrowest MCP forecast tool.</a:t>
            </a:r>
            <a:endParaRPr lang="en-US" sz="740" dirty="0"/>
          </a:p>
          <a:p>
            <a:pPr marL="0" indent="0">
              <a:buNone/>
            </a:pPr>
            <a:r>
              <a:rPr lang="en-US" sz="740" dirty="0">
                <a:solidFill>
                  <a:srgbClr val="DDE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Report probabilities, not deterministic winners.</a:t>
            </a:r>
            <a:endParaRPr lang="en-US" sz="740" dirty="0"/>
          </a:p>
          <a:p>
            <a:pPr marL="0" indent="0">
              <a:buNone/>
            </a:pPr>
            <a:r>
              <a:rPr lang="en-US" sz="740" dirty="0">
                <a:solidFill>
                  <a:srgbClr val="DDE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Label bundled priors as demo inputs.</a:t>
            </a:r>
            <a:endParaRPr lang="en-US" sz="740" dirty="0"/>
          </a:p>
        </p:txBody>
      </p:sp>
      <p:sp>
        <p:nvSpPr>
          <p:cNvPr id="8" name="Shape 6"/>
          <p:cNvSpPr/>
          <p:nvPr/>
        </p:nvSpPr>
        <p:spPr>
          <a:xfrm>
            <a:off x="6446520" y="1325880"/>
            <a:ext cx="4846320" cy="2514600"/>
          </a:xfrm>
          <a:prstGeom prst="roundRect">
            <a:avLst>
              <a:gd name="adj" fmla="val 2909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0F8D68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92824" y="1444752"/>
            <a:ext cx="4553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6142B"/>
                </a:solidFill>
              </a:rPr>
              <a:t>Why skills matter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92824" y="1764792"/>
            <a:ext cx="4553712" cy="1947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213547"/>
                </a:solidFill>
              </a:rPr>
              <a:t>Skills are not data. They are compact instructions loaded when relevant.</a:t>
            </a:r>
            <a:endParaRPr lang="en-US" sz="880" dirty="0"/>
          </a:p>
          <a:p>
            <a:pPr marL="0" indent="0">
              <a:buNone/>
            </a:pP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213547"/>
                </a:solidFill>
              </a:rPr>
              <a:t>In this project, skills enforce source triage, pre-flight checks, citation discipline, uncertainty calibration, Monte Carlo behaviour, and eval review.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640080" y="4434840"/>
            <a:ext cx="2021373" cy="777240"/>
          </a:xfrm>
          <a:prstGeom prst="roundRect">
            <a:avLst>
              <a:gd name="adj" fmla="val 9412"/>
            </a:avLst>
          </a:prstGeom>
          <a:solidFill>
            <a:srgbClr val="08213D"/>
          </a:solidFill>
          <a:ln w="12700">
            <a:solidFill>
              <a:srgbClr val="0F8D68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13232" y="4553712"/>
            <a:ext cx="187506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D7B65D"/>
                </a:solidFill>
              </a:rPr>
              <a:t>skill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713232" y="4791456"/>
            <a:ext cx="187506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7FAFC"/>
                </a:solidFill>
              </a:rPr>
              <a:t>source triage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688885" y="4828032"/>
            <a:ext cx="146304" cy="0"/>
          </a:xfrm>
          <a:prstGeom prst="line">
            <a:avLst/>
          </a:prstGeom>
          <a:noFill/>
          <a:ln w="17780">
            <a:solidFill>
              <a:srgbClr val="D7B65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862621" y="4434840"/>
            <a:ext cx="2021373" cy="777240"/>
          </a:xfrm>
          <a:prstGeom prst="roundRect">
            <a:avLst>
              <a:gd name="adj" fmla="val 9412"/>
            </a:avLst>
          </a:prstGeom>
          <a:solidFill>
            <a:srgbClr val="08213D"/>
          </a:solidFill>
          <a:ln w="12700">
            <a:solidFill>
              <a:srgbClr val="0F8D68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935773" y="4553712"/>
            <a:ext cx="187506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D7B65D"/>
                </a:solidFill>
              </a:rPr>
              <a:t>skill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2935773" y="4791456"/>
            <a:ext cx="187506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7FAFC"/>
                </a:solidFill>
              </a:rPr>
              <a:t>preflight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911425" y="4828032"/>
            <a:ext cx="146304" cy="0"/>
          </a:xfrm>
          <a:prstGeom prst="line">
            <a:avLst/>
          </a:prstGeom>
          <a:noFill/>
          <a:ln w="17780">
            <a:solidFill>
              <a:srgbClr val="D7B65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085161" y="4434840"/>
            <a:ext cx="2021373" cy="777240"/>
          </a:xfrm>
          <a:prstGeom prst="roundRect">
            <a:avLst>
              <a:gd name="adj" fmla="val 9412"/>
            </a:avLst>
          </a:prstGeom>
          <a:solidFill>
            <a:srgbClr val="08213D"/>
          </a:solidFill>
          <a:ln w="12700">
            <a:solidFill>
              <a:srgbClr val="0F8D68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158313" y="4553712"/>
            <a:ext cx="187506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D7B65D"/>
                </a:solidFill>
              </a:rPr>
              <a:t>skill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158313" y="4791456"/>
            <a:ext cx="187506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7FAFC"/>
                </a:solidFill>
              </a:rPr>
              <a:t>forecast model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133966" y="4828032"/>
            <a:ext cx="146304" cy="0"/>
          </a:xfrm>
          <a:prstGeom prst="line">
            <a:avLst/>
          </a:prstGeom>
          <a:noFill/>
          <a:ln w="17780">
            <a:solidFill>
              <a:srgbClr val="D7B65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307702" y="4434840"/>
            <a:ext cx="2021373" cy="777240"/>
          </a:xfrm>
          <a:prstGeom prst="roundRect">
            <a:avLst>
              <a:gd name="adj" fmla="val 9412"/>
            </a:avLst>
          </a:prstGeom>
          <a:solidFill>
            <a:srgbClr val="08213D"/>
          </a:solidFill>
          <a:ln w="12700">
            <a:solidFill>
              <a:srgbClr val="0F8D68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380854" y="4553712"/>
            <a:ext cx="187506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D7B65D"/>
                </a:solidFill>
              </a:rPr>
              <a:t>skill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7380854" y="4791456"/>
            <a:ext cx="187506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7FAFC"/>
                </a:solidFill>
              </a:rPr>
              <a:t>uncertainty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9356507" y="4828032"/>
            <a:ext cx="146304" cy="0"/>
          </a:xfrm>
          <a:prstGeom prst="line">
            <a:avLst/>
          </a:prstGeom>
          <a:noFill/>
          <a:ln w="17780">
            <a:solidFill>
              <a:srgbClr val="D7B65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9530243" y="4434840"/>
            <a:ext cx="2021373" cy="777240"/>
          </a:xfrm>
          <a:prstGeom prst="roundRect">
            <a:avLst>
              <a:gd name="adj" fmla="val 9412"/>
            </a:avLst>
          </a:prstGeom>
          <a:solidFill>
            <a:srgbClr val="08213D"/>
          </a:solidFill>
          <a:ln w="12700">
            <a:solidFill>
              <a:srgbClr val="0F8D68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9603395" y="4553712"/>
            <a:ext cx="187506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D7B65D"/>
                </a:solidFill>
              </a:rPr>
              <a:t>skill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9603395" y="4791456"/>
            <a:ext cx="187506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7FAFC"/>
                </a:solidFill>
              </a:rPr>
              <a:t>eval review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02920" y="6556248"/>
            <a:ext cx="8732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9CB3C9"/>
                </a:solidFill>
              </a:rPr>
              <a:t>Demo priors, educational simulator — not betting advice · Photo: Liondartois / CC BY-SA 4.0 / Wikimedia Commons; cropped + darkened</a:t>
            </a:r>
            <a:endParaRPr lang="en-US" sz="680" dirty="0"/>
          </a:p>
        </p:txBody>
      </p:sp>
      <p:sp>
        <p:nvSpPr>
          <p:cNvPr id="31" name="Text 29"/>
          <p:cNvSpPr/>
          <p:nvPr/>
        </p:nvSpPr>
        <p:spPr>
          <a:xfrm>
            <a:off x="9857232" y="6556248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80" dirty="0">
                <a:solidFill>
                  <a:srgbClr val="9CB3C9"/>
                </a:solidFill>
              </a:rPr>
              <a:t>AI Reality Lab · Forecast VAR</a:t>
            </a:r>
            <a:endParaRPr lang="en-US" sz="6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614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25603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7B6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 VAR</a:t>
            </a:r>
            <a:endParaRPr lang="en-US" sz="850" dirty="0"/>
          </a:p>
        </p:txBody>
      </p:sp>
      <p:sp>
        <p:nvSpPr>
          <p:cNvPr id="4" name="Text 1"/>
          <p:cNvSpPr/>
          <p:nvPr/>
        </p:nvSpPr>
        <p:spPr>
          <a:xfrm>
            <a:off x="502920" y="512064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5 — MCP: a strict tool boundary between the agent and the forecasting engine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502920" y="1170432"/>
            <a:ext cx="11155680" cy="0"/>
          </a:xfrm>
          <a:prstGeom prst="line">
            <a:avLst/>
          </a:prstGeom>
          <a:noFill/>
          <a:ln w="13970">
            <a:solidFill>
              <a:srgbClr val="0F8D68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94360" y="1325880"/>
            <a:ext cx="5486400" cy="2103120"/>
          </a:xfrm>
          <a:prstGeom prst="roundRect">
            <a:avLst>
              <a:gd name="adj" fmla="val 3478"/>
            </a:avLst>
          </a:prstGeom>
          <a:solidFill>
            <a:srgbClr val="061222"/>
          </a:solidFill>
          <a:ln w="12700">
            <a:solidFill>
              <a:srgbClr val="1E4F72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13232" y="1417320"/>
            <a:ext cx="5248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3D6C6"/>
                </a:solidFill>
              </a:rPr>
              <a:t>MCP server tool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713232" y="1709928"/>
            <a:ext cx="5248656" cy="1645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DDE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mcp_servers/worldcup_forecast/server.py</a:t>
            </a:r>
            <a:endParaRPr lang="en-US" sz="740" dirty="0"/>
          </a:p>
          <a:p>
            <a:pPr marL="0" indent="0">
              <a:buNone/>
            </a:pPr>
            <a:r>
              <a:rPr lang="en-US" sz="740" dirty="0">
                <a:solidFill>
                  <a:srgbClr val="DDE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@app.tool()</a:t>
            </a:r>
            <a:endParaRPr lang="en-US" sz="740" dirty="0"/>
          </a:p>
          <a:p>
            <a:pPr marL="0" indent="0">
              <a:buNone/>
            </a:pPr>
            <a:r>
              <a:rPr lang="en-US" sz="740" dirty="0">
                <a:solidFill>
                  <a:srgbClr val="DDE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simulate_tournament(sims: int = 3000,</a:t>
            </a:r>
            <a:endParaRPr lang="en-US" sz="740" dirty="0"/>
          </a:p>
          <a:p>
            <a:pPr marL="0" indent="0">
              <a:buNone/>
            </a:pPr>
            <a:r>
              <a:rPr lang="en-US" sz="740" dirty="0">
                <a:solidFill>
                  <a:srgbClr val="DDE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seed: int = 2026,</a:t>
            </a:r>
            <a:endParaRPr lang="en-US" sz="740" dirty="0"/>
          </a:p>
          <a:p>
            <a:pPr marL="0" indent="0">
              <a:buNone/>
            </a:pPr>
            <a:r>
              <a:rPr lang="en-US" sz="740" dirty="0">
                <a:solidFill>
                  <a:srgbClr val="DDE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limit: int = 12) -&gt; dict:</a:t>
            </a:r>
            <a:endParaRPr lang="en-US" sz="740" dirty="0"/>
          </a:p>
          <a:p>
            <a:pPr marL="0" indent="0">
              <a:buNone/>
            </a:pPr>
            <a:r>
              <a:rPr lang="en-US" sz="740" dirty="0">
                <a:solidFill>
                  <a:srgbClr val="DDE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tools.simulate_tournament(</a:t>
            </a:r>
            <a:endParaRPr lang="en-US" sz="740" dirty="0"/>
          </a:p>
          <a:p>
            <a:pPr marL="0" indent="0">
              <a:buNone/>
            </a:pPr>
            <a:r>
              <a:rPr lang="en-US" sz="740" dirty="0">
                <a:solidFill>
                  <a:srgbClr val="DDE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sims=sims, seed=seed, limit=limit</a:t>
            </a:r>
            <a:endParaRPr lang="en-US" sz="740" dirty="0"/>
          </a:p>
          <a:p>
            <a:pPr marL="0" indent="0">
              <a:buNone/>
            </a:pPr>
            <a:r>
              <a:rPr lang="en-US" sz="740" dirty="0">
                <a:solidFill>
                  <a:srgbClr val="DDE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</a:t>
            </a:r>
            <a:endParaRPr lang="en-US" sz="740" dirty="0"/>
          </a:p>
        </p:txBody>
      </p:sp>
      <p:sp>
        <p:nvSpPr>
          <p:cNvPr id="9" name="Shape 6"/>
          <p:cNvSpPr/>
          <p:nvPr/>
        </p:nvSpPr>
        <p:spPr>
          <a:xfrm>
            <a:off x="6355080" y="1325880"/>
            <a:ext cx="4937760" cy="2103120"/>
          </a:xfrm>
          <a:prstGeom prst="roundRect">
            <a:avLst>
              <a:gd name="adj" fmla="val 3478"/>
            </a:avLst>
          </a:prstGeom>
          <a:solidFill>
            <a:srgbClr val="061222"/>
          </a:solidFill>
          <a:ln w="12700">
            <a:solidFill>
              <a:srgbClr val="1E4F72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473952" y="1417320"/>
            <a:ext cx="4700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3D6C6"/>
                </a:solidFill>
              </a:rPr>
              <a:t>OpenAI live path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6473952" y="1709928"/>
            <a:ext cx="4700016" cy="1645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DDE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mcp = MCPServerStdio(</a:t>
            </a:r>
            <a:endParaRPr lang="en-US" sz="740" dirty="0"/>
          </a:p>
          <a:p>
            <a:pPr marL="0" indent="0">
              <a:buNone/>
            </a:pPr>
            <a:r>
              <a:rPr lang="en-US" sz="740" dirty="0">
                <a:solidFill>
                  <a:srgbClr val="DDE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params={"command": "python", "args": ["mcp_servers/worldcup_forecast/server.py"]}</a:t>
            </a:r>
            <a:endParaRPr lang="en-US" sz="740" dirty="0"/>
          </a:p>
          <a:p>
            <a:pPr marL="0" indent="0">
              <a:buNone/>
            </a:pPr>
            <a:r>
              <a:rPr lang="en-US" sz="740" dirty="0">
                <a:solidFill>
                  <a:srgbClr val="DDE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740" dirty="0"/>
          </a:p>
          <a:p>
            <a:pPr marL="0" indent="0">
              <a:buNone/>
            </a:pPr>
            <a:r>
              <a:rPr lang="en-US" sz="740" dirty="0">
                <a:solidFill>
                  <a:srgbClr val="DDE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= Agent(</a:t>
            </a:r>
            <a:endParaRPr lang="en-US" sz="740" dirty="0"/>
          </a:p>
          <a:p>
            <a:pPr marL="0" indent="0">
              <a:buNone/>
            </a:pPr>
            <a:r>
              <a:rPr lang="en-US" sz="740" dirty="0">
                <a:solidFill>
                  <a:srgbClr val="DDE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model=DEFAULT_OPENAI_MODEL,</a:t>
            </a:r>
            <a:endParaRPr lang="en-US" sz="740" dirty="0"/>
          </a:p>
          <a:p>
            <a:pPr marL="0" indent="0">
              <a:buNone/>
            </a:pPr>
            <a:r>
              <a:rPr lang="en-US" sz="740" dirty="0">
                <a:solidFill>
                  <a:srgbClr val="DDE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mcp_servers=[mcp],</a:t>
            </a:r>
            <a:endParaRPr lang="en-US" sz="740" dirty="0"/>
          </a:p>
          <a:p>
            <a:pPr marL="0" indent="0">
              <a:buNone/>
            </a:pPr>
            <a:r>
              <a:rPr lang="en-US" sz="740" dirty="0">
                <a:solidFill>
                  <a:srgbClr val="DDE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output_type=AgentAnswer,</a:t>
            </a:r>
            <a:endParaRPr lang="en-US" sz="740" dirty="0"/>
          </a:p>
          <a:p>
            <a:pPr marL="0" indent="0">
              <a:buNone/>
            </a:pPr>
            <a:r>
              <a:rPr lang="en-US" sz="740" dirty="0">
                <a:solidFill>
                  <a:srgbClr val="DDE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740" dirty="0"/>
          </a:p>
        </p:txBody>
      </p:sp>
      <p:sp>
        <p:nvSpPr>
          <p:cNvPr id="12" name="Shape 9"/>
          <p:cNvSpPr/>
          <p:nvPr/>
        </p:nvSpPr>
        <p:spPr>
          <a:xfrm>
            <a:off x="731520" y="3840480"/>
            <a:ext cx="10378440" cy="1280160"/>
          </a:xfrm>
          <a:prstGeom prst="roundRect">
            <a:avLst>
              <a:gd name="adj" fmla="val 5714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7B65D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877824" y="3959352"/>
            <a:ext cx="10085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6142B"/>
                </a:solidFill>
              </a:rPr>
              <a:t>Agent concept: tool contracts beat free-form guessing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77824" y="4279392"/>
            <a:ext cx="10085832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213547"/>
                </a:solidFill>
              </a:rPr>
              <a:t>MCP makes the tool list explicit, read-only, and inspectable. The agent can ask the simulator for probabilities; it cannot silently invent a source, mutate data, or claim to have run a tool it did not call.</a:t>
            </a:r>
            <a:endParaRPr lang="en-US" sz="880" dirty="0"/>
          </a:p>
        </p:txBody>
      </p:sp>
      <p:sp>
        <p:nvSpPr>
          <p:cNvPr id="15" name="Text 12"/>
          <p:cNvSpPr/>
          <p:nvPr/>
        </p:nvSpPr>
        <p:spPr>
          <a:xfrm>
            <a:off x="502920" y="6556248"/>
            <a:ext cx="8732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9CB3C9"/>
                </a:solidFill>
              </a:rPr>
              <a:t>Demo priors, educational simulator — not betting advice · Photo: Troutfarm27 / CC BY-SA 4.0 / Wikimedia Commons; cropped + darkened</a:t>
            </a:r>
            <a:endParaRPr lang="en-US" sz="680" dirty="0"/>
          </a:p>
        </p:txBody>
      </p:sp>
      <p:sp>
        <p:nvSpPr>
          <p:cNvPr id="16" name="Text 13"/>
          <p:cNvSpPr/>
          <p:nvPr/>
        </p:nvSpPr>
        <p:spPr>
          <a:xfrm>
            <a:off x="9857232" y="6556248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80" dirty="0">
                <a:solidFill>
                  <a:srgbClr val="9CB3C9"/>
                </a:solidFill>
              </a:rPr>
              <a:t>AI Reality Lab · Forecast VAR</a:t>
            </a:r>
            <a:endParaRPr lang="en-US" sz="6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614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Real football background" descr="Licensed football background phot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  <p:sp>
        <p:nvSpPr>
          <p:cNvPr id="2" name="Text 0"/>
          <p:cNvSpPr/>
          <p:nvPr/>
        </p:nvSpPr>
        <p:spPr>
          <a:xfrm>
            <a:off x="502920" y="25603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7B6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 VAR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6 — Factual grounding vs model grounding: predictions are not facts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155680" cy="0"/>
          </a:xfrm>
          <a:prstGeom prst="line">
            <a:avLst/>
          </a:prstGeom>
          <a:noFill/>
          <a:ln w="13970">
            <a:solidFill>
              <a:srgbClr val="0F8D68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94360" y="1325880"/>
            <a:ext cx="5303520" cy="1965960"/>
          </a:xfrm>
          <a:prstGeom prst="roundRect">
            <a:avLst>
              <a:gd name="adj" fmla="val 3721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0F8D68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40664" y="1444752"/>
            <a:ext cx="5010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6142B"/>
                </a:solidFill>
              </a:rPr>
              <a:t>Factual grounding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0664" y="1764792"/>
            <a:ext cx="5010912" cy="1399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213547"/>
                </a:solidFill>
              </a:rPr>
              <a:t>Example claim: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213547"/>
                </a:solidFill>
              </a:rPr>
              <a:t>“The tournament has 48 teams and 12 groups.”</a:t>
            </a:r>
            <a:endParaRPr lang="en-US" sz="880" dirty="0"/>
          </a:p>
          <a:p>
            <a:pPr marL="0" indent="0">
              <a:buNone/>
            </a:pP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213547"/>
                </a:solidFill>
              </a:rPr>
              <a:t>Support required: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213547"/>
                </a:solidFill>
              </a:rPr>
              <a:t>tournament_field, group_membership, qualified_team</a:t>
            </a:r>
            <a:endParaRPr lang="en-US" sz="880" dirty="0"/>
          </a:p>
          <a:p>
            <a:pPr marL="0" indent="0">
              <a:buNone/>
            </a:pP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213547"/>
                </a:solidFill>
              </a:rPr>
              <a:t>Source type: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213547"/>
                </a:solidFill>
              </a:rPr>
              <a:t>official field snapshot / cross-check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6263640" y="1325880"/>
            <a:ext cx="5303520" cy="1965960"/>
          </a:xfrm>
          <a:prstGeom prst="roundRect">
            <a:avLst>
              <a:gd name="adj" fmla="val 3721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7B65D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9944" y="1444752"/>
            <a:ext cx="5010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6142B"/>
                </a:solidFill>
              </a:rPr>
              <a:t>Model grounding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9944" y="1764792"/>
            <a:ext cx="5010912" cy="1399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213547"/>
                </a:solidFill>
              </a:rPr>
              <a:t>Example claim: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213547"/>
                </a:solidFill>
              </a:rPr>
              <a:t>“Argentina has 21.7% champion probability.”</a:t>
            </a:r>
            <a:endParaRPr lang="en-US" sz="880" dirty="0"/>
          </a:p>
          <a:p>
            <a:pPr marL="0" indent="0">
              <a:buNone/>
            </a:pP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213547"/>
                </a:solidFill>
              </a:rPr>
              <a:t>Support required: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213547"/>
                </a:solidFill>
              </a:rPr>
              <a:t>model_input, model_logic, model_output, uncertainty</a:t>
            </a:r>
            <a:endParaRPr lang="en-US" sz="880" dirty="0"/>
          </a:p>
          <a:p>
            <a:pPr marL="0" indent="0">
              <a:buNone/>
            </a:pP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213547"/>
                </a:solidFill>
              </a:rPr>
              <a:t>Source type: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213547"/>
                </a:solidFill>
              </a:rPr>
              <a:t>features + simulator output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594360" y="3703320"/>
            <a:ext cx="5303520" cy="1554480"/>
          </a:xfrm>
          <a:prstGeom prst="roundRect">
            <a:avLst>
              <a:gd name="adj" fmla="val 4706"/>
            </a:avLst>
          </a:prstGeom>
          <a:solidFill>
            <a:srgbClr val="061222"/>
          </a:solidFill>
          <a:ln w="12700">
            <a:solidFill>
              <a:srgbClr val="1E4F72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13232" y="3794760"/>
            <a:ext cx="5065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3D6C6"/>
                </a:solidFill>
              </a:rPr>
              <a:t>Typed claim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713232" y="4087368"/>
            <a:ext cx="5065776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DDE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claim = {</a:t>
            </a:r>
            <a:endParaRPr lang="en-US" sz="740" dirty="0"/>
          </a:p>
          <a:p>
            <a:pPr marL="0" indent="0">
              <a:buNone/>
            </a:pPr>
            <a:r>
              <a:rPr lang="en-US" sz="740" dirty="0">
                <a:solidFill>
                  <a:srgbClr val="DDE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"text": "Argentina is the top favourite under demo priors.",</a:t>
            </a:r>
            <a:endParaRPr lang="en-US" sz="740" dirty="0"/>
          </a:p>
          <a:p>
            <a:pPr marL="0" indent="0">
              <a:buNone/>
            </a:pPr>
            <a:r>
              <a:rPr lang="en-US" sz="740" dirty="0">
                <a:solidFill>
                  <a:srgbClr val="DDE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"claim_type": "model_output",</a:t>
            </a:r>
            <a:endParaRPr lang="en-US" sz="740" dirty="0"/>
          </a:p>
          <a:p>
            <a:pPr marL="0" indent="0">
              <a:buNone/>
            </a:pPr>
            <a:r>
              <a:rPr lang="en-US" sz="740" dirty="0">
                <a:solidFill>
                  <a:srgbClr val="DDE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"citation_ids": ["CITE-SRC-SAMPLE-TEAM-PRIORS", "CITE-MODEL-FORECAST-VAR-V1"]</a:t>
            </a:r>
            <a:endParaRPr lang="en-US" sz="740" dirty="0"/>
          </a:p>
          <a:p>
            <a:pPr marL="0" indent="0">
              <a:buNone/>
            </a:pPr>
            <a:r>
              <a:rPr lang="en-US" sz="740" dirty="0">
                <a:solidFill>
                  <a:srgbClr val="DDE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740" dirty="0"/>
          </a:p>
        </p:txBody>
      </p:sp>
      <p:sp>
        <p:nvSpPr>
          <p:cNvPr id="14" name="Shape 12"/>
          <p:cNvSpPr/>
          <p:nvPr/>
        </p:nvSpPr>
        <p:spPr>
          <a:xfrm>
            <a:off x="6263640" y="3703320"/>
            <a:ext cx="5303520" cy="1554480"/>
          </a:xfrm>
          <a:prstGeom prst="roundRect">
            <a:avLst>
              <a:gd name="adj" fmla="val 4706"/>
            </a:avLst>
          </a:prstGeom>
          <a:solidFill>
            <a:srgbClr val="061222"/>
          </a:solidFill>
          <a:ln w="12700">
            <a:solidFill>
              <a:srgbClr val="1E4F72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382512" y="3794760"/>
            <a:ext cx="5065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3D6C6"/>
                </a:solidFill>
              </a:rPr>
              <a:t>Verifier output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382512" y="4087368"/>
            <a:ext cx="5065776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DDE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verify_claims_against_sources(claims)</a:t>
            </a:r>
            <a:endParaRPr lang="en-US" sz="740" dirty="0"/>
          </a:p>
          <a:p>
            <a:pPr marL="0" indent="0">
              <a:buNone/>
            </a:pPr>
            <a:r>
              <a:rPr lang="en-US" sz="740" dirty="0">
                <a:solidFill>
                  <a:srgbClr val="DDE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{</a:t>
            </a:r>
            <a:endParaRPr lang="en-US" sz="740" dirty="0"/>
          </a:p>
          <a:p>
            <a:pPr marL="0" indent="0">
              <a:buNone/>
            </a:pPr>
            <a:r>
              <a:rPr lang="en-US" sz="740" dirty="0">
                <a:solidFill>
                  <a:srgbClr val="DDE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"source_support_precision": 1.0,</a:t>
            </a:r>
            <a:endParaRPr lang="en-US" sz="740" dirty="0"/>
          </a:p>
          <a:p>
            <a:pPr marL="0" indent="0">
              <a:buNone/>
            </a:pPr>
            <a:r>
              <a:rPr lang="en-US" sz="740" dirty="0">
                <a:solidFill>
                  <a:srgbClr val="DDE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"support_class": "SUPPORTED_MODEL_DERIVED"</a:t>
            </a:r>
            <a:endParaRPr lang="en-US" sz="740" dirty="0"/>
          </a:p>
          <a:p>
            <a:pPr marL="0" indent="0">
              <a:buNone/>
            </a:pPr>
            <a:r>
              <a:rPr lang="en-US" sz="740" dirty="0">
                <a:solidFill>
                  <a:srgbClr val="DDE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740" dirty="0"/>
          </a:p>
        </p:txBody>
      </p:sp>
      <p:sp>
        <p:nvSpPr>
          <p:cNvPr id="17" name="Text 15"/>
          <p:cNvSpPr/>
          <p:nvPr/>
        </p:nvSpPr>
        <p:spPr>
          <a:xfrm>
            <a:off x="502920" y="6556248"/>
            <a:ext cx="8732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9CB3C9"/>
                </a:solidFill>
              </a:rPr>
              <a:t>Demo priors, educational simulator — not betting advice · Photo: ProtoplasmaKid / CC BY-SA 4.0 / Wikimedia Commons; cropped + darkened</a:t>
            </a:r>
            <a:endParaRPr lang="en-US" sz="680" dirty="0"/>
          </a:p>
        </p:txBody>
      </p:sp>
      <p:sp>
        <p:nvSpPr>
          <p:cNvPr id="18" name="Text 16"/>
          <p:cNvSpPr/>
          <p:nvPr/>
        </p:nvSpPr>
        <p:spPr>
          <a:xfrm>
            <a:off x="9857232" y="6556248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80" dirty="0">
                <a:solidFill>
                  <a:srgbClr val="9CB3C9"/>
                </a:solidFill>
              </a:rPr>
              <a:t>AI Reality Lab · Forecast VAR</a:t>
            </a:r>
            <a:endParaRPr lang="en-US" sz="68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614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c26_slide_work/assets/football_ball_closeup_dark68.png"/>
          <p:cNvPicPr>
            <a:picLocks noChangeAspect="1"/>
          </p:cNvPicPr>
          <p:nvPr/>
        </p:nvPicPr>
        <p:blipFill>
          <a:blip r:embed="rId3"/>
          <a:srcRect l="1" r="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5603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7B6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 VAR</a:t>
            </a:r>
            <a:endParaRPr lang="en-US" sz="850" dirty="0"/>
          </a:p>
        </p:txBody>
      </p:sp>
      <p:sp>
        <p:nvSpPr>
          <p:cNvPr id="4" name="Text 1"/>
          <p:cNvSpPr/>
          <p:nvPr/>
        </p:nvSpPr>
        <p:spPr>
          <a:xfrm>
            <a:off x="502920" y="512064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7 — Match model: turn team inputs into a 1X2 probability distribution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502920" y="1170432"/>
            <a:ext cx="11155680" cy="0"/>
          </a:xfrm>
          <a:prstGeom prst="line">
            <a:avLst/>
          </a:prstGeom>
          <a:noFill/>
          <a:ln w="13970">
            <a:solidFill>
              <a:srgbClr val="0F8D68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94360" y="1325880"/>
            <a:ext cx="5303520" cy="2468880"/>
          </a:xfrm>
          <a:prstGeom prst="roundRect">
            <a:avLst>
              <a:gd name="adj" fmla="val 2963"/>
            </a:avLst>
          </a:prstGeom>
          <a:solidFill>
            <a:srgbClr val="061222"/>
          </a:solidFill>
          <a:ln w="12700">
            <a:solidFill>
              <a:srgbClr val="1E4F72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13232" y="1417320"/>
            <a:ext cx="5065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3D6C6"/>
                </a:solidFill>
              </a:rPr>
              <a:t>src/forecast_var/forecast_model.py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713232" y="1709928"/>
            <a:ext cx="5065776" cy="2011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DDE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match_probabilities(team_a, team_b, scenario=None):</a:t>
            </a:r>
            <a:endParaRPr lang="en-US" sz="740" dirty="0"/>
          </a:p>
          <a:p>
            <a:pPr marL="0" indent="0">
              <a:buNone/>
            </a:pPr>
            <a:r>
              <a:rPr lang="en-US" sz="740" dirty="0">
                <a:solidFill>
                  <a:srgbClr val="DDE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diff = adjusted_rating(team_a) - adjusted_rating(team_b)</a:t>
            </a:r>
            <a:endParaRPr lang="en-US" sz="740" dirty="0"/>
          </a:p>
          <a:p>
            <a:pPr marL="0" indent="0">
              <a:buNone/>
            </a:pPr>
            <a:r>
              <a:rPr lang="en-US" sz="740" dirty="0">
                <a:solidFill>
                  <a:srgbClr val="DDE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p_a_no_draw = 1 / (1 + 10 ** (-diff / 420))</a:t>
            </a:r>
            <a:endParaRPr lang="en-US" sz="740" dirty="0"/>
          </a:p>
          <a:p>
            <a:pPr marL="0" indent="0">
              <a:buNone/>
            </a:pPr>
            <a:r>
              <a:rPr lang="en-US" sz="740" dirty="0">
                <a:solidFill>
                  <a:srgbClr val="DDE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draw = bounded_draw_probability(diff)</a:t>
            </a:r>
            <a:endParaRPr lang="en-US" sz="740" dirty="0"/>
          </a:p>
          <a:p>
            <a:pPr marL="0" indent="0">
              <a:buNone/>
            </a:pPr>
            <a:r>
              <a:rPr lang="en-US" sz="740" dirty="0">
                <a:solidFill>
                  <a:srgbClr val="DDE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p_a = (1 - draw) * p_a_no_draw</a:t>
            </a:r>
            <a:endParaRPr lang="en-US" sz="740" dirty="0"/>
          </a:p>
          <a:p>
            <a:pPr marL="0" indent="0">
              <a:buNone/>
            </a:pPr>
            <a:r>
              <a:rPr lang="en-US" sz="740" dirty="0">
                <a:solidFill>
                  <a:srgbClr val="DDE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p_b = 1 - draw - p_a</a:t>
            </a:r>
            <a:endParaRPr lang="en-US" sz="740" dirty="0"/>
          </a:p>
          <a:p>
            <a:pPr marL="0" indent="0">
              <a:buNone/>
            </a:pPr>
            <a:r>
              <a:rPr lang="en-US" sz="740" dirty="0">
                <a:solidFill>
                  <a:srgbClr val="DDE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{"p_team_a_win": p_a,</a:t>
            </a:r>
            <a:endParaRPr lang="en-US" sz="740" dirty="0"/>
          </a:p>
          <a:p>
            <a:pPr marL="0" indent="0">
              <a:buNone/>
            </a:pPr>
            <a:r>
              <a:rPr lang="en-US" sz="740" dirty="0">
                <a:solidFill>
                  <a:srgbClr val="DDE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"p_draw": draw,</a:t>
            </a:r>
            <a:endParaRPr lang="en-US" sz="740" dirty="0"/>
          </a:p>
          <a:p>
            <a:pPr marL="0" indent="0">
              <a:buNone/>
            </a:pPr>
            <a:r>
              <a:rPr lang="en-US" sz="740" dirty="0">
                <a:solidFill>
                  <a:srgbClr val="DDE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"p_team_b_win": p_b}</a:t>
            </a:r>
            <a:endParaRPr lang="en-US" sz="740" dirty="0"/>
          </a:p>
        </p:txBody>
      </p:sp>
      <p:sp>
        <p:nvSpPr>
          <p:cNvPr id="9" name="Shape 6"/>
          <p:cNvSpPr/>
          <p:nvPr/>
        </p:nvSpPr>
        <p:spPr>
          <a:xfrm>
            <a:off x="6309360" y="1325880"/>
            <a:ext cx="4937760" cy="2468880"/>
          </a:xfrm>
          <a:prstGeom prst="roundRect">
            <a:avLst>
              <a:gd name="adj" fmla="val 2963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7B65D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455664" y="1444752"/>
            <a:ext cx="4645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6142B"/>
                </a:solidFill>
              </a:rPr>
              <a:t>Example output: USA vs Australia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55664" y="1764792"/>
            <a:ext cx="4645152" cy="1901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213547"/>
                </a:solidFill>
              </a:rPr>
              <a:t>USA win: 50.9%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213547"/>
                </a:solidFill>
              </a:rPr>
              <a:t>Draw: 21.0%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213547"/>
                </a:solidFill>
              </a:rPr>
              <a:t>Australia win: 28.1%</a:t>
            </a:r>
            <a:endParaRPr lang="en-US" sz="880" dirty="0"/>
          </a:p>
          <a:p>
            <a:pPr marL="0" indent="0">
              <a:buNone/>
            </a:pP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213547"/>
                </a:solidFill>
              </a:rPr>
              <a:t>Inputs: strength rating, host advantage, travel-load proxy, optional scenario adjustments.</a:t>
            </a:r>
            <a:endParaRPr lang="en-US" sz="880" dirty="0"/>
          </a:p>
        </p:txBody>
      </p:sp>
      <p:sp>
        <p:nvSpPr>
          <p:cNvPr id="12" name="Shape 9"/>
          <p:cNvSpPr/>
          <p:nvPr/>
        </p:nvSpPr>
        <p:spPr>
          <a:xfrm>
            <a:off x="594360" y="4251960"/>
            <a:ext cx="10652760" cy="960120"/>
          </a:xfrm>
          <a:prstGeom prst="roundRect">
            <a:avLst>
              <a:gd name="adj" fmla="val 7619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63D6C6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740664" y="4370832"/>
            <a:ext cx="10360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6142B"/>
                </a:solidFill>
              </a:rPr>
              <a:t>Agent concept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40664" y="4690872"/>
            <a:ext cx="10360152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213547"/>
                </a:solidFill>
              </a:rPr>
              <a:t>The LLM should not “feel” that a team will win. It should call a model tool, receive probabilities, then explain assumptions and limitations in natural language.</a:t>
            </a:r>
            <a:endParaRPr lang="en-US" sz="880" dirty="0"/>
          </a:p>
        </p:txBody>
      </p:sp>
      <p:sp>
        <p:nvSpPr>
          <p:cNvPr id="15" name="Text 12"/>
          <p:cNvSpPr/>
          <p:nvPr/>
        </p:nvSpPr>
        <p:spPr>
          <a:xfrm>
            <a:off x="502920" y="6556248"/>
            <a:ext cx="8732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9CB3C9"/>
                </a:solidFill>
              </a:rPr>
              <a:t>Demo priors, educational simulator — not betting advice · Photo: Hossein Zohrevand / CC BY 4.0 / Wikimedia Commons; cropped + darkened</a:t>
            </a:r>
            <a:endParaRPr lang="en-US" sz="680" dirty="0"/>
          </a:p>
        </p:txBody>
      </p:sp>
      <p:sp>
        <p:nvSpPr>
          <p:cNvPr id="16" name="Text 13"/>
          <p:cNvSpPr/>
          <p:nvPr/>
        </p:nvSpPr>
        <p:spPr>
          <a:xfrm>
            <a:off x="9857232" y="6556248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80" dirty="0">
                <a:solidFill>
                  <a:srgbClr val="9CB3C9"/>
                </a:solidFill>
              </a:rPr>
              <a:t>AI Reality Lab · Forecast VAR</a:t>
            </a:r>
            <a:endParaRPr lang="en-US" sz="68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614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7B6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 VAR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8 — Group simulation: six matches become winner/top-two probabilities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155680" cy="0"/>
          </a:xfrm>
          <a:prstGeom prst="line">
            <a:avLst/>
          </a:prstGeom>
          <a:noFill/>
          <a:ln w="13970">
            <a:solidFill>
              <a:srgbClr val="0F8D68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94360" y="1371600"/>
            <a:ext cx="4983480" cy="3474720"/>
          </a:xfrm>
          <a:prstGeom prst="roundRect">
            <a:avLst>
              <a:gd name="adj" fmla="val 2105"/>
            </a:avLst>
          </a:prstGeom>
          <a:solidFill>
            <a:srgbClr val="071B36"/>
          </a:solidFill>
          <a:ln w="12700">
            <a:solidFill>
              <a:srgbClr val="1D5872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/mnt/data/wc26_slide_work/wc26-forecast-var-agent-episode2-source-aware-gpt54nano/figures/group_d_winner_probabiliti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1738217"/>
            <a:ext cx="4873752" cy="274148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897880" y="1371600"/>
            <a:ext cx="5349240" cy="3474720"/>
          </a:xfrm>
          <a:prstGeom prst="roundRect">
            <a:avLst>
              <a:gd name="adj" fmla="val 2105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0F8D68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044184" y="1490472"/>
            <a:ext cx="5056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6142B"/>
                </a:solidFill>
              </a:rPr>
              <a:t>Group D output format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044184" y="1810512"/>
            <a:ext cx="5056632" cy="2907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213547"/>
                </a:solidFill>
              </a:rPr>
              <a:t>USA: winner 49.8% · top2 74.3%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213547"/>
                </a:solidFill>
              </a:rPr>
              <a:t>Paraguay: winner 16.3% · top2 40.2%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213547"/>
                </a:solidFill>
              </a:rPr>
              <a:t>Australia: winner 11.3% · top2 31.7%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213547"/>
                </a:solidFill>
              </a:rPr>
              <a:t>Türkiye: winner 22.6% · top2 53.8%</a:t>
            </a:r>
            <a:endParaRPr lang="en-US" sz="880" dirty="0"/>
          </a:p>
          <a:p>
            <a:pPr marL="0" indent="0">
              <a:buNone/>
            </a:pP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213547"/>
                </a:solidFill>
              </a:rPr>
              <a:t>This is generated by Monte Carlo group simulation over the six round-robin games.</a:t>
            </a:r>
            <a:endParaRPr lang="en-US" sz="880" dirty="0"/>
          </a:p>
        </p:txBody>
      </p:sp>
      <p:sp>
        <p:nvSpPr>
          <p:cNvPr id="10" name="Shape 7"/>
          <p:cNvSpPr/>
          <p:nvPr/>
        </p:nvSpPr>
        <p:spPr>
          <a:xfrm>
            <a:off x="594360" y="5166360"/>
            <a:ext cx="10652760" cy="685800"/>
          </a:xfrm>
          <a:prstGeom prst="roundRect">
            <a:avLst>
              <a:gd name="adj" fmla="val 10667"/>
            </a:avLst>
          </a:prstGeom>
          <a:solidFill>
            <a:srgbClr val="061222"/>
          </a:solidFill>
          <a:ln w="12700">
            <a:solidFill>
              <a:srgbClr val="1E4F72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713232" y="5257800"/>
            <a:ext cx="10415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3D6C6"/>
                </a:solidFill>
              </a:rPr>
              <a:t>MCP tool result shape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713232" y="5550408"/>
            <a:ext cx="10415016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DDE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forecast_group("D", sims=5000) → { group, teams, group_probabilities: { team: { winner, top2, top3 } }, matchups, citations, warnings }</a:t>
            </a:r>
            <a:endParaRPr lang="en-US" sz="740" dirty="0"/>
          </a:p>
        </p:txBody>
      </p:sp>
      <p:sp>
        <p:nvSpPr>
          <p:cNvPr id="13" name="Text 10"/>
          <p:cNvSpPr/>
          <p:nvPr/>
        </p:nvSpPr>
        <p:spPr>
          <a:xfrm>
            <a:off x="502920" y="6556248"/>
            <a:ext cx="8732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9CB3C9"/>
                </a:solidFill>
              </a:rPr>
              <a:t>Demo priors, educational simulator — not betting advice · Photo: Alejan98 / CC0 / Wikimedia Commons; cropped + darkened</a:t>
            </a:r>
            <a:endParaRPr lang="en-US" sz="680" dirty="0"/>
          </a:p>
        </p:txBody>
      </p:sp>
      <p:sp>
        <p:nvSpPr>
          <p:cNvPr id="14" name="Text 11"/>
          <p:cNvSpPr/>
          <p:nvPr/>
        </p:nvSpPr>
        <p:spPr>
          <a:xfrm>
            <a:off x="9857232" y="6556248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80" dirty="0">
                <a:solidFill>
                  <a:srgbClr val="9CB3C9"/>
                </a:solidFill>
              </a:rPr>
              <a:t>AI Reality Lab · Forecast VAR</a:t>
            </a:r>
            <a:endParaRPr lang="en-US" sz="680" dirty="0"/>
          </a:p>
        </p:txBody>
      </p:sp>
      <p:pic>
        <p:nvPicPr>
          <p:cNvPr id="15" name="Image 0" descr="/mnt/data/wc26_slide_work/wc26-forecast-var-agent-episode2-source-aware-gpt54nano/figures/group_d_winner_probabilities.png">
            <a:extLst>
              <a:ext uri="{FF2B5EF4-FFF2-40B4-BE49-F238E27FC236}">
                <a16:creationId xmlns:a16="http://schemas.microsoft.com/office/drawing/2014/main" id="{CAEA04EC-AF9E-F43D-8581-30AA39D71A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624" y="1890617"/>
            <a:ext cx="4873752" cy="274148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614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c26_slide_work/assets/forecast_var_room_dark60.png"/>
          <p:cNvPicPr>
            <a:picLocks noChangeAspect="1"/>
          </p:cNvPicPr>
          <p:nvPr/>
        </p:nvPicPr>
        <p:blipFill>
          <a:blip r:embed="rId5"/>
          <a:srcRect l="1" r="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5603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7B6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 VAR</a:t>
            </a:r>
            <a:endParaRPr lang="en-US" sz="850" dirty="0"/>
          </a:p>
        </p:txBody>
      </p:sp>
      <p:sp>
        <p:nvSpPr>
          <p:cNvPr id="4" name="Text 1"/>
          <p:cNvSpPr/>
          <p:nvPr/>
        </p:nvSpPr>
        <p:spPr>
          <a:xfrm>
            <a:off x="502920" y="512064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9 — Monte Carlo: thousands of possible tournaments, one probability table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502920" y="1170432"/>
            <a:ext cx="11155680" cy="0"/>
          </a:xfrm>
          <a:prstGeom prst="line">
            <a:avLst/>
          </a:prstGeom>
          <a:noFill/>
          <a:ln w="13970">
            <a:solidFill>
              <a:srgbClr val="0F8D68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94360" y="1325880"/>
            <a:ext cx="4892040" cy="2926080"/>
          </a:xfrm>
          <a:prstGeom prst="roundRect">
            <a:avLst>
              <a:gd name="adj" fmla="val 2500"/>
            </a:avLst>
          </a:prstGeom>
          <a:solidFill>
            <a:srgbClr val="071B36"/>
          </a:solidFill>
          <a:ln w="12700">
            <a:solidFill>
              <a:srgbClr val="1D5872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Media 0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685800" y="1417320"/>
            <a:ext cx="4709160" cy="27432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806440" y="1325880"/>
            <a:ext cx="5486400" cy="2926080"/>
          </a:xfrm>
          <a:prstGeom prst="roundRect">
            <a:avLst>
              <a:gd name="adj" fmla="val 2500"/>
            </a:avLst>
          </a:prstGeom>
          <a:solidFill>
            <a:srgbClr val="071B36"/>
          </a:solidFill>
          <a:ln w="12700">
            <a:solidFill>
              <a:srgbClr val="1D5872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1" descr="/mnt/data/wc26_slide_work/deck_figures/knockout_stage_funne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61304" y="1485202"/>
            <a:ext cx="5376672" cy="2607437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594360" y="4617720"/>
            <a:ext cx="5029200" cy="1143000"/>
          </a:xfrm>
          <a:prstGeom prst="roundRect">
            <a:avLst>
              <a:gd name="adj" fmla="val 6400"/>
            </a:avLst>
          </a:prstGeom>
          <a:solidFill>
            <a:srgbClr val="061222"/>
          </a:solidFill>
          <a:ln w="12700">
            <a:solidFill>
              <a:srgbClr val="1E4F72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6"/>
          <p:cNvSpPr/>
          <p:nvPr/>
        </p:nvSpPr>
        <p:spPr>
          <a:xfrm>
            <a:off x="713232" y="4709160"/>
            <a:ext cx="4791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3D6C6"/>
                </a:solidFill>
              </a:rPr>
              <a:t>Tool call</a:t>
            </a:r>
            <a:endParaRPr lang="en-US" sz="750" dirty="0"/>
          </a:p>
        </p:txBody>
      </p:sp>
      <p:sp>
        <p:nvSpPr>
          <p:cNvPr id="12" name="Text 7"/>
          <p:cNvSpPr/>
          <p:nvPr/>
        </p:nvSpPr>
        <p:spPr>
          <a:xfrm>
            <a:off x="713232" y="5001768"/>
            <a:ext cx="4791456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DDE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simulate_tournament(sims=3000, seed=2026)</a:t>
            </a:r>
            <a:endParaRPr lang="en-US" sz="740" dirty="0"/>
          </a:p>
          <a:p>
            <a:pPr marL="0" indent="0">
              <a:buNone/>
            </a:pPr>
            <a:r>
              <a:rPr lang="en-US" sz="740" dirty="0">
                <a:solidFill>
                  <a:srgbClr val="DDE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top_teams: [</a:t>
            </a:r>
            <a:endParaRPr lang="en-US" sz="740" dirty="0"/>
          </a:p>
          <a:p>
            <a:pPr marL="0" indent="0">
              <a:buNone/>
            </a:pPr>
            <a:r>
              <a:rPr lang="en-US" sz="740" dirty="0">
                <a:solidFill>
                  <a:srgbClr val="DDE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{team, round32, round16, quarterfinal,</a:t>
            </a:r>
            <a:endParaRPr lang="en-US" sz="740" dirty="0"/>
          </a:p>
          <a:p>
            <a:pPr marL="0" indent="0">
              <a:buNone/>
            </a:pPr>
            <a:r>
              <a:rPr lang="en-US" sz="740" dirty="0">
                <a:solidFill>
                  <a:srgbClr val="DDE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semifinal, final, champion}</a:t>
            </a:r>
            <a:endParaRPr lang="en-US" sz="740" dirty="0"/>
          </a:p>
          <a:p>
            <a:pPr marL="0" indent="0">
              <a:buNone/>
            </a:pPr>
            <a:r>
              <a:rPr lang="en-US" sz="740" dirty="0">
                <a:solidFill>
                  <a:srgbClr val="DDE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740" dirty="0"/>
          </a:p>
        </p:txBody>
      </p:sp>
      <p:sp>
        <p:nvSpPr>
          <p:cNvPr id="13" name="Shape 8"/>
          <p:cNvSpPr/>
          <p:nvPr/>
        </p:nvSpPr>
        <p:spPr>
          <a:xfrm>
            <a:off x="5897880" y="4617720"/>
            <a:ext cx="5394960" cy="1143000"/>
          </a:xfrm>
          <a:prstGeom prst="roundRect">
            <a:avLst>
              <a:gd name="adj" fmla="val 6400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7B65D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9"/>
          <p:cNvSpPr/>
          <p:nvPr/>
        </p:nvSpPr>
        <p:spPr>
          <a:xfrm>
            <a:off x="6044184" y="4736592"/>
            <a:ext cx="5102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6142B"/>
                </a:solidFill>
              </a:rPr>
              <a:t>LLM vs simulator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6044184" y="5056632"/>
            <a:ext cx="5102352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213547"/>
                </a:solidFill>
              </a:rPr>
              <a:t>gpt-5.4-nano decides to call the tool and explains the result. Python samples match outcomes and calculates probabilities.</a:t>
            </a:r>
            <a:endParaRPr lang="en-US" sz="880" dirty="0"/>
          </a:p>
        </p:txBody>
      </p:sp>
      <p:sp>
        <p:nvSpPr>
          <p:cNvPr id="16" name="Text 11"/>
          <p:cNvSpPr/>
          <p:nvPr/>
        </p:nvSpPr>
        <p:spPr>
          <a:xfrm>
            <a:off x="502920" y="6556248"/>
            <a:ext cx="8732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9CB3C9"/>
                </a:solidFill>
              </a:rPr>
              <a:t>Demo priors, educational simulator — not betting advice · Photo: Anthony Quintano from Hillsborough, NJ, United States / CC BY 2.0 / Wikimedia Commons; cropped + darkened</a:t>
            </a:r>
            <a:endParaRPr lang="en-US" sz="680" dirty="0"/>
          </a:p>
        </p:txBody>
      </p:sp>
      <p:sp>
        <p:nvSpPr>
          <p:cNvPr id="17" name="Text 12"/>
          <p:cNvSpPr/>
          <p:nvPr/>
        </p:nvSpPr>
        <p:spPr>
          <a:xfrm>
            <a:off x="9857232" y="6556248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80" dirty="0">
                <a:solidFill>
                  <a:srgbClr val="9CB3C9"/>
                </a:solidFill>
              </a:rPr>
              <a:t>AI Reality Lab · Forecast VAR</a:t>
            </a:r>
            <a:endParaRPr lang="en-US" sz="68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614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Real football background" descr="Licensed football background phot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  <p:sp>
        <p:nvSpPr>
          <p:cNvPr id="2" name="Text 0"/>
          <p:cNvSpPr/>
          <p:nvPr/>
        </p:nvSpPr>
        <p:spPr>
          <a:xfrm>
            <a:off x="502920" y="25603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7B6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 VAR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10 — Rolling forecast: lock completed results, forecast only the unknown future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155680" cy="0"/>
          </a:xfrm>
          <a:prstGeom prst="line">
            <a:avLst/>
          </a:prstGeom>
          <a:noFill/>
          <a:ln w="13970">
            <a:solidFill>
              <a:srgbClr val="0F8D68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94360" y="1325880"/>
            <a:ext cx="5349240" cy="1554480"/>
          </a:xfrm>
          <a:prstGeom prst="roundRect">
            <a:avLst>
              <a:gd name="adj" fmla="val 4706"/>
            </a:avLst>
          </a:prstGeom>
          <a:solidFill>
            <a:srgbClr val="061222"/>
          </a:solidFill>
          <a:ln w="12700">
            <a:solidFill>
              <a:srgbClr val="1E4F72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13232" y="1417320"/>
            <a:ext cx="5111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3D6C6"/>
                </a:solidFill>
              </a:rPr>
              <a:t>Input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713232" y="1709928"/>
            <a:ext cx="5111496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DDE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rolling_group_forecast(</a:t>
            </a:r>
            <a:endParaRPr lang="en-US" sz="740" dirty="0"/>
          </a:p>
          <a:p>
            <a:pPr marL="0" indent="0">
              <a:buNone/>
            </a:pPr>
            <a:r>
              <a:rPr lang="en-US" sz="740" dirty="0">
                <a:solidFill>
                  <a:srgbClr val="DDE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group="D",</a:t>
            </a:r>
            <a:endParaRPr lang="en-US" sz="740" dirty="0"/>
          </a:p>
          <a:p>
            <a:pPr marL="0" indent="0">
              <a:buNone/>
            </a:pPr>
            <a:r>
              <a:rPr lang="en-US" sz="740" dirty="0">
                <a:solidFill>
                  <a:srgbClr val="DDE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completed_results=[</a:t>
            </a:r>
            <a:endParaRPr lang="en-US" sz="740" dirty="0"/>
          </a:p>
          <a:p>
            <a:pPr marL="0" indent="0">
              <a:buNone/>
            </a:pPr>
            <a:r>
              <a:rPr lang="en-US" sz="740" dirty="0">
                <a:solidFill>
                  <a:srgbClr val="DDE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{"team_a":"USA", "team_b":"Australia", "team_a_goals":2, "team_b_goals":1}</a:t>
            </a:r>
            <a:endParaRPr lang="en-US" sz="740" dirty="0"/>
          </a:p>
          <a:p>
            <a:pPr marL="0" indent="0">
              <a:buNone/>
            </a:pPr>
            <a:r>
              <a:rPr lang="en-US" sz="740" dirty="0">
                <a:solidFill>
                  <a:srgbClr val="DDE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</a:t>
            </a:r>
            <a:endParaRPr lang="en-US" sz="740" dirty="0"/>
          </a:p>
          <a:p>
            <a:pPr marL="0" indent="0">
              <a:buNone/>
            </a:pPr>
            <a:r>
              <a:rPr lang="en-US" sz="740" dirty="0">
                <a:solidFill>
                  <a:srgbClr val="DDE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740" dirty="0"/>
          </a:p>
        </p:txBody>
      </p:sp>
      <p:sp>
        <p:nvSpPr>
          <p:cNvPr id="8" name="Shape 6"/>
          <p:cNvSpPr/>
          <p:nvPr/>
        </p:nvSpPr>
        <p:spPr>
          <a:xfrm>
            <a:off x="6263640" y="1325880"/>
            <a:ext cx="5120640" cy="1554480"/>
          </a:xfrm>
          <a:prstGeom prst="roundRect">
            <a:avLst>
              <a:gd name="adj" fmla="val 4706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0F8D68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9944" y="1444752"/>
            <a:ext cx="4828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6142B"/>
                </a:solidFill>
              </a:rPr>
              <a:t>Output after the locked result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9944" y="1764792"/>
            <a:ext cx="4828032" cy="987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213547"/>
                </a:solidFill>
              </a:rPr>
              <a:t>USA: winner 68.2% · top2 90.6% · top3 99.1%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213547"/>
                </a:solidFill>
              </a:rPr>
              <a:t>Türkiye: winner 17.4% · top2 53.6% · top3 81.8%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213547"/>
                </a:solidFill>
              </a:rPr>
              <a:t>Paraguay: winner 12.8% · top2 40.3% · top3 76.9%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213547"/>
                </a:solidFill>
              </a:rPr>
              <a:t>Australia: winner 1.6% · top2 15.5% · top3 42.2%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640080" y="3520440"/>
            <a:ext cx="2021373" cy="777240"/>
          </a:xfrm>
          <a:prstGeom prst="roundRect">
            <a:avLst>
              <a:gd name="adj" fmla="val 9412"/>
            </a:avLst>
          </a:prstGeom>
          <a:solidFill>
            <a:srgbClr val="08213D"/>
          </a:solidFill>
          <a:ln w="12700">
            <a:solidFill>
              <a:srgbClr val="0F8D68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13232" y="3639312"/>
            <a:ext cx="187506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D7B65D"/>
                </a:solidFill>
              </a:rPr>
              <a:t>completed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713232" y="3877056"/>
            <a:ext cx="187506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7FAFC"/>
                </a:solidFill>
              </a:rPr>
              <a:t>result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688885" y="3913632"/>
            <a:ext cx="146304" cy="0"/>
          </a:xfrm>
          <a:prstGeom prst="line">
            <a:avLst/>
          </a:prstGeom>
          <a:noFill/>
          <a:ln w="17780">
            <a:solidFill>
              <a:srgbClr val="D7B65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862621" y="3520440"/>
            <a:ext cx="2021373" cy="777240"/>
          </a:xfrm>
          <a:prstGeom prst="roundRect">
            <a:avLst>
              <a:gd name="adj" fmla="val 9412"/>
            </a:avLst>
          </a:prstGeom>
          <a:solidFill>
            <a:srgbClr val="08213D"/>
          </a:solidFill>
          <a:ln w="12700">
            <a:solidFill>
              <a:srgbClr val="0F8D68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935773" y="3639312"/>
            <a:ext cx="187506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D7B65D"/>
                </a:solidFill>
              </a:rPr>
              <a:t>lock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2935773" y="3877056"/>
            <a:ext cx="187506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7FAFC"/>
                </a:solidFill>
              </a:rPr>
              <a:t>points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911425" y="3913632"/>
            <a:ext cx="146304" cy="0"/>
          </a:xfrm>
          <a:prstGeom prst="line">
            <a:avLst/>
          </a:prstGeom>
          <a:noFill/>
          <a:ln w="17780">
            <a:solidFill>
              <a:srgbClr val="D7B65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085161" y="3520440"/>
            <a:ext cx="2021373" cy="777240"/>
          </a:xfrm>
          <a:prstGeom prst="roundRect">
            <a:avLst>
              <a:gd name="adj" fmla="val 9412"/>
            </a:avLst>
          </a:prstGeom>
          <a:solidFill>
            <a:srgbClr val="08213D"/>
          </a:solidFill>
          <a:ln w="12700">
            <a:solidFill>
              <a:srgbClr val="0F8D68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158313" y="3639312"/>
            <a:ext cx="187506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D7B65D"/>
                </a:solidFill>
              </a:rPr>
              <a:t>remove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158313" y="3877056"/>
            <a:ext cx="187506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7FAFC"/>
                </a:solidFill>
              </a:rPr>
              <a:t>played match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133966" y="3913632"/>
            <a:ext cx="146304" cy="0"/>
          </a:xfrm>
          <a:prstGeom prst="line">
            <a:avLst/>
          </a:prstGeom>
          <a:noFill/>
          <a:ln w="17780">
            <a:solidFill>
              <a:srgbClr val="D7B65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307702" y="3520440"/>
            <a:ext cx="2021373" cy="777240"/>
          </a:xfrm>
          <a:prstGeom prst="roundRect">
            <a:avLst>
              <a:gd name="adj" fmla="val 9412"/>
            </a:avLst>
          </a:prstGeom>
          <a:solidFill>
            <a:srgbClr val="08213D"/>
          </a:solidFill>
          <a:ln w="12700">
            <a:solidFill>
              <a:srgbClr val="0F8D68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380854" y="3639312"/>
            <a:ext cx="187506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D7B65D"/>
                </a:solidFill>
              </a:rPr>
              <a:t>simulate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7380854" y="3877056"/>
            <a:ext cx="187506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7FAFC"/>
                </a:solidFill>
              </a:rPr>
              <a:t>remaining games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9356507" y="3913632"/>
            <a:ext cx="146304" cy="0"/>
          </a:xfrm>
          <a:prstGeom prst="line">
            <a:avLst/>
          </a:prstGeom>
          <a:noFill/>
          <a:ln w="17780">
            <a:solidFill>
              <a:srgbClr val="D7B65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9530243" y="3520440"/>
            <a:ext cx="2021373" cy="777240"/>
          </a:xfrm>
          <a:prstGeom prst="roundRect">
            <a:avLst>
              <a:gd name="adj" fmla="val 9412"/>
            </a:avLst>
          </a:prstGeom>
          <a:solidFill>
            <a:srgbClr val="08213D"/>
          </a:solidFill>
          <a:ln w="12700">
            <a:solidFill>
              <a:srgbClr val="0F8D68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9603395" y="3639312"/>
            <a:ext cx="187506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D7B65D"/>
                </a:solidFill>
              </a:rPr>
              <a:t>return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9603395" y="3877056"/>
            <a:ext cx="187506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7FAFC"/>
                </a:solidFill>
              </a:rPr>
              <a:t>updated odds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77240" y="4983480"/>
            <a:ext cx="10561320" cy="731520"/>
          </a:xfrm>
          <a:prstGeom prst="roundRect">
            <a:avLst>
              <a:gd name="adj" fmla="val 10000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7B65D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923544" y="5102352"/>
            <a:ext cx="10268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6142B"/>
                </a:solidFill>
              </a:rPr>
              <a:t>Agent concept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23544" y="5422392"/>
            <a:ext cx="10268712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213547"/>
                </a:solidFill>
              </a:rPr>
              <a:t>Rolling agents need state. A completed result must become a fixed input, not a scenario that the agent re-predicts.</a:t>
            </a:r>
            <a:endParaRPr lang="en-US" sz="880" dirty="0"/>
          </a:p>
        </p:txBody>
      </p:sp>
      <p:sp>
        <p:nvSpPr>
          <p:cNvPr id="33" name="Text 31"/>
          <p:cNvSpPr/>
          <p:nvPr/>
        </p:nvSpPr>
        <p:spPr>
          <a:xfrm>
            <a:off x="502920" y="6556248"/>
            <a:ext cx="8732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9CB3C9"/>
                </a:solidFill>
              </a:rPr>
              <a:t>Demo priors, educational simulator — not betting advice · Photo: Sebas / CC BY 3.0 / Wikimedia Commons; cropped + darkened</a:t>
            </a:r>
            <a:endParaRPr lang="en-US" sz="680" dirty="0"/>
          </a:p>
        </p:txBody>
      </p:sp>
      <p:sp>
        <p:nvSpPr>
          <p:cNvPr id="34" name="Text 32"/>
          <p:cNvSpPr/>
          <p:nvPr/>
        </p:nvSpPr>
        <p:spPr>
          <a:xfrm>
            <a:off x="9857232" y="6556248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80" dirty="0">
                <a:solidFill>
                  <a:srgbClr val="9CB3C9"/>
                </a:solidFill>
              </a:rPr>
              <a:t>AI Reality Lab · Forecast VAR</a:t>
            </a:r>
            <a:endParaRPr lang="en-US" sz="68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614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c26_slide_work/assets/stadium_hero_dark72.png"/>
          <p:cNvPicPr>
            <a:picLocks noChangeAspect="1"/>
          </p:cNvPicPr>
          <p:nvPr/>
        </p:nvPicPr>
        <p:blipFill>
          <a:blip r:embed="rId3"/>
          <a:srcRect l="1" r="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5603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7B6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 VAR</a:t>
            </a:r>
            <a:endParaRPr lang="en-US" sz="850" dirty="0"/>
          </a:p>
        </p:txBody>
      </p:sp>
      <p:sp>
        <p:nvSpPr>
          <p:cNvPr id="4" name="Text 1"/>
          <p:cNvSpPr/>
          <p:nvPr/>
        </p:nvSpPr>
        <p:spPr>
          <a:xfrm>
            <a:off x="502920" y="512064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11 — Source-aware upgrade: adapters turn the project into a living forecast system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502920" y="1170432"/>
            <a:ext cx="11155680" cy="0"/>
          </a:xfrm>
          <a:prstGeom prst="line">
            <a:avLst/>
          </a:prstGeom>
          <a:noFill/>
          <a:ln w="13970">
            <a:solidFill>
              <a:srgbClr val="0F8D68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94360" y="1325880"/>
            <a:ext cx="5257800" cy="1828800"/>
          </a:xfrm>
          <a:prstGeom prst="roundRect">
            <a:avLst>
              <a:gd name="adj" fmla="val 4000"/>
            </a:avLst>
          </a:prstGeom>
          <a:solidFill>
            <a:srgbClr val="061222"/>
          </a:solidFill>
          <a:ln w="12700">
            <a:solidFill>
              <a:srgbClr val="1E4F72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13232" y="1417320"/>
            <a:ext cx="5020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3D6C6"/>
                </a:solidFill>
              </a:rPr>
              <a:t>Source refresh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713232" y="1709928"/>
            <a:ext cx="5020056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DDE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scripts/refresh_sources.py</a:t>
            </a:r>
            <a:endParaRPr lang="en-US" sz="740" dirty="0"/>
          </a:p>
          <a:p>
            <a:pPr marL="0" indent="0">
              <a:buNone/>
            </a:pPr>
            <a:r>
              <a:rPr lang="en-US" sz="740" dirty="0">
                <a:solidFill>
                  <a:srgbClr val="DDE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data/generated/evidence_index.jsonl</a:t>
            </a:r>
            <a:endParaRPr lang="en-US" sz="740" dirty="0"/>
          </a:p>
          <a:p>
            <a:pPr marL="0" indent="0">
              <a:buNone/>
            </a:pPr>
            <a:endParaRPr lang="en-US" sz="740" dirty="0"/>
          </a:p>
          <a:p>
            <a:pPr marL="0" indent="0">
              <a:buNone/>
            </a:pPr>
            <a:r>
              <a:rPr lang="en-US" sz="740" dirty="0">
                <a:solidFill>
                  <a:srgbClr val="DDE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 cards 15 + team features 48 docs</a:t>
            </a:r>
            <a:endParaRPr lang="en-US" sz="740" dirty="0"/>
          </a:p>
          <a:p>
            <a:pPr marL="0" indent="0">
              <a:buNone/>
            </a:pPr>
            <a:r>
              <a:rPr lang="en-US" sz="740" dirty="0">
                <a:solidFill>
                  <a:srgbClr val="DDE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market odds 7 + curated notes 3 docs</a:t>
            </a:r>
            <a:endParaRPr lang="en-US" sz="740" dirty="0"/>
          </a:p>
          <a:p>
            <a:pPr marL="0" indent="0">
              <a:buNone/>
            </a:pPr>
            <a:endParaRPr lang="en-US" sz="740" dirty="0"/>
          </a:p>
          <a:p>
            <a:pPr marL="0" indent="0">
              <a:buNone/>
            </a:pPr>
            <a:endParaRPr lang="en-US" sz="740" dirty="0"/>
          </a:p>
        </p:txBody>
      </p:sp>
      <p:sp>
        <p:nvSpPr>
          <p:cNvPr id="9" name="Shape 6"/>
          <p:cNvSpPr/>
          <p:nvPr/>
        </p:nvSpPr>
        <p:spPr>
          <a:xfrm>
            <a:off x="6172200" y="1325880"/>
            <a:ext cx="5257800" cy="1828800"/>
          </a:xfrm>
          <a:prstGeom prst="roundRect">
            <a:avLst>
              <a:gd name="adj" fmla="val 4000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0F8D68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318504" y="1444752"/>
            <a:ext cx="4965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6142B"/>
                </a:solidFill>
              </a:rPr>
              <a:t>Adapter slots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318504" y="1764792"/>
            <a:ext cx="4965192" cy="1261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213547"/>
                </a:solidFill>
              </a:rPr>
              <a:t>• API-Football: fixtures, odds, injuries, lineups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213547"/>
                </a:solidFill>
              </a:rPr>
              <a:t>• football-data.org: matches, squads, standings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213547"/>
                </a:solidFill>
              </a:rPr>
              <a:t>• TheSportsDB: fallback events/lineups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213547"/>
                </a:solidFill>
              </a:rPr>
              <a:t>• StatsBomb: historical calibration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213547"/>
                </a:solidFill>
              </a:rPr>
              <a:t>• Curated notes: manual high-signal context</a:t>
            </a:r>
            <a:endParaRPr lang="en-US" sz="880" dirty="0"/>
          </a:p>
        </p:txBody>
      </p:sp>
      <p:sp>
        <p:nvSpPr>
          <p:cNvPr id="12" name="Shape 9"/>
          <p:cNvSpPr/>
          <p:nvPr/>
        </p:nvSpPr>
        <p:spPr>
          <a:xfrm>
            <a:off x="594360" y="3429000"/>
            <a:ext cx="5303520" cy="2057400"/>
          </a:xfrm>
          <a:prstGeom prst="roundRect">
            <a:avLst>
              <a:gd name="adj" fmla="val 3556"/>
            </a:avLst>
          </a:prstGeom>
          <a:solidFill>
            <a:srgbClr val="071B36"/>
          </a:solidFill>
          <a:ln w="12700">
            <a:solidFill>
              <a:srgbClr val="1D5872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/mnt/data/wc26_slide_work/wc26-forecast-var-agent-episode2-source-aware-gpt54nano/figures/source_coverage_statu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8448" y="3483864"/>
            <a:ext cx="3895344" cy="1947672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172200" y="3429000"/>
            <a:ext cx="5257800" cy="2057400"/>
          </a:xfrm>
          <a:prstGeom prst="roundRect">
            <a:avLst>
              <a:gd name="adj" fmla="val 3556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7B65D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6318504" y="3547872"/>
            <a:ext cx="4965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6142B"/>
                </a:solidFill>
              </a:rPr>
              <a:t>Agent concept: freshness and coverage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6318504" y="3867912"/>
            <a:ext cx="4965192" cy="1490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213547"/>
                </a:solidFill>
              </a:rPr>
              <a:t>Forecasts should carry data coverage metadata. A source-aware answer says what was used, what was missing, and whether the forecast is ready for public-facing use.</a:t>
            </a:r>
            <a:endParaRPr lang="en-US" sz="880" dirty="0"/>
          </a:p>
        </p:txBody>
      </p:sp>
      <p:sp>
        <p:nvSpPr>
          <p:cNvPr id="17" name="Text 13"/>
          <p:cNvSpPr/>
          <p:nvPr/>
        </p:nvSpPr>
        <p:spPr>
          <a:xfrm>
            <a:off x="502920" y="6556248"/>
            <a:ext cx="8732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9CB3C9"/>
                </a:solidFill>
              </a:rPr>
              <a:t>Demo priors, educational simulator — not betting advice · Photo: ArmieVas / CC0 / Wikimedia Commons; cropped + darkened</a:t>
            </a:r>
            <a:endParaRPr lang="en-US" sz="680" dirty="0"/>
          </a:p>
        </p:txBody>
      </p:sp>
      <p:sp>
        <p:nvSpPr>
          <p:cNvPr id="18" name="Text 14"/>
          <p:cNvSpPr/>
          <p:nvPr/>
        </p:nvSpPr>
        <p:spPr>
          <a:xfrm>
            <a:off x="9857232" y="6556248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80" dirty="0">
                <a:solidFill>
                  <a:srgbClr val="9CB3C9"/>
                </a:solidFill>
              </a:rPr>
              <a:t>AI Reality Lab · Forecast VAR</a:t>
            </a:r>
            <a:endParaRPr lang="en-US" sz="68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614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c26_slide_work/assets/forecast_var_room_dark70.png"/>
          <p:cNvPicPr>
            <a:picLocks noChangeAspect="1"/>
          </p:cNvPicPr>
          <p:nvPr/>
        </p:nvPicPr>
        <p:blipFill>
          <a:blip r:embed="rId3"/>
          <a:srcRect l="1" r="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5603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7B6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 VAR</a:t>
            </a:r>
            <a:endParaRPr lang="en-US" sz="850" dirty="0"/>
          </a:p>
        </p:txBody>
      </p:sp>
      <p:sp>
        <p:nvSpPr>
          <p:cNvPr id="4" name="Text 1"/>
          <p:cNvSpPr/>
          <p:nvPr/>
        </p:nvSpPr>
        <p:spPr>
          <a:xfrm>
            <a:off x="502920" y="512064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12 — Structured output: make the answer machine-checkable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502920" y="1170432"/>
            <a:ext cx="11155680" cy="0"/>
          </a:xfrm>
          <a:prstGeom prst="line">
            <a:avLst/>
          </a:prstGeom>
          <a:noFill/>
          <a:ln w="13970">
            <a:solidFill>
              <a:srgbClr val="0F8D68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94360" y="1325880"/>
            <a:ext cx="5257800" cy="2743200"/>
          </a:xfrm>
          <a:prstGeom prst="roundRect">
            <a:avLst>
              <a:gd name="adj" fmla="val 2667"/>
            </a:avLst>
          </a:prstGeom>
          <a:solidFill>
            <a:srgbClr val="061222"/>
          </a:solidFill>
          <a:ln w="12700">
            <a:solidFill>
              <a:srgbClr val="1E4F72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13232" y="1417320"/>
            <a:ext cx="5020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3D6C6"/>
                </a:solidFill>
              </a:rPr>
              <a:t>schemas.py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713232" y="1709928"/>
            <a:ext cx="5020056" cy="2286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DDE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AgentAnswer(BaseModel):</a:t>
            </a:r>
            <a:endParaRPr lang="en-US" sz="740" dirty="0"/>
          </a:p>
          <a:p>
            <a:pPr marL="0" indent="0">
              <a:buNone/>
            </a:pPr>
            <a:r>
              <a:rPr lang="en-US" sz="740" dirty="0">
                <a:solidFill>
                  <a:srgbClr val="DDE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answer: str</a:t>
            </a:r>
            <a:endParaRPr lang="en-US" sz="740" dirty="0"/>
          </a:p>
          <a:p>
            <a:pPr marL="0" indent="0">
              <a:buNone/>
            </a:pPr>
            <a:r>
              <a:rPr lang="en-US" sz="740" dirty="0">
                <a:solidFill>
                  <a:srgbClr val="DDE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claims: list[ForecastClaim]</a:t>
            </a:r>
            <a:endParaRPr lang="en-US" sz="740" dirty="0"/>
          </a:p>
          <a:p>
            <a:pPr marL="0" indent="0">
              <a:buNone/>
            </a:pPr>
            <a:r>
              <a:rPr lang="en-US" sz="740" dirty="0">
                <a:solidFill>
                  <a:srgbClr val="DDE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citations: list[Citation]</a:t>
            </a:r>
            <a:endParaRPr lang="en-US" sz="740" dirty="0"/>
          </a:p>
          <a:p>
            <a:pPr marL="0" indent="0">
              <a:buNone/>
            </a:pPr>
            <a:r>
              <a:rPr lang="en-US" sz="740" dirty="0">
                <a:solidFill>
                  <a:srgbClr val="DDE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tools_used: list[str]</a:t>
            </a:r>
            <a:endParaRPr lang="en-US" sz="740" dirty="0"/>
          </a:p>
          <a:p>
            <a:pPr marL="0" indent="0">
              <a:buNone/>
            </a:pPr>
            <a:r>
              <a:rPr lang="en-US" sz="740" dirty="0">
                <a:solidFill>
                  <a:srgbClr val="DDE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skills_used: list[str]</a:t>
            </a:r>
            <a:endParaRPr lang="en-US" sz="740" dirty="0"/>
          </a:p>
          <a:p>
            <a:pPr marL="0" indent="0">
              <a:buNone/>
            </a:pPr>
            <a:r>
              <a:rPr lang="en-US" sz="740" dirty="0">
                <a:solidFill>
                  <a:srgbClr val="DDE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probabilities: dict[str, float]</a:t>
            </a:r>
            <a:endParaRPr lang="en-US" sz="740" dirty="0"/>
          </a:p>
          <a:p>
            <a:pPr marL="0" indent="0">
              <a:buNone/>
            </a:pPr>
            <a:r>
              <a:rPr lang="en-US" sz="740" dirty="0">
                <a:solidFill>
                  <a:srgbClr val="DDE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abstained: bool = False</a:t>
            </a:r>
            <a:endParaRPr lang="en-US" sz="740" dirty="0"/>
          </a:p>
          <a:p>
            <a:pPr marL="0" indent="0">
              <a:buNone/>
            </a:pPr>
            <a:r>
              <a:rPr lang="en-US" sz="740" dirty="0">
                <a:solidFill>
                  <a:srgbClr val="DDE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warnings: list[str]</a:t>
            </a:r>
            <a:endParaRPr lang="en-US" sz="740" dirty="0"/>
          </a:p>
          <a:p>
            <a:pPr marL="0" indent="0">
              <a:buNone/>
            </a:pPr>
            <a:r>
              <a:rPr lang="en-US" sz="740" dirty="0">
                <a:solidFill>
                  <a:srgbClr val="DDE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metadata: dict[str, Any]</a:t>
            </a:r>
            <a:endParaRPr lang="en-US" sz="740" dirty="0"/>
          </a:p>
        </p:txBody>
      </p:sp>
      <p:sp>
        <p:nvSpPr>
          <p:cNvPr id="9" name="Shape 6"/>
          <p:cNvSpPr/>
          <p:nvPr/>
        </p:nvSpPr>
        <p:spPr>
          <a:xfrm>
            <a:off x="6172200" y="1325880"/>
            <a:ext cx="5257800" cy="2743200"/>
          </a:xfrm>
          <a:prstGeom prst="roundRect">
            <a:avLst>
              <a:gd name="adj" fmla="val 2667"/>
            </a:avLst>
          </a:prstGeom>
          <a:solidFill>
            <a:srgbClr val="061222"/>
          </a:solidFill>
          <a:ln w="12700">
            <a:solidFill>
              <a:srgbClr val="1E4F72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291072" y="1417320"/>
            <a:ext cx="5020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3D6C6"/>
                </a:solidFill>
              </a:rPr>
              <a:t>claim schema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6291072" y="1709928"/>
            <a:ext cx="5020056" cy="2286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DDE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ForecastClaim(BaseModel):</a:t>
            </a:r>
            <a:endParaRPr lang="en-US" sz="740" dirty="0"/>
          </a:p>
          <a:p>
            <a:pPr marL="0" indent="0">
              <a:buNone/>
            </a:pPr>
            <a:r>
              <a:rPr lang="en-US" sz="740" dirty="0">
                <a:solidFill>
                  <a:srgbClr val="DDE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text: str</a:t>
            </a:r>
            <a:endParaRPr lang="en-US" sz="740" dirty="0"/>
          </a:p>
          <a:p>
            <a:pPr marL="0" indent="0">
              <a:buNone/>
            </a:pPr>
            <a:r>
              <a:rPr lang="en-US" sz="740" dirty="0">
                <a:solidFill>
                  <a:srgbClr val="DDE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claim_type: ClaimType</a:t>
            </a:r>
            <a:endParaRPr lang="en-US" sz="740" dirty="0"/>
          </a:p>
          <a:p>
            <a:pPr marL="0" indent="0">
              <a:buNone/>
            </a:pPr>
            <a:r>
              <a:rPr lang="en-US" sz="740" dirty="0">
                <a:solidFill>
                  <a:srgbClr val="DDE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citation_ids: list[str]</a:t>
            </a:r>
            <a:endParaRPr lang="en-US" sz="740" dirty="0"/>
          </a:p>
          <a:p>
            <a:pPr marL="0" indent="0">
              <a:buNone/>
            </a:pPr>
            <a:endParaRPr lang="en-US" sz="740" dirty="0"/>
          </a:p>
          <a:p>
            <a:pPr marL="0" indent="0">
              <a:buNone/>
            </a:pPr>
            <a:r>
              <a:rPr lang="en-US" sz="740" dirty="0">
                <a:solidFill>
                  <a:srgbClr val="DDE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ClaimType includes field_fact, model_input,</a:t>
            </a:r>
            <a:endParaRPr lang="en-US" sz="740" dirty="0"/>
          </a:p>
          <a:p>
            <a:pPr marL="0" indent="0">
              <a:buNone/>
            </a:pPr>
            <a:r>
              <a:rPr lang="en-US" sz="740" dirty="0">
                <a:solidFill>
                  <a:srgbClr val="DDE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model_output, market_baseline,</a:t>
            </a:r>
            <a:endParaRPr lang="en-US" sz="740" dirty="0"/>
          </a:p>
          <a:p>
            <a:pPr marL="0" indent="0">
              <a:buNone/>
            </a:pPr>
            <a:r>
              <a:rPr lang="en-US" sz="740" dirty="0">
                <a:solidFill>
                  <a:srgbClr val="DDE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source_coverage, evidence_retrieval,</a:t>
            </a:r>
            <a:endParaRPr lang="en-US" sz="740" dirty="0"/>
          </a:p>
          <a:p>
            <a:pPr marL="0" indent="0">
              <a:buNone/>
            </a:pPr>
            <a:r>
              <a:rPr lang="en-US" sz="740" dirty="0">
                <a:solidFill>
                  <a:srgbClr val="DDE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simulation_output, rolling_state,</a:t>
            </a:r>
            <a:endParaRPr lang="en-US" sz="740" dirty="0"/>
          </a:p>
          <a:p>
            <a:pPr marL="0" indent="0">
              <a:buNone/>
            </a:pPr>
            <a:r>
              <a:rPr lang="en-US" sz="740" dirty="0">
                <a:solidFill>
                  <a:srgbClr val="DDE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scenario_assumption, uncertainty,</a:t>
            </a:r>
            <a:endParaRPr lang="en-US" sz="740" dirty="0"/>
          </a:p>
          <a:p>
            <a:pPr marL="0" indent="0">
              <a:buNone/>
            </a:pPr>
            <a:r>
              <a:rPr lang="en-US" sz="740" dirty="0">
                <a:solidFill>
                  <a:srgbClr val="DDE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guardrail, source_policy, general.</a:t>
            </a:r>
            <a:endParaRPr lang="en-US" sz="740" dirty="0"/>
          </a:p>
        </p:txBody>
      </p:sp>
      <p:sp>
        <p:nvSpPr>
          <p:cNvPr id="12" name="Shape 9"/>
          <p:cNvSpPr/>
          <p:nvPr/>
        </p:nvSpPr>
        <p:spPr>
          <a:xfrm>
            <a:off x="777240" y="4617720"/>
            <a:ext cx="10378440" cy="914400"/>
          </a:xfrm>
          <a:prstGeom prst="roundRect">
            <a:avLst>
              <a:gd name="adj" fmla="val 8000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0F8D68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923544" y="4736592"/>
            <a:ext cx="10085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6142B"/>
                </a:solidFill>
              </a:rPr>
              <a:t>Agent concept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923544" y="5056632"/>
            <a:ext cx="10085832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213547"/>
                </a:solidFill>
              </a:rPr>
              <a:t>The output schema is the bridge between natural language and evaluation. Without typed claims and citations, the evaluator can only judge the final text superficially.</a:t>
            </a:r>
            <a:endParaRPr lang="en-US" sz="880" dirty="0"/>
          </a:p>
        </p:txBody>
      </p:sp>
      <p:sp>
        <p:nvSpPr>
          <p:cNvPr id="15" name="Text 12"/>
          <p:cNvSpPr/>
          <p:nvPr/>
        </p:nvSpPr>
        <p:spPr>
          <a:xfrm>
            <a:off x="502920" y="6556248"/>
            <a:ext cx="8732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9CB3C9"/>
                </a:solidFill>
              </a:rPr>
              <a:t>Demo priors, educational simulator — not betting advice · Photo: roy_appleyard / CC BY-SA 2.0 / Wikimedia Commons; cropped + darkened</a:t>
            </a:r>
            <a:endParaRPr lang="en-US" sz="680" dirty="0"/>
          </a:p>
        </p:txBody>
      </p:sp>
      <p:sp>
        <p:nvSpPr>
          <p:cNvPr id="16" name="Text 13"/>
          <p:cNvSpPr/>
          <p:nvPr/>
        </p:nvSpPr>
        <p:spPr>
          <a:xfrm>
            <a:off x="9857232" y="6556248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80" dirty="0">
                <a:solidFill>
                  <a:srgbClr val="9CB3C9"/>
                </a:solidFill>
              </a:rPr>
              <a:t>AI Reality Lab · Forecast VAR</a:t>
            </a:r>
            <a:endParaRPr lang="en-US" sz="68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614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7B6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 VAR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13 — Evaluation harness: the VAR room for agent behaviour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155680" cy="0"/>
          </a:xfrm>
          <a:prstGeom prst="line">
            <a:avLst/>
          </a:prstGeom>
          <a:noFill/>
          <a:ln w="13970">
            <a:solidFill>
              <a:srgbClr val="0F8D68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94360" y="1325880"/>
            <a:ext cx="5115850" cy="3566160"/>
          </a:xfrm>
          <a:prstGeom prst="roundRect">
            <a:avLst>
              <a:gd name="adj" fmla="val 2051"/>
            </a:avLst>
          </a:prstGeom>
          <a:solidFill>
            <a:srgbClr val="071B36"/>
          </a:solidFill>
          <a:ln w="12700">
            <a:solidFill>
              <a:srgbClr val="1D5872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/mnt/data/wc26_slide_work/deck_figures/eval_metrics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1710324"/>
            <a:ext cx="4978690" cy="2797273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856514" y="1325880"/>
            <a:ext cx="5527766" cy="3566160"/>
          </a:xfrm>
          <a:prstGeom prst="roundRect">
            <a:avLst>
              <a:gd name="adj" fmla="val 2051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7B65D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998460" y="1444752"/>
            <a:ext cx="4325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6142B"/>
                </a:solidFill>
              </a:rPr>
              <a:t>What the harness checks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008914" y="1764792"/>
            <a:ext cx="5229062" cy="2999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213547"/>
                </a:solidFill>
              </a:rPr>
              <a:t>• tool_recall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213547"/>
                </a:solidFill>
              </a:rPr>
              <a:t>• skill_recall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213547"/>
                </a:solidFill>
              </a:rPr>
              <a:t>• preflight_recall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213547"/>
                </a:solidFill>
              </a:rPr>
              <a:t>• citation_recall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213547"/>
                </a:solidFill>
              </a:rPr>
              <a:t>• source_support_precision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213547"/>
                </a:solidFill>
              </a:rPr>
              <a:t>• unsupported_claim_rate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213547"/>
                </a:solidFill>
              </a:rPr>
              <a:t>• abstention_accuracy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213547"/>
                </a:solidFill>
              </a:rPr>
              <a:t>• probability_sanity_rate</a:t>
            </a:r>
            <a:endParaRPr lang="en-US" sz="880" dirty="0"/>
          </a:p>
        </p:txBody>
      </p:sp>
      <p:sp>
        <p:nvSpPr>
          <p:cNvPr id="10" name="Shape 7"/>
          <p:cNvSpPr/>
          <p:nvPr/>
        </p:nvSpPr>
        <p:spPr>
          <a:xfrm>
            <a:off x="594360" y="5230368"/>
            <a:ext cx="10744200" cy="594360"/>
          </a:xfrm>
          <a:prstGeom prst="roundRect">
            <a:avLst>
              <a:gd name="adj" fmla="val 12308"/>
            </a:avLst>
          </a:prstGeom>
          <a:solidFill>
            <a:srgbClr val="061222"/>
          </a:solidFill>
          <a:ln w="12700">
            <a:solidFill>
              <a:srgbClr val="1E4F72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713232" y="5321808"/>
            <a:ext cx="10506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3D6C6"/>
                </a:solidFill>
              </a:rPr>
              <a:t>Eval command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713232" y="5614416"/>
            <a:ext cx="10506456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DDE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PYTHONPATH=src python scripts/evaluate.py --mode grounded_mock  → reports/summary_grounded_mock.json</a:t>
            </a:r>
            <a:endParaRPr lang="en-US" sz="740" dirty="0"/>
          </a:p>
        </p:txBody>
      </p:sp>
      <p:sp>
        <p:nvSpPr>
          <p:cNvPr id="13" name="Text 10"/>
          <p:cNvSpPr/>
          <p:nvPr/>
        </p:nvSpPr>
        <p:spPr>
          <a:xfrm>
            <a:off x="502920" y="6556248"/>
            <a:ext cx="8732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9CB3C9"/>
                </a:solidFill>
              </a:rPr>
              <a:t>Demo priors, educational simulator — not betting advice · Photo: ProtoplasmaKid / CC BY-SA 4.0 / Wikimedia Commons; cropped + darkened</a:t>
            </a:r>
            <a:endParaRPr lang="en-US" sz="680" dirty="0"/>
          </a:p>
        </p:txBody>
      </p:sp>
      <p:sp>
        <p:nvSpPr>
          <p:cNvPr id="14" name="Text 11"/>
          <p:cNvSpPr/>
          <p:nvPr/>
        </p:nvSpPr>
        <p:spPr>
          <a:xfrm>
            <a:off x="9857232" y="6556248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80" dirty="0">
                <a:solidFill>
                  <a:srgbClr val="9CB3C9"/>
                </a:solidFill>
              </a:rPr>
              <a:t>AI Reality Lab · Forecast VAR</a:t>
            </a:r>
            <a:endParaRPr lang="en-US" sz="68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614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7B6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 VAR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Step 14 — Live OpenAI path: same contract, real agent model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155680" cy="0"/>
          </a:xfrm>
          <a:prstGeom prst="line">
            <a:avLst/>
          </a:prstGeom>
          <a:noFill/>
          <a:ln w="13970">
            <a:solidFill>
              <a:srgbClr val="0F8D68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94360" y="1325880"/>
            <a:ext cx="5394960" cy="2788920"/>
          </a:xfrm>
          <a:prstGeom prst="roundRect">
            <a:avLst>
              <a:gd name="adj" fmla="val 2623"/>
            </a:avLst>
          </a:prstGeom>
          <a:solidFill>
            <a:srgbClr val="061222"/>
          </a:solidFill>
          <a:ln w="12700">
            <a:solidFill>
              <a:srgbClr val="1E4F72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13232" y="1417320"/>
            <a:ext cx="5157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3D6C6"/>
                </a:solidFill>
              </a:rPr>
              <a:t>Live example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713232" y="1709928"/>
            <a:ext cx="5157216" cy="2331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DDE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src/forecast_var/config.py</a:t>
            </a:r>
            <a:endParaRPr lang="en-US" sz="740" dirty="0"/>
          </a:p>
          <a:p>
            <a:pPr marL="0" indent="0">
              <a:buNone/>
            </a:pPr>
            <a:r>
              <a:rPr lang="en-US" sz="740" dirty="0">
                <a:solidFill>
                  <a:srgbClr val="DDE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DEFAULT_OPENAI_MODEL = "gpt-5.4-nano"</a:t>
            </a:r>
            <a:endParaRPr lang="en-US" sz="740" dirty="0"/>
          </a:p>
          <a:p>
            <a:pPr marL="0" indent="0">
              <a:buNone/>
            </a:pPr>
            <a:endParaRPr lang="en-US" sz="740" dirty="0"/>
          </a:p>
          <a:p>
            <a:pPr marL="0" indent="0">
              <a:buNone/>
            </a:pPr>
            <a:r>
              <a:rPr lang="en-US" sz="740" dirty="0">
                <a:solidFill>
                  <a:srgbClr val="DDE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Run live mode</a:t>
            </a:r>
            <a:endParaRPr lang="en-US" sz="740" dirty="0"/>
          </a:p>
          <a:p>
            <a:pPr marL="0" indent="0">
              <a:buNone/>
            </a:pPr>
            <a:r>
              <a:rPr lang="en-US" sz="740" dirty="0">
                <a:solidFill>
                  <a:srgbClr val="DDE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OPENAI_API_KEY="..."</a:t>
            </a:r>
            <a:endParaRPr lang="en-US" sz="740" dirty="0"/>
          </a:p>
          <a:p>
            <a:pPr marL="0" indent="0">
              <a:buNone/>
            </a:pPr>
            <a:r>
              <a:rPr lang="en-US" sz="740" dirty="0">
                <a:solidFill>
                  <a:srgbClr val="DDE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PYTHONPATH=src python scripts/run_agent.py   "Run a Monte Carlo tournament simulation"   --mode openai</a:t>
            </a:r>
            <a:endParaRPr lang="en-US" sz="740" dirty="0"/>
          </a:p>
        </p:txBody>
      </p:sp>
      <p:sp>
        <p:nvSpPr>
          <p:cNvPr id="8" name="Shape 6"/>
          <p:cNvSpPr/>
          <p:nvPr/>
        </p:nvSpPr>
        <p:spPr>
          <a:xfrm>
            <a:off x="6263640" y="1325880"/>
            <a:ext cx="5120640" cy="2788920"/>
          </a:xfrm>
          <a:prstGeom prst="roundRect">
            <a:avLst>
              <a:gd name="adj" fmla="val 2623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7B65D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9944" y="1444752"/>
            <a:ext cx="4828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6142B"/>
                </a:solidFill>
              </a:rPr>
              <a:t>What changes in live mode?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9944" y="1764792"/>
            <a:ext cx="4828032" cy="22219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213547"/>
                </a:solidFill>
              </a:rPr>
              <a:t>The agent model becomes gpt-5.4-nano.</a:t>
            </a:r>
            <a:endParaRPr lang="en-US" sz="880" dirty="0"/>
          </a:p>
          <a:p>
            <a:pPr marL="0" indent="0">
              <a:buNone/>
            </a:pP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213547"/>
                </a:solidFill>
              </a:rPr>
              <a:t>Same sources, pre-flight, RAG, MCP tools, simulator, schema, and verifier.</a:t>
            </a:r>
            <a:endParaRPr lang="en-US" sz="880" dirty="0"/>
          </a:p>
          <a:p>
            <a:pPr marL="0" indent="0">
              <a:buNone/>
            </a:pPr>
            <a:endParaRPr lang="en-US" sz="880" dirty="0"/>
          </a:p>
          <a:p>
            <a:pPr marL="0" indent="0">
              <a:buNone/>
            </a:pP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640080" y="4709160"/>
            <a:ext cx="2021373" cy="777240"/>
          </a:xfrm>
          <a:prstGeom prst="roundRect">
            <a:avLst>
              <a:gd name="adj" fmla="val 9412"/>
            </a:avLst>
          </a:prstGeom>
          <a:solidFill>
            <a:srgbClr val="08213D"/>
          </a:solidFill>
          <a:ln w="12700">
            <a:solidFill>
              <a:srgbClr val="0F8D68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13232" y="4828032"/>
            <a:ext cx="187506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D7B65D"/>
                </a:solidFill>
              </a:rPr>
              <a:t>same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713232" y="5065776"/>
            <a:ext cx="187506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7FAFC"/>
                </a:solidFill>
              </a:rPr>
              <a:t>sources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688885" y="5102352"/>
            <a:ext cx="146304" cy="0"/>
          </a:xfrm>
          <a:prstGeom prst="line">
            <a:avLst/>
          </a:prstGeom>
          <a:noFill/>
          <a:ln w="17780">
            <a:solidFill>
              <a:srgbClr val="D7B65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862621" y="4709160"/>
            <a:ext cx="2021373" cy="777240"/>
          </a:xfrm>
          <a:prstGeom prst="roundRect">
            <a:avLst>
              <a:gd name="adj" fmla="val 9412"/>
            </a:avLst>
          </a:prstGeom>
          <a:solidFill>
            <a:srgbClr val="08213D"/>
          </a:solidFill>
          <a:ln w="12700">
            <a:solidFill>
              <a:srgbClr val="0F8D68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935773" y="4828032"/>
            <a:ext cx="187506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D7B65D"/>
                </a:solidFill>
              </a:rPr>
              <a:t>same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2935773" y="5065776"/>
            <a:ext cx="187506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7FAFC"/>
                </a:solidFill>
              </a:rPr>
              <a:t>pre-flight + RAG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911425" y="5102352"/>
            <a:ext cx="146304" cy="0"/>
          </a:xfrm>
          <a:prstGeom prst="line">
            <a:avLst/>
          </a:prstGeom>
          <a:noFill/>
          <a:ln w="17780">
            <a:solidFill>
              <a:srgbClr val="D7B65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085161" y="4709160"/>
            <a:ext cx="2021373" cy="777240"/>
          </a:xfrm>
          <a:prstGeom prst="roundRect">
            <a:avLst>
              <a:gd name="adj" fmla="val 9412"/>
            </a:avLst>
          </a:prstGeom>
          <a:solidFill>
            <a:srgbClr val="08213D"/>
          </a:solidFill>
          <a:ln w="12700">
            <a:solidFill>
              <a:srgbClr val="0F8D68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158313" y="4828032"/>
            <a:ext cx="187506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D7B65D"/>
                </a:solidFill>
              </a:rPr>
              <a:t>same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158313" y="5065776"/>
            <a:ext cx="187506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7FAFC"/>
                </a:solidFill>
              </a:rPr>
              <a:t>MCP tools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133966" y="5102352"/>
            <a:ext cx="146304" cy="0"/>
          </a:xfrm>
          <a:prstGeom prst="line">
            <a:avLst/>
          </a:prstGeom>
          <a:noFill/>
          <a:ln w="17780">
            <a:solidFill>
              <a:srgbClr val="D7B65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307702" y="4709160"/>
            <a:ext cx="2021373" cy="777240"/>
          </a:xfrm>
          <a:prstGeom prst="roundRect">
            <a:avLst>
              <a:gd name="adj" fmla="val 9412"/>
            </a:avLst>
          </a:prstGeom>
          <a:solidFill>
            <a:srgbClr val="08213D"/>
          </a:solidFill>
          <a:ln w="12700">
            <a:solidFill>
              <a:srgbClr val="0F8D68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380854" y="4828032"/>
            <a:ext cx="187506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3D6C6"/>
                </a:solidFill>
              </a:rPr>
              <a:t>new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7380854" y="5065776"/>
            <a:ext cx="187506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7FAFC"/>
                </a:solidFill>
              </a:rPr>
              <a:t>gpt-5.4-nano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9356507" y="5102352"/>
            <a:ext cx="146304" cy="0"/>
          </a:xfrm>
          <a:prstGeom prst="line">
            <a:avLst/>
          </a:prstGeom>
          <a:noFill/>
          <a:ln w="17780">
            <a:solidFill>
              <a:srgbClr val="D7B65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9530243" y="4709160"/>
            <a:ext cx="2021373" cy="777240"/>
          </a:xfrm>
          <a:prstGeom prst="roundRect">
            <a:avLst>
              <a:gd name="adj" fmla="val 9412"/>
            </a:avLst>
          </a:prstGeom>
          <a:solidFill>
            <a:srgbClr val="08213D"/>
          </a:solidFill>
          <a:ln w="12700">
            <a:solidFill>
              <a:srgbClr val="0F8D68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9603395" y="4828032"/>
            <a:ext cx="187506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D7B65D"/>
                </a:solidFill>
              </a:rPr>
              <a:t>same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9603395" y="5065776"/>
            <a:ext cx="187506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7FAFC"/>
                </a:solidFill>
              </a:rPr>
              <a:t>schema + verifier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02920" y="6556248"/>
            <a:ext cx="8732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9CB3C9"/>
                </a:solidFill>
              </a:rPr>
              <a:t>Demo priors, educational simulator — not betting advice · Photo: Troutfarm27 / CC BY-SA 4.0 / Wikimedia Commons; cropped + darkened</a:t>
            </a:r>
            <a:endParaRPr lang="en-US" sz="680" dirty="0"/>
          </a:p>
        </p:txBody>
      </p:sp>
      <p:sp>
        <p:nvSpPr>
          <p:cNvPr id="31" name="Text 29"/>
          <p:cNvSpPr/>
          <p:nvPr/>
        </p:nvSpPr>
        <p:spPr>
          <a:xfrm>
            <a:off x="9857232" y="6556248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80" dirty="0">
                <a:solidFill>
                  <a:srgbClr val="9CB3C9"/>
                </a:solidFill>
              </a:rPr>
              <a:t>AI Reality Lab · Forecast VAR</a:t>
            </a:r>
            <a:endParaRPr lang="en-US" sz="68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614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c26_slide_work/assets/football_ball_closeup_dark75.png"/>
          <p:cNvPicPr>
            <a:picLocks noChangeAspect="1"/>
          </p:cNvPicPr>
          <p:nvPr/>
        </p:nvPicPr>
        <p:blipFill>
          <a:blip r:embed="rId3"/>
          <a:srcRect l="1" r="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5603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7B6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 VAR</a:t>
            </a:r>
            <a:endParaRPr lang="en-US" sz="850" dirty="0"/>
          </a:p>
        </p:txBody>
      </p:sp>
      <p:sp>
        <p:nvSpPr>
          <p:cNvPr id="4" name="Text 1"/>
          <p:cNvSpPr/>
          <p:nvPr/>
        </p:nvSpPr>
        <p:spPr>
          <a:xfrm>
            <a:off x="502920" y="512064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Reproducibility: every slide is backed by a notebook and project scripts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502920" y="1170432"/>
            <a:ext cx="11155680" cy="0"/>
          </a:xfrm>
          <a:prstGeom prst="line">
            <a:avLst/>
          </a:prstGeom>
          <a:noFill/>
          <a:ln w="13970">
            <a:solidFill>
              <a:srgbClr val="0F8D68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94360" y="1325880"/>
            <a:ext cx="5440680" cy="1711233"/>
          </a:xfrm>
          <a:prstGeom prst="roundRect">
            <a:avLst>
              <a:gd name="adj" fmla="val 2963"/>
            </a:avLst>
          </a:prstGeom>
          <a:solidFill>
            <a:srgbClr val="061222"/>
          </a:solidFill>
          <a:ln w="12700">
            <a:solidFill>
              <a:srgbClr val="1E4F72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713232" y="1417320"/>
            <a:ext cx="5202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3D6C6"/>
                </a:solidFill>
              </a:rPr>
              <a:t>Commands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713232" y="1581912"/>
            <a:ext cx="5202936" cy="136811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DDE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PYTHONPATH=src python scripts/validate_data.py</a:t>
            </a:r>
            <a:endParaRPr lang="en-US" sz="740" dirty="0"/>
          </a:p>
          <a:p>
            <a:pPr marL="0" indent="0">
              <a:buNone/>
            </a:pPr>
            <a:r>
              <a:rPr lang="en-US" sz="740" dirty="0">
                <a:solidFill>
                  <a:srgbClr val="DDE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PYTHONPATH=src python scripts/refresh_sources.py</a:t>
            </a:r>
            <a:endParaRPr lang="en-US" sz="740" dirty="0"/>
          </a:p>
          <a:p>
            <a:pPr marL="0" indent="0">
              <a:buNone/>
            </a:pPr>
            <a:r>
              <a:rPr lang="en-US" sz="740" dirty="0">
                <a:solidFill>
                  <a:srgbClr val="DDE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PYTHONPATH=src python scripts/generate_figures.py</a:t>
            </a:r>
            <a:endParaRPr lang="en-US" sz="740" dirty="0"/>
          </a:p>
          <a:p>
            <a:pPr marL="0" indent="0">
              <a:buNone/>
            </a:pPr>
            <a:r>
              <a:rPr lang="en-US" sz="740" dirty="0">
                <a:solidFill>
                  <a:srgbClr val="DDE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PYTHONPATH=src python scripts/evaluate.py --mode grounded_mock</a:t>
            </a:r>
            <a:endParaRPr lang="en-US" sz="740" dirty="0"/>
          </a:p>
          <a:p>
            <a:pPr marL="0" indent="0">
              <a:buNone/>
            </a:pPr>
            <a:r>
              <a:rPr lang="en-US" sz="740" dirty="0">
                <a:solidFill>
                  <a:srgbClr val="DDE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PYTHONPATH=src pytest -q</a:t>
            </a:r>
            <a:endParaRPr lang="en-US" sz="740" dirty="0"/>
          </a:p>
          <a:p>
            <a:pPr marL="0" indent="0">
              <a:buNone/>
            </a:pPr>
            <a:endParaRPr lang="en-US" sz="740" dirty="0"/>
          </a:p>
          <a:p>
            <a:pPr marL="0" indent="0">
              <a:buNone/>
            </a:pPr>
            <a:r>
              <a:rPr lang="en-US" sz="740" dirty="0" err="1">
                <a:solidFill>
                  <a:srgbClr val="DDE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forecast_var_deck_experiments.executed.ipynb</a:t>
            </a:r>
            <a:endParaRPr lang="en-US" sz="740" dirty="0"/>
          </a:p>
          <a:p>
            <a:pPr marL="0" indent="0">
              <a:buNone/>
            </a:pPr>
            <a:endParaRPr lang="en-US" sz="740" dirty="0"/>
          </a:p>
        </p:txBody>
      </p:sp>
      <p:sp>
        <p:nvSpPr>
          <p:cNvPr id="9" name="Shape 6"/>
          <p:cNvSpPr/>
          <p:nvPr/>
        </p:nvSpPr>
        <p:spPr>
          <a:xfrm>
            <a:off x="6355080" y="1325880"/>
            <a:ext cx="4983480" cy="1711228"/>
          </a:xfrm>
          <a:prstGeom prst="roundRect">
            <a:avLst>
              <a:gd name="adj" fmla="val 2963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0F8D68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501384" y="1444752"/>
            <a:ext cx="4690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6142B"/>
                </a:solidFill>
              </a:rPr>
              <a:t>What the notebook contains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501384" y="1764792"/>
            <a:ext cx="4690872" cy="1901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213547"/>
                </a:solidFill>
              </a:rPr>
              <a:t>• prediction tables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213547"/>
                </a:solidFill>
              </a:rPr>
              <a:t>• group winners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213547"/>
                </a:solidFill>
              </a:rPr>
              <a:t>• knockout probabilities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213547"/>
                </a:solidFill>
              </a:rPr>
              <a:t>• match + market example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213547"/>
                </a:solidFill>
              </a:rPr>
              <a:t>• rolling forecast state update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213547"/>
                </a:solidFill>
              </a:rPr>
              <a:t>• source coverage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213547"/>
                </a:solidFill>
              </a:rPr>
              <a:t>• eval metrics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213547"/>
                </a:solidFill>
              </a:rPr>
              <a:t>• figures used in the deck</a:t>
            </a:r>
            <a:endParaRPr lang="en-US" sz="880" dirty="0"/>
          </a:p>
        </p:txBody>
      </p:sp>
      <p:sp>
        <p:nvSpPr>
          <p:cNvPr id="17" name="Text 13"/>
          <p:cNvSpPr/>
          <p:nvPr/>
        </p:nvSpPr>
        <p:spPr>
          <a:xfrm>
            <a:off x="502920" y="6556248"/>
            <a:ext cx="8732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9CB3C9"/>
                </a:solidFill>
              </a:rPr>
              <a:t>Demo priors, educational simulator — not betting advice · Photo: Anthony Quintano from Hillsborough, NJ, United States / CC BY 2.0 / Wikimedia Commons; cropped + darkened</a:t>
            </a:r>
            <a:endParaRPr lang="en-US" sz="680" dirty="0"/>
          </a:p>
        </p:txBody>
      </p:sp>
      <p:sp>
        <p:nvSpPr>
          <p:cNvPr id="18" name="Text 14"/>
          <p:cNvSpPr/>
          <p:nvPr/>
        </p:nvSpPr>
        <p:spPr>
          <a:xfrm>
            <a:off x="9857232" y="6556248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80" dirty="0">
                <a:solidFill>
                  <a:srgbClr val="9CB3C9"/>
                </a:solidFill>
              </a:rPr>
              <a:t>AI Reality Lab · Forecast VAR</a:t>
            </a:r>
            <a:endParaRPr lang="en-US" sz="68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614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Real football background" descr="Licensed football background phot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  <p:sp>
        <p:nvSpPr>
          <p:cNvPr id="2" name="Text 0"/>
          <p:cNvSpPr/>
          <p:nvPr/>
        </p:nvSpPr>
        <p:spPr>
          <a:xfrm>
            <a:off x="502920" y="25603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7B6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 VAR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Appendix: project map for viewers who want to run it themselves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155680" cy="0"/>
          </a:xfrm>
          <a:prstGeom prst="line">
            <a:avLst/>
          </a:prstGeom>
          <a:noFill/>
          <a:ln w="13970">
            <a:solidFill>
              <a:srgbClr val="0F8D68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280160"/>
            <a:ext cx="5029200" cy="749808"/>
          </a:xfrm>
          <a:prstGeom prst="roundRect">
            <a:avLst>
              <a:gd name="adj" fmla="val 9756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7B65D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86384" y="1399032"/>
            <a:ext cx="4736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6142B"/>
                </a:solidFill>
              </a:rPr>
              <a:t>data/facts/world_cup_2026_groups.json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86384" y="1719072"/>
            <a:ext cx="4736592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213547"/>
                </a:solidFill>
              </a:rPr>
              <a:t>canonical 48-team field and groups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640080" y="2240280"/>
            <a:ext cx="5029200" cy="749808"/>
          </a:xfrm>
          <a:prstGeom prst="roundRect">
            <a:avLst>
              <a:gd name="adj" fmla="val 9756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0F8D68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86384" y="2359152"/>
            <a:ext cx="4736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6142B"/>
                </a:solidFill>
              </a:rPr>
              <a:t>data/facts/source_cards.jsonl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86384" y="2679192"/>
            <a:ext cx="4736592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213547"/>
                </a:solidFill>
              </a:rPr>
              <a:t>lightweight RAG corpus with support labels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640080" y="3200400"/>
            <a:ext cx="5029200" cy="749808"/>
          </a:xfrm>
          <a:prstGeom prst="roundRect">
            <a:avLst>
              <a:gd name="adj" fmla="val 9756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7B65D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86384" y="3319272"/>
            <a:ext cx="4736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6142B"/>
                </a:solidFill>
              </a:rPr>
              <a:t>data/sources/sample_team_features.csv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86384" y="3639312"/>
            <a:ext cx="4736592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213547"/>
                </a:solidFill>
              </a:rPr>
              <a:t>demo team priors for the model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640080" y="4160520"/>
            <a:ext cx="5029200" cy="749808"/>
          </a:xfrm>
          <a:prstGeom prst="roundRect">
            <a:avLst>
              <a:gd name="adj" fmla="val 9756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0F8D68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86384" y="4279392"/>
            <a:ext cx="4736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6142B"/>
                </a:solidFill>
              </a:rPr>
              <a:t>data/generated/evidence_index.jsonl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86384" y="4599432"/>
            <a:ext cx="4736592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213547"/>
                </a:solidFill>
              </a:rPr>
              <a:t>generated evidence index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640080" y="5120640"/>
            <a:ext cx="5029200" cy="749808"/>
          </a:xfrm>
          <a:prstGeom prst="roundRect">
            <a:avLst>
              <a:gd name="adj" fmla="val 9756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7B65D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86384" y="5239512"/>
            <a:ext cx="4736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6142B"/>
                </a:solidFill>
              </a:rPr>
              <a:t>.agents/skills/*/SKILL.md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86384" y="5559552"/>
            <a:ext cx="4736592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213547"/>
                </a:solidFill>
              </a:rPr>
              <a:t>procedural agent skills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6309360" y="1280160"/>
            <a:ext cx="5029200" cy="749808"/>
          </a:xfrm>
          <a:prstGeom prst="roundRect">
            <a:avLst>
              <a:gd name="adj" fmla="val 9756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0F8D68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55664" y="1399032"/>
            <a:ext cx="4736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6142B"/>
                </a:solidFill>
              </a:rPr>
              <a:t>mcp_servers/worldcup_forecast/server.py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55664" y="1719072"/>
            <a:ext cx="4736592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213547"/>
                </a:solidFill>
              </a:rPr>
              <a:t>local MCP stdio server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6309360" y="2240280"/>
            <a:ext cx="5029200" cy="749808"/>
          </a:xfrm>
          <a:prstGeom prst="roundRect">
            <a:avLst>
              <a:gd name="adj" fmla="val 9756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7B65D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455664" y="2359152"/>
            <a:ext cx="4736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6142B"/>
                </a:solidFill>
              </a:rPr>
              <a:t>src/forecast_var/forecast_model.py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55664" y="2679192"/>
            <a:ext cx="4736592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213547"/>
                </a:solidFill>
              </a:rPr>
              <a:t>match and group probability model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6309360" y="3200400"/>
            <a:ext cx="5029200" cy="749808"/>
          </a:xfrm>
          <a:prstGeom prst="roundRect">
            <a:avLst>
              <a:gd name="adj" fmla="val 9756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0F8D68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455664" y="3319272"/>
            <a:ext cx="4736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6142B"/>
                </a:solidFill>
              </a:rPr>
              <a:t>src/forecast_var/tournament_sim.py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55664" y="3639312"/>
            <a:ext cx="4736592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213547"/>
                </a:solidFill>
              </a:rPr>
              <a:t>Monte Carlo and rolling simulations</a:t>
            </a:r>
            <a:endParaRPr lang="en-US" sz="880" dirty="0"/>
          </a:p>
        </p:txBody>
      </p:sp>
      <p:sp>
        <p:nvSpPr>
          <p:cNvPr id="29" name="Shape 27"/>
          <p:cNvSpPr/>
          <p:nvPr/>
        </p:nvSpPr>
        <p:spPr>
          <a:xfrm>
            <a:off x="6309360" y="4160520"/>
            <a:ext cx="5029200" cy="749808"/>
          </a:xfrm>
          <a:prstGeom prst="roundRect">
            <a:avLst>
              <a:gd name="adj" fmla="val 9756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7B65D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455664" y="4279392"/>
            <a:ext cx="4736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6142B"/>
                </a:solidFill>
              </a:rPr>
              <a:t>src/forecast_var/openai_agent.py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55664" y="4599432"/>
            <a:ext cx="4736592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213547"/>
                </a:solidFill>
              </a:rPr>
              <a:t>live OpenAI Agents SDK path</a:t>
            </a:r>
            <a:endParaRPr lang="en-US" sz="880" dirty="0"/>
          </a:p>
        </p:txBody>
      </p:sp>
      <p:sp>
        <p:nvSpPr>
          <p:cNvPr id="32" name="Shape 30"/>
          <p:cNvSpPr/>
          <p:nvPr/>
        </p:nvSpPr>
        <p:spPr>
          <a:xfrm>
            <a:off x="6309360" y="5120640"/>
            <a:ext cx="5029200" cy="749808"/>
          </a:xfrm>
          <a:prstGeom prst="roundRect">
            <a:avLst>
              <a:gd name="adj" fmla="val 9756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0F8D68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455664" y="5239512"/>
            <a:ext cx="4736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6142B"/>
                </a:solidFill>
              </a:rPr>
              <a:t>src/forecast_var/eval_harness.py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455664" y="5559552"/>
            <a:ext cx="4736592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213547"/>
                </a:solidFill>
              </a:rPr>
              <a:t>agent evaluation metrics</a:t>
            </a:r>
            <a:endParaRPr lang="en-US" sz="880" dirty="0"/>
          </a:p>
        </p:txBody>
      </p:sp>
      <p:sp>
        <p:nvSpPr>
          <p:cNvPr id="35" name="Text 33"/>
          <p:cNvSpPr/>
          <p:nvPr/>
        </p:nvSpPr>
        <p:spPr>
          <a:xfrm>
            <a:off x="502920" y="6556248"/>
            <a:ext cx="8732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9CB3C9"/>
                </a:solidFill>
              </a:rPr>
              <a:t>Demo priors, educational simulator — not betting advice · Photo: ArmieVas / CC0 / Wikimedia Commons; cropped + darkened</a:t>
            </a:r>
            <a:endParaRPr lang="en-US" sz="680" dirty="0"/>
          </a:p>
        </p:txBody>
      </p:sp>
      <p:sp>
        <p:nvSpPr>
          <p:cNvPr id="36" name="Text 34"/>
          <p:cNvSpPr/>
          <p:nvPr/>
        </p:nvSpPr>
        <p:spPr>
          <a:xfrm>
            <a:off x="9857232" y="6556248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80" dirty="0">
                <a:solidFill>
                  <a:srgbClr val="9CB3C9"/>
                </a:solidFill>
              </a:rPr>
              <a:t>AI Reality Lab · Forecast VAR</a:t>
            </a:r>
            <a:endParaRPr lang="en-US" sz="68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614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c26_slide_work/assets/stadium_hero_dark45.png"/>
          <p:cNvPicPr>
            <a:picLocks noChangeAspect="1"/>
          </p:cNvPicPr>
          <p:nvPr/>
        </p:nvPicPr>
        <p:blipFill>
          <a:blip r:embed="rId3"/>
          <a:srcRect l="1" r="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68580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Forecast VAR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621792" y="1463040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E7EEF6"/>
                </a:solidFill>
              </a:rPr>
              <a:t>The World Cup forecast is the bait. The real lesson is how to engineer prediction agents that can be audited.</a:t>
            </a:r>
            <a:endParaRPr lang="en-US" sz="1900" dirty="0"/>
          </a:p>
        </p:txBody>
      </p:sp>
      <p:sp>
        <p:nvSpPr>
          <p:cNvPr id="5" name="Shape 2"/>
          <p:cNvSpPr/>
          <p:nvPr/>
        </p:nvSpPr>
        <p:spPr>
          <a:xfrm>
            <a:off x="685800" y="2743200"/>
            <a:ext cx="3383280" cy="1463040"/>
          </a:xfrm>
          <a:prstGeom prst="roundRect">
            <a:avLst>
              <a:gd name="adj" fmla="val 5000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7B65D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32104" y="2862072"/>
            <a:ext cx="3090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6142B"/>
                </a:solidFill>
              </a:rPr>
              <a:t>Sport drama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32104" y="3182112"/>
            <a:ext cx="3090672" cy="896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213547"/>
                </a:solidFill>
              </a:rPr>
              <a:t>Group winners, knockout paths, champion probabilities.</a:t>
            </a:r>
            <a:endParaRPr lang="en-US" sz="880" dirty="0"/>
          </a:p>
        </p:txBody>
      </p:sp>
      <p:sp>
        <p:nvSpPr>
          <p:cNvPr id="8" name="Shape 5"/>
          <p:cNvSpPr/>
          <p:nvPr/>
        </p:nvSpPr>
        <p:spPr>
          <a:xfrm>
            <a:off x="4407408" y="2743200"/>
            <a:ext cx="3383280" cy="1463040"/>
          </a:xfrm>
          <a:prstGeom prst="roundRect">
            <a:avLst>
              <a:gd name="adj" fmla="val 5000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0F8D68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553712" y="2862072"/>
            <a:ext cx="3090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6142B"/>
                </a:solidFill>
              </a:rPr>
              <a:t>Agent engineering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53712" y="3182112"/>
            <a:ext cx="3090672" cy="896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213547"/>
                </a:solidFill>
              </a:rPr>
              <a:t>Source registry, pre-flight, RAG, skills, MCP, deterministic tools.</a:t>
            </a:r>
            <a:endParaRPr lang="en-US" sz="880" dirty="0"/>
          </a:p>
        </p:txBody>
      </p:sp>
      <p:sp>
        <p:nvSpPr>
          <p:cNvPr id="11" name="Shape 8"/>
          <p:cNvSpPr/>
          <p:nvPr/>
        </p:nvSpPr>
        <p:spPr>
          <a:xfrm>
            <a:off x="8138160" y="2743200"/>
            <a:ext cx="3383280" cy="1463040"/>
          </a:xfrm>
          <a:prstGeom prst="roundRect">
            <a:avLst>
              <a:gd name="adj" fmla="val 5000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63D6C6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8284464" y="2862072"/>
            <a:ext cx="3090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6142B"/>
                </a:solidFill>
              </a:rPr>
              <a:t>Trust layer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284464" y="3182112"/>
            <a:ext cx="3090672" cy="896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213547"/>
                </a:solidFill>
              </a:rPr>
              <a:t>Claim verification, eval harness, uncertainty and abstention.</a:t>
            </a:r>
            <a:endParaRPr lang="en-US" sz="880" dirty="0"/>
          </a:p>
        </p:txBody>
      </p:sp>
      <p:sp>
        <p:nvSpPr>
          <p:cNvPr id="14" name="Text 11"/>
          <p:cNvSpPr/>
          <p:nvPr/>
        </p:nvSpPr>
        <p:spPr>
          <a:xfrm>
            <a:off x="1005840" y="4892040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7B65D"/>
                </a:solidFill>
              </a:rPr>
              <a:t>No fake certainty. No hidden sources. No vibes-based champion.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502920" y="6556248"/>
            <a:ext cx="8732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9CB3C9"/>
                </a:solidFill>
              </a:rPr>
              <a:t>Demo priors, educational simulator — not betting advice · Photo: Hossein Zohrevand / CC BY 4.0 / Wikimedia Commons; cropped + darkened</a:t>
            </a:r>
            <a:endParaRPr lang="en-US" sz="680" dirty="0"/>
          </a:p>
        </p:txBody>
      </p:sp>
      <p:sp>
        <p:nvSpPr>
          <p:cNvPr id="16" name="Text 13"/>
          <p:cNvSpPr/>
          <p:nvPr/>
        </p:nvSpPr>
        <p:spPr>
          <a:xfrm>
            <a:off x="9857232" y="6556248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80" dirty="0">
                <a:solidFill>
                  <a:srgbClr val="9CB3C9"/>
                </a:solidFill>
              </a:rPr>
              <a:t>AI Reality Lab · Forecast VAR</a:t>
            </a:r>
            <a:endParaRPr lang="en-US" sz="6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3c76ce46-357f-46de-88d6-77b9bbb83c46}" enabled="1" method="Privileged" siteId="{4e2c6054-71cb-48f1-bd6c-3a9705aca71b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263</TotalTime>
  <Words>4351</Words>
  <Application>Microsoft Macintosh PowerPoint</Application>
  <PresentationFormat>Widescreen</PresentationFormat>
  <Paragraphs>604</Paragraphs>
  <Slides>25</Slides>
  <Notes>25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Aptos</vt:lpstr>
      <vt:lpstr>Aptos Display</vt:lpstr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AI Reality 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Forecast VAR — Agent Engineering for World Cup Forecasting</dc:title>
  <dc:subject>Forecast VAR: Agent Engineering for World Cup forecasting</dc:subject>
  <dc:creator>AI Reality Lab</dc:creator>
  <cp:lastModifiedBy>Mohammad Najafi</cp:lastModifiedBy>
  <cp:revision>17</cp:revision>
  <dcterms:created xsi:type="dcterms:W3CDTF">2026-05-18T13:16:16Z</dcterms:created>
  <dcterms:modified xsi:type="dcterms:W3CDTF">2026-05-19T07:20:16Z</dcterms:modified>
</cp:coreProperties>
</file>