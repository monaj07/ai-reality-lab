
<file path=[Content_Types].xml><?xml version="1.0" encoding="utf-8"?>
<Types xmlns="http://schemas.openxmlformats.org/package/2006/content-types">
  <Default Extension="jpeg" ContentType="image/jpeg"/>
  <Default Extension="jpg" ContentType="image/jp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82" r:id="rId4"/>
    <p:sldId id="258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5" r:id="rId22"/>
    <p:sldId id="277" r:id="rId23"/>
    <p:sldId id="278" r:id="rId24"/>
    <p:sldId id="280" r:id="rId25"/>
    <p:sldId id="281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625"/>
    <p:restoredTop sz="96165"/>
  </p:normalViewPr>
  <p:slideViewPr>
    <p:cSldViewPr snapToGrid="0" snapToObjects="1">
      <p:cViewPr>
        <p:scale>
          <a:sx n="120" d="100"/>
          <a:sy n="120" d="100"/>
        </p:scale>
        <p:origin x="22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3191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616A-266E-08A1-5E73-22BB14233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0C800D-0D22-F6C4-499F-F9E0C821F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099A80-8628-1EA0-FE69-E8A2670B0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2740E-122B-CC5F-D9C0-38E813BB4C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9712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21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0.png"/><Relationship Id="rId5" Type="http://schemas.openxmlformats.org/officeDocument/2006/relationships/image" Target="../media/image19.jp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c26_slide_work/assets/stadium_hero_dark35.png"/>
          <p:cNvPicPr>
            <a:picLocks noChangeAspect="1"/>
          </p:cNvPicPr>
          <p:nvPr/>
        </p:nvPicPr>
        <p:blipFill>
          <a:blip r:embed="rId3"/>
          <a:srcRect l="1" r="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475488"/>
            <a:ext cx="2834640" cy="292608"/>
          </a:xfrm>
          <a:prstGeom prst="roundRect">
            <a:avLst>
              <a:gd name="adj" fmla="val 18750"/>
            </a:avLst>
          </a:prstGeom>
          <a:solidFill>
            <a:srgbClr val="0B6E4F">
              <a:alpha val="96000"/>
            </a:srgbClr>
          </a:solidFill>
          <a:ln w="12700">
            <a:solidFill>
              <a:srgbClr val="0B6E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539496"/>
            <a:ext cx="26883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7FAFC"/>
                </a:solidFill>
              </a:rPr>
              <a:t>WORLD CUP 2026 · AGENT ENGINEERING</a:t>
            </a:r>
            <a:endParaRPr lang="en-US" sz="720" dirty="0"/>
          </a:p>
        </p:txBody>
      </p:sp>
      <p:sp>
        <p:nvSpPr>
          <p:cNvPr id="5" name="Text 2"/>
          <p:cNvSpPr/>
          <p:nvPr/>
        </p:nvSpPr>
        <p:spPr>
          <a:xfrm>
            <a:off x="548640" y="10515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VAR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66928" y="182880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E7EEF6"/>
                </a:solidFill>
              </a:rPr>
              <a:t>A technical slide deck for building, grounding, and evaluating a World Cup prediction agent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94360" y="2907792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071B36"/>
          </a:solidFill>
          <a:ln w="12700">
            <a:solidFill>
              <a:srgbClr val="D7B65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04088" y="3072384"/>
            <a:ext cx="1700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D7B65D"/>
                </a:solidFill>
              </a:rPr>
              <a:t>48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04088" y="342900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7FAFC"/>
                </a:solidFill>
              </a:rPr>
              <a:t>validated field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04088" y="365760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teams</a:t>
            </a:r>
            <a:endParaRPr lang="en-US" sz="680" dirty="0"/>
          </a:p>
        </p:txBody>
      </p:sp>
      <p:sp>
        <p:nvSpPr>
          <p:cNvPr id="11" name="Shape 8"/>
          <p:cNvSpPr/>
          <p:nvPr/>
        </p:nvSpPr>
        <p:spPr>
          <a:xfrm>
            <a:off x="2697480" y="2907792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071B36"/>
          </a:solidFill>
          <a:ln w="12700">
            <a:solidFill>
              <a:srgbClr val="D7B65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807208" y="3072384"/>
            <a:ext cx="1700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D7B65D"/>
                </a:solidFill>
              </a:rPr>
              <a:t>12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2807208" y="342900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7FAFC"/>
                </a:solidFill>
              </a:rPr>
              <a:t>groups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807208" y="365760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groups of four</a:t>
            </a:r>
            <a:endParaRPr lang="en-US" sz="680" dirty="0"/>
          </a:p>
        </p:txBody>
      </p:sp>
      <p:sp>
        <p:nvSpPr>
          <p:cNvPr id="15" name="Shape 12"/>
          <p:cNvSpPr/>
          <p:nvPr/>
        </p:nvSpPr>
        <p:spPr>
          <a:xfrm>
            <a:off x="4800600" y="2907792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071B36"/>
          </a:solidFill>
          <a:ln w="12700">
            <a:solidFill>
              <a:srgbClr val="D7B65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910328" y="3072384"/>
            <a:ext cx="1700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D7B65D"/>
                </a:solidFill>
              </a:rPr>
              <a:t>gpt-5.4-nano</a:t>
            </a:r>
            <a:endParaRPr lang="en-US" sz="2300" dirty="0"/>
          </a:p>
        </p:txBody>
      </p:sp>
      <p:sp>
        <p:nvSpPr>
          <p:cNvPr id="17" name="Text 14"/>
          <p:cNvSpPr/>
          <p:nvPr/>
        </p:nvSpPr>
        <p:spPr>
          <a:xfrm>
            <a:off x="4910328" y="342900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7FAFC"/>
                </a:solidFill>
              </a:rPr>
              <a:t>agent model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4910328" y="365760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orchestrator</a:t>
            </a:r>
            <a:endParaRPr lang="en-US" sz="680" dirty="0"/>
          </a:p>
        </p:txBody>
      </p:sp>
      <p:sp>
        <p:nvSpPr>
          <p:cNvPr id="19" name="Shape 16"/>
          <p:cNvSpPr/>
          <p:nvPr/>
        </p:nvSpPr>
        <p:spPr>
          <a:xfrm>
            <a:off x="6903720" y="2907792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071B36"/>
          </a:solidFill>
          <a:ln w="12700">
            <a:solidFill>
              <a:srgbClr val="D7B65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013448" y="3072384"/>
            <a:ext cx="1700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D7B65D"/>
                </a:solidFill>
              </a:rPr>
              <a:t>Monte Carlo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7013448" y="342900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7FAFC"/>
                </a:solidFill>
              </a:rPr>
              <a:t>simulator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7013448" y="365760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Python tool</a:t>
            </a:r>
            <a:endParaRPr lang="en-US" sz="680" dirty="0"/>
          </a:p>
        </p:txBody>
      </p:sp>
      <p:sp>
        <p:nvSpPr>
          <p:cNvPr id="23" name="Text 20"/>
          <p:cNvSpPr/>
          <p:nvPr/>
        </p:nvSpPr>
        <p:spPr>
          <a:xfrm>
            <a:off x="612648" y="50749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7FAFC"/>
                </a:solidFill>
              </a:rPr>
              <a:t>The drama: first the predictions. Then the VAR room: every source, tool call, claim type, and evaluation check.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Liondartois / CC BY-SA 4.0 / Wikimedia Commons; cropped + darkened</a:t>
            </a:r>
            <a:endParaRPr lang="en-US" sz="680" dirty="0"/>
          </a:p>
        </p:txBody>
      </p:sp>
      <p:sp>
        <p:nvSpPr>
          <p:cNvPr id="25" name="Text 22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c26_slide_work/assets/trophy_stage_dark55.png"/>
          <p:cNvPicPr>
            <a:picLocks noChangeAspect="1"/>
          </p:cNvPicPr>
          <p:nvPr/>
        </p:nvPicPr>
        <p:blipFill>
          <a:blip r:embed="rId3"/>
          <a:srcRect l="1" r="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Prediction snapshot: the model names its favourites before we inspect the machine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41732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071B36"/>
          </a:solidFill>
          <a:ln w="12700">
            <a:solidFill>
              <a:srgbClr val="D7B65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49808" y="158191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D7B65D"/>
                </a:solidFill>
              </a:rPr>
              <a:t>21.7%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749808" y="1938528"/>
            <a:ext cx="2295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7FAFC"/>
                </a:solidFill>
              </a:rPr>
              <a:t>1. Argentina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2167128"/>
            <a:ext cx="2295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Final: 35.5% · SF: 52.8%</a:t>
            </a:r>
            <a:endParaRPr lang="en-US" sz="680" dirty="0"/>
          </a:p>
        </p:txBody>
      </p:sp>
      <p:sp>
        <p:nvSpPr>
          <p:cNvPr id="10" name="Shape 7"/>
          <p:cNvSpPr/>
          <p:nvPr/>
        </p:nvSpPr>
        <p:spPr>
          <a:xfrm>
            <a:off x="3429000" y="141732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071B36"/>
          </a:solidFill>
          <a:ln w="12700">
            <a:solidFill>
              <a:srgbClr val="63D6C6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538728" y="158191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63D6C6"/>
                </a:solidFill>
              </a:rPr>
              <a:t>13.7%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3538728" y="1938528"/>
            <a:ext cx="2295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7FAFC"/>
                </a:solidFill>
              </a:rPr>
              <a:t>2. France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38728" y="2167128"/>
            <a:ext cx="2295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Final: 26.7% · SF: 44.3%</a:t>
            </a:r>
            <a:endParaRPr lang="en-US" sz="680" dirty="0"/>
          </a:p>
        </p:txBody>
      </p:sp>
      <p:sp>
        <p:nvSpPr>
          <p:cNvPr id="14" name="Shape 11"/>
          <p:cNvSpPr/>
          <p:nvPr/>
        </p:nvSpPr>
        <p:spPr>
          <a:xfrm>
            <a:off x="6217920" y="141732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071B36"/>
          </a:solidFill>
          <a:ln w="12700">
            <a:solidFill>
              <a:srgbClr val="63D6C6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327648" y="158191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63D6C6"/>
                </a:solidFill>
              </a:rPr>
              <a:t>13.0%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6327648" y="1938528"/>
            <a:ext cx="2295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7FAFC"/>
                </a:solidFill>
              </a:rPr>
              <a:t>3. Spain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27648" y="2167128"/>
            <a:ext cx="2295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Final: 23.5% · SF: 40.2%</a:t>
            </a:r>
            <a:endParaRPr lang="en-US" sz="680" dirty="0"/>
          </a:p>
        </p:txBody>
      </p:sp>
      <p:sp>
        <p:nvSpPr>
          <p:cNvPr id="18" name="Shape 15"/>
          <p:cNvSpPr/>
          <p:nvPr/>
        </p:nvSpPr>
        <p:spPr>
          <a:xfrm>
            <a:off x="9006840" y="141732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071B36"/>
          </a:solidFill>
          <a:ln w="12700">
            <a:solidFill>
              <a:srgbClr val="63D6C6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116568" y="158191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63D6C6"/>
                </a:solidFill>
              </a:rPr>
              <a:t>11.8%</a:t>
            </a:r>
            <a:endParaRPr lang="en-US" sz="2300" dirty="0"/>
          </a:p>
        </p:txBody>
      </p:sp>
      <p:sp>
        <p:nvSpPr>
          <p:cNvPr id="20" name="Text 17"/>
          <p:cNvSpPr/>
          <p:nvPr/>
        </p:nvSpPr>
        <p:spPr>
          <a:xfrm>
            <a:off x="9116568" y="1938528"/>
            <a:ext cx="2295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7FAFC"/>
                </a:solidFill>
              </a:rPr>
              <a:t>4. England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116568" y="2167128"/>
            <a:ext cx="2295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Final: 22.0% · SF: 35.7%</a:t>
            </a:r>
            <a:endParaRPr lang="en-US" sz="680" dirty="0"/>
          </a:p>
        </p:txBody>
      </p:sp>
      <p:sp>
        <p:nvSpPr>
          <p:cNvPr id="22" name="Shape 19"/>
          <p:cNvSpPr/>
          <p:nvPr/>
        </p:nvSpPr>
        <p:spPr>
          <a:xfrm>
            <a:off x="621792" y="2743200"/>
            <a:ext cx="5577840" cy="2971800"/>
          </a:xfrm>
          <a:prstGeom prst="roundRect">
            <a:avLst>
              <a:gd name="adj" fmla="val 2462"/>
            </a:avLst>
          </a:prstGeom>
          <a:solidFill>
            <a:srgbClr val="071B36"/>
          </a:solidFill>
          <a:ln w="12700">
            <a:solidFill>
              <a:srgbClr val="1D5872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1" descr="/mnt/data/wc26_slide_work/deck_figures/mc_champion_probs_w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239" y="2798064"/>
            <a:ext cx="5368947" cy="2862072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6446520" y="2743200"/>
            <a:ext cx="5074920" cy="2971800"/>
          </a:xfrm>
          <a:prstGeom prst="roundRect">
            <a:avLst>
              <a:gd name="adj" fmla="val 2462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6592824" y="2862072"/>
            <a:ext cx="4782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Sports drama, engineering restraint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6592824" y="3182112"/>
            <a:ext cx="4782312" cy="2404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The headline is Argentina as projected champion in the educational simulation. The agent is not allowed to say “Argentina will win.” It must say: “Argentina is the top modelled favourite under demo priors, with 21.7% champion probability.”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Agent concept: predictions are model-derived claims, not facts. They need model citations, probability sanity checks, and uncertainty warnings.</a:t>
            </a:r>
            <a:endParaRPr lang="en-US" sz="880" dirty="0"/>
          </a:p>
        </p:txBody>
      </p:sp>
      <p:sp>
        <p:nvSpPr>
          <p:cNvPr id="27" name="Text 23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Hossein Zohrevand / CC BY 4.0 / Wikimedia Commons; cropped + darkened</a:t>
            </a:r>
            <a:endParaRPr lang="en-US" sz="680" dirty="0"/>
          </a:p>
        </p:txBody>
      </p:sp>
      <p:sp>
        <p:nvSpPr>
          <p:cNvPr id="28" name="Text 24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42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5AD3A7-CA74-E3B0-8538-049D26A26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c26_slide_work/assets/trophy_stage_dark55.png">
            <a:extLst>
              <a:ext uri="{FF2B5EF4-FFF2-40B4-BE49-F238E27FC236}">
                <a16:creationId xmlns:a16="http://schemas.microsoft.com/office/drawing/2014/main" id="{3B3A5B37-FE62-B8FB-72D7-6DDD061249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" r="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0538EFE-B0A3-036F-A849-E272645CCF21}"/>
              </a:ext>
            </a:extLst>
          </p:cNvPr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54D9FBB6-0EDD-1D18-5BC2-83770F7AAF1C}"/>
              </a:ext>
            </a:extLst>
          </p:cNvPr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Hossein Zohrevand / CC BY 4.0 / Wikimedia Commons; cropped + darkened</a:t>
            </a:r>
            <a:endParaRPr lang="en-US" sz="680" dirty="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B93B55E4-FC3B-C677-12A2-62376599F7E8}"/>
              </a:ext>
            </a:extLst>
          </p:cNvPr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AE0BEC-1AD8-A01B-CF97-017B6E856A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430" y="41843"/>
            <a:ext cx="8763001" cy="6784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57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c26_slide_work/assets/football_ball_closeup_dark68.png"/>
          <p:cNvPicPr>
            <a:picLocks noChangeAspect="1"/>
          </p:cNvPicPr>
          <p:nvPr/>
        </p:nvPicPr>
        <p:blipFill>
          <a:blip r:embed="rId3"/>
          <a:srcRect l="1" r="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Group stage forecast: twelve group races, twelve likely winners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94360" y="1417320"/>
            <a:ext cx="6675120" cy="4389120"/>
          </a:xfrm>
          <a:prstGeom prst="roundRect">
            <a:avLst>
              <a:gd name="adj" fmla="val 1667"/>
            </a:avLst>
          </a:prstGeom>
          <a:solidFill>
            <a:srgbClr val="071B36"/>
          </a:solidFill>
          <a:ln w="12700">
            <a:solidFill>
              <a:srgbClr val="1D5872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/mnt/data/wc26_slide_work/deck_figures/all_group_winn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159452"/>
            <a:ext cx="6565392" cy="2904857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17320"/>
            <a:ext cx="3977640" cy="4389120"/>
          </a:xfrm>
          <a:prstGeom prst="roundRect">
            <a:avLst>
              <a:gd name="adj" fmla="val 1839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7690104" y="1536192"/>
            <a:ext cx="3685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Predicted group winners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7690104" y="1856232"/>
            <a:ext cx="3685032" cy="3822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Group A: Mexico (51%)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Group B: Switzerland (47%)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Group C: Brazil (63%)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Group D: USA (50%)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Group E: Germany (60%)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Group F: Netherlands (59%)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Group G: Belgium (64%)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Group H: Spain (67%)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Group I: France (71%)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Group J: Argentina (72%)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Group K: Portugal (64%)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Group L: England (65%)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Engineering note: group winners are not asserted as facts. Each is a model_output claim grounded in team priors, group membership, and the simulation routine.</a:t>
            </a:r>
            <a:endParaRPr lang="en-US" sz="880" dirty="0"/>
          </a:p>
        </p:txBody>
      </p:sp>
      <p:sp>
        <p:nvSpPr>
          <p:cNvPr id="11" name="Text 7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Alejan98 / CC0 / Wikimedia Commons; cropped + darkened</a:t>
            </a:r>
            <a:endParaRPr lang="en-US" sz="680" dirty="0"/>
          </a:p>
        </p:txBody>
      </p:sp>
      <p:sp>
        <p:nvSpPr>
          <p:cNvPr id="12" name="Text 8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PREDICTIONS → MATCHES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Game-by-game forecasting: every group match becomes a probability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5669280" cy="2743200"/>
          </a:xfrm>
          <a:prstGeom prst="roundRect">
            <a:avLst>
              <a:gd name="adj" fmla="val 2667"/>
            </a:avLst>
          </a:prstGeom>
          <a:solidFill>
            <a:srgbClr val="071B36"/>
          </a:solidFill>
          <a:ln w="12700">
            <a:solidFill>
              <a:srgbClr val="1D5872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537960" y="1417320"/>
            <a:ext cx="4892040" cy="2743200"/>
          </a:xfrm>
          <a:prstGeom prst="roundRect">
            <a:avLst>
              <a:gd name="adj" fmla="val 2667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684264" y="1536192"/>
            <a:ext cx="4599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Example: Group D match picks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684264" y="1856232"/>
            <a:ext cx="4599432" cy="2176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USA vs Paraguay: USA 49.7%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USA vs Australia: USA 50.9%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USA vs Türkiye: USA 46.3%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Paraguay vs Australia: Paraguay 37.6%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Paraguay vs Türkiye: Türkiye 39.7%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Australia vs Türkiye: Türkiye 40.9%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594360" y="4389120"/>
            <a:ext cx="5669280" cy="1463040"/>
          </a:xfrm>
          <a:prstGeom prst="roundRect">
            <a:avLst>
              <a:gd name="adj" fmla="val 5000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13232" y="4480560"/>
            <a:ext cx="5065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Tool output shape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713232" y="4773168"/>
            <a:ext cx="5065776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forecast_match("USA", "Australia")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p_team_a_win: 0.5088,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p_draw: 0.2099,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p_team_b_win: 0.2813,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citations: ["SRC-SAMPLE-TEAM-PRIORS",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"MODEL-FORECAST-VAR-V1"]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13" name="Shape 10"/>
          <p:cNvSpPr/>
          <p:nvPr/>
        </p:nvSpPr>
        <p:spPr>
          <a:xfrm>
            <a:off x="6537960" y="4389120"/>
            <a:ext cx="489204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63D6C6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684264" y="4480560"/>
            <a:ext cx="4599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Agent engineering concept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684264" y="4828032"/>
            <a:ext cx="4599432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A sport agent should never collapse a match to a single deterministic winner. It should return a structured probability distribution plus the model and data sources that produced it.</a:t>
            </a:r>
            <a:endParaRPr lang="en-US" sz="880" dirty="0"/>
          </a:p>
        </p:txBody>
      </p:sp>
      <p:sp>
        <p:nvSpPr>
          <p:cNvPr id="16" name="Text 13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Hossein Zohrevand / CC BY 4.0 / Wikimedia Commons; cropped + darkened</a:t>
            </a:r>
            <a:endParaRPr lang="en-US" sz="680" dirty="0"/>
          </a:p>
        </p:txBody>
      </p:sp>
      <p:sp>
        <p:nvSpPr>
          <p:cNvPr id="17" name="Text 14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  <p:pic>
        <p:nvPicPr>
          <p:cNvPr id="18" name="Image 0" descr="/mnt/data/wc26_slide_work/deck_figures/group_match_confidence.png">
            <a:extLst>
              <a:ext uri="{FF2B5EF4-FFF2-40B4-BE49-F238E27FC236}">
                <a16:creationId xmlns:a16="http://schemas.microsoft.com/office/drawing/2014/main" id="{6256C09A-6F43-FFBC-7962-0283D6DA6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1648046"/>
            <a:ext cx="5559552" cy="22817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c26_slide_work/assets/forecast_var_room_dark60.png"/>
          <p:cNvPicPr>
            <a:picLocks noChangeAspect="1"/>
          </p:cNvPicPr>
          <p:nvPr/>
        </p:nvPicPr>
        <p:blipFill>
          <a:blip r:embed="rId3"/>
          <a:srcRect l="1" r="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Group D example: model forecast vs market baseline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94360" y="141732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071B36"/>
          </a:solidFill>
          <a:ln w="12700">
            <a:solidFill>
              <a:srgbClr val="1D5872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/mnt/data/wc26_slide_work/wc26-forecast-var-agent-episode2-source-aware-gpt54nano/figures/model_vs_market_usa_austral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1842516"/>
            <a:ext cx="4828032" cy="271576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06440" y="1417320"/>
            <a:ext cx="5623560" cy="3566160"/>
          </a:xfrm>
          <a:prstGeom prst="roundRect">
            <a:avLst>
              <a:gd name="adj" fmla="val 2051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5952744" y="1536192"/>
            <a:ext cx="5330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Example: USA vs. Australia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952744" y="1856232"/>
            <a:ext cx="5330952" cy="2999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880" dirty="0">
                <a:solidFill>
                  <a:srgbClr val="213547"/>
                </a:solidFill>
              </a:rPr>
              <a:t>The agent compares two different probability sources:</a:t>
            </a:r>
          </a:p>
          <a:p>
            <a:endParaRPr lang="en-US" sz="880" dirty="0">
              <a:solidFill>
                <a:srgbClr val="213547"/>
              </a:solidFill>
            </a:endParaRPr>
          </a:p>
          <a:p>
            <a:r>
              <a:rPr lang="en-US" sz="880" dirty="0">
                <a:solidFill>
                  <a:srgbClr val="213547"/>
                </a:solidFill>
              </a:rPr>
              <a:t>1. Forecast model</a:t>
            </a:r>
          </a:p>
          <a:p>
            <a:r>
              <a:rPr lang="en-US" sz="880" dirty="0">
                <a:solidFill>
                  <a:srgbClr val="213547"/>
                </a:solidFill>
              </a:rPr>
              <a:t>Uses bundled team priors and match features.</a:t>
            </a:r>
          </a:p>
          <a:p>
            <a:r>
              <a:rPr lang="en-US" sz="880" dirty="0">
                <a:solidFill>
                  <a:srgbClr val="213547"/>
                </a:solidFill>
              </a:rPr>
              <a:t>USA 50.9% · Draw 21.0% · Australia 28.1%</a:t>
            </a:r>
          </a:p>
          <a:p>
            <a:endParaRPr lang="en-US" sz="880" dirty="0">
              <a:solidFill>
                <a:srgbClr val="213547"/>
              </a:solidFill>
            </a:endParaRPr>
          </a:p>
          <a:p>
            <a:r>
              <a:rPr lang="en-US" sz="880" dirty="0">
                <a:solidFill>
                  <a:srgbClr val="213547"/>
                </a:solidFill>
              </a:rPr>
              <a:t>2. Market baseline</a:t>
            </a:r>
          </a:p>
          <a:p>
            <a:r>
              <a:rPr lang="en-US" sz="880" dirty="0">
                <a:solidFill>
                  <a:srgbClr val="213547"/>
                </a:solidFill>
              </a:rPr>
              <a:t>Takes bundled demo odds: 1.82 / 3.65 / 4.35, </a:t>
            </a:r>
            <a:br>
              <a:rPr lang="en-US" sz="880" dirty="0">
                <a:solidFill>
                  <a:srgbClr val="213547"/>
                </a:solidFill>
              </a:rPr>
            </a:br>
            <a:r>
              <a:rPr lang="en-US" sz="880" dirty="0">
                <a:solidFill>
                  <a:srgbClr val="213547"/>
                </a:solidFill>
              </a:rPr>
              <a:t>(</a:t>
            </a:r>
            <a:r>
              <a:rPr lang="en-US" sz="880" dirty="0" err="1">
                <a:solidFill>
                  <a:srgbClr val="213547"/>
                </a:solidFill>
              </a:rPr>
              <a:t>as_of_utc</a:t>
            </a:r>
            <a:r>
              <a:rPr lang="en-US" sz="880" dirty="0">
                <a:solidFill>
                  <a:srgbClr val="213547"/>
                </a:solidFill>
              </a:rPr>
              <a:t>: 2026-05-16T00:00:00Z, </a:t>
            </a:r>
            <a:r>
              <a:rPr lang="en-US" sz="880" dirty="0" err="1">
                <a:solidFill>
                  <a:srgbClr val="213547"/>
                </a:solidFill>
              </a:rPr>
              <a:t>source_id</a:t>
            </a:r>
            <a:r>
              <a:rPr lang="en-US" sz="880" dirty="0">
                <a:solidFill>
                  <a:srgbClr val="213547"/>
                </a:solidFill>
              </a:rPr>
              <a:t>: SRC-SAMPLE-MARKET-ODDS)</a:t>
            </a:r>
          </a:p>
          <a:p>
            <a:r>
              <a:rPr lang="en-US" sz="880" dirty="0">
                <a:solidFill>
                  <a:srgbClr val="213547"/>
                </a:solidFill>
              </a:rPr>
              <a:t>then de-</a:t>
            </a:r>
            <a:r>
              <a:rPr lang="en-US" sz="880" dirty="0" err="1">
                <a:solidFill>
                  <a:srgbClr val="213547"/>
                </a:solidFill>
              </a:rPr>
              <a:t>vigs</a:t>
            </a:r>
            <a:r>
              <a:rPr lang="en-US" sz="880" dirty="0">
                <a:solidFill>
                  <a:srgbClr val="213547"/>
                </a:solidFill>
              </a:rPr>
              <a:t> them by removing bookmaker margin.</a:t>
            </a:r>
          </a:p>
          <a:p>
            <a:r>
              <a:rPr lang="en-US" sz="880" dirty="0">
                <a:solidFill>
                  <a:srgbClr val="213547"/>
                </a:solidFill>
              </a:rPr>
              <a:t>USA 52.2% · Draw 26.0% · Australia 21.8%</a:t>
            </a:r>
          </a:p>
          <a:p>
            <a:endParaRPr lang="en-US" sz="880" dirty="0">
              <a:solidFill>
                <a:srgbClr val="213547"/>
              </a:solidFill>
            </a:endParaRPr>
          </a:p>
          <a:p>
            <a:r>
              <a:rPr lang="en-US" sz="880" dirty="0">
                <a:solidFill>
                  <a:srgbClr val="213547"/>
                </a:solidFill>
              </a:rPr>
              <a:t>What changes?</a:t>
            </a:r>
          </a:p>
          <a:p>
            <a:r>
              <a:rPr lang="en-US" sz="880" dirty="0">
                <a:solidFill>
                  <a:srgbClr val="213547"/>
                </a:solidFill>
              </a:rPr>
              <a:t>The market baseline is slightly higher on USA (+1.3 pts)</a:t>
            </a:r>
          </a:p>
          <a:p>
            <a:r>
              <a:rPr lang="en-US" sz="880" dirty="0">
                <a:solidFill>
                  <a:srgbClr val="213547"/>
                </a:solidFill>
              </a:rPr>
              <a:t>and lower on Australia (-6.3 pts). The agent reports the</a:t>
            </a:r>
          </a:p>
          <a:p>
            <a:r>
              <a:rPr lang="en-US" sz="880" dirty="0">
                <a:solidFill>
                  <a:srgbClr val="213547"/>
                </a:solidFill>
              </a:rPr>
              <a:t>difference, but does not turn it into a betting recommendation.</a:t>
            </a:r>
            <a:endParaRPr lang="en-US" sz="880" dirty="0"/>
          </a:p>
        </p:txBody>
      </p:sp>
      <p:sp>
        <p:nvSpPr>
          <p:cNvPr id="11" name="Shape 7"/>
          <p:cNvSpPr/>
          <p:nvPr/>
        </p:nvSpPr>
        <p:spPr>
          <a:xfrm>
            <a:off x="594360" y="525780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713232" y="5349240"/>
            <a:ext cx="4882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MCP tool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713232" y="5641848"/>
            <a:ext cx="488289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extract_market_baseline("USA", "Australia")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 market_p_team_a_win, market_p_draw, market_p_team_b_win, bookmaker_margin }</a:t>
            </a:r>
            <a:endParaRPr lang="en-US" sz="740" dirty="0"/>
          </a:p>
        </p:txBody>
      </p:sp>
      <p:sp>
        <p:nvSpPr>
          <p:cNvPr id="14" name="Shape 10"/>
          <p:cNvSpPr/>
          <p:nvPr/>
        </p:nvSpPr>
        <p:spPr>
          <a:xfrm>
            <a:off x="5989320" y="5257800"/>
            <a:ext cx="5440680" cy="822960"/>
          </a:xfrm>
          <a:prstGeom prst="roundRect">
            <a:avLst>
              <a:gd name="adj" fmla="val 8889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6108192" y="5349240"/>
            <a:ext cx="5202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Claim contract</a:t>
            </a:r>
            <a:endParaRPr lang="en-US" sz="750" dirty="0"/>
          </a:p>
        </p:txBody>
      </p:sp>
      <p:sp>
        <p:nvSpPr>
          <p:cNvPr id="16" name="Text 12"/>
          <p:cNvSpPr/>
          <p:nvPr/>
        </p:nvSpPr>
        <p:spPr>
          <a:xfrm>
            <a:off x="6108192" y="5609190"/>
            <a:ext cx="520293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740" dirty="0" err="1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model_output</a:t>
            </a: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Forecast VAR probability from team priors</a:t>
            </a:r>
          </a:p>
          <a:p>
            <a:r>
              <a:rPr lang="en-US" sz="740" dirty="0" err="1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market_baseline</a:t>
            </a: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de-</a:t>
            </a:r>
            <a:r>
              <a:rPr lang="en-US" sz="740" dirty="0" err="1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vigged</a:t>
            </a: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probability from bundled demo odds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guardrail: disclose timestamp, margin, source, and “not betting advice”</a:t>
            </a:r>
          </a:p>
        </p:txBody>
      </p:sp>
      <p:sp>
        <p:nvSpPr>
          <p:cNvPr id="17" name="Text 13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Alimohammed11 / CC BY 4.0 / Wikimedia Commons; cropped + darkened</a:t>
            </a:r>
            <a:endParaRPr lang="en-US" sz="680" dirty="0"/>
          </a:p>
        </p:txBody>
      </p:sp>
      <p:sp>
        <p:nvSpPr>
          <p:cNvPr id="18" name="Text 14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key design choice: the LLM is not the forecasting model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50876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13232" y="162763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USER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713232" y="186537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Question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688885" y="190195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862621" y="150876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2935773" y="162763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D6C6"/>
                </a:solidFill>
              </a:rPr>
              <a:t>AGENT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2935773" y="186537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gpt-5.4-nano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911425" y="190195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085161" y="150876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158313" y="162763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PROTOCOL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5158313" y="186537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MCP tools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7133966" y="190195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7307702" y="150876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380854" y="162763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D6C6"/>
                </a:solidFill>
              </a:rPr>
              <a:t>ENGINE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7380854" y="186537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Python simulator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9356507" y="190195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9530243" y="150876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9603395" y="162763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VAR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9603395" y="186537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Verifier + eval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731520" y="2880360"/>
            <a:ext cx="530352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63D6C6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877824" y="2999232"/>
            <a:ext cx="5010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What gpt-5.4-nano does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77824" y="3319272"/>
            <a:ext cx="5010912" cy="1673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Route the question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Select skills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Call MCP tools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Explain source status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Format structured claims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Refuse fake certainty</a:t>
            </a:r>
            <a:endParaRPr lang="en-US" sz="880" dirty="0"/>
          </a:p>
        </p:txBody>
      </p:sp>
      <p:sp>
        <p:nvSpPr>
          <p:cNvPr id="28" name="Shape 25"/>
          <p:cNvSpPr/>
          <p:nvPr/>
        </p:nvSpPr>
        <p:spPr>
          <a:xfrm>
            <a:off x="6355080" y="2880360"/>
            <a:ext cx="507492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501384" y="2999232"/>
            <a:ext cx="4782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What Python tools do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501384" y="3319272"/>
            <a:ext cx="4782312" cy="1673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Validate the field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Retrieve source cards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Compute match probabilities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Run group simulations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Run Monte Carlo tournaments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Verify claim support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2960" y="5577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AFC"/>
                </a:solidFill>
              </a:rPr>
              <a:t>The model presents the forecast. The tools calculate it. The harness checks it.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Troutfarm27 / CC BY-SA 4.0 / Wikimedia Commons; cropped + darkened</a:t>
            </a:r>
            <a:endParaRPr lang="en-US" sz="680" dirty="0"/>
          </a:p>
        </p:txBody>
      </p:sp>
      <p:sp>
        <p:nvSpPr>
          <p:cNvPr id="33" name="Text 30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Full technical map: 14-step walkthrough grouped into seven runtime layers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1386361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13232" y="1353312"/>
            <a:ext cx="124005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1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13232" y="1591056"/>
            <a:ext cx="12400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Source registry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053873" y="162763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27609" y="1234440"/>
            <a:ext cx="1386361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300761" y="1353312"/>
            <a:ext cx="124005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2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300761" y="1591056"/>
            <a:ext cx="12400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Pre-flight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41402" y="162763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815138" y="1234440"/>
            <a:ext cx="1386361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888290" y="1353312"/>
            <a:ext cx="124005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3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888290" y="1591056"/>
            <a:ext cx="12400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RAG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28931" y="162763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02667" y="1234440"/>
            <a:ext cx="1386361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75819" y="1353312"/>
            <a:ext cx="124005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4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475819" y="1591056"/>
            <a:ext cx="12400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Skills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16460" y="162763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990196" y="1234440"/>
            <a:ext cx="1386361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063348" y="1353312"/>
            <a:ext cx="124005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5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063348" y="1591056"/>
            <a:ext cx="12400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MCP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403989" y="162763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577725" y="1234440"/>
            <a:ext cx="1386361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650877" y="1353312"/>
            <a:ext cx="124005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6–11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8650877" y="1591056"/>
            <a:ext cx="12400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Forecast tools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991518" y="162763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0165254" y="1234440"/>
            <a:ext cx="1386361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238406" y="1353312"/>
            <a:ext cx="124005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12–14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0238406" y="1591056"/>
            <a:ext cx="12400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Output + QA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233172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40664" y="2450592"/>
            <a:ext cx="5010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Source registry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40664" y="2770632"/>
            <a:ext cx="5010912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Allowed sources, statuses, demo/live policy, adapter slots.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6217920" y="233172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364224" y="2450592"/>
            <a:ext cx="5010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Pre-flight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364224" y="2770632"/>
            <a:ext cx="5010912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Validate field, feature rows, and evidence before retrieval or forecasting.</a:t>
            </a:r>
            <a:endParaRPr lang="en-US" sz="880" dirty="0"/>
          </a:p>
        </p:txBody>
      </p:sp>
      <p:sp>
        <p:nvSpPr>
          <p:cNvPr id="38" name="Shape 36"/>
          <p:cNvSpPr/>
          <p:nvPr/>
        </p:nvSpPr>
        <p:spPr>
          <a:xfrm>
            <a:off x="594360" y="324612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40664" y="3364992"/>
            <a:ext cx="5010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RAG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40664" y="3685032"/>
            <a:ext cx="5010912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Retrieve source cards after pre-flight passes; evidence is candidate support.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6217920" y="324612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364224" y="3364992"/>
            <a:ext cx="5010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Skills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64224" y="3685032"/>
            <a:ext cx="5010912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Procedures for source triage, forecast modelling, uncertainty, and eval review.</a:t>
            </a:r>
            <a:endParaRPr lang="en-US" sz="880" dirty="0"/>
          </a:p>
        </p:txBody>
      </p:sp>
      <p:sp>
        <p:nvSpPr>
          <p:cNvPr id="44" name="Shape 42"/>
          <p:cNvSpPr/>
          <p:nvPr/>
        </p:nvSpPr>
        <p:spPr>
          <a:xfrm>
            <a:off x="594360" y="416052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40664" y="4279392"/>
            <a:ext cx="5010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Forecast tools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40664" y="4599432"/>
            <a:ext cx="5010912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Grounding split, match model, group simulation, Monte Carlo, rolling state.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217920" y="416052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364224" y="4279392"/>
            <a:ext cx="5010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Output + claims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364224" y="4599432"/>
            <a:ext cx="5010912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Structured answer with typed claims, citations, warnings, abstention, metadata.</a:t>
            </a:r>
            <a:endParaRPr lang="en-US" sz="880" dirty="0"/>
          </a:p>
        </p:txBody>
      </p:sp>
      <p:sp>
        <p:nvSpPr>
          <p:cNvPr id="50" name="Shape 48"/>
          <p:cNvSpPr/>
          <p:nvPr/>
        </p:nvSpPr>
        <p:spPr>
          <a:xfrm>
            <a:off x="594360" y="507492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40664" y="5193792"/>
            <a:ext cx="5010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Eval + live path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40664" y="5513832"/>
            <a:ext cx="5010912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Verifier and harness score support; live mode reuses the same contract.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Troutfarm27 / CC BY-SA 4.0 / Wikimedia Commons; cropped + darkened</a:t>
            </a:r>
            <a:endParaRPr lang="en-US" sz="680" dirty="0"/>
          </a:p>
        </p:txBody>
      </p:sp>
      <p:sp>
        <p:nvSpPr>
          <p:cNvPr id="54" name="Text 52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 0" descr="/mnt/data/wc26_slide_work/assets/football_ball_closeup_dark74.png">
            <a:extLst>
              <a:ext uri="{FF2B5EF4-FFF2-40B4-BE49-F238E27FC236}">
                <a16:creationId xmlns:a16="http://schemas.microsoft.com/office/drawing/2014/main" id="{4B7E0B76-8C33-272B-4608-48F79B43D1C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" r="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7" name="Text 0">
            <a:extLst>
              <a:ext uri="{FF2B5EF4-FFF2-40B4-BE49-F238E27FC236}">
                <a16:creationId xmlns:a16="http://schemas.microsoft.com/office/drawing/2014/main" id="{774DD3AE-B523-2D26-D343-CD408AFD6D0C}"/>
              </a:ext>
            </a:extLst>
          </p:cNvPr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57684F9B-FEDA-1D4E-35E5-224CA9181116}"/>
              </a:ext>
            </a:extLst>
          </p:cNvPr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 — Source registry: the agent must say what it is allowed to know</a:t>
            </a:r>
            <a:endParaRPr lang="en-US" sz="2400" dirty="0"/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132696F-27D8-3B10-9FDA-1D5EAE90E3FF}"/>
              </a:ext>
            </a:extLst>
          </p:cNvPr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CD85C065-6A0E-518C-A295-C0146087C6B2}"/>
              </a:ext>
            </a:extLst>
          </p:cNvPr>
          <p:cNvSpPr/>
          <p:nvPr/>
        </p:nvSpPr>
        <p:spPr>
          <a:xfrm>
            <a:off x="548640" y="1325879"/>
            <a:ext cx="5303520" cy="4553689"/>
          </a:xfrm>
          <a:prstGeom prst="roundRect">
            <a:avLst>
              <a:gd name="adj" fmla="val 1778"/>
            </a:avLst>
          </a:prstGeom>
          <a:solidFill>
            <a:srgbClr val="071B36"/>
          </a:solidFill>
          <a:ln w="12700">
            <a:solidFill>
              <a:srgbClr val="1D5872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1" descr="/mnt/data/wc26_slide_work/wc26-forecast-var-agent-episode2-source-aware-gpt54nano/figures/source_coverage_status.png">
            <a:extLst>
              <a:ext uri="{FF2B5EF4-FFF2-40B4-BE49-F238E27FC236}">
                <a16:creationId xmlns:a16="http://schemas.microsoft.com/office/drawing/2014/main" id="{F7BA65F5-E5E4-D03E-6570-44AB9A540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2313440"/>
            <a:ext cx="5193792" cy="2596896"/>
          </a:xfrm>
          <a:prstGeom prst="rect">
            <a:avLst/>
          </a:prstGeom>
        </p:spPr>
      </p:pic>
      <p:sp>
        <p:nvSpPr>
          <p:cNvPr id="22" name="Shape 4">
            <a:extLst>
              <a:ext uri="{FF2B5EF4-FFF2-40B4-BE49-F238E27FC236}">
                <a16:creationId xmlns:a16="http://schemas.microsoft.com/office/drawing/2014/main" id="{B65DC8D0-36B5-D241-0243-C4A73B7131A4}"/>
              </a:ext>
            </a:extLst>
          </p:cNvPr>
          <p:cNvSpPr/>
          <p:nvPr/>
        </p:nvSpPr>
        <p:spPr>
          <a:xfrm>
            <a:off x="6172200" y="1325880"/>
            <a:ext cx="5257800" cy="1134278"/>
          </a:xfrm>
          <a:prstGeom prst="roundRect">
            <a:avLst>
              <a:gd name="adj" fmla="val 3902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B86D6DFE-FB47-D7B7-8828-BCC0AE9A408A}"/>
              </a:ext>
            </a:extLst>
          </p:cNvPr>
          <p:cNvSpPr/>
          <p:nvPr/>
        </p:nvSpPr>
        <p:spPr>
          <a:xfrm>
            <a:off x="6291072" y="1417320"/>
            <a:ext cx="5020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source_registry.json</a:t>
            </a:r>
            <a:endParaRPr lang="en-US" sz="75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817E9D4F-1860-00E8-7525-85F0A1AFA167}"/>
              </a:ext>
            </a:extLst>
          </p:cNvPr>
          <p:cNvSpPr/>
          <p:nvPr/>
        </p:nvSpPr>
        <p:spPr>
          <a:xfrm>
            <a:off x="6291072" y="1513981"/>
            <a:ext cx="5020056" cy="94618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"source_id": "SRC-SAMPLE-TEAM-PRIORS",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"status": "bundled_demo_only",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"adds": ["strength_rating", "travel_load"],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"forecast_use": ["match", "group", "simulation"]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A121A237-6D2A-5AA6-8B60-A878A850439B}"/>
              </a:ext>
            </a:extLst>
          </p:cNvPr>
          <p:cNvSpPr/>
          <p:nvPr/>
        </p:nvSpPr>
        <p:spPr>
          <a:xfrm>
            <a:off x="6172200" y="2615605"/>
            <a:ext cx="5257800" cy="3263963"/>
          </a:xfrm>
          <a:prstGeom prst="roundRect">
            <a:avLst>
              <a:gd name="adj" fmla="val 375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FD99673E-157B-9737-2969-FB55D2516900}"/>
              </a:ext>
            </a:extLst>
          </p:cNvPr>
          <p:cNvSpPr/>
          <p:nvPr/>
        </p:nvSpPr>
        <p:spPr>
          <a:xfrm>
            <a:off x="6318504" y="2708362"/>
            <a:ext cx="4965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Agent concept: source governance</a:t>
            </a:r>
            <a:endParaRPr lang="en-US" sz="1200" dirty="0"/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ACCBAF50-D540-1917-5E35-826E0E54EE23}"/>
              </a:ext>
            </a:extLst>
          </p:cNvPr>
          <p:cNvSpPr/>
          <p:nvPr/>
        </p:nvSpPr>
        <p:spPr>
          <a:xfrm>
            <a:off x="6318504" y="3007952"/>
            <a:ext cx="4965192" cy="2679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880" dirty="0"/>
              <a:t>The source registry is just the agent’s “allowed ingredients” list.</a:t>
            </a:r>
          </a:p>
          <a:p>
            <a:endParaRPr lang="en-US" sz="880" dirty="0"/>
          </a:p>
          <a:p>
            <a:r>
              <a:rPr lang="en-US" sz="880" dirty="0"/>
              <a:t>Example: USA vs Australia odds</a:t>
            </a:r>
          </a:p>
          <a:p>
            <a:endParaRPr lang="en-US" sz="880" dirty="0"/>
          </a:p>
          <a:p>
            <a:r>
              <a:rPr lang="en-US" sz="880" dirty="0"/>
              <a:t>It says:</a:t>
            </a:r>
          </a:p>
          <a:p>
            <a:r>
              <a:rPr lang="en-US" sz="880" dirty="0"/>
              <a:t>• We can use this bundled odds file</a:t>
            </a:r>
          </a:p>
          <a:p>
            <a:r>
              <a:rPr lang="en-US" sz="880" dirty="0"/>
              <a:t>• It is only demo data</a:t>
            </a:r>
          </a:p>
          <a:p>
            <a:r>
              <a:rPr lang="en-US" sz="880" dirty="0"/>
              <a:t>• It is good enough for showing how model-vs-market comparison works</a:t>
            </a:r>
          </a:p>
          <a:p>
            <a:r>
              <a:rPr lang="en-US" sz="880" dirty="0"/>
              <a:t>• It should not be described as live odds</a:t>
            </a:r>
          </a:p>
          <a:p>
            <a:endParaRPr lang="en-US" sz="880" dirty="0"/>
          </a:p>
          <a:p>
            <a:r>
              <a:rPr lang="en-US" sz="880" dirty="0"/>
              <a:t>So the agent can say:</a:t>
            </a:r>
          </a:p>
          <a:p>
            <a:r>
              <a:rPr lang="en-US" sz="880" dirty="0"/>
              <a:t>“Using the demo odds row, the market-style baseline is USA 52.2%, draw 26.0%, Australia 21.8%.”</a:t>
            </a:r>
          </a:p>
          <a:p>
            <a:endParaRPr lang="en-US" sz="880" dirty="0"/>
          </a:p>
          <a:p>
            <a:r>
              <a:rPr lang="en-US" sz="880" dirty="0"/>
              <a:t>But it should not say:</a:t>
            </a:r>
          </a:p>
          <a:p>
            <a:r>
              <a:rPr lang="en-US" sz="880" dirty="0"/>
              <a:t>“Bookmakers currently think USA will win.”</a:t>
            </a:r>
          </a:p>
          <a:p>
            <a:endParaRPr lang="en-US" sz="880" dirty="0"/>
          </a:p>
          <a:p>
            <a:r>
              <a:rPr lang="en-US" sz="880" dirty="0"/>
              <a:t>That’s the whole governance idea:</a:t>
            </a:r>
          </a:p>
          <a:p>
            <a:r>
              <a:rPr lang="en-US" sz="880" dirty="0"/>
              <a:t>before the agent uses a source, it checks what that source is allowed to mean, and if it is allowed to be used at all.</a:t>
            </a:r>
          </a:p>
          <a:p>
            <a:pPr marL="0" indent="0">
              <a:buNone/>
            </a:pPr>
            <a:endParaRPr lang="en-US" sz="880" dirty="0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F9372ECD-B8A6-58FF-1467-F21ACCB2C485}"/>
              </a:ext>
            </a:extLst>
          </p:cNvPr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</a:t>
            </a:r>
            <a:endParaRPr lang="en-US" sz="680" dirty="0"/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13D55BAA-6725-C09D-DB3E-57A1F9C5952A}"/>
              </a:ext>
            </a:extLst>
          </p:cNvPr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 — Pre-flight gate: validate before RAG, tools, or forecasts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71600"/>
            <a:ext cx="4754880" cy="3566160"/>
          </a:xfrm>
          <a:prstGeom prst="roundRect">
            <a:avLst>
              <a:gd name="adj" fmla="val 2051"/>
            </a:avLst>
          </a:prstGeom>
          <a:solidFill>
            <a:srgbClr val="071B36"/>
          </a:solidFill>
          <a:ln w="12700">
            <a:solidFill>
              <a:srgbClr val="1D5872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wc26_slide_work/wc26-forecast-var-agent-episode2-source-aware-gpt54nano/figures/preflight_readi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1935328"/>
            <a:ext cx="4645152" cy="243870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1371600"/>
            <a:ext cx="5577840" cy="1965960"/>
          </a:xfrm>
          <a:prstGeom prst="roundRect">
            <a:avLst>
              <a:gd name="adj" fmla="val 3721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788152" y="1463040"/>
            <a:ext cx="5340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src/forecast_var/tools.py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5788152" y="1755648"/>
            <a:ext cx="5340096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preflight_forecast_context():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validation = validate_tournament_field()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missing = teams - feature_rows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extra = feature_rows - teams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ready = validation["valid"] and not missing and evidence_count &gt; 0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{"ready_for_forecast": ready, ...}</a:t>
            </a:r>
            <a:endParaRPr lang="en-US" sz="740" dirty="0"/>
          </a:p>
        </p:txBody>
      </p:sp>
      <p:sp>
        <p:nvSpPr>
          <p:cNvPr id="10" name="Shape 7"/>
          <p:cNvSpPr/>
          <p:nvPr/>
        </p:nvSpPr>
        <p:spPr>
          <a:xfrm>
            <a:off x="5669280" y="3657600"/>
            <a:ext cx="5577840" cy="1280160"/>
          </a:xfrm>
          <a:prstGeom prst="roundRect">
            <a:avLst>
              <a:gd name="adj" fmla="val 5714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815584" y="3776472"/>
            <a:ext cx="5285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Output format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815584" y="4096512"/>
            <a:ext cx="5285232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ready_for_forecast: true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field_valid: true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teams: 48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feature_rows: 48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evidence_docs: 73</a:t>
            </a:r>
            <a:endParaRPr lang="en-US" sz="880" dirty="0"/>
          </a:p>
        </p:txBody>
      </p:sp>
      <p:sp>
        <p:nvSpPr>
          <p:cNvPr id="13" name="Text 10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Alejan98 / CC0 / Wikimedia Commons; cropped + darkened</a:t>
            </a:r>
            <a:endParaRPr lang="en-US" sz="680" dirty="0"/>
          </a:p>
        </p:txBody>
      </p:sp>
      <p:sp>
        <p:nvSpPr>
          <p:cNvPr id="14" name="Text 11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c26_slide_work/assets/forecast_var_room_dark68.png"/>
          <p:cNvPicPr>
            <a:picLocks noChangeAspect="1"/>
          </p:cNvPicPr>
          <p:nvPr/>
        </p:nvPicPr>
        <p:blipFill>
          <a:blip r:embed="rId3"/>
          <a:srcRect l="1" r="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 — RAG: retrieve source cards after pre-flight passes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417320"/>
            <a:ext cx="5166360" cy="2194560"/>
          </a:xfrm>
          <a:prstGeom prst="roundRect">
            <a:avLst>
              <a:gd name="adj" fmla="val 3333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58952" y="1508760"/>
            <a:ext cx="4928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RAG tool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758952" y="1801368"/>
            <a:ext cx="4928616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740" dirty="0" err="1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search_source_cards</a:t>
            </a: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(query, k=5):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= </a:t>
            </a:r>
            <a:r>
              <a:rPr lang="en-US" sz="740" dirty="0" err="1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token_overlap_search</a:t>
            </a: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(query, k=k)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"query": query,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</a:t>
            </a:r>
            <a:r>
              <a:rPr lang="en-US" sz="740" dirty="0" err="1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candidate_evidence</a:t>
            </a: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": cards,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"citations": [c["</a:t>
            </a:r>
            <a:r>
              <a:rPr lang="en-US" sz="740" dirty="0" err="1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citation_id</a:t>
            </a: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"] for c in cards],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"warning": "Retrieval is not validation."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40" dirty="0"/>
          </a:p>
        </p:txBody>
      </p:sp>
      <p:sp>
        <p:nvSpPr>
          <p:cNvPr id="9" name="Shape 6"/>
          <p:cNvSpPr/>
          <p:nvPr/>
        </p:nvSpPr>
        <p:spPr>
          <a:xfrm>
            <a:off x="6080760" y="1417320"/>
            <a:ext cx="5166360" cy="2194560"/>
          </a:xfrm>
          <a:prstGeom prst="roundRect">
            <a:avLst>
              <a:gd name="adj" fmla="val 3333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199632" y="1508760"/>
            <a:ext cx="4928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source_cards.jsonl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6199632" y="1801368"/>
            <a:ext cx="4928616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10000"/>
          </a:bodyPr>
          <a:lstStyle/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"query": "Compare USA vs Australia model and market baseline",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</a:t>
            </a:r>
            <a:r>
              <a:rPr lang="en-US" sz="740" dirty="0" err="1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candidate_evidence</a:t>
            </a: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": [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"TEAM-USA",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"Demo team feature profile: USA",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"supports": ["</a:t>
            </a:r>
            <a:r>
              <a:rPr lang="en-US" sz="740" dirty="0" err="1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model_input</a:t>
            </a: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en-US" sz="740" dirty="0" err="1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team_strength_input</a:t>
            </a: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"]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"TEAM-Australia",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"Demo team feature profile: Australia",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"supports": ["</a:t>
            </a:r>
            <a:r>
              <a:rPr lang="en-US" sz="740" dirty="0" err="1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model_input</a:t>
            </a: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en-US" sz="740" dirty="0" err="1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team_strength_input</a:t>
            </a: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"]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"MARKET-G-D-USA-AUS",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"Demo market baseline: USA vs Australia",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"supports": ["</a:t>
            </a:r>
            <a:r>
              <a:rPr lang="en-US" sz="740" dirty="0" err="1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market_baseline</a:t>
            </a: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"]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"warning": "retrieval is not validation"</a:t>
            </a:r>
          </a:p>
          <a:p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6BAF73A-E328-5C30-28EB-CE973D78AFEC}"/>
              </a:ext>
            </a:extLst>
          </p:cNvPr>
          <p:cNvGrpSpPr/>
          <p:nvPr/>
        </p:nvGrpSpPr>
        <p:grpSpPr>
          <a:xfrm>
            <a:off x="640080" y="3739896"/>
            <a:ext cx="10607040" cy="1609343"/>
            <a:chOff x="640080" y="3739896"/>
            <a:chExt cx="5166360" cy="2432304"/>
          </a:xfrm>
        </p:grpSpPr>
        <p:sp>
          <p:nvSpPr>
            <p:cNvPr id="12" name="Shape 9"/>
            <p:cNvSpPr/>
            <p:nvPr/>
          </p:nvSpPr>
          <p:spPr>
            <a:xfrm>
              <a:off x="640080" y="3739896"/>
              <a:ext cx="5166360" cy="2432304"/>
            </a:xfrm>
            <a:prstGeom prst="roundRect">
              <a:avLst>
                <a:gd name="adj" fmla="val 6154"/>
              </a:avLst>
            </a:prstGeom>
            <a:solidFill>
              <a:srgbClr val="FFFFFF">
                <a:alpha val="96000"/>
              </a:srgbClr>
            </a:solidFill>
            <a:ln w="12700">
              <a:solidFill>
                <a:srgbClr val="D7B65D">
                  <a:alpha val="55000"/>
                </a:srgbClr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11"/>
            <p:cNvSpPr/>
            <p:nvPr/>
          </p:nvSpPr>
          <p:spPr>
            <a:xfrm>
              <a:off x="786384" y="3815222"/>
              <a:ext cx="4901184" cy="2313434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t">
              <a:normAutofit/>
            </a:bodyPr>
            <a:lstStyle/>
            <a:p>
              <a:r>
                <a:rPr lang="en-US" sz="1400" b="1" dirty="0">
                  <a:solidFill>
                    <a:srgbClr val="06142B"/>
                  </a:solidFill>
                </a:rPr>
                <a:t>Agent concept: retrieval is not enough</a:t>
              </a:r>
              <a:endParaRPr lang="en-US" sz="1400" dirty="0"/>
            </a:p>
            <a:p>
              <a:endParaRPr lang="en-US" sz="880" dirty="0">
                <a:solidFill>
                  <a:srgbClr val="213547"/>
                </a:solidFill>
              </a:endParaRPr>
            </a:p>
            <a:p>
              <a:r>
                <a:rPr lang="en-US" sz="900" dirty="0">
                  <a:solidFill>
                    <a:srgbClr val="213547"/>
                  </a:solidFill>
                </a:rPr>
                <a:t>Example query:</a:t>
              </a:r>
            </a:p>
            <a:p>
              <a:r>
                <a:rPr lang="en-US" sz="900" dirty="0">
                  <a:solidFill>
                    <a:srgbClr val="213547"/>
                  </a:solidFill>
                </a:rPr>
                <a:t>“Compare USA vs Australia model and market baseline.”</a:t>
              </a:r>
            </a:p>
            <a:p>
              <a:endParaRPr lang="en-US" sz="900" dirty="0">
                <a:solidFill>
                  <a:srgbClr val="213547"/>
                </a:solidFill>
              </a:endParaRPr>
            </a:p>
            <a:p>
              <a:r>
                <a:rPr lang="en-US" sz="900" dirty="0">
                  <a:solidFill>
                    <a:srgbClr val="213547"/>
                  </a:solidFill>
                </a:rPr>
                <a:t>RAG may retrieve:</a:t>
              </a:r>
            </a:p>
            <a:p>
              <a:r>
                <a:rPr lang="en-US" sz="900" dirty="0">
                  <a:solidFill>
                    <a:srgbClr val="213547"/>
                  </a:solidFill>
                </a:rPr>
                <a:t>• USA team feature row</a:t>
              </a:r>
            </a:p>
            <a:p>
              <a:r>
                <a:rPr lang="en-US" sz="900" dirty="0">
                  <a:solidFill>
                    <a:srgbClr val="213547"/>
                  </a:solidFill>
                </a:rPr>
                <a:t>• Australia team feature row</a:t>
              </a:r>
            </a:p>
            <a:p>
              <a:r>
                <a:rPr lang="en-US" sz="900" dirty="0">
                  <a:solidFill>
                    <a:srgbClr val="213547"/>
                  </a:solidFill>
                </a:rPr>
                <a:t>• bundled demo odds row</a:t>
              </a:r>
            </a:p>
            <a:p>
              <a:r>
                <a:rPr lang="en-US" sz="900" dirty="0">
                  <a:solidFill>
                    <a:srgbClr val="213547"/>
                  </a:solidFill>
                </a:rPr>
                <a:t>• market-baseline policy note</a:t>
              </a:r>
            </a:p>
          </p:txBody>
        </p:sp>
      </p:grpSp>
      <p:sp>
        <p:nvSpPr>
          <p:cNvPr id="15" name="Text 12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ArmieVas / CC0 / Wikimedia Commons; cropped + darkened</a:t>
            </a:r>
            <a:endParaRPr lang="en-US" sz="680" dirty="0"/>
          </a:p>
        </p:txBody>
      </p:sp>
      <p:sp>
        <p:nvSpPr>
          <p:cNvPr id="16" name="Text 13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E033E87-55B5-2214-4E06-C414A3F91578}"/>
              </a:ext>
            </a:extLst>
          </p:cNvPr>
          <p:cNvGrpSpPr/>
          <p:nvPr/>
        </p:nvGrpSpPr>
        <p:grpSpPr>
          <a:xfrm>
            <a:off x="637903" y="5470126"/>
            <a:ext cx="10607040" cy="854038"/>
            <a:chOff x="6035040" y="3739896"/>
            <a:chExt cx="10759385" cy="2412274"/>
          </a:xfrm>
        </p:grpSpPr>
        <p:sp>
          <p:nvSpPr>
            <p:cNvPr id="17" name="Shape 9">
              <a:extLst>
                <a:ext uri="{FF2B5EF4-FFF2-40B4-BE49-F238E27FC236}">
                  <a16:creationId xmlns:a16="http://schemas.microsoft.com/office/drawing/2014/main" id="{DC6D0F78-0210-85B2-12C6-7F22ED05947F}"/>
                </a:ext>
              </a:extLst>
            </p:cNvPr>
            <p:cNvSpPr/>
            <p:nvPr/>
          </p:nvSpPr>
          <p:spPr>
            <a:xfrm>
              <a:off x="6035040" y="3739896"/>
              <a:ext cx="10759385" cy="2412274"/>
            </a:xfrm>
            <a:prstGeom prst="roundRect">
              <a:avLst>
                <a:gd name="adj" fmla="val 6154"/>
              </a:avLst>
            </a:prstGeom>
            <a:solidFill>
              <a:srgbClr val="FFFFFF">
                <a:alpha val="96000"/>
              </a:srgbClr>
            </a:solidFill>
            <a:ln w="12700">
              <a:solidFill>
                <a:srgbClr val="D7B65D">
                  <a:alpha val="55000"/>
                </a:srgbClr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 11">
              <a:extLst>
                <a:ext uri="{FF2B5EF4-FFF2-40B4-BE49-F238E27FC236}">
                  <a16:creationId xmlns:a16="http://schemas.microsoft.com/office/drawing/2014/main" id="{39B0473D-1032-0DEB-7D34-0CB7C9CB19B0}"/>
                </a:ext>
              </a:extLst>
            </p:cNvPr>
            <p:cNvSpPr/>
            <p:nvPr/>
          </p:nvSpPr>
          <p:spPr>
            <a:xfrm>
              <a:off x="6341938" y="4001043"/>
              <a:ext cx="4901184" cy="1852312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t">
              <a:normAutofit/>
            </a:bodyPr>
            <a:lstStyle/>
            <a:p>
              <a:endParaRPr lang="en-US" sz="900" dirty="0">
                <a:solidFill>
                  <a:srgbClr val="213547"/>
                </a:solidFill>
              </a:endParaRPr>
            </a:p>
            <a:p>
              <a:endParaRPr lang="en-US" sz="900" dirty="0">
                <a:solidFill>
                  <a:srgbClr val="213547"/>
                </a:solidFill>
              </a:endParaRPr>
            </a:p>
            <a:p>
              <a:r>
                <a:rPr lang="en-US" sz="900" dirty="0">
                  <a:solidFill>
                    <a:srgbClr val="213547"/>
                  </a:solidFill>
                </a:rPr>
                <a:t>RAG brings possible receipts into the room.</a:t>
              </a:r>
            </a:p>
            <a:p>
              <a:r>
                <a:rPr lang="en-US" sz="900" dirty="0">
                  <a:solidFill>
                    <a:srgbClr val="213547"/>
                  </a:solidFill>
                </a:rPr>
                <a:t>Grounding and verification decide whether those receipts actually support the claim.</a:t>
              </a:r>
            </a:p>
          </p:txBody>
        </p:sp>
      </p:grpSp>
      <p:sp>
        <p:nvSpPr>
          <p:cNvPr id="24" name="Text 11">
            <a:extLst>
              <a:ext uri="{FF2B5EF4-FFF2-40B4-BE49-F238E27FC236}">
                <a16:creationId xmlns:a16="http://schemas.microsoft.com/office/drawing/2014/main" id="{355BBAEF-BC3C-0D1B-DF7B-3E6458F07B08}"/>
              </a:ext>
            </a:extLst>
          </p:cNvPr>
          <p:cNvSpPr/>
          <p:nvPr/>
        </p:nvSpPr>
        <p:spPr>
          <a:xfrm>
            <a:off x="4490204" y="4534041"/>
            <a:ext cx="3211286" cy="78638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endParaRPr lang="en-US" sz="880" dirty="0">
              <a:solidFill>
                <a:srgbClr val="213547"/>
              </a:solidFill>
            </a:endParaRPr>
          </a:p>
          <a:p>
            <a:r>
              <a:rPr lang="en-US" sz="900" dirty="0">
                <a:solidFill>
                  <a:srgbClr val="213547"/>
                </a:solidFill>
              </a:rPr>
              <a:t>What RAG does:</a:t>
            </a:r>
          </a:p>
          <a:p>
            <a:r>
              <a:rPr lang="en-US" sz="900" dirty="0">
                <a:solidFill>
                  <a:srgbClr val="213547"/>
                </a:solidFill>
              </a:rPr>
              <a:t>• finds relevant source snippets</a:t>
            </a:r>
          </a:p>
          <a:p>
            <a:r>
              <a:rPr lang="en-US" sz="900" dirty="0">
                <a:solidFill>
                  <a:srgbClr val="213547"/>
                </a:solidFill>
              </a:rPr>
              <a:t>• gives the agent citation handles</a:t>
            </a:r>
          </a:p>
          <a:p>
            <a:r>
              <a:rPr lang="en-US" sz="900" dirty="0">
                <a:solidFill>
                  <a:srgbClr val="213547"/>
                </a:solidFill>
              </a:rPr>
              <a:t>• narrows the context window</a:t>
            </a:r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DAC12AC7-B3BF-0333-6D6F-D5454DE43391}"/>
              </a:ext>
            </a:extLst>
          </p:cNvPr>
          <p:cNvSpPr/>
          <p:nvPr/>
        </p:nvSpPr>
        <p:spPr>
          <a:xfrm>
            <a:off x="7858173" y="4665171"/>
            <a:ext cx="2988208" cy="65336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900" dirty="0">
                <a:solidFill>
                  <a:srgbClr val="213547"/>
                </a:solidFill>
              </a:rPr>
              <a:t>What RAG does not do:</a:t>
            </a:r>
          </a:p>
          <a:p>
            <a:r>
              <a:rPr lang="en-US" sz="900" dirty="0">
                <a:solidFill>
                  <a:srgbClr val="213547"/>
                </a:solidFill>
              </a:rPr>
              <a:t>• prove the answer is correct</a:t>
            </a:r>
          </a:p>
          <a:p>
            <a:r>
              <a:rPr lang="en-US" sz="900" dirty="0">
                <a:solidFill>
                  <a:srgbClr val="213547"/>
                </a:solidFill>
              </a:rPr>
              <a:t>• check claim type</a:t>
            </a:r>
          </a:p>
          <a:p>
            <a:r>
              <a:rPr lang="en-US" sz="900" dirty="0">
                <a:solidFill>
                  <a:srgbClr val="213547"/>
                </a:solidFill>
              </a:rPr>
              <a:t>• decide whether a model probability is factual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F80D45-B14F-FB09-90B2-47869D33B3EE}"/>
              </a:ext>
            </a:extLst>
          </p:cNvPr>
          <p:cNvSpPr txBox="1"/>
          <p:nvPr/>
        </p:nvSpPr>
        <p:spPr>
          <a:xfrm>
            <a:off x="866666" y="5495080"/>
            <a:ext cx="17700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6142B"/>
                </a:solidFill>
              </a:rPr>
              <a:t>Takeaway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Real football background" descr="Licensed football background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</p:pic>
      <p:sp>
        <p:nvSpPr>
          <p:cNvPr id="2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 — Skills: procedural memory for a safer football forecaster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25880"/>
            <a:ext cx="5577840" cy="2514600"/>
          </a:xfrm>
          <a:prstGeom prst="roundRect">
            <a:avLst>
              <a:gd name="adj" fmla="val 2909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13232" y="1417320"/>
            <a:ext cx="5340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SKILL.md example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13232" y="1709928"/>
            <a:ext cx="5340096" cy="2057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forecast-modeling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use deterministic forecasting tools instead of free-form guessing. use when the user asks for match probabilities, favourites, winners, group forecasts, rankings, monte carlo simulations, rolling forecasts, or model explanations.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740" dirty="0"/>
          </a:p>
          <a:p>
            <a:pPr marL="0" indent="0">
              <a:buNone/>
            </a:pP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Call the narrowest MCP forecast tool.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Report probabilities, not deterministic winners.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Label bundled priors as demo inputs.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446520" y="1325880"/>
            <a:ext cx="4846320" cy="2514600"/>
          </a:xfrm>
          <a:prstGeom prst="roundRect">
            <a:avLst>
              <a:gd name="adj" fmla="val 2909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92824" y="1444752"/>
            <a:ext cx="4553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Why skills matter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92824" y="1764792"/>
            <a:ext cx="4553712" cy="1947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Skills are not data. They are compact instructions loaded when relevant.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In this project, skills enforce source triage, pre-flight checks, citation discipline, uncertainty calibration, Monte Carlo behaviour, and eval review.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40080" y="443484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3232" y="455371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skill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13232" y="479145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source triage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688885" y="482803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862621" y="443484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35773" y="455371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skill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935773" y="479145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preflight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11425" y="482803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085161" y="443484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158313" y="455371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skill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158313" y="479145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forecast model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133966" y="482803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307702" y="443484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80854" y="455371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skill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380854" y="479145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uncertainty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356507" y="482803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530243" y="443484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603395" y="455371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skill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9603395" y="479145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eval review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Liondartois / CC BY-SA 4.0 / Wikimedia Commons; cropped + darkened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5 — MCP: a strict tool boundary between the agent and the forecasting engine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94360" y="132588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13232" y="1417320"/>
            <a:ext cx="5248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MCP server tool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713232" y="1709928"/>
            <a:ext cx="5248656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mcp_servers/worldcup_forecast/server.py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@app.tool()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simulate_tournament(sims: int = 3000,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seed: int = 2026,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limit: int = 12) -&gt; dict: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tools.simulate_tournament(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sims=sims, seed=seed, limit=limit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740" dirty="0"/>
          </a:p>
        </p:txBody>
      </p:sp>
      <p:sp>
        <p:nvSpPr>
          <p:cNvPr id="9" name="Shape 6"/>
          <p:cNvSpPr/>
          <p:nvPr/>
        </p:nvSpPr>
        <p:spPr>
          <a:xfrm>
            <a:off x="6355080" y="1325880"/>
            <a:ext cx="4937760" cy="2103120"/>
          </a:xfrm>
          <a:prstGeom prst="roundRect">
            <a:avLst>
              <a:gd name="adj" fmla="val 3478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73952" y="1417320"/>
            <a:ext cx="4700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OpenAI live path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6473952" y="1709928"/>
            <a:ext cx="4700016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= MCPServerStdio(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params={"command": "python", "args": ["mcp_servers/worldcup_forecast/server.py"]}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model=DEFAULT_OPENAI_MODEL,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mcp_servers=[mcp],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output_type=AgentAnswer,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740" dirty="0"/>
          </a:p>
        </p:txBody>
      </p:sp>
      <p:sp>
        <p:nvSpPr>
          <p:cNvPr id="12" name="Shape 9"/>
          <p:cNvSpPr/>
          <p:nvPr/>
        </p:nvSpPr>
        <p:spPr>
          <a:xfrm>
            <a:off x="731520" y="3840480"/>
            <a:ext cx="10378440" cy="1280160"/>
          </a:xfrm>
          <a:prstGeom prst="roundRect">
            <a:avLst>
              <a:gd name="adj" fmla="val 5714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77824" y="3959352"/>
            <a:ext cx="10085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Agent concept: tool contracts beat free-form guessing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77824" y="4279392"/>
            <a:ext cx="10085832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MCP makes the tool list explicit, read-only, and inspectable. The agent can ask the simulator for probabilities; it cannot silently invent a source, mutate data, or claim to have run a tool it did not call.</a:t>
            </a:r>
            <a:endParaRPr lang="en-US" sz="880" dirty="0"/>
          </a:p>
        </p:txBody>
      </p:sp>
      <p:sp>
        <p:nvSpPr>
          <p:cNvPr id="15" name="Text 12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Troutfarm27 / CC BY-SA 4.0 / Wikimedia Commons; cropped + darkened</a:t>
            </a:r>
            <a:endParaRPr lang="en-US" sz="680" dirty="0"/>
          </a:p>
        </p:txBody>
      </p:sp>
      <p:sp>
        <p:nvSpPr>
          <p:cNvPr id="16" name="Text 13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Real football background" descr="Licensed football background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</p:pic>
      <p:sp>
        <p:nvSpPr>
          <p:cNvPr id="2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6 — Factual grounding vs model grounding: predictions are not facts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258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0664" y="1444752"/>
            <a:ext cx="5010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Factual grounding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0664" y="1764792"/>
            <a:ext cx="5010912" cy="1399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Example claim: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“The tournament has 48 teams and 12 groups.”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Support required: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tournament_field, group_membership, qualified_team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Source type: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official field snapshot / cross-check</a:t>
            </a:r>
            <a:endParaRPr lang="en-US" sz="880" dirty="0"/>
          </a:p>
        </p:txBody>
      </p:sp>
      <p:sp>
        <p:nvSpPr>
          <p:cNvPr id="8" name="Shape 6"/>
          <p:cNvSpPr/>
          <p:nvPr/>
        </p:nvSpPr>
        <p:spPr>
          <a:xfrm>
            <a:off x="6263640" y="13258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9944" y="1444752"/>
            <a:ext cx="5010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Model grounding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9944" y="1764792"/>
            <a:ext cx="5010912" cy="1399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Example claim: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“Argentina has 21.7% champion probability.”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Support required: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model_input, model_logic, model_output, uncertainty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Source type: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features + simulator output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94360" y="37033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3232" y="3794760"/>
            <a:ext cx="5065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Typed claim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13232" y="4087368"/>
            <a:ext cx="5065776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 = {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"Argentina is the top favourite under demo priors.",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"claim_type": "model_output",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"citation_ids": ["CITE-SRC-SAMPLE-TEAM-PRIORS", "CITE-MODEL-FORECAST-VAR-V1"]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14" name="Shape 12"/>
          <p:cNvSpPr/>
          <p:nvPr/>
        </p:nvSpPr>
        <p:spPr>
          <a:xfrm>
            <a:off x="6263640" y="37033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82512" y="3794760"/>
            <a:ext cx="5065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Verifier output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382512" y="4087368"/>
            <a:ext cx="5065776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verify_claims_against_sources(claims)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"source_support_precision": 1.0,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"support_class": "SUPPORTED_MODEL_DERIVED"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17" name="Text 15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ProtoplasmaKid / CC BY-SA 4.0 / Wikimedia Commons; cropped + darkened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c26_slide_work/assets/football_ball_closeup_dark68.png"/>
          <p:cNvPicPr>
            <a:picLocks noChangeAspect="1"/>
          </p:cNvPicPr>
          <p:nvPr/>
        </p:nvPicPr>
        <p:blipFill>
          <a:blip r:embed="rId3"/>
          <a:srcRect l="1" r="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7 — Match model: turn team inputs into a 1X2 probability distribution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94360" y="1325880"/>
            <a:ext cx="5303520" cy="2468880"/>
          </a:xfrm>
          <a:prstGeom prst="roundRect">
            <a:avLst>
              <a:gd name="adj" fmla="val 2963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13232" y="1417320"/>
            <a:ext cx="5065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src/forecast_var/forecast_model.py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713232" y="1709928"/>
            <a:ext cx="5065776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match_probabilities(team_a, team_b, scenario=None):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diff = adjusted_rating(team_a) - adjusted_rating(team_b)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p_a_no_draw = 1 / (1 + 10 ** (-diff / 420))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draw = bounded_draw_probability(diff)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p_a = (1 - draw) * p_a_no_draw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p_b = 1 - draw - p_a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{"p_team_a_win": p_a,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"p_draw": draw,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"p_team_b_win": p_b}</a:t>
            </a:r>
            <a:endParaRPr lang="en-US" sz="740" dirty="0"/>
          </a:p>
        </p:txBody>
      </p:sp>
      <p:sp>
        <p:nvSpPr>
          <p:cNvPr id="9" name="Shape 6"/>
          <p:cNvSpPr/>
          <p:nvPr/>
        </p:nvSpPr>
        <p:spPr>
          <a:xfrm>
            <a:off x="6309360" y="1325880"/>
            <a:ext cx="4937760" cy="2468880"/>
          </a:xfrm>
          <a:prstGeom prst="roundRect">
            <a:avLst>
              <a:gd name="adj" fmla="val 2963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55664" y="1444752"/>
            <a:ext cx="4645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Example output: USA vs Australia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55664" y="1764792"/>
            <a:ext cx="4645152" cy="1901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USA win: 50.9%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Draw: 21.0%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Australia win: 28.1%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Inputs: strength rating, host advantage, travel-load proxy, optional scenario adjustments.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94360" y="4251960"/>
            <a:ext cx="10652760" cy="960120"/>
          </a:xfrm>
          <a:prstGeom prst="roundRect">
            <a:avLst>
              <a:gd name="adj" fmla="val 7619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63D6C6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40664" y="4370832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Agent concept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40664" y="4690872"/>
            <a:ext cx="1036015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The LLM should not “feel” that a team will win. It should call a model tool, receive probabilities, then explain assumptions and limitations in natural language.</a:t>
            </a:r>
            <a:endParaRPr lang="en-US" sz="880" dirty="0"/>
          </a:p>
        </p:txBody>
      </p:sp>
      <p:sp>
        <p:nvSpPr>
          <p:cNvPr id="15" name="Text 12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Hossein Zohrevand / CC BY 4.0 / Wikimedia Commons; cropped + darkened</a:t>
            </a:r>
            <a:endParaRPr lang="en-US" sz="680" dirty="0"/>
          </a:p>
        </p:txBody>
      </p:sp>
      <p:sp>
        <p:nvSpPr>
          <p:cNvPr id="16" name="Text 13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8 — Group simulation: six matches become winner/top-two probabilities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71600"/>
            <a:ext cx="4983480" cy="3474720"/>
          </a:xfrm>
          <a:prstGeom prst="roundRect">
            <a:avLst>
              <a:gd name="adj" fmla="val 2105"/>
            </a:avLst>
          </a:prstGeom>
          <a:solidFill>
            <a:srgbClr val="071B36"/>
          </a:solidFill>
          <a:ln w="12700">
            <a:solidFill>
              <a:srgbClr val="1D5872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wc26_slide_work/wc26-forecast-var-agent-episode2-source-aware-gpt54nano/figures/group_d_winner_probabil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1738217"/>
            <a:ext cx="4873752" cy="27414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897880" y="137160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044184" y="1490472"/>
            <a:ext cx="5056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Group D output format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044184" y="1810512"/>
            <a:ext cx="5056632" cy="2907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USA: winner 49.8% · top2 74.3%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Paraguay: winner 16.3% · top2 40.2%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Australia: winner 11.3% · top2 31.7%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Türkiye: winner 22.6% · top2 53.8%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This is generated by Monte Carlo group simulation over the six round-robin games.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594360" y="5166360"/>
            <a:ext cx="10652760" cy="685800"/>
          </a:xfrm>
          <a:prstGeom prst="roundRect">
            <a:avLst>
              <a:gd name="adj" fmla="val 10667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13232" y="5257800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MCP tool result shape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713232" y="5550408"/>
            <a:ext cx="1041501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forecast_group("D", sims=5000) → { group, teams, group_probabilities: { team: { winner, top2, top3 } }, matchups, citations, warnings }</a:t>
            </a:r>
            <a:endParaRPr lang="en-US" sz="740" dirty="0"/>
          </a:p>
        </p:txBody>
      </p:sp>
      <p:sp>
        <p:nvSpPr>
          <p:cNvPr id="13" name="Text 10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Alejan98 / CC0 / Wikimedia Commons; cropped + darkened</a:t>
            </a:r>
            <a:endParaRPr lang="en-US" sz="680" dirty="0"/>
          </a:p>
        </p:txBody>
      </p:sp>
      <p:sp>
        <p:nvSpPr>
          <p:cNvPr id="14" name="Text 11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  <p:pic>
        <p:nvPicPr>
          <p:cNvPr id="15" name="Image 0" descr="/mnt/data/wc26_slide_work/wc26-forecast-var-agent-episode2-source-aware-gpt54nano/figures/group_d_winner_probabilities.png">
            <a:extLst>
              <a:ext uri="{FF2B5EF4-FFF2-40B4-BE49-F238E27FC236}">
                <a16:creationId xmlns:a16="http://schemas.microsoft.com/office/drawing/2014/main" id="{CAEA04EC-AF9E-F43D-8581-30AA39D71A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4" y="1890617"/>
            <a:ext cx="4873752" cy="274148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c26_slide_work/assets/forecast_var_room_dark60.png"/>
          <p:cNvPicPr>
            <a:picLocks noChangeAspect="1"/>
          </p:cNvPicPr>
          <p:nvPr/>
        </p:nvPicPr>
        <p:blipFill>
          <a:blip r:embed="rId5"/>
          <a:srcRect l="1" r="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9 — Monte Carlo: thousands of possible tournaments, one probability table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94360" y="1325880"/>
            <a:ext cx="4892040" cy="2926080"/>
          </a:xfrm>
          <a:prstGeom prst="roundRect">
            <a:avLst>
              <a:gd name="adj" fmla="val 2500"/>
            </a:avLst>
          </a:prstGeom>
          <a:solidFill>
            <a:srgbClr val="071B36"/>
          </a:solidFill>
          <a:ln w="12700">
            <a:solidFill>
              <a:srgbClr val="1D5872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85800" y="1417320"/>
            <a:ext cx="4709160" cy="2743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06440" y="1325880"/>
            <a:ext cx="5486400" cy="2926080"/>
          </a:xfrm>
          <a:prstGeom prst="roundRect">
            <a:avLst>
              <a:gd name="adj" fmla="val 2500"/>
            </a:avLst>
          </a:prstGeom>
          <a:solidFill>
            <a:srgbClr val="071B36"/>
          </a:solidFill>
          <a:ln w="12700">
            <a:solidFill>
              <a:srgbClr val="1D5872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/mnt/data/wc26_slide_work/deck_figures/knockout_stage_funne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1304" y="1485202"/>
            <a:ext cx="5376672" cy="2607437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94360" y="461772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713232" y="4709160"/>
            <a:ext cx="4791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Tool call</a:t>
            </a:r>
            <a:endParaRPr lang="en-US" sz="750" dirty="0"/>
          </a:p>
        </p:txBody>
      </p:sp>
      <p:sp>
        <p:nvSpPr>
          <p:cNvPr id="12" name="Text 7"/>
          <p:cNvSpPr/>
          <p:nvPr/>
        </p:nvSpPr>
        <p:spPr>
          <a:xfrm>
            <a:off x="713232" y="5001768"/>
            <a:ext cx="4791456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simulate_tournament(sims=3000, seed=2026)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top_teams: [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{team, round32, round16, quarterfinal,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semifinal, final, champion}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740" dirty="0"/>
          </a:p>
        </p:txBody>
      </p:sp>
      <p:sp>
        <p:nvSpPr>
          <p:cNvPr id="13" name="Shape 8"/>
          <p:cNvSpPr/>
          <p:nvPr/>
        </p:nvSpPr>
        <p:spPr>
          <a:xfrm>
            <a:off x="5897880" y="461772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6044184" y="4736592"/>
            <a:ext cx="5102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LLM vs simulator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044184" y="5056632"/>
            <a:ext cx="510235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gpt-5.4-nano decides to call the tool and explains the result. Python samples match outcomes and calculates probabilities.</a:t>
            </a:r>
            <a:endParaRPr lang="en-US" sz="880" dirty="0"/>
          </a:p>
        </p:txBody>
      </p:sp>
      <p:sp>
        <p:nvSpPr>
          <p:cNvPr id="16" name="Text 11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Anthony Quintano from Hillsborough, NJ, United States / CC BY 2.0 / Wikimedia Commons; cropped + darkened</a:t>
            </a:r>
            <a:endParaRPr lang="en-US" sz="680" dirty="0"/>
          </a:p>
        </p:txBody>
      </p:sp>
      <p:sp>
        <p:nvSpPr>
          <p:cNvPr id="17" name="Text 12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Real football background" descr="Licensed football background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</p:pic>
      <p:sp>
        <p:nvSpPr>
          <p:cNvPr id="2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10 — Rolling forecast: lock completed results, forecast only the unknown future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2588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13232" y="1417320"/>
            <a:ext cx="5111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Input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13232" y="1709928"/>
            <a:ext cx="5111496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rolling_group_forecast(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group="D",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completed_results=[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{"team_a":"USA", "team_b":"Australia", "team_a_goals":2, "team_b_goals":1}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263640" y="132588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9944" y="1444752"/>
            <a:ext cx="4828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Output after the locked result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9944" y="1764792"/>
            <a:ext cx="4828032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USA: winner 68.2% · top2 90.6% · top3 99.1%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Türkiye: winner 17.4% · top2 53.6% · top3 81.8%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Paraguay: winner 12.8% · top2 40.3% · top3 76.9%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Australia: winner 1.6% · top2 15.5% · top3 42.2%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40080" y="352044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3232" y="363931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completed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13232" y="387705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result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688885" y="391363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862621" y="352044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35773" y="363931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lock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935773" y="387705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points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11425" y="391363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085161" y="352044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158313" y="363931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remove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158313" y="387705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played match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133966" y="391363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307702" y="352044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80854" y="363931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simulate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380854" y="387705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remaining games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356507" y="391363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530243" y="352044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603395" y="363931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return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9603395" y="387705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updated odds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77240" y="4983480"/>
            <a:ext cx="1056132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23544" y="5102352"/>
            <a:ext cx="10268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Agent concept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23544" y="5422392"/>
            <a:ext cx="10268712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Rolling agents need state. A completed result must become a fixed input, not a scenario that the agent re-predicts.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Sebas / CC BY 3.0 / Wikimedia Commons; cropped + darkened</a:t>
            </a:r>
            <a:endParaRPr lang="en-US" sz="680" dirty="0"/>
          </a:p>
        </p:txBody>
      </p:sp>
      <p:sp>
        <p:nvSpPr>
          <p:cNvPr id="34" name="Text 32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c26_slide_work/assets/stadium_hero_dark72.png"/>
          <p:cNvPicPr>
            <a:picLocks noChangeAspect="1"/>
          </p:cNvPicPr>
          <p:nvPr/>
        </p:nvPicPr>
        <p:blipFill>
          <a:blip r:embed="rId3"/>
          <a:srcRect l="1" r="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11 — Source-aware upgrade: adapters turn the project into a living forecast system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94360" y="132588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13232" y="1417320"/>
            <a:ext cx="5020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Source refresh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713232" y="1709928"/>
            <a:ext cx="5020056" cy="1371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scripts/refresh_sources.py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data/generated/evidence_index.jsonl</a:t>
            </a:r>
            <a:endParaRPr lang="en-US" sz="740" dirty="0"/>
          </a:p>
          <a:p>
            <a:pPr marL="0" indent="0">
              <a:buNone/>
            </a:pP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cards 15 + team features 48 docs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odds 7 + curated notes 3 docs</a:t>
            </a:r>
            <a:endParaRPr lang="en-US" sz="740" dirty="0"/>
          </a:p>
          <a:p>
            <a:pPr marL="0" indent="0">
              <a:buNone/>
            </a:pPr>
            <a:endParaRPr lang="en-US" sz="740" dirty="0"/>
          </a:p>
          <a:p>
            <a:pPr marL="0" indent="0">
              <a:buNone/>
            </a:pPr>
            <a:endParaRPr lang="en-US" sz="74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318504" y="1444752"/>
            <a:ext cx="4965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Adapter slots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18504" y="1764792"/>
            <a:ext cx="496519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API-Football: fixtures, odds, injuries, lineups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football-data.org: matches, squads, standings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TheSportsDB: fallback events/lineups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StatsBomb: historical calibration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Curated notes: manual high-signal context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94360" y="3429000"/>
            <a:ext cx="5303520" cy="2057400"/>
          </a:xfrm>
          <a:prstGeom prst="roundRect">
            <a:avLst>
              <a:gd name="adj" fmla="val 3556"/>
            </a:avLst>
          </a:prstGeom>
          <a:solidFill>
            <a:srgbClr val="071B36"/>
          </a:solidFill>
          <a:ln w="12700">
            <a:solidFill>
              <a:srgbClr val="1D5872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/mnt/data/wc26_slide_work/wc26-forecast-var-agent-episode2-source-aware-gpt54nano/figures/source_coverage_stat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8448" y="3483864"/>
            <a:ext cx="3895344" cy="19476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172200" y="3429000"/>
            <a:ext cx="5257800" cy="2057400"/>
          </a:xfrm>
          <a:prstGeom prst="roundRect">
            <a:avLst>
              <a:gd name="adj" fmla="val 355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6318504" y="3547872"/>
            <a:ext cx="4965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Agent concept: freshness and coverage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318504" y="3867912"/>
            <a:ext cx="4965192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Forecasts should carry data coverage metadata. A source-aware answer says what was used, what was missing, and whether the forecast is ready for public-facing use.</a:t>
            </a:r>
            <a:endParaRPr lang="en-US" sz="880" dirty="0"/>
          </a:p>
        </p:txBody>
      </p:sp>
      <p:sp>
        <p:nvSpPr>
          <p:cNvPr id="17" name="Text 13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ArmieVas / CC0 / Wikimedia Commons; cropped + darkened</a:t>
            </a:r>
            <a:endParaRPr lang="en-US" sz="680" dirty="0"/>
          </a:p>
        </p:txBody>
      </p:sp>
      <p:sp>
        <p:nvSpPr>
          <p:cNvPr id="18" name="Text 14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c26_slide_work/assets/forecast_var_room_dark70.png"/>
          <p:cNvPicPr>
            <a:picLocks noChangeAspect="1"/>
          </p:cNvPicPr>
          <p:nvPr/>
        </p:nvPicPr>
        <p:blipFill>
          <a:blip r:embed="rId3"/>
          <a:srcRect l="1" r="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12 — Structured output: make the answer machine-checkable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94360" y="1325880"/>
            <a:ext cx="5257800" cy="2743200"/>
          </a:xfrm>
          <a:prstGeom prst="roundRect">
            <a:avLst>
              <a:gd name="adj" fmla="val 2667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13232" y="1417320"/>
            <a:ext cx="5020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schemas.py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713232" y="1709928"/>
            <a:ext cx="5020056" cy="228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AgentAnswer(BaseModel):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answer: str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claims: list[ForecastClaim]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citations: list[Citation]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tools_used: list[str]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skills_used: list[str]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probabilities: dict[str, float]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abstained: bool = False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warnings: list[str]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metadata: dict[str, Any]</a:t>
            </a:r>
            <a:endParaRPr lang="en-US" sz="74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257800" cy="2743200"/>
          </a:xfrm>
          <a:prstGeom prst="roundRect">
            <a:avLst>
              <a:gd name="adj" fmla="val 2667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291072" y="1417320"/>
            <a:ext cx="5020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claim schema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6291072" y="1709928"/>
            <a:ext cx="5020056" cy="228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ForecastClaim(BaseModel):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text: str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claim_type: ClaimType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citation_ids: list[str]</a:t>
            </a:r>
            <a:endParaRPr lang="en-US" sz="740" dirty="0"/>
          </a:p>
          <a:p>
            <a:pPr marL="0" indent="0">
              <a:buNone/>
            </a:pP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ClaimType includes field_fact, model_input,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model_output, market_baseline,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source_coverage, evidence_retrieval,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simulation_output, rolling_state,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scenario_assumption, uncertainty,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guardrail, source_policy, general.</a:t>
            </a:r>
            <a:endParaRPr lang="en-US" sz="740" dirty="0"/>
          </a:p>
        </p:txBody>
      </p:sp>
      <p:sp>
        <p:nvSpPr>
          <p:cNvPr id="12" name="Shape 9"/>
          <p:cNvSpPr/>
          <p:nvPr/>
        </p:nvSpPr>
        <p:spPr>
          <a:xfrm>
            <a:off x="777240" y="4617720"/>
            <a:ext cx="10378440" cy="914400"/>
          </a:xfrm>
          <a:prstGeom prst="roundRect">
            <a:avLst>
              <a:gd name="adj" fmla="val 8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23544" y="4736592"/>
            <a:ext cx="10085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Agent concept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23544" y="5056632"/>
            <a:ext cx="1008583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The output schema is the bridge between natural language and evaluation. Without typed claims and citations, the evaluator can only judge the final text superficially.</a:t>
            </a:r>
            <a:endParaRPr lang="en-US" sz="880" dirty="0"/>
          </a:p>
        </p:txBody>
      </p:sp>
      <p:sp>
        <p:nvSpPr>
          <p:cNvPr id="15" name="Text 12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roy_appleyard / CC BY-SA 2.0 / Wikimedia Commons; cropped + darkened</a:t>
            </a:r>
            <a:endParaRPr lang="en-US" sz="680" dirty="0"/>
          </a:p>
        </p:txBody>
      </p:sp>
      <p:sp>
        <p:nvSpPr>
          <p:cNvPr id="16" name="Text 13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13 — Evaluation harness: the VAR room for agent behaviour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25880"/>
            <a:ext cx="5115850" cy="3566160"/>
          </a:xfrm>
          <a:prstGeom prst="roundRect">
            <a:avLst>
              <a:gd name="adj" fmla="val 2051"/>
            </a:avLst>
          </a:prstGeom>
          <a:solidFill>
            <a:srgbClr val="071B36"/>
          </a:solidFill>
          <a:ln w="12700">
            <a:solidFill>
              <a:srgbClr val="1D5872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wc26_slide_work/deck_figures/eval_metric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1710324"/>
            <a:ext cx="4978690" cy="279727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856514" y="1325880"/>
            <a:ext cx="5527766" cy="3566160"/>
          </a:xfrm>
          <a:prstGeom prst="roundRect">
            <a:avLst>
              <a:gd name="adj" fmla="val 2051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998460" y="1444752"/>
            <a:ext cx="4325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What the harness checks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008914" y="1764792"/>
            <a:ext cx="5229062" cy="2999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tool_recall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skill_recall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preflight_recall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citation_recall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source_support_precision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unsupported_claim_rate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abstention_accuracy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probability_sanity_rate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594360" y="5230368"/>
            <a:ext cx="10744200" cy="594360"/>
          </a:xfrm>
          <a:prstGeom prst="roundRect">
            <a:avLst>
              <a:gd name="adj" fmla="val 12308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13232" y="5321808"/>
            <a:ext cx="10506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Eval command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713232" y="5614416"/>
            <a:ext cx="10506456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 python scripts/evaluate.py --mode grounded_mock  → reports/summary_grounded_mock.json</a:t>
            </a:r>
            <a:endParaRPr lang="en-US" sz="740" dirty="0"/>
          </a:p>
        </p:txBody>
      </p:sp>
      <p:sp>
        <p:nvSpPr>
          <p:cNvPr id="13" name="Text 10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ProtoplasmaKid / CC BY-SA 4.0 / Wikimedia Commons; cropped + darkened</a:t>
            </a:r>
            <a:endParaRPr lang="en-US" sz="680" dirty="0"/>
          </a:p>
        </p:txBody>
      </p:sp>
      <p:sp>
        <p:nvSpPr>
          <p:cNvPr id="14" name="Text 11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14 — Live OpenAI path: same contract, real agent model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25880"/>
            <a:ext cx="5394960" cy="2788920"/>
          </a:xfrm>
          <a:prstGeom prst="roundRect">
            <a:avLst>
              <a:gd name="adj" fmla="val 2623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13232" y="1417320"/>
            <a:ext cx="5157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Live example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13232" y="1709928"/>
            <a:ext cx="5157216" cy="2331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src/forecast_var/config.py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DEFAULT_OPENAI_MODEL = "gpt-5.4-nano"</a:t>
            </a:r>
            <a:endParaRPr lang="en-US" sz="740" dirty="0"/>
          </a:p>
          <a:p>
            <a:pPr marL="0" indent="0">
              <a:buNone/>
            </a:pP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live mode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OPENAI_API_KEY="..."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 python scripts/run_agent.py   "Run a Monte Carlo tournament simulation"   --mode openai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263640" y="1325880"/>
            <a:ext cx="5120640" cy="2788920"/>
          </a:xfrm>
          <a:prstGeom prst="roundRect">
            <a:avLst>
              <a:gd name="adj" fmla="val 2623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9944" y="1444752"/>
            <a:ext cx="4828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What changes in live mode?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9944" y="1764792"/>
            <a:ext cx="4828032" cy="2221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The agent model becomes gpt-5.4-nano.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Same sources, pre-flight, RAG, MCP tools, simulator, schema, and verifier.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40080" y="470916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3232" y="482803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same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13232" y="506577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sources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688885" y="510235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862621" y="470916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35773" y="482803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same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935773" y="506577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pre-flight + RAG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11425" y="510235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085161" y="470916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158313" y="482803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same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158313" y="506577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MCP tools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133966" y="510235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307702" y="470916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80854" y="482803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D6C6"/>
                </a:solidFill>
              </a:rPr>
              <a:t>new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380854" y="506577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gpt-5.4-nano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356507" y="5102352"/>
            <a:ext cx="146304" cy="0"/>
          </a:xfrm>
          <a:prstGeom prst="line">
            <a:avLst/>
          </a:prstGeom>
          <a:noFill/>
          <a:ln w="17780">
            <a:solidFill>
              <a:srgbClr val="D7B65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530243" y="4709160"/>
            <a:ext cx="2021373" cy="777240"/>
          </a:xfrm>
          <a:prstGeom prst="roundRect">
            <a:avLst>
              <a:gd name="adj" fmla="val 9412"/>
            </a:avLst>
          </a:prstGeom>
          <a:solidFill>
            <a:srgbClr val="08213D"/>
          </a:solidFill>
          <a:ln w="12700">
            <a:solidFill>
              <a:srgbClr val="0F8D6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603395" y="4828032"/>
            <a:ext cx="187506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7B65D"/>
                </a:solidFill>
              </a:rPr>
              <a:t>same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9603395" y="5065776"/>
            <a:ext cx="1875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FAFC"/>
                </a:solidFill>
              </a:rPr>
              <a:t>schema + verifier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Troutfarm27 / CC BY-SA 4.0 / Wikimedia Commons; cropped + darkened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c26_slide_work/assets/football_ball_closeup_dark75.png"/>
          <p:cNvPicPr>
            <a:picLocks noChangeAspect="1"/>
          </p:cNvPicPr>
          <p:nvPr/>
        </p:nvPicPr>
        <p:blipFill>
          <a:blip r:embed="rId3"/>
          <a:srcRect l="1" r="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Reproducibility: every slide is backed by a notebook and project scripts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94360" y="1325880"/>
            <a:ext cx="5440680" cy="1711233"/>
          </a:xfrm>
          <a:prstGeom prst="roundRect">
            <a:avLst>
              <a:gd name="adj" fmla="val 2963"/>
            </a:avLst>
          </a:prstGeom>
          <a:solidFill>
            <a:srgbClr val="061222"/>
          </a:solidFill>
          <a:ln w="12700">
            <a:solidFill>
              <a:srgbClr val="1E4F7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713232" y="1417320"/>
            <a:ext cx="5202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3D6C6"/>
                </a:solidFill>
              </a:rPr>
              <a:t>Commands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713232" y="1581912"/>
            <a:ext cx="5202936" cy="136811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 python scripts/validate_data.py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 python scripts/refresh_sources.py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 python scripts/generate_figures.py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 python scripts/evaluate.py --mode grounded_mock</a:t>
            </a:r>
            <a:endParaRPr lang="en-US" sz="740" dirty="0"/>
          </a:p>
          <a:p>
            <a:pPr marL="0" indent="0">
              <a:buNone/>
            </a:pPr>
            <a:r>
              <a:rPr lang="en-US" sz="740" dirty="0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 pytest -q</a:t>
            </a:r>
            <a:endParaRPr lang="en-US" sz="740" dirty="0"/>
          </a:p>
          <a:p>
            <a:pPr marL="0" indent="0">
              <a:buNone/>
            </a:pPr>
            <a:endParaRPr lang="en-US" sz="740" dirty="0"/>
          </a:p>
          <a:p>
            <a:pPr marL="0" indent="0">
              <a:buNone/>
            </a:pPr>
            <a:r>
              <a:rPr lang="en-US" sz="740" dirty="0" err="1">
                <a:solidFill>
                  <a:srgbClr val="DDE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forecast_var_deck_experiments.executed.ipynb</a:t>
            </a:r>
            <a:endParaRPr lang="en-US" sz="740" dirty="0"/>
          </a:p>
          <a:p>
            <a:pPr marL="0" indent="0">
              <a:buNone/>
            </a:pPr>
            <a:endParaRPr lang="en-US" sz="740" dirty="0"/>
          </a:p>
        </p:txBody>
      </p:sp>
      <p:sp>
        <p:nvSpPr>
          <p:cNvPr id="9" name="Shape 6"/>
          <p:cNvSpPr/>
          <p:nvPr/>
        </p:nvSpPr>
        <p:spPr>
          <a:xfrm>
            <a:off x="6355080" y="1325880"/>
            <a:ext cx="4983480" cy="1711228"/>
          </a:xfrm>
          <a:prstGeom prst="roundRect">
            <a:avLst>
              <a:gd name="adj" fmla="val 2963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501384" y="1444752"/>
            <a:ext cx="4690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What the notebook contains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01384" y="1764792"/>
            <a:ext cx="4690872" cy="1901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prediction tables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group winners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knockout probabilities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match + market example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rolling forecast state update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source coverage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eval metrics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• figures used in the deck</a:t>
            </a:r>
            <a:endParaRPr lang="en-US" sz="880" dirty="0"/>
          </a:p>
        </p:txBody>
      </p:sp>
      <p:sp>
        <p:nvSpPr>
          <p:cNvPr id="17" name="Text 13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Anthony Quintano from Hillsborough, NJ, United States / CC BY 2.0 / Wikimedia Commons; cropped + darkened</a:t>
            </a:r>
            <a:endParaRPr lang="en-US" sz="680" dirty="0"/>
          </a:p>
        </p:txBody>
      </p:sp>
      <p:sp>
        <p:nvSpPr>
          <p:cNvPr id="18" name="Text 14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Real football background" descr="Licensed football background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</p:pic>
      <p:sp>
        <p:nvSpPr>
          <p:cNvPr id="2" name="Text 0"/>
          <p:cNvSpPr/>
          <p:nvPr/>
        </p:nvSpPr>
        <p:spPr>
          <a:xfrm>
            <a:off x="502920" y="256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B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VAR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Appendix: project map for viewers who want to run it themselves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3970">
            <a:solidFill>
              <a:srgbClr val="0F8D6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280160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86384" y="1399032"/>
            <a:ext cx="4736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data/facts/world_cup_2026_groups.json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6384" y="1719072"/>
            <a:ext cx="4736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canonical 48-team field and groups</a:t>
            </a:r>
            <a:endParaRPr lang="en-US" sz="88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86384" y="2359152"/>
            <a:ext cx="4736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data/facts/source_cards.jsonl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" y="2679192"/>
            <a:ext cx="4736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lightweight RAG corpus with support labels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40080" y="3200400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86384" y="3319272"/>
            <a:ext cx="4736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data/sources/sample_team_features.csv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86384" y="3639312"/>
            <a:ext cx="4736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demo team priors for the model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640080" y="4160520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86384" y="4279392"/>
            <a:ext cx="4736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data/generated/evidence_index.jsonl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86384" y="4599432"/>
            <a:ext cx="4736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generated evidence index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640080" y="5120640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86384" y="5239512"/>
            <a:ext cx="4736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.agents/skills/*/SKILL.md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6384" y="5559552"/>
            <a:ext cx="4736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procedural agent skills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6309360" y="1280160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55664" y="1399032"/>
            <a:ext cx="4736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mcp_servers/worldcup_forecast/server.py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55664" y="1719072"/>
            <a:ext cx="4736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local MCP stdio server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6309360" y="2240280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55664" y="2359152"/>
            <a:ext cx="4736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src/forecast_var/forecast_model.py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55664" y="2679192"/>
            <a:ext cx="4736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match and group probability model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6309360" y="3200400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55664" y="3319272"/>
            <a:ext cx="4736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src/forecast_var/tournament_sim.py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55664" y="3639312"/>
            <a:ext cx="4736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Monte Carlo and rolling simulations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6309360" y="4160520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55664" y="4279392"/>
            <a:ext cx="4736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src/forecast_var/openai_agent.py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55664" y="4599432"/>
            <a:ext cx="4736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live OpenAI Agents SDK path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6309360" y="5120640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455664" y="5239512"/>
            <a:ext cx="4736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src/forecast_var/eval_harness.py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55664" y="5559552"/>
            <a:ext cx="4736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agent evaluation metrics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ArmieVas / CC0 / Wikimedia Commons; cropped + darkened</a:t>
            </a:r>
            <a:endParaRPr lang="en-US" sz="680" dirty="0"/>
          </a:p>
        </p:txBody>
      </p:sp>
      <p:sp>
        <p:nvSpPr>
          <p:cNvPr id="36" name="Text 34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c26_slide_work/assets/stadium_hero_dark45.png"/>
          <p:cNvPicPr>
            <a:picLocks noChangeAspect="1"/>
          </p:cNvPicPr>
          <p:nvPr/>
        </p:nvPicPr>
        <p:blipFill>
          <a:blip r:embed="rId3"/>
          <a:srcRect l="1" r="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68580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VAR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621792" y="146304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7EEF6"/>
                </a:solidFill>
              </a:rPr>
              <a:t>The World Cup forecast is the bait. The real lesson is how to engineer prediction agents that can be audited.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685800" y="274320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7B65D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32104" y="2862072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Sport drama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2104" y="3182112"/>
            <a:ext cx="3090672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Group winners, knockout paths, champion probabilities.</a:t>
            </a:r>
            <a:endParaRPr lang="en-US" sz="880" dirty="0"/>
          </a:p>
        </p:txBody>
      </p:sp>
      <p:sp>
        <p:nvSpPr>
          <p:cNvPr id="8" name="Shape 5"/>
          <p:cNvSpPr/>
          <p:nvPr/>
        </p:nvSpPr>
        <p:spPr>
          <a:xfrm>
            <a:off x="4407408" y="274320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0F8D6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53712" y="2862072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Agent engineering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53712" y="3182112"/>
            <a:ext cx="3090672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Source registry, pre-flight, RAG, skills, MCP, deterministic tools.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8138160" y="274320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63D6C6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284464" y="2862072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142B"/>
                </a:solidFill>
              </a:rPr>
              <a:t>Trust layer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284464" y="3182112"/>
            <a:ext cx="3090672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13547"/>
                </a:solidFill>
              </a:rPr>
              <a:t>Claim verification, eval harness, uncertainty and abstention.</a:t>
            </a:r>
            <a:endParaRPr lang="en-US" sz="880" dirty="0"/>
          </a:p>
        </p:txBody>
      </p:sp>
      <p:sp>
        <p:nvSpPr>
          <p:cNvPr id="14" name="Text 11"/>
          <p:cNvSpPr/>
          <p:nvPr/>
        </p:nvSpPr>
        <p:spPr>
          <a:xfrm>
            <a:off x="1005840" y="489204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7B65D"/>
                </a:solidFill>
              </a:rPr>
              <a:t>No fake certainty. No hidden sources. No vibes-based champion.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02920" y="6556248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CB3C9"/>
                </a:solidFill>
              </a:rPr>
              <a:t>Demo priors, educational simulator — not betting advice · Photo: Hossein Zohrevand / CC BY 4.0 / Wikimedia Commons; cropped + darkened</a:t>
            </a:r>
            <a:endParaRPr lang="en-US" sz="680" dirty="0"/>
          </a:p>
        </p:txBody>
      </p:sp>
      <p:sp>
        <p:nvSpPr>
          <p:cNvPr id="16" name="Text 13"/>
          <p:cNvSpPr/>
          <p:nvPr/>
        </p:nvSpPr>
        <p:spPr>
          <a:xfrm>
            <a:off x="9857232" y="6556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dirty="0">
                <a:solidFill>
                  <a:srgbClr val="9CB3C9"/>
                </a:solidFill>
              </a:rPr>
              <a:t>AI Reality Lab · Forecast VAR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c76ce46-357f-46de-88d6-77b9bbb83c46}" enabled="1" method="Privileged" siteId="{4e2c6054-71cb-48f1-bd6c-3a9705aca71b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4351</Words>
  <Application>Microsoft Macintosh PowerPoint</Application>
  <PresentationFormat>Widescreen</PresentationFormat>
  <Paragraphs>604</Paragraphs>
  <Slides>25</Slides>
  <Notes>25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AI Reality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 VAR — Agent Engineering for World Cup Forecasting</dc:title>
  <dc:subject>Forecast VAR: Agent Engineering for World Cup forecasting</dc:subject>
  <dc:creator>AI Reality Lab</dc:creator>
  <cp:lastModifiedBy>Mohammad Najafi</cp:lastModifiedBy>
  <cp:revision>18</cp:revision>
  <dcterms:created xsi:type="dcterms:W3CDTF">2026-05-18T13:16:16Z</dcterms:created>
  <dcterms:modified xsi:type="dcterms:W3CDTF">2026-05-22T01:33:24Z</dcterms:modified>
</cp:coreProperties>
</file>