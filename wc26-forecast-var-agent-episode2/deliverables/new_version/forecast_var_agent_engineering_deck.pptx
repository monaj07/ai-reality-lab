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2"/>
    <p:sldId id="275" r:id="rId21"/>
    <p:sldId id="277" r:id="rId23"/>
    <p:sldId id="278" r:id="rId24"/>
    <p:sldId id="279" r:id="rId25"/>
    <p:sldId id="280" r:id="rId26"/>
    <p:sldId id="281" r:id="rId27"/>
  </p:sldIdLst>
  <p:notesMasterIdLst>
    <p:notesMasterId r:id="rId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video" Target="../media/media-17-2.mp4"/><Relationship Id="rId3" Type="http://schemas.microsoft.com/office/2007/relationships/media" Target="../media/media-17-2.mp4"/><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42B"/>
        </a:solidFill>
      </p:bgPr>
    </p:bg>
    <p:spTree>
      <p:nvGrpSpPr>
        <p:cNvPr id="1" name=""/>
        <p:cNvGrpSpPr/>
        <p:nvPr/>
      </p:nvGrpSpPr>
      <p:grpSpPr>
        <a:xfrm>
          <a:off x="0" y="0"/>
          <a:ext cx="0" cy="0"/>
          <a:chOff x="0" y="0"/>
          <a:chExt cx="0" cy="0"/>
        </a:xfrm>
      </p:grpSpPr>
      <p:pic>
        <p:nvPicPr>
          <p:cNvPr id="2" name="Image 0" descr="/mnt/data/wc26_slide_work/assets/stadium_hero_dark35.png">    </p:cNvPr>
          <p:cNvPicPr>
            <a:picLocks noChangeAspect="1"/>
          </p:cNvPicPr>
          <p:nvPr/>
        </p:nvPicPr>
        <p:blipFill>
          <a:blip r:embed="rId1"/>
          <a:srcRect l="1" r="1" t="0" b="0"/>
          <a:stretch/>
        </p:blipFill>
        <p:spPr>
          <a:xfrm>
            <a:off x="0" y="0"/>
            <a:ext cx="12191695" cy="6858000"/>
          </a:xfrm>
          <a:prstGeom prst="rect">
            <a:avLst/>
          </a:prstGeom>
        </p:spPr>
      </p:pic>
      <p:sp>
        <p:nvSpPr>
          <p:cNvPr id="3" name="Shape 0"/>
          <p:cNvSpPr/>
          <p:nvPr/>
        </p:nvSpPr>
        <p:spPr>
          <a:xfrm>
            <a:off x="566928" y="475488"/>
            <a:ext cx="2834640" cy="292608"/>
          </a:xfrm>
          <a:prstGeom prst="roundRect">
            <a:avLst>
              <a:gd name="adj" fmla="val 18750"/>
            </a:avLst>
          </a:prstGeom>
          <a:solidFill>
            <a:srgbClr val="0B6E4F">
              <a:alpha val="96000"/>
            </a:srgbClr>
          </a:solidFill>
          <a:ln w="12700">
            <a:solidFill>
              <a:srgbClr val="0B6E4F">
                <a:alpha val="0"/>
              </a:srgbClr>
            </a:solidFill>
            <a:prstDash val="solid"/>
          </a:ln>
        </p:spPr>
      </p:sp>
      <p:sp>
        <p:nvSpPr>
          <p:cNvPr id="4" name="Text 1"/>
          <p:cNvSpPr/>
          <p:nvPr/>
        </p:nvSpPr>
        <p:spPr>
          <a:xfrm>
            <a:off x="640080" y="539496"/>
            <a:ext cx="2688336" cy="128016"/>
          </a:xfrm>
          <a:prstGeom prst="rect">
            <a:avLst/>
          </a:prstGeom>
          <a:noFill/>
          <a:ln/>
        </p:spPr>
        <p:txBody>
          <a:bodyPr wrap="square" lIns="0" tIns="0" rIns="0" bIns="0" rtlCol="0" anchor="ctr">
            <a:normAutofit/>
          </a:bodyPr>
          <a:lstStyle/>
          <a:p>
            <a:pPr algn="ctr" indent="0" marL="0">
              <a:buNone/>
            </a:pPr>
            <a:r>
              <a:rPr lang="en-US" sz="720" b="1" dirty="0">
                <a:solidFill>
                  <a:srgbClr val="F7FAFC"/>
                </a:solidFill>
              </a:rPr>
              <a:t>WORLD CUP 2026 · AGENT ENGINEERING</a:t>
            </a:r>
            <a:endParaRPr lang="en-US" sz="720" dirty="0"/>
          </a:p>
        </p:txBody>
      </p:sp>
      <p:sp>
        <p:nvSpPr>
          <p:cNvPr id="5" name="Text 2"/>
          <p:cNvSpPr/>
          <p:nvPr/>
        </p:nvSpPr>
        <p:spPr>
          <a:xfrm>
            <a:off x="548640" y="1051560"/>
            <a:ext cx="7863840" cy="685800"/>
          </a:xfrm>
          <a:prstGeom prst="rect">
            <a:avLst/>
          </a:prstGeom>
          <a:noFill/>
          <a:ln/>
        </p:spPr>
        <p:txBody>
          <a:bodyPr wrap="square" lIns="0" tIns="0" rIns="0" bIns="0" rtlCol="0" anchor="ctr"/>
          <a:lstStyle/>
          <a:p>
            <a:pPr indent="0" marL="0">
              <a:buNone/>
            </a:pPr>
            <a:r>
              <a:rPr lang="en-US" sz="4200" b="1" dirty="0">
                <a:solidFill>
                  <a:srgbClr val="F7FAFC"/>
                </a:solidFill>
                <a:latin typeface="Aptos Display" pitchFamily="34" charset="0"/>
                <a:ea typeface="Aptos Display" pitchFamily="34" charset="-122"/>
                <a:cs typeface="Aptos Display" pitchFamily="34" charset="-120"/>
              </a:rPr>
              <a:t>Forecast VAR</a:t>
            </a:r>
            <a:endParaRPr lang="en-US" sz="4200" dirty="0"/>
          </a:p>
        </p:txBody>
      </p:sp>
      <p:sp>
        <p:nvSpPr>
          <p:cNvPr id="6" name="Text 3"/>
          <p:cNvSpPr/>
          <p:nvPr/>
        </p:nvSpPr>
        <p:spPr>
          <a:xfrm>
            <a:off x="566928" y="1828800"/>
            <a:ext cx="6766560" cy="502920"/>
          </a:xfrm>
          <a:prstGeom prst="rect">
            <a:avLst/>
          </a:prstGeom>
          <a:noFill/>
          <a:ln/>
        </p:spPr>
        <p:txBody>
          <a:bodyPr wrap="square" lIns="0" tIns="0" rIns="0" bIns="0" rtlCol="0" anchor="ctr">
            <a:normAutofit/>
          </a:bodyPr>
          <a:lstStyle/>
          <a:p>
            <a:pPr indent="0" marL="0">
              <a:buNone/>
            </a:pPr>
            <a:r>
              <a:rPr lang="en-US" sz="1700" dirty="0">
                <a:solidFill>
                  <a:srgbClr val="E7EEF6"/>
                </a:solidFill>
              </a:rPr>
              <a:t>A technical slide deck for building, grounding, and evaluating a World Cup prediction agent</a:t>
            </a:r>
            <a:endParaRPr lang="en-US" sz="1700" dirty="0"/>
          </a:p>
        </p:txBody>
      </p:sp>
      <p:sp>
        <p:nvSpPr>
          <p:cNvPr id="7" name="Shape 4"/>
          <p:cNvSpPr/>
          <p:nvPr/>
        </p:nvSpPr>
        <p:spPr>
          <a:xfrm>
            <a:off x="594360" y="2907792"/>
            <a:ext cx="1920240" cy="1005840"/>
          </a:xfrm>
          <a:prstGeom prst="roundRect">
            <a:avLst>
              <a:gd name="adj" fmla="val 7273"/>
            </a:avLst>
          </a:prstGeom>
          <a:solidFill>
            <a:srgbClr val="071B36"/>
          </a:solidFill>
          <a:ln w="12700">
            <a:solidFill>
              <a:srgbClr val="D7B65D">
                <a:alpha val="80000"/>
              </a:srgbClr>
            </a:solidFill>
            <a:prstDash val="solid"/>
          </a:ln>
        </p:spPr>
      </p:sp>
      <p:sp>
        <p:nvSpPr>
          <p:cNvPr id="8" name="Text 5"/>
          <p:cNvSpPr/>
          <p:nvPr/>
        </p:nvSpPr>
        <p:spPr>
          <a:xfrm>
            <a:off x="704088" y="3072384"/>
            <a:ext cx="1700784" cy="320040"/>
          </a:xfrm>
          <a:prstGeom prst="rect">
            <a:avLst/>
          </a:prstGeom>
          <a:noFill/>
          <a:ln/>
        </p:spPr>
        <p:txBody>
          <a:bodyPr wrap="square" lIns="0" tIns="0" rIns="0" bIns="0" rtlCol="0" anchor="ctr">
            <a:normAutofit/>
          </a:bodyPr>
          <a:lstStyle/>
          <a:p>
            <a:pPr indent="0" marL="0">
              <a:buNone/>
            </a:pPr>
            <a:r>
              <a:rPr lang="en-US" sz="2300" b="1" dirty="0">
                <a:solidFill>
                  <a:srgbClr val="D7B65D"/>
                </a:solidFill>
              </a:rPr>
              <a:t>48</a:t>
            </a:r>
            <a:endParaRPr lang="en-US" sz="2300" dirty="0"/>
          </a:p>
        </p:txBody>
      </p:sp>
      <p:sp>
        <p:nvSpPr>
          <p:cNvPr id="9" name="Text 6"/>
          <p:cNvSpPr/>
          <p:nvPr/>
        </p:nvSpPr>
        <p:spPr>
          <a:xfrm>
            <a:off x="704088" y="3429000"/>
            <a:ext cx="1700784" cy="201168"/>
          </a:xfrm>
          <a:prstGeom prst="rect">
            <a:avLst/>
          </a:prstGeom>
          <a:noFill/>
          <a:ln/>
        </p:spPr>
        <p:txBody>
          <a:bodyPr wrap="square" lIns="0" tIns="0" rIns="0" bIns="0" rtlCol="0" anchor="ctr">
            <a:normAutofit/>
          </a:bodyPr>
          <a:lstStyle/>
          <a:p>
            <a:pPr indent="0" marL="0">
              <a:buNone/>
            </a:pPr>
            <a:r>
              <a:rPr lang="en-US" sz="850" b="1" dirty="0">
                <a:solidFill>
                  <a:srgbClr val="F7FAFC"/>
                </a:solidFill>
              </a:rPr>
              <a:t>validated field</a:t>
            </a:r>
            <a:endParaRPr lang="en-US" sz="850" dirty="0"/>
          </a:p>
        </p:txBody>
      </p:sp>
      <p:sp>
        <p:nvSpPr>
          <p:cNvPr id="10" name="Text 7"/>
          <p:cNvSpPr/>
          <p:nvPr/>
        </p:nvSpPr>
        <p:spPr>
          <a:xfrm>
            <a:off x="704088" y="3657600"/>
            <a:ext cx="1700784" cy="164592"/>
          </a:xfrm>
          <a:prstGeom prst="rect">
            <a:avLst/>
          </a:prstGeom>
          <a:noFill/>
          <a:ln/>
        </p:spPr>
        <p:txBody>
          <a:bodyPr wrap="square" lIns="0" tIns="0" rIns="0" bIns="0" rtlCol="0" anchor="ctr">
            <a:normAutofit/>
          </a:bodyPr>
          <a:lstStyle/>
          <a:p>
            <a:pPr indent="0" marL="0">
              <a:buNone/>
            </a:pPr>
            <a:r>
              <a:rPr lang="en-US" sz="680" dirty="0">
                <a:solidFill>
                  <a:srgbClr val="9CB3C9"/>
                </a:solidFill>
              </a:rPr>
              <a:t>teams</a:t>
            </a:r>
            <a:endParaRPr lang="en-US" sz="680" dirty="0"/>
          </a:p>
        </p:txBody>
      </p:sp>
      <p:sp>
        <p:nvSpPr>
          <p:cNvPr id="11" name="Shape 8"/>
          <p:cNvSpPr/>
          <p:nvPr/>
        </p:nvSpPr>
        <p:spPr>
          <a:xfrm>
            <a:off x="2697480" y="2907792"/>
            <a:ext cx="1920240" cy="1005840"/>
          </a:xfrm>
          <a:prstGeom prst="roundRect">
            <a:avLst>
              <a:gd name="adj" fmla="val 7273"/>
            </a:avLst>
          </a:prstGeom>
          <a:solidFill>
            <a:srgbClr val="071B36"/>
          </a:solidFill>
          <a:ln w="12700">
            <a:solidFill>
              <a:srgbClr val="D7B65D">
                <a:alpha val="80000"/>
              </a:srgbClr>
            </a:solidFill>
            <a:prstDash val="solid"/>
          </a:ln>
        </p:spPr>
      </p:sp>
      <p:sp>
        <p:nvSpPr>
          <p:cNvPr id="12" name="Text 9"/>
          <p:cNvSpPr/>
          <p:nvPr/>
        </p:nvSpPr>
        <p:spPr>
          <a:xfrm>
            <a:off x="2807208" y="3072384"/>
            <a:ext cx="1700784" cy="320040"/>
          </a:xfrm>
          <a:prstGeom prst="rect">
            <a:avLst/>
          </a:prstGeom>
          <a:noFill/>
          <a:ln/>
        </p:spPr>
        <p:txBody>
          <a:bodyPr wrap="square" lIns="0" tIns="0" rIns="0" bIns="0" rtlCol="0" anchor="ctr">
            <a:normAutofit/>
          </a:bodyPr>
          <a:lstStyle/>
          <a:p>
            <a:pPr indent="0" marL="0">
              <a:buNone/>
            </a:pPr>
            <a:r>
              <a:rPr lang="en-US" sz="2300" b="1" dirty="0">
                <a:solidFill>
                  <a:srgbClr val="D7B65D"/>
                </a:solidFill>
              </a:rPr>
              <a:t>12</a:t>
            </a:r>
            <a:endParaRPr lang="en-US" sz="2300" dirty="0"/>
          </a:p>
        </p:txBody>
      </p:sp>
      <p:sp>
        <p:nvSpPr>
          <p:cNvPr id="13" name="Text 10"/>
          <p:cNvSpPr/>
          <p:nvPr/>
        </p:nvSpPr>
        <p:spPr>
          <a:xfrm>
            <a:off x="2807208" y="3429000"/>
            <a:ext cx="1700784" cy="201168"/>
          </a:xfrm>
          <a:prstGeom prst="rect">
            <a:avLst/>
          </a:prstGeom>
          <a:noFill/>
          <a:ln/>
        </p:spPr>
        <p:txBody>
          <a:bodyPr wrap="square" lIns="0" tIns="0" rIns="0" bIns="0" rtlCol="0" anchor="ctr">
            <a:normAutofit/>
          </a:bodyPr>
          <a:lstStyle/>
          <a:p>
            <a:pPr indent="0" marL="0">
              <a:buNone/>
            </a:pPr>
            <a:r>
              <a:rPr lang="en-US" sz="850" b="1" dirty="0">
                <a:solidFill>
                  <a:srgbClr val="F7FAFC"/>
                </a:solidFill>
              </a:rPr>
              <a:t>groups</a:t>
            </a:r>
            <a:endParaRPr lang="en-US" sz="850" dirty="0"/>
          </a:p>
        </p:txBody>
      </p:sp>
      <p:sp>
        <p:nvSpPr>
          <p:cNvPr id="14" name="Text 11"/>
          <p:cNvSpPr/>
          <p:nvPr/>
        </p:nvSpPr>
        <p:spPr>
          <a:xfrm>
            <a:off x="2807208" y="3657600"/>
            <a:ext cx="1700784" cy="164592"/>
          </a:xfrm>
          <a:prstGeom prst="rect">
            <a:avLst/>
          </a:prstGeom>
          <a:noFill/>
          <a:ln/>
        </p:spPr>
        <p:txBody>
          <a:bodyPr wrap="square" lIns="0" tIns="0" rIns="0" bIns="0" rtlCol="0" anchor="ctr">
            <a:normAutofit/>
          </a:bodyPr>
          <a:lstStyle/>
          <a:p>
            <a:pPr indent="0" marL="0">
              <a:buNone/>
            </a:pPr>
            <a:r>
              <a:rPr lang="en-US" sz="680" dirty="0">
                <a:solidFill>
                  <a:srgbClr val="9CB3C9"/>
                </a:solidFill>
              </a:rPr>
              <a:t>groups of four</a:t>
            </a:r>
            <a:endParaRPr lang="en-US" sz="680" dirty="0"/>
          </a:p>
        </p:txBody>
      </p:sp>
      <p:sp>
        <p:nvSpPr>
          <p:cNvPr id="15" name="Shape 12"/>
          <p:cNvSpPr/>
          <p:nvPr/>
        </p:nvSpPr>
        <p:spPr>
          <a:xfrm>
            <a:off x="4800600" y="2907792"/>
            <a:ext cx="1920240" cy="1005840"/>
          </a:xfrm>
          <a:prstGeom prst="roundRect">
            <a:avLst>
              <a:gd name="adj" fmla="val 7273"/>
            </a:avLst>
          </a:prstGeom>
          <a:solidFill>
            <a:srgbClr val="071B36"/>
          </a:solidFill>
          <a:ln w="12700">
            <a:solidFill>
              <a:srgbClr val="D7B65D">
                <a:alpha val="80000"/>
              </a:srgbClr>
            </a:solidFill>
            <a:prstDash val="solid"/>
          </a:ln>
        </p:spPr>
      </p:sp>
      <p:sp>
        <p:nvSpPr>
          <p:cNvPr id="16" name="Text 13"/>
          <p:cNvSpPr/>
          <p:nvPr/>
        </p:nvSpPr>
        <p:spPr>
          <a:xfrm>
            <a:off x="4910328" y="3072384"/>
            <a:ext cx="1700784" cy="320040"/>
          </a:xfrm>
          <a:prstGeom prst="rect">
            <a:avLst/>
          </a:prstGeom>
          <a:noFill/>
          <a:ln/>
        </p:spPr>
        <p:txBody>
          <a:bodyPr wrap="square" lIns="0" tIns="0" rIns="0" bIns="0" rtlCol="0" anchor="ctr">
            <a:normAutofit/>
          </a:bodyPr>
          <a:lstStyle/>
          <a:p>
            <a:pPr indent="0" marL="0">
              <a:buNone/>
            </a:pPr>
            <a:r>
              <a:rPr lang="en-US" sz="2300" b="1" dirty="0">
                <a:solidFill>
                  <a:srgbClr val="D7B65D"/>
                </a:solidFill>
              </a:rPr>
              <a:t>gpt-5.4-nano</a:t>
            </a:r>
            <a:endParaRPr lang="en-US" sz="2300" dirty="0"/>
          </a:p>
        </p:txBody>
      </p:sp>
      <p:sp>
        <p:nvSpPr>
          <p:cNvPr id="17" name="Text 14"/>
          <p:cNvSpPr/>
          <p:nvPr/>
        </p:nvSpPr>
        <p:spPr>
          <a:xfrm>
            <a:off x="4910328" y="3429000"/>
            <a:ext cx="1700784" cy="201168"/>
          </a:xfrm>
          <a:prstGeom prst="rect">
            <a:avLst/>
          </a:prstGeom>
          <a:noFill/>
          <a:ln/>
        </p:spPr>
        <p:txBody>
          <a:bodyPr wrap="square" lIns="0" tIns="0" rIns="0" bIns="0" rtlCol="0" anchor="ctr">
            <a:normAutofit/>
          </a:bodyPr>
          <a:lstStyle/>
          <a:p>
            <a:pPr indent="0" marL="0">
              <a:buNone/>
            </a:pPr>
            <a:r>
              <a:rPr lang="en-US" sz="850" b="1" dirty="0">
                <a:solidFill>
                  <a:srgbClr val="F7FAFC"/>
                </a:solidFill>
              </a:rPr>
              <a:t>agent model</a:t>
            </a:r>
            <a:endParaRPr lang="en-US" sz="850" dirty="0"/>
          </a:p>
        </p:txBody>
      </p:sp>
      <p:sp>
        <p:nvSpPr>
          <p:cNvPr id="18" name="Text 15"/>
          <p:cNvSpPr/>
          <p:nvPr/>
        </p:nvSpPr>
        <p:spPr>
          <a:xfrm>
            <a:off x="4910328" y="3657600"/>
            <a:ext cx="1700784" cy="164592"/>
          </a:xfrm>
          <a:prstGeom prst="rect">
            <a:avLst/>
          </a:prstGeom>
          <a:noFill/>
          <a:ln/>
        </p:spPr>
        <p:txBody>
          <a:bodyPr wrap="square" lIns="0" tIns="0" rIns="0" bIns="0" rtlCol="0" anchor="ctr">
            <a:normAutofit/>
          </a:bodyPr>
          <a:lstStyle/>
          <a:p>
            <a:pPr indent="0" marL="0">
              <a:buNone/>
            </a:pPr>
            <a:r>
              <a:rPr lang="en-US" sz="680" dirty="0">
                <a:solidFill>
                  <a:srgbClr val="9CB3C9"/>
                </a:solidFill>
              </a:rPr>
              <a:t>orchestrator</a:t>
            </a:r>
            <a:endParaRPr lang="en-US" sz="680" dirty="0"/>
          </a:p>
        </p:txBody>
      </p:sp>
      <p:sp>
        <p:nvSpPr>
          <p:cNvPr id="19" name="Shape 16"/>
          <p:cNvSpPr/>
          <p:nvPr/>
        </p:nvSpPr>
        <p:spPr>
          <a:xfrm>
            <a:off x="6903720" y="2907792"/>
            <a:ext cx="1920240" cy="1005840"/>
          </a:xfrm>
          <a:prstGeom prst="roundRect">
            <a:avLst>
              <a:gd name="adj" fmla="val 7273"/>
            </a:avLst>
          </a:prstGeom>
          <a:solidFill>
            <a:srgbClr val="071B36"/>
          </a:solidFill>
          <a:ln w="12700">
            <a:solidFill>
              <a:srgbClr val="D7B65D">
                <a:alpha val="80000"/>
              </a:srgbClr>
            </a:solidFill>
            <a:prstDash val="solid"/>
          </a:ln>
        </p:spPr>
      </p:sp>
      <p:sp>
        <p:nvSpPr>
          <p:cNvPr id="20" name="Text 17"/>
          <p:cNvSpPr/>
          <p:nvPr/>
        </p:nvSpPr>
        <p:spPr>
          <a:xfrm>
            <a:off x="7013448" y="3072384"/>
            <a:ext cx="1700784" cy="320040"/>
          </a:xfrm>
          <a:prstGeom prst="rect">
            <a:avLst/>
          </a:prstGeom>
          <a:noFill/>
          <a:ln/>
        </p:spPr>
        <p:txBody>
          <a:bodyPr wrap="square" lIns="0" tIns="0" rIns="0" bIns="0" rtlCol="0" anchor="ctr">
            <a:normAutofit/>
          </a:bodyPr>
          <a:lstStyle/>
          <a:p>
            <a:pPr indent="0" marL="0">
              <a:buNone/>
            </a:pPr>
            <a:r>
              <a:rPr lang="en-US" sz="2300" b="1" dirty="0">
                <a:solidFill>
                  <a:srgbClr val="D7B65D"/>
                </a:solidFill>
              </a:rPr>
              <a:t>Monte Carlo</a:t>
            </a:r>
            <a:endParaRPr lang="en-US" sz="2300" dirty="0"/>
          </a:p>
        </p:txBody>
      </p:sp>
      <p:sp>
        <p:nvSpPr>
          <p:cNvPr id="21" name="Text 18"/>
          <p:cNvSpPr/>
          <p:nvPr/>
        </p:nvSpPr>
        <p:spPr>
          <a:xfrm>
            <a:off x="7013448" y="3429000"/>
            <a:ext cx="1700784" cy="201168"/>
          </a:xfrm>
          <a:prstGeom prst="rect">
            <a:avLst/>
          </a:prstGeom>
          <a:noFill/>
          <a:ln/>
        </p:spPr>
        <p:txBody>
          <a:bodyPr wrap="square" lIns="0" tIns="0" rIns="0" bIns="0" rtlCol="0" anchor="ctr">
            <a:normAutofit/>
          </a:bodyPr>
          <a:lstStyle/>
          <a:p>
            <a:pPr indent="0" marL="0">
              <a:buNone/>
            </a:pPr>
            <a:r>
              <a:rPr lang="en-US" sz="850" b="1" dirty="0">
                <a:solidFill>
                  <a:srgbClr val="F7FAFC"/>
                </a:solidFill>
              </a:rPr>
              <a:t>simulator</a:t>
            </a:r>
            <a:endParaRPr lang="en-US" sz="850" dirty="0"/>
          </a:p>
        </p:txBody>
      </p:sp>
      <p:sp>
        <p:nvSpPr>
          <p:cNvPr id="22" name="Text 19"/>
          <p:cNvSpPr/>
          <p:nvPr/>
        </p:nvSpPr>
        <p:spPr>
          <a:xfrm>
            <a:off x="7013448" y="3657600"/>
            <a:ext cx="1700784" cy="164592"/>
          </a:xfrm>
          <a:prstGeom prst="rect">
            <a:avLst/>
          </a:prstGeom>
          <a:noFill/>
          <a:ln/>
        </p:spPr>
        <p:txBody>
          <a:bodyPr wrap="square" lIns="0" tIns="0" rIns="0" bIns="0" rtlCol="0" anchor="ctr">
            <a:normAutofit/>
          </a:bodyPr>
          <a:lstStyle/>
          <a:p>
            <a:pPr indent="0" marL="0">
              <a:buNone/>
            </a:pPr>
            <a:r>
              <a:rPr lang="en-US" sz="680" dirty="0">
                <a:solidFill>
                  <a:srgbClr val="9CB3C9"/>
                </a:solidFill>
              </a:rPr>
              <a:t>Python tool</a:t>
            </a:r>
            <a:endParaRPr lang="en-US" sz="680" dirty="0"/>
          </a:p>
        </p:txBody>
      </p:sp>
      <p:sp>
        <p:nvSpPr>
          <p:cNvPr id="23" name="Text 20"/>
          <p:cNvSpPr/>
          <p:nvPr/>
        </p:nvSpPr>
        <p:spPr>
          <a:xfrm>
            <a:off x="612648" y="5074920"/>
            <a:ext cx="9601200" cy="411480"/>
          </a:xfrm>
          <a:prstGeom prst="rect">
            <a:avLst/>
          </a:prstGeom>
          <a:noFill/>
          <a:ln/>
        </p:spPr>
        <p:txBody>
          <a:bodyPr wrap="square" lIns="0" tIns="0" rIns="0" bIns="0" rtlCol="0" anchor="ctr">
            <a:normAutofit/>
          </a:bodyPr>
          <a:lstStyle/>
          <a:p>
            <a:pPr indent="0" marL="0">
              <a:buNone/>
            </a:pPr>
            <a:r>
              <a:rPr lang="en-US" sz="1500" b="1" dirty="0">
                <a:solidFill>
                  <a:srgbClr val="F7FAFC"/>
                </a:solidFill>
              </a:rPr>
              <a:t>The drama: first the predictions. Then the VAR room: every source, tool call, claim type, and evaluation check.</a:t>
            </a:r>
            <a:endParaRPr lang="en-US" sz="1500" dirty="0"/>
          </a:p>
        </p:txBody>
      </p:sp>
      <p:sp>
        <p:nvSpPr>
          <p:cNvPr id="24" name="Text 21"/>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Generated football visuals are synthetic. Forecasts use demo priors, not live betting data.</a:t>
            </a:r>
            <a:endParaRPr lang="en-US" sz="680" dirty="0"/>
          </a:p>
        </p:txBody>
      </p:sp>
      <p:sp>
        <p:nvSpPr>
          <p:cNvPr id="25" name="Text 22"/>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142B"/>
        </a:solidFill>
      </p:bgPr>
    </p:bg>
    <p:spTree>
      <p:nvGrpSpPr>
        <p:cNvPr id="1" name=""/>
        <p:cNvGrpSpPr/>
        <p:nvPr/>
      </p:nvGrpSpPr>
      <p:grpSpPr>
        <a:xfrm>
          <a:off x="0" y="0"/>
          <a:ext cx="0" cy="0"/>
          <a:chOff x="0" y="0"/>
          <a:chExt cx="0" cy="0"/>
        </a:xfrm>
      </p:grpSpPr>
      <p:pic>
        <p:nvPicPr>
          <p:cNvPr id="2" name="Image 0" descr="/mnt/data/wc26_slide_work/assets/trophy_stage_dark55.png">    </p:cNvPr>
          <p:cNvPicPr>
            <a:picLocks noChangeAspect="1"/>
          </p:cNvPicPr>
          <p:nvPr/>
        </p:nvPicPr>
        <p:blipFill>
          <a:blip r:embed="rId1"/>
          <a:srcRect l="1" r="1" t="0" b="0"/>
          <a:stretch/>
        </p:blipFill>
        <p:spPr>
          <a:xfrm>
            <a:off x="0" y="0"/>
            <a:ext cx="12191695" cy="6858000"/>
          </a:xfrm>
          <a:prstGeom prst="rect">
            <a:avLst/>
          </a:prstGeom>
        </p:spPr>
      </p:pic>
      <p:sp>
        <p:nvSpPr>
          <p:cNvPr id="3"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FORECAST VAR</a:t>
            </a:r>
            <a:endParaRPr lang="en-US" sz="850" dirty="0"/>
          </a:p>
        </p:txBody>
      </p:sp>
      <p:sp>
        <p:nvSpPr>
          <p:cNvPr id="4"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Prediction snapshot: the model names its favourites before we inspect the machine</a:t>
            </a:r>
            <a:endParaRPr lang="en-US" sz="2400" dirty="0"/>
          </a:p>
        </p:txBody>
      </p:sp>
      <p:sp>
        <p:nvSpPr>
          <p:cNvPr id="5" name="Shape 2"/>
          <p:cNvSpPr/>
          <p:nvPr/>
        </p:nvSpPr>
        <p:spPr>
          <a:xfrm>
            <a:off x="502920" y="1170432"/>
            <a:ext cx="11155680" cy="0"/>
          </a:xfrm>
          <a:prstGeom prst="line">
            <a:avLst/>
          </a:prstGeom>
          <a:noFill/>
          <a:ln w="13970">
            <a:solidFill>
              <a:srgbClr val="0F8D68">
                <a:alpha val="80000"/>
              </a:srgbClr>
            </a:solidFill>
            <a:prstDash val="solid"/>
          </a:ln>
        </p:spPr>
      </p:sp>
      <p:sp>
        <p:nvSpPr>
          <p:cNvPr id="6" name="Shape 3"/>
          <p:cNvSpPr/>
          <p:nvPr/>
        </p:nvSpPr>
        <p:spPr>
          <a:xfrm>
            <a:off x="640080" y="1417320"/>
            <a:ext cx="2514600" cy="1005840"/>
          </a:xfrm>
          <a:prstGeom prst="roundRect">
            <a:avLst>
              <a:gd name="adj" fmla="val 7273"/>
            </a:avLst>
          </a:prstGeom>
          <a:solidFill>
            <a:srgbClr val="071B36"/>
          </a:solidFill>
          <a:ln w="12700">
            <a:solidFill>
              <a:srgbClr val="D7B65D">
                <a:alpha val="80000"/>
              </a:srgbClr>
            </a:solidFill>
            <a:prstDash val="solid"/>
          </a:ln>
        </p:spPr>
      </p:sp>
      <p:sp>
        <p:nvSpPr>
          <p:cNvPr id="7" name="Text 4"/>
          <p:cNvSpPr/>
          <p:nvPr/>
        </p:nvSpPr>
        <p:spPr>
          <a:xfrm>
            <a:off x="749808" y="1581912"/>
            <a:ext cx="2295144" cy="320040"/>
          </a:xfrm>
          <a:prstGeom prst="rect">
            <a:avLst/>
          </a:prstGeom>
          <a:noFill/>
          <a:ln/>
        </p:spPr>
        <p:txBody>
          <a:bodyPr wrap="square" lIns="0" tIns="0" rIns="0" bIns="0" rtlCol="0" anchor="ctr">
            <a:normAutofit/>
          </a:bodyPr>
          <a:lstStyle/>
          <a:p>
            <a:pPr indent="0" marL="0">
              <a:buNone/>
            </a:pPr>
            <a:r>
              <a:rPr lang="en-US" sz="2300" b="1" dirty="0">
                <a:solidFill>
                  <a:srgbClr val="D7B65D"/>
                </a:solidFill>
              </a:rPr>
              <a:t>21.7%</a:t>
            </a:r>
            <a:endParaRPr lang="en-US" sz="2300" dirty="0"/>
          </a:p>
        </p:txBody>
      </p:sp>
      <p:sp>
        <p:nvSpPr>
          <p:cNvPr id="8" name="Text 5"/>
          <p:cNvSpPr/>
          <p:nvPr/>
        </p:nvSpPr>
        <p:spPr>
          <a:xfrm>
            <a:off x="749808" y="1938528"/>
            <a:ext cx="2295144" cy="201168"/>
          </a:xfrm>
          <a:prstGeom prst="rect">
            <a:avLst/>
          </a:prstGeom>
          <a:noFill/>
          <a:ln/>
        </p:spPr>
        <p:txBody>
          <a:bodyPr wrap="square" lIns="0" tIns="0" rIns="0" bIns="0" rtlCol="0" anchor="ctr">
            <a:normAutofit/>
          </a:bodyPr>
          <a:lstStyle/>
          <a:p>
            <a:pPr indent="0" marL="0">
              <a:buNone/>
            </a:pPr>
            <a:r>
              <a:rPr lang="en-US" sz="850" b="1" dirty="0">
                <a:solidFill>
                  <a:srgbClr val="F7FAFC"/>
                </a:solidFill>
              </a:rPr>
              <a:t>1. Argentina</a:t>
            </a:r>
            <a:endParaRPr lang="en-US" sz="850" dirty="0"/>
          </a:p>
        </p:txBody>
      </p:sp>
      <p:sp>
        <p:nvSpPr>
          <p:cNvPr id="9" name="Text 6"/>
          <p:cNvSpPr/>
          <p:nvPr/>
        </p:nvSpPr>
        <p:spPr>
          <a:xfrm>
            <a:off x="749808" y="2167128"/>
            <a:ext cx="2295144" cy="164592"/>
          </a:xfrm>
          <a:prstGeom prst="rect">
            <a:avLst/>
          </a:prstGeom>
          <a:noFill/>
          <a:ln/>
        </p:spPr>
        <p:txBody>
          <a:bodyPr wrap="square" lIns="0" tIns="0" rIns="0" bIns="0" rtlCol="0" anchor="ctr">
            <a:normAutofit/>
          </a:bodyPr>
          <a:lstStyle/>
          <a:p>
            <a:pPr indent="0" marL="0">
              <a:buNone/>
            </a:pPr>
            <a:r>
              <a:rPr lang="en-US" sz="680" dirty="0">
                <a:solidFill>
                  <a:srgbClr val="9CB3C9"/>
                </a:solidFill>
              </a:rPr>
              <a:t>Final: 35.5% · SF: 52.8%</a:t>
            </a:r>
            <a:endParaRPr lang="en-US" sz="680" dirty="0"/>
          </a:p>
        </p:txBody>
      </p:sp>
      <p:sp>
        <p:nvSpPr>
          <p:cNvPr id="10" name="Shape 7"/>
          <p:cNvSpPr/>
          <p:nvPr/>
        </p:nvSpPr>
        <p:spPr>
          <a:xfrm>
            <a:off x="3429000" y="1417320"/>
            <a:ext cx="2514600" cy="1005840"/>
          </a:xfrm>
          <a:prstGeom prst="roundRect">
            <a:avLst>
              <a:gd name="adj" fmla="val 7273"/>
            </a:avLst>
          </a:prstGeom>
          <a:solidFill>
            <a:srgbClr val="071B36"/>
          </a:solidFill>
          <a:ln w="12700">
            <a:solidFill>
              <a:srgbClr val="63D6C6">
                <a:alpha val="80000"/>
              </a:srgbClr>
            </a:solidFill>
            <a:prstDash val="solid"/>
          </a:ln>
        </p:spPr>
      </p:sp>
      <p:sp>
        <p:nvSpPr>
          <p:cNvPr id="11" name="Text 8"/>
          <p:cNvSpPr/>
          <p:nvPr/>
        </p:nvSpPr>
        <p:spPr>
          <a:xfrm>
            <a:off x="3538728" y="1581912"/>
            <a:ext cx="2295144" cy="320040"/>
          </a:xfrm>
          <a:prstGeom prst="rect">
            <a:avLst/>
          </a:prstGeom>
          <a:noFill/>
          <a:ln/>
        </p:spPr>
        <p:txBody>
          <a:bodyPr wrap="square" lIns="0" tIns="0" rIns="0" bIns="0" rtlCol="0" anchor="ctr">
            <a:normAutofit/>
          </a:bodyPr>
          <a:lstStyle/>
          <a:p>
            <a:pPr indent="0" marL="0">
              <a:buNone/>
            </a:pPr>
            <a:r>
              <a:rPr lang="en-US" sz="2300" b="1" dirty="0">
                <a:solidFill>
                  <a:srgbClr val="63D6C6"/>
                </a:solidFill>
              </a:rPr>
              <a:t>13.7%</a:t>
            </a:r>
            <a:endParaRPr lang="en-US" sz="2300" dirty="0"/>
          </a:p>
        </p:txBody>
      </p:sp>
      <p:sp>
        <p:nvSpPr>
          <p:cNvPr id="12" name="Text 9"/>
          <p:cNvSpPr/>
          <p:nvPr/>
        </p:nvSpPr>
        <p:spPr>
          <a:xfrm>
            <a:off x="3538728" y="1938528"/>
            <a:ext cx="2295144" cy="201168"/>
          </a:xfrm>
          <a:prstGeom prst="rect">
            <a:avLst/>
          </a:prstGeom>
          <a:noFill/>
          <a:ln/>
        </p:spPr>
        <p:txBody>
          <a:bodyPr wrap="square" lIns="0" tIns="0" rIns="0" bIns="0" rtlCol="0" anchor="ctr">
            <a:normAutofit/>
          </a:bodyPr>
          <a:lstStyle/>
          <a:p>
            <a:pPr indent="0" marL="0">
              <a:buNone/>
            </a:pPr>
            <a:r>
              <a:rPr lang="en-US" sz="850" b="1" dirty="0">
                <a:solidFill>
                  <a:srgbClr val="F7FAFC"/>
                </a:solidFill>
              </a:rPr>
              <a:t>2. France</a:t>
            </a:r>
            <a:endParaRPr lang="en-US" sz="850" dirty="0"/>
          </a:p>
        </p:txBody>
      </p:sp>
      <p:sp>
        <p:nvSpPr>
          <p:cNvPr id="13" name="Text 10"/>
          <p:cNvSpPr/>
          <p:nvPr/>
        </p:nvSpPr>
        <p:spPr>
          <a:xfrm>
            <a:off x="3538728" y="2167128"/>
            <a:ext cx="2295144" cy="164592"/>
          </a:xfrm>
          <a:prstGeom prst="rect">
            <a:avLst/>
          </a:prstGeom>
          <a:noFill/>
          <a:ln/>
        </p:spPr>
        <p:txBody>
          <a:bodyPr wrap="square" lIns="0" tIns="0" rIns="0" bIns="0" rtlCol="0" anchor="ctr">
            <a:normAutofit/>
          </a:bodyPr>
          <a:lstStyle/>
          <a:p>
            <a:pPr indent="0" marL="0">
              <a:buNone/>
            </a:pPr>
            <a:r>
              <a:rPr lang="en-US" sz="680" dirty="0">
                <a:solidFill>
                  <a:srgbClr val="9CB3C9"/>
                </a:solidFill>
              </a:rPr>
              <a:t>Final: 26.7% · SF: 44.3%</a:t>
            </a:r>
            <a:endParaRPr lang="en-US" sz="680" dirty="0"/>
          </a:p>
        </p:txBody>
      </p:sp>
      <p:sp>
        <p:nvSpPr>
          <p:cNvPr id="14" name="Shape 11"/>
          <p:cNvSpPr/>
          <p:nvPr/>
        </p:nvSpPr>
        <p:spPr>
          <a:xfrm>
            <a:off x="6217920" y="1417320"/>
            <a:ext cx="2514600" cy="1005840"/>
          </a:xfrm>
          <a:prstGeom prst="roundRect">
            <a:avLst>
              <a:gd name="adj" fmla="val 7273"/>
            </a:avLst>
          </a:prstGeom>
          <a:solidFill>
            <a:srgbClr val="071B36"/>
          </a:solidFill>
          <a:ln w="12700">
            <a:solidFill>
              <a:srgbClr val="63D6C6">
                <a:alpha val="80000"/>
              </a:srgbClr>
            </a:solidFill>
            <a:prstDash val="solid"/>
          </a:ln>
        </p:spPr>
      </p:sp>
      <p:sp>
        <p:nvSpPr>
          <p:cNvPr id="15" name="Text 12"/>
          <p:cNvSpPr/>
          <p:nvPr/>
        </p:nvSpPr>
        <p:spPr>
          <a:xfrm>
            <a:off x="6327648" y="1581912"/>
            <a:ext cx="2295144" cy="320040"/>
          </a:xfrm>
          <a:prstGeom prst="rect">
            <a:avLst/>
          </a:prstGeom>
          <a:noFill/>
          <a:ln/>
        </p:spPr>
        <p:txBody>
          <a:bodyPr wrap="square" lIns="0" tIns="0" rIns="0" bIns="0" rtlCol="0" anchor="ctr">
            <a:normAutofit/>
          </a:bodyPr>
          <a:lstStyle/>
          <a:p>
            <a:pPr indent="0" marL="0">
              <a:buNone/>
            </a:pPr>
            <a:r>
              <a:rPr lang="en-US" sz="2300" b="1" dirty="0">
                <a:solidFill>
                  <a:srgbClr val="63D6C6"/>
                </a:solidFill>
              </a:rPr>
              <a:t>13.0%</a:t>
            </a:r>
            <a:endParaRPr lang="en-US" sz="2300" dirty="0"/>
          </a:p>
        </p:txBody>
      </p:sp>
      <p:sp>
        <p:nvSpPr>
          <p:cNvPr id="16" name="Text 13"/>
          <p:cNvSpPr/>
          <p:nvPr/>
        </p:nvSpPr>
        <p:spPr>
          <a:xfrm>
            <a:off x="6327648" y="1938528"/>
            <a:ext cx="2295144" cy="201168"/>
          </a:xfrm>
          <a:prstGeom prst="rect">
            <a:avLst/>
          </a:prstGeom>
          <a:noFill/>
          <a:ln/>
        </p:spPr>
        <p:txBody>
          <a:bodyPr wrap="square" lIns="0" tIns="0" rIns="0" bIns="0" rtlCol="0" anchor="ctr">
            <a:normAutofit/>
          </a:bodyPr>
          <a:lstStyle/>
          <a:p>
            <a:pPr indent="0" marL="0">
              <a:buNone/>
            </a:pPr>
            <a:r>
              <a:rPr lang="en-US" sz="850" b="1" dirty="0">
                <a:solidFill>
                  <a:srgbClr val="F7FAFC"/>
                </a:solidFill>
              </a:rPr>
              <a:t>3. Spain</a:t>
            </a:r>
            <a:endParaRPr lang="en-US" sz="850" dirty="0"/>
          </a:p>
        </p:txBody>
      </p:sp>
      <p:sp>
        <p:nvSpPr>
          <p:cNvPr id="17" name="Text 14"/>
          <p:cNvSpPr/>
          <p:nvPr/>
        </p:nvSpPr>
        <p:spPr>
          <a:xfrm>
            <a:off x="6327648" y="2167128"/>
            <a:ext cx="2295144" cy="164592"/>
          </a:xfrm>
          <a:prstGeom prst="rect">
            <a:avLst/>
          </a:prstGeom>
          <a:noFill/>
          <a:ln/>
        </p:spPr>
        <p:txBody>
          <a:bodyPr wrap="square" lIns="0" tIns="0" rIns="0" bIns="0" rtlCol="0" anchor="ctr">
            <a:normAutofit/>
          </a:bodyPr>
          <a:lstStyle/>
          <a:p>
            <a:pPr indent="0" marL="0">
              <a:buNone/>
            </a:pPr>
            <a:r>
              <a:rPr lang="en-US" sz="680" dirty="0">
                <a:solidFill>
                  <a:srgbClr val="9CB3C9"/>
                </a:solidFill>
              </a:rPr>
              <a:t>Final: 23.5% · SF: 40.2%</a:t>
            </a:r>
            <a:endParaRPr lang="en-US" sz="680" dirty="0"/>
          </a:p>
        </p:txBody>
      </p:sp>
      <p:sp>
        <p:nvSpPr>
          <p:cNvPr id="18" name="Shape 15"/>
          <p:cNvSpPr/>
          <p:nvPr/>
        </p:nvSpPr>
        <p:spPr>
          <a:xfrm>
            <a:off x="9006840" y="1417320"/>
            <a:ext cx="2514600" cy="1005840"/>
          </a:xfrm>
          <a:prstGeom prst="roundRect">
            <a:avLst>
              <a:gd name="adj" fmla="val 7273"/>
            </a:avLst>
          </a:prstGeom>
          <a:solidFill>
            <a:srgbClr val="071B36"/>
          </a:solidFill>
          <a:ln w="12700">
            <a:solidFill>
              <a:srgbClr val="63D6C6">
                <a:alpha val="80000"/>
              </a:srgbClr>
            </a:solidFill>
            <a:prstDash val="solid"/>
          </a:ln>
        </p:spPr>
      </p:sp>
      <p:sp>
        <p:nvSpPr>
          <p:cNvPr id="19" name="Text 16"/>
          <p:cNvSpPr/>
          <p:nvPr/>
        </p:nvSpPr>
        <p:spPr>
          <a:xfrm>
            <a:off x="9116568" y="1581912"/>
            <a:ext cx="2295144" cy="320040"/>
          </a:xfrm>
          <a:prstGeom prst="rect">
            <a:avLst/>
          </a:prstGeom>
          <a:noFill/>
          <a:ln/>
        </p:spPr>
        <p:txBody>
          <a:bodyPr wrap="square" lIns="0" tIns="0" rIns="0" bIns="0" rtlCol="0" anchor="ctr">
            <a:normAutofit/>
          </a:bodyPr>
          <a:lstStyle/>
          <a:p>
            <a:pPr indent="0" marL="0">
              <a:buNone/>
            </a:pPr>
            <a:r>
              <a:rPr lang="en-US" sz="2300" b="1" dirty="0">
                <a:solidFill>
                  <a:srgbClr val="63D6C6"/>
                </a:solidFill>
              </a:rPr>
              <a:t>11.8%</a:t>
            </a:r>
            <a:endParaRPr lang="en-US" sz="2300" dirty="0"/>
          </a:p>
        </p:txBody>
      </p:sp>
      <p:sp>
        <p:nvSpPr>
          <p:cNvPr id="20" name="Text 17"/>
          <p:cNvSpPr/>
          <p:nvPr/>
        </p:nvSpPr>
        <p:spPr>
          <a:xfrm>
            <a:off x="9116568" y="1938528"/>
            <a:ext cx="2295144" cy="201168"/>
          </a:xfrm>
          <a:prstGeom prst="rect">
            <a:avLst/>
          </a:prstGeom>
          <a:noFill/>
          <a:ln/>
        </p:spPr>
        <p:txBody>
          <a:bodyPr wrap="square" lIns="0" tIns="0" rIns="0" bIns="0" rtlCol="0" anchor="ctr">
            <a:normAutofit/>
          </a:bodyPr>
          <a:lstStyle/>
          <a:p>
            <a:pPr indent="0" marL="0">
              <a:buNone/>
            </a:pPr>
            <a:r>
              <a:rPr lang="en-US" sz="850" b="1" dirty="0">
                <a:solidFill>
                  <a:srgbClr val="F7FAFC"/>
                </a:solidFill>
              </a:rPr>
              <a:t>4. England</a:t>
            </a:r>
            <a:endParaRPr lang="en-US" sz="850" dirty="0"/>
          </a:p>
        </p:txBody>
      </p:sp>
      <p:sp>
        <p:nvSpPr>
          <p:cNvPr id="21" name="Text 18"/>
          <p:cNvSpPr/>
          <p:nvPr/>
        </p:nvSpPr>
        <p:spPr>
          <a:xfrm>
            <a:off x="9116568" y="2167128"/>
            <a:ext cx="2295144" cy="164592"/>
          </a:xfrm>
          <a:prstGeom prst="rect">
            <a:avLst/>
          </a:prstGeom>
          <a:noFill/>
          <a:ln/>
        </p:spPr>
        <p:txBody>
          <a:bodyPr wrap="square" lIns="0" tIns="0" rIns="0" bIns="0" rtlCol="0" anchor="ctr">
            <a:normAutofit/>
          </a:bodyPr>
          <a:lstStyle/>
          <a:p>
            <a:pPr indent="0" marL="0">
              <a:buNone/>
            </a:pPr>
            <a:r>
              <a:rPr lang="en-US" sz="680" dirty="0">
                <a:solidFill>
                  <a:srgbClr val="9CB3C9"/>
                </a:solidFill>
              </a:rPr>
              <a:t>Final: 22.0% · SF: 35.7%</a:t>
            </a:r>
            <a:endParaRPr lang="en-US" sz="680" dirty="0"/>
          </a:p>
        </p:txBody>
      </p:sp>
      <p:sp>
        <p:nvSpPr>
          <p:cNvPr id="22" name="Shape 19"/>
          <p:cNvSpPr/>
          <p:nvPr/>
        </p:nvSpPr>
        <p:spPr>
          <a:xfrm>
            <a:off x="621792" y="2743200"/>
            <a:ext cx="5577840" cy="2971800"/>
          </a:xfrm>
          <a:prstGeom prst="roundRect">
            <a:avLst>
              <a:gd name="adj" fmla="val 2462"/>
            </a:avLst>
          </a:prstGeom>
          <a:solidFill>
            <a:srgbClr val="071B36"/>
          </a:solidFill>
          <a:ln w="12700">
            <a:solidFill>
              <a:srgbClr val="1D5872">
                <a:alpha val="80000"/>
              </a:srgbClr>
            </a:solidFill>
            <a:prstDash val="solid"/>
          </a:ln>
        </p:spPr>
      </p:sp>
      <p:pic>
        <p:nvPicPr>
          <p:cNvPr id="23" name="Image 1" descr="/mnt/data/wc26_slide_work/deck_figures/mc_champion_probs_wide.png">    </p:cNvPr>
          <p:cNvPicPr>
            <a:picLocks noChangeAspect="1"/>
          </p:cNvPicPr>
          <p:nvPr/>
        </p:nvPicPr>
        <p:blipFill>
          <a:blip r:embed="rId2"/>
          <a:stretch>
            <a:fillRect/>
          </a:stretch>
        </p:blipFill>
        <p:spPr>
          <a:xfrm>
            <a:off x="726239" y="2798064"/>
            <a:ext cx="5368947" cy="2862072"/>
          </a:xfrm>
          <a:prstGeom prst="rect">
            <a:avLst/>
          </a:prstGeom>
        </p:spPr>
      </p:pic>
      <p:sp>
        <p:nvSpPr>
          <p:cNvPr id="24" name="Shape 20"/>
          <p:cNvSpPr/>
          <p:nvPr/>
        </p:nvSpPr>
        <p:spPr>
          <a:xfrm>
            <a:off x="6446520" y="2743200"/>
            <a:ext cx="5074920" cy="2971800"/>
          </a:xfrm>
          <a:prstGeom prst="roundRect">
            <a:avLst>
              <a:gd name="adj" fmla="val 2462"/>
            </a:avLst>
          </a:prstGeom>
          <a:solidFill>
            <a:srgbClr val="FFFFFF">
              <a:alpha val="96000"/>
            </a:srgbClr>
          </a:solidFill>
          <a:ln w="12700">
            <a:solidFill>
              <a:srgbClr val="D7B65D">
                <a:alpha val="55000"/>
              </a:srgbClr>
            </a:solidFill>
            <a:prstDash val="solid"/>
          </a:ln>
        </p:spPr>
      </p:sp>
      <p:sp>
        <p:nvSpPr>
          <p:cNvPr id="25" name="Text 21"/>
          <p:cNvSpPr/>
          <p:nvPr/>
        </p:nvSpPr>
        <p:spPr>
          <a:xfrm>
            <a:off x="6592824" y="2862072"/>
            <a:ext cx="47823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Sports drama, engineering restraint</a:t>
            </a:r>
            <a:endParaRPr lang="en-US" sz="1200" dirty="0"/>
          </a:p>
        </p:txBody>
      </p:sp>
      <p:sp>
        <p:nvSpPr>
          <p:cNvPr id="26" name="Text 22"/>
          <p:cNvSpPr/>
          <p:nvPr/>
        </p:nvSpPr>
        <p:spPr>
          <a:xfrm>
            <a:off x="6592824" y="3182112"/>
            <a:ext cx="4782312" cy="240487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The headline is Argentina as projected champion in the educational simulation. The agent is not allowed to say “Argentina will win.” It must say: “Argentina is the top modelled favourite under demo priors, with 21.7% champion probability.”</a:t>
            </a:r>
            <a:endParaRPr lang="en-US" sz="880" dirty="0"/>
          </a:p>
          <a:p>
            <a:pPr indent="0" marL="0">
              <a:buNone/>
            </a:pPr>
            <a:endParaRPr lang="en-US" sz="880" dirty="0"/>
          </a:p>
          <a:p>
            <a:pPr indent="0" marL="0">
              <a:buNone/>
            </a:pPr>
            <a:r>
              <a:rPr lang="en-US" sz="880" dirty="0">
                <a:solidFill>
                  <a:srgbClr val="213547"/>
                </a:solidFill>
              </a:rPr>
              <a:t>Agent concept: predictions are model-derived claims, not facts. They need model citations, probability sanity checks, and uncertainty warnings.</a:t>
            </a:r>
            <a:endParaRPr lang="en-US" sz="880" dirty="0"/>
          </a:p>
        </p:txBody>
      </p:sp>
      <p:sp>
        <p:nvSpPr>
          <p:cNvPr id="27" name="Text 23"/>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Demo priors, educational simulator — not betting advice</a:t>
            </a:r>
            <a:endParaRPr lang="en-US" sz="680" dirty="0"/>
          </a:p>
        </p:txBody>
      </p:sp>
      <p:sp>
        <p:nvSpPr>
          <p:cNvPr id="28" name="Text 24"/>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142B"/>
        </a:solidFill>
      </p:bgPr>
    </p:bg>
    <p:spTree>
      <p:nvGrpSpPr>
        <p:cNvPr id="1" name=""/>
        <p:cNvGrpSpPr/>
        <p:nvPr/>
      </p:nvGrpSpPr>
      <p:grpSpPr>
        <a:xfrm>
          <a:off x="0" y="0"/>
          <a:ext cx="0" cy="0"/>
          <a:chOff x="0" y="0"/>
          <a:chExt cx="0" cy="0"/>
        </a:xfrm>
      </p:grpSpPr>
      <p:pic>
        <p:nvPicPr>
          <p:cNvPr id="2" name="Image 0" descr="/mnt/data/wc26_slide_work/assets/football_ball_closeup_dark68.png">    </p:cNvPr>
          <p:cNvPicPr>
            <a:picLocks noChangeAspect="1"/>
          </p:cNvPicPr>
          <p:nvPr/>
        </p:nvPicPr>
        <p:blipFill>
          <a:blip r:embed="rId1"/>
          <a:srcRect l="1" r="1" t="0" b="0"/>
          <a:stretch/>
        </p:blipFill>
        <p:spPr>
          <a:xfrm>
            <a:off x="0" y="0"/>
            <a:ext cx="12191695" cy="6858000"/>
          </a:xfrm>
          <a:prstGeom prst="rect">
            <a:avLst/>
          </a:prstGeom>
        </p:spPr>
      </p:pic>
      <p:sp>
        <p:nvSpPr>
          <p:cNvPr id="3"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FORECAST VAR</a:t>
            </a:r>
            <a:endParaRPr lang="en-US" sz="850" dirty="0"/>
          </a:p>
        </p:txBody>
      </p:sp>
      <p:sp>
        <p:nvSpPr>
          <p:cNvPr id="4"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Group stage forecast: twelve group races, twelve likely winners</a:t>
            </a:r>
            <a:endParaRPr lang="en-US" sz="2400" dirty="0"/>
          </a:p>
        </p:txBody>
      </p:sp>
      <p:sp>
        <p:nvSpPr>
          <p:cNvPr id="5" name="Shape 2"/>
          <p:cNvSpPr/>
          <p:nvPr/>
        </p:nvSpPr>
        <p:spPr>
          <a:xfrm>
            <a:off x="502920" y="1170432"/>
            <a:ext cx="11155680" cy="0"/>
          </a:xfrm>
          <a:prstGeom prst="line">
            <a:avLst/>
          </a:prstGeom>
          <a:noFill/>
          <a:ln w="13970">
            <a:solidFill>
              <a:srgbClr val="0F8D68">
                <a:alpha val="80000"/>
              </a:srgbClr>
            </a:solidFill>
            <a:prstDash val="solid"/>
          </a:ln>
        </p:spPr>
      </p:sp>
      <p:sp>
        <p:nvSpPr>
          <p:cNvPr id="6" name="Shape 3"/>
          <p:cNvSpPr/>
          <p:nvPr/>
        </p:nvSpPr>
        <p:spPr>
          <a:xfrm>
            <a:off x="594360" y="1417320"/>
            <a:ext cx="6675120" cy="4389120"/>
          </a:xfrm>
          <a:prstGeom prst="roundRect">
            <a:avLst>
              <a:gd name="adj" fmla="val 1667"/>
            </a:avLst>
          </a:prstGeom>
          <a:solidFill>
            <a:srgbClr val="071B36"/>
          </a:solidFill>
          <a:ln w="12700">
            <a:solidFill>
              <a:srgbClr val="1D5872">
                <a:alpha val="80000"/>
              </a:srgbClr>
            </a:solidFill>
            <a:prstDash val="solid"/>
          </a:ln>
        </p:spPr>
      </p:sp>
      <p:pic>
        <p:nvPicPr>
          <p:cNvPr id="7" name="Image 1" descr="/mnt/data/wc26_slide_work/deck_figures/all_group_winners.png">    </p:cNvPr>
          <p:cNvPicPr>
            <a:picLocks noChangeAspect="1"/>
          </p:cNvPicPr>
          <p:nvPr/>
        </p:nvPicPr>
        <p:blipFill>
          <a:blip r:embed="rId2"/>
          <a:stretch>
            <a:fillRect/>
          </a:stretch>
        </p:blipFill>
        <p:spPr>
          <a:xfrm>
            <a:off x="649224" y="2159452"/>
            <a:ext cx="6565392" cy="2904857"/>
          </a:xfrm>
          <a:prstGeom prst="rect">
            <a:avLst/>
          </a:prstGeom>
        </p:spPr>
      </p:pic>
      <p:sp>
        <p:nvSpPr>
          <p:cNvPr id="8" name="Shape 4"/>
          <p:cNvSpPr/>
          <p:nvPr/>
        </p:nvSpPr>
        <p:spPr>
          <a:xfrm>
            <a:off x="7543800" y="1417320"/>
            <a:ext cx="3977640" cy="4389120"/>
          </a:xfrm>
          <a:prstGeom prst="roundRect">
            <a:avLst>
              <a:gd name="adj" fmla="val 1839"/>
            </a:avLst>
          </a:prstGeom>
          <a:solidFill>
            <a:srgbClr val="FFFFFF">
              <a:alpha val="96000"/>
            </a:srgbClr>
          </a:solidFill>
          <a:ln w="12700">
            <a:solidFill>
              <a:srgbClr val="0F8D68">
                <a:alpha val="55000"/>
              </a:srgbClr>
            </a:solidFill>
            <a:prstDash val="solid"/>
          </a:ln>
        </p:spPr>
      </p:sp>
      <p:sp>
        <p:nvSpPr>
          <p:cNvPr id="9" name="Text 5"/>
          <p:cNvSpPr/>
          <p:nvPr/>
        </p:nvSpPr>
        <p:spPr>
          <a:xfrm>
            <a:off x="7690104" y="1536192"/>
            <a:ext cx="368503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Predicted group winners</a:t>
            </a:r>
            <a:endParaRPr lang="en-US" sz="1200" dirty="0"/>
          </a:p>
        </p:txBody>
      </p:sp>
      <p:sp>
        <p:nvSpPr>
          <p:cNvPr id="10" name="Text 6"/>
          <p:cNvSpPr/>
          <p:nvPr/>
        </p:nvSpPr>
        <p:spPr>
          <a:xfrm>
            <a:off x="7690104" y="1856232"/>
            <a:ext cx="3685032" cy="382219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Group A: Mexico (51%)</a:t>
            </a:r>
            <a:endParaRPr lang="en-US" sz="880" dirty="0"/>
          </a:p>
          <a:p>
            <a:pPr indent="0" marL="0">
              <a:buNone/>
            </a:pPr>
            <a:r>
              <a:rPr lang="en-US" sz="880" dirty="0">
                <a:solidFill>
                  <a:srgbClr val="213547"/>
                </a:solidFill>
              </a:rPr>
              <a:t>Group B: Switzerland (47%)</a:t>
            </a:r>
            <a:endParaRPr lang="en-US" sz="880" dirty="0"/>
          </a:p>
          <a:p>
            <a:pPr indent="0" marL="0">
              <a:buNone/>
            </a:pPr>
            <a:r>
              <a:rPr lang="en-US" sz="880" dirty="0">
                <a:solidFill>
                  <a:srgbClr val="213547"/>
                </a:solidFill>
              </a:rPr>
              <a:t>Group C: Brazil (63%)</a:t>
            </a:r>
            <a:endParaRPr lang="en-US" sz="880" dirty="0"/>
          </a:p>
          <a:p>
            <a:pPr indent="0" marL="0">
              <a:buNone/>
            </a:pPr>
            <a:r>
              <a:rPr lang="en-US" sz="880" dirty="0">
                <a:solidFill>
                  <a:srgbClr val="213547"/>
                </a:solidFill>
              </a:rPr>
              <a:t>Group D: USA (50%)</a:t>
            </a:r>
            <a:endParaRPr lang="en-US" sz="880" dirty="0"/>
          </a:p>
          <a:p>
            <a:pPr indent="0" marL="0">
              <a:buNone/>
            </a:pPr>
            <a:r>
              <a:rPr lang="en-US" sz="880" dirty="0">
                <a:solidFill>
                  <a:srgbClr val="213547"/>
                </a:solidFill>
              </a:rPr>
              <a:t>Group E: Germany (60%)</a:t>
            </a:r>
            <a:endParaRPr lang="en-US" sz="880" dirty="0"/>
          </a:p>
          <a:p>
            <a:pPr indent="0" marL="0">
              <a:buNone/>
            </a:pPr>
            <a:r>
              <a:rPr lang="en-US" sz="880" dirty="0">
                <a:solidFill>
                  <a:srgbClr val="213547"/>
                </a:solidFill>
              </a:rPr>
              <a:t>Group F: Netherlands (59%)</a:t>
            </a:r>
            <a:endParaRPr lang="en-US" sz="880" dirty="0"/>
          </a:p>
          <a:p>
            <a:pPr indent="0" marL="0">
              <a:buNone/>
            </a:pPr>
            <a:r>
              <a:rPr lang="en-US" sz="880" dirty="0">
                <a:solidFill>
                  <a:srgbClr val="213547"/>
                </a:solidFill>
              </a:rPr>
              <a:t>Group G: Belgium (64%)</a:t>
            </a:r>
            <a:endParaRPr lang="en-US" sz="880" dirty="0"/>
          </a:p>
          <a:p>
            <a:pPr indent="0" marL="0">
              <a:buNone/>
            </a:pPr>
            <a:r>
              <a:rPr lang="en-US" sz="880" dirty="0">
                <a:solidFill>
                  <a:srgbClr val="213547"/>
                </a:solidFill>
              </a:rPr>
              <a:t>Group H: Spain (67%)</a:t>
            </a:r>
            <a:endParaRPr lang="en-US" sz="880" dirty="0"/>
          </a:p>
          <a:p>
            <a:pPr indent="0" marL="0">
              <a:buNone/>
            </a:pPr>
            <a:r>
              <a:rPr lang="en-US" sz="880" dirty="0">
                <a:solidFill>
                  <a:srgbClr val="213547"/>
                </a:solidFill>
              </a:rPr>
              <a:t>Group I: France (71%)</a:t>
            </a:r>
            <a:endParaRPr lang="en-US" sz="880" dirty="0"/>
          </a:p>
          <a:p>
            <a:pPr indent="0" marL="0">
              <a:buNone/>
            </a:pPr>
            <a:r>
              <a:rPr lang="en-US" sz="880" dirty="0">
                <a:solidFill>
                  <a:srgbClr val="213547"/>
                </a:solidFill>
              </a:rPr>
              <a:t>Group J: Argentina (72%)</a:t>
            </a:r>
            <a:endParaRPr lang="en-US" sz="880" dirty="0"/>
          </a:p>
          <a:p>
            <a:pPr indent="0" marL="0">
              <a:buNone/>
            </a:pPr>
            <a:r>
              <a:rPr lang="en-US" sz="880" dirty="0">
                <a:solidFill>
                  <a:srgbClr val="213547"/>
                </a:solidFill>
              </a:rPr>
              <a:t>Group K: Portugal (64%)</a:t>
            </a:r>
            <a:endParaRPr lang="en-US" sz="880" dirty="0"/>
          </a:p>
          <a:p>
            <a:pPr indent="0" marL="0">
              <a:buNone/>
            </a:pPr>
            <a:r>
              <a:rPr lang="en-US" sz="880" dirty="0">
                <a:solidFill>
                  <a:srgbClr val="213547"/>
                </a:solidFill>
              </a:rPr>
              <a:t>Group L: England (65%)</a:t>
            </a:r>
            <a:endParaRPr lang="en-US" sz="880" dirty="0"/>
          </a:p>
          <a:p>
            <a:pPr indent="0" marL="0">
              <a:buNone/>
            </a:pPr>
            <a:endParaRPr lang="en-US" sz="880" dirty="0"/>
          </a:p>
          <a:p>
            <a:pPr indent="0" marL="0">
              <a:buNone/>
            </a:pPr>
            <a:r>
              <a:rPr lang="en-US" sz="880" dirty="0">
                <a:solidFill>
                  <a:srgbClr val="213547"/>
                </a:solidFill>
              </a:rPr>
              <a:t>Engineering note: group winners are not asserted as facts. Each is a model_output claim grounded in team priors, group membership, and the simulation routine.</a:t>
            </a:r>
            <a:endParaRPr lang="en-US" sz="880" dirty="0"/>
          </a:p>
        </p:txBody>
      </p:sp>
      <p:sp>
        <p:nvSpPr>
          <p:cNvPr id="11" name="Text 7"/>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Demo priors, educational simulator — not betting advice</a:t>
            </a:r>
            <a:endParaRPr lang="en-US" sz="680" dirty="0"/>
          </a:p>
        </p:txBody>
      </p:sp>
      <p:sp>
        <p:nvSpPr>
          <p:cNvPr id="12" name="Text 8"/>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142B"/>
        </a:solidFill>
      </p:bgPr>
    </p:bg>
    <p:spTree>
      <p:nvGrpSpPr>
        <p:cNvPr id="1" name=""/>
        <p:cNvGrpSpPr/>
        <p:nvPr/>
      </p:nvGrpSpPr>
      <p:grpSpPr>
        <a:xfrm>
          <a:off x="0" y="0"/>
          <a:ext cx="0" cy="0"/>
          <a:chOff x="0" y="0"/>
          <a:chExt cx="0" cy="0"/>
        </a:xfrm>
      </p:grpSpPr>
      <p:sp>
        <p:nvSpPr>
          <p:cNvPr id="2"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PREDICTIONS → MATCHES</a:t>
            </a:r>
            <a:endParaRPr lang="en-US" sz="850" dirty="0"/>
          </a:p>
        </p:txBody>
      </p:sp>
      <p:sp>
        <p:nvSpPr>
          <p:cNvPr id="3"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Game-by-game forecasting: every group match becomes a probability distribution</a:t>
            </a:r>
            <a:endParaRPr lang="en-US" sz="2400" dirty="0"/>
          </a:p>
        </p:txBody>
      </p:sp>
      <p:sp>
        <p:nvSpPr>
          <p:cNvPr id="4" name="Shape 2"/>
          <p:cNvSpPr/>
          <p:nvPr/>
        </p:nvSpPr>
        <p:spPr>
          <a:xfrm>
            <a:off x="502920" y="1170432"/>
            <a:ext cx="11155680" cy="0"/>
          </a:xfrm>
          <a:prstGeom prst="line">
            <a:avLst/>
          </a:prstGeom>
          <a:noFill/>
          <a:ln w="13970">
            <a:solidFill>
              <a:srgbClr val="0F8D68">
                <a:alpha val="80000"/>
              </a:srgbClr>
            </a:solidFill>
            <a:prstDash val="solid"/>
          </a:ln>
        </p:spPr>
      </p:sp>
      <p:sp>
        <p:nvSpPr>
          <p:cNvPr id="5" name="Shape 3"/>
          <p:cNvSpPr/>
          <p:nvPr/>
        </p:nvSpPr>
        <p:spPr>
          <a:xfrm>
            <a:off x="594360" y="1417320"/>
            <a:ext cx="5669280" cy="2743200"/>
          </a:xfrm>
          <a:prstGeom prst="roundRect">
            <a:avLst>
              <a:gd name="adj" fmla="val 2667"/>
            </a:avLst>
          </a:prstGeom>
          <a:solidFill>
            <a:srgbClr val="071B36"/>
          </a:solidFill>
          <a:ln w="12700">
            <a:solidFill>
              <a:srgbClr val="1D5872">
                <a:alpha val="80000"/>
              </a:srgbClr>
            </a:solidFill>
            <a:prstDash val="solid"/>
          </a:ln>
        </p:spPr>
      </p:sp>
      <p:pic>
        <p:nvPicPr>
          <p:cNvPr id="6" name="Image 0" descr="/mnt/data/wc26_slide_work/deck_figures/group_match_confidence.png">    </p:cNvPr>
          <p:cNvPicPr>
            <a:picLocks noChangeAspect="1"/>
          </p:cNvPicPr>
          <p:nvPr/>
        </p:nvPicPr>
        <p:blipFill>
          <a:blip r:embed="rId1"/>
          <a:stretch>
            <a:fillRect/>
          </a:stretch>
        </p:blipFill>
        <p:spPr>
          <a:xfrm>
            <a:off x="649224" y="1648046"/>
            <a:ext cx="5559552" cy="2281748"/>
          </a:xfrm>
          <a:prstGeom prst="rect">
            <a:avLst/>
          </a:prstGeom>
        </p:spPr>
      </p:pic>
      <p:sp>
        <p:nvSpPr>
          <p:cNvPr id="7" name="Shape 4"/>
          <p:cNvSpPr/>
          <p:nvPr/>
        </p:nvSpPr>
        <p:spPr>
          <a:xfrm>
            <a:off x="6537960" y="1417320"/>
            <a:ext cx="4892040" cy="2743200"/>
          </a:xfrm>
          <a:prstGeom prst="roundRect">
            <a:avLst>
              <a:gd name="adj" fmla="val 2667"/>
            </a:avLst>
          </a:prstGeom>
          <a:solidFill>
            <a:srgbClr val="FFFFFF">
              <a:alpha val="96000"/>
            </a:srgbClr>
          </a:solidFill>
          <a:ln w="12700">
            <a:solidFill>
              <a:srgbClr val="D7B65D">
                <a:alpha val="55000"/>
              </a:srgbClr>
            </a:solidFill>
            <a:prstDash val="solid"/>
          </a:ln>
        </p:spPr>
      </p:sp>
      <p:sp>
        <p:nvSpPr>
          <p:cNvPr id="8" name="Text 5"/>
          <p:cNvSpPr/>
          <p:nvPr/>
        </p:nvSpPr>
        <p:spPr>
          <a:xfrm>
            <a:off x="6684264" y="1536192"/>
            <a:ext cx="459943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Example: Group D match picks</a:t>
            </a:r>
            <a:endParaRPr lang="en-US" sz="1200" dirty="0"/>
          </a:p>
        </p:txBody>
      </p:sp>
      <p:sp>
        <p:nvSpPr>
          <p:cNvPr id="9" name="Text 6"/>
          <p:cNvSpPr/>
          <p:nvPr/>
        </p:nvSpPr>
        <p:spPr>
          <a:xfrm>
            <a:off x="6684264" y="1856232"/>
            <a:ext cx="4599432" cy="217627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USA vs Paraguay: USA 49.7%</a:t>
            </a:r>
            <a:endParaRPr lang="en-US" sz="880" dirty="0"/>
          </a:p>
          <a:p>
            <a:pPr indent="0" marL="0">
              <a:buNone/>
            </a:pPr>
            <a:r>
              <a:rPr lang="en-US" sz="880" dirty="0">
                <a:solidFill>
                  <a:srgbClr val="213547"/>
                </a:solidFill>
              </a:rPr>
              <a:t>USA vs Australia: USA 50.9%</a:t>
            </a:r>
            <a:endParaRPr lang="en-US" sz="880" dirty="0"/>
          </a:p>
          <a:p>
            <a:pPr indent="0" marL="0">
              <a:buNone/>
            </a:pPr>
            <a:r>
              <a:rPr lang="en-US" sz="880" dirty="0">
                <a:solidFill>
                  <a:srgbClr val="213547"/>
                </a:solidFill>
              </a:rPr>
              <a:t>USA vs Türkiye: USA 46.3%</a:t>
            </a:r>
            <a:endParaRPr lang="en-US" sz="880" dirty="0"/>
          </a:p>
          <a:p>
            <a:pPr indent="0" marL="0">
              <a:buNone/>
            </a:pPr>
            <a:r>
              <a:rPr lang="en-US" sz="880" dirty="0">
                <a:solidFill>
                  <a:srgbClr val="213547"/>
                </a:solidFill>
              </a:rPr>
              <a:t>Paraguay vs Australia: Paraguay 37.6%</a:t>
            </a:r>
            <a:endParaRPr lang="en-US" sz="880" dirty="0"/>
          </a:p>
          <a:p>
            <a:pPr indent="0" marL="0">
              <a:buNone/>
            </a:pPr>
            <a:r>
              <a:rPr lang="en-US" sz="880" dirty="0">
                <a:solidFill>
                  <a:srgbClr val="213547"/>
                </a:solidFill>
              </a:rPr>
              <a:t>Paraguay vs Türkiye: Türkiye 39.7%</a:t>
            </a:r>
            <a:endParaRPr lang="en-US" sz="880" dirty="0"/>
          </a:p>
          <a:p>
            <a:pPr indent="0" marL="0">
              <a:buNone/>
            </a:pPr>
            <a:r>
              <a:rPr lang="en-US" sz="880" dirty="0">
                <a:solidFill>
                  <a:srgbClr val="213547"/>
                </a:solidFill>
              </a:rPr>
              <a:t>Australia vs Türkiye: Türkiye 40.9%</a:t>
            </a:r>
            <a:endParaRPr lang="en-US" sz="880" dirty="0"/>
          </a:p>
        </p:txBody>
      </p:sp>
      <p:sp>
        <p:nvSpPr>
          <p:cNvPr id="10" name="Shape 7"/>
          <p:cNvSpPr/>
          <p:nvPr/>
        </p:nvSpPr>
        <p:spPr>
          <a:xfrm>
            <a:off x="594360" y="4389120"/>
            <a:ext cx="5303520" cy="1463040"/>
          </a:xfrm>
          <a:prstGeom prst="roundRect">
            <a:avLst>
              <a:gd name="adj" fmla="val 5000"/>
            </a:avLst>
          </a:prstGeom>
          <a:solidFill>
            <a:srgbClr val="061222"/>
          </a:solidFill>
          <a:ln w="12700">
            <a:solidFill>
              <a:srgbClr val="1E4F72">
                <a:alpha val="90000"/>
              </a:srgbClr>
            </a:solidFill>
            <a:prstDash val="solid"/>
          </a:ln>
        </p:spPr>
      </p:sp>
      <p:sp>
        <p:nvSpPr>
          <p:cNvPr id="11" name="Text 8"/>
          <p:cNvSpPr/>
          <p:nvPr/>
        </p:nvSpPr>
        <p:spPr>
          <a:xfrm>
            <a:off x="713232" y="4480560"/>
            <a:ext cx="5065776" cy="164592"/>
          </a:xfrm>
          <a:prstGeom prst="rect">
            <a:avLst/>
          </a:prstGeom>
          <a:noFill/>
          <a:ln/>
        </p:spPr>
        <p:txBody>
          <a:bodyPr wrap="square" lIns="0" tIns="0" rIns="0" bIns="0" rtlCol="0" anchor="ctr"/>
          <a:lstStyle/>
          <a:p>
            <a:pPr indent="0" marL="0">
              <a:buNone/>
            </a:pPr>
            <a:r>
              <a:rPr lang="en-US" sz="750" b="1" dirty="0">
                <a:solidFill>
                  <a:srgbClr val="63D6C6"/>
                </a:solidFill>
              </a:rPr>
              <a:t>Tool output shape</a:t>
            </a:r>
            <a:endParaRPr lang="en-US" sz="750" dirty="0"/>
          </a:p>
        </p:txBody>
      </p:sp>
      <p:sp>
        <p:nvSpPr>
          <p:cNvPr id="12" name="Text 9"/>
          <p:cNvSpPr/>
          <p:nvPr/>
        </p:nvSpPr>
        <p:spPr>
          <a:xfrm>
            <a:off x="713232" y="4773168"/>
            <a:ext cx="5065776" cy="100584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forecast_match("USA", "Australia")</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p_team_a_win: 0.5088,</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p_draw: 0.2099,</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p_team_b_win: 0.2813,</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citations: ["SRC-SAMPLE-TEAM-PRIORS",</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"MODEL-FORECAST-VAR-V1"]</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a:t>
            </a:r>
            <a:endParaRPr lang="en-US" sz="740" dirty="0"/>
          </a:p>
        </p:txBody>
      </p:sp>
      <p:sp>
        <p:nvSpPr>
          <p:cNvPr id="13" name="Shape 10"/>
          <p:cNvSpPr/>
          <p:nvPr/>
        </p:nvSpPr>
        <p:spPr>
          <a:xfrm>
            <a:off x="6172200" y="4389120"/>
            <a:ext cx="5257800" cy="1463040"/>
          </a:xfrm>
          <a:prstGeom prst="roundRect">
            <a:avLst>
              <a:gd name="adj" fmla="val 5000"/>
            </a:avLst>
          </a:prstGeom>
          <a:solidFill>
            <a:srgbClr val="FFFFFF">
              <a:alpha val="96000"/>
            </a:srgbClr>
          </a:solidFill>
          <a:ln w="12700">
            <a:solidFill>
              <a:srgbClr val="63D6C6">
                <a:alpha val="55000"/>
              </a:srgbClr>
            </a:solidFill>
            <a:prstDash val="solid"/>
          </a:ln>
        </p:spPr>
      </p:sp>
      <p:sp>
        <p:nvSpPr>
          <p:cNvPr id="14" name="Text 11"/>
          <p:cNvSpPr/>
          <p:nvPr/>
        </p:nvSpPr>
        <p:spPr>
          <a:xfrm>
            <a:off x="6318504" y="4507992"/>
            <a:ext cx="496519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Agent engineering concept</a:t>
            </a:r>
            <a:endParaRPr lang="en-US" sz="1200" dirty="0"/>
          </a:p>
        </p:txBody>
      </p:sp>
      <p:sp>
        <p:nvSpPr>
          <p:cNvPr id="15" name="Text 12"/>
          <p:cNvSpPr/>
          <p:nvPr/>
        </p:nvSpPr>
        <p:spPr>
          <a:xfrm>
            <a:off x="6318504" y="4828032"/>
            <a:ext cx="4965192" cy="89611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A sport agent should never collapse a match to a single deterministic winner. It should return a structured probability distribution plus the model and data sources that produced it.</a:t>
            </a:r>
            <a:endParaRPr lang="en-US" sz="880" dirty="0"/>
          </a:p>
        </p:txBody>
      </p:sp>
      <p:sp>
        <p:nvSpPr>
          <p:cNvPr id="16" name="Text 13"/>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Demo priors, educational simulator — not betting advice</a:t>
            </a:r>
            <a:endParaRPr lang="en-US" sz="680" dirty="0"/>
          </a:p>
        </p:txBody>
      </p:sp>
      <p:sp>
        <p:nvSpPr>
          <p:cNvPr id="17" name="Text 14"/>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142B"/>
        </a:solidFill>
      </p:bgPr>
    </p:bg>
    <p:spTree>
      <p:nvGrpSpPr>
        <p:cNvPr id="1" name=""/>
        <p:cNvGrpSpPr/>
        <p:nvPr/>
      </p:nvGrpSpPr>
      <p:grpSpPr>
        <a:xfrm>
          <a:off x="0" y="0"/>
          <a:ext cx="0" cy="0"/>
          <a:chOff x="0" y="0"/>
          <a:chExt cx="0" cy="0"/>
        </a:xfrm>
      </p:grpSpPr>
      <p:pic>
        <p:nvPicPr>
          <p:cNvPr id="2" name="Image 0" descr="/mnt/data/wc26_slide_work/assets/forecast_var_room_dark60.png">    </p:cNvPr>
          <p:cNvPicPr>
            <a:picLocks noChangeAspect="1"/>
          </p:cNvPicPr>
          <p:nvPr/>
        </p:nvPicPr>
        <p:blipFill>
          <a:blip r:embed="rId1"/>
          <a:srcRect l="1" r="1" t="0" b="0"/>
          <a:stretch/>
        </p:blipFill>
        <p:spPr>
          <a:xfrm>
            <a:off x="0" y="0"/>
            <a:ext cx="12191695" cy="6858000"/>
          </a:xfrm>
          <a:prstGeom prst="rect">
            <a:avLst/>
          </a:prstGeom>
        </p:spPr>
      </p:pic>
      <p:sp>
        <p:nvSpPr>
          <p:cNvPr id="3"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FORECAST VAR</a:t>
            </a:r>
            <a:endParaRPr lang="en-US" sz="850" dirty="0"/>
          </a:p>
        </p:txBody>
      </p:sp>
      <p:sp>
        <p:nvSpPr>
          <p:cNvPr id="4"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Group D drama: model vs market, without turning it into betting advice</a:t>
            </a:r>
            <a:endParaRPr lang="en-US" sz="2400" dirty="0"/>
          </a:p>
        </p:txBody>
      </p:sp>
      <p:sp>
        <p:nvSpPr>
          <p:cNvPr id="5" name="Shape 2"/>
          <p:cNvSpPr/>
          <p:nvPr/>
        </p:nvSpPr>
        <p:spPr>
          <a:xfrm>
            <a:off x="502920" y="1170432"/>
            <a:ext cx="11155680" cy="0"/>
          </a:xfrm>
          <a:prstGeom prst="line">
            <a:avLst/>
          </a:prstGeom>
          <a:noFill/>
          <a:ln w="13970">
            <a:solidFill>
              <a:srgbClr val="0F8D68">
                <a:alpha val="80000"/>
              </a:srgbClr>
            </a:solidFill>
            <a:prstDash val="solid"/>
          </a:ln>
        </p:spPr>
      </p:sp>
      <p:sp>
        <p:nvSpPr>
          <p:cNvPr id="6" name="Shape 3"/>
          <p:cNvSpPr/>
          <p:nvPr/>
        </p:nvSpPr>
        <p:spPr>
          <a:xfrm>
            <a:off x="594360" y="1417320"/>
            <a:ext cx="4937760" cy="3566160"/>
          </a:xfrm>
          <a:prstGeom prst="roundRect">
            <a:avLst>
              <a:gd name="adj" fmla="val 2051"/>
            </a:avLst>
          </a:prstGeom>
          <a:solidFill>
            <a:srgbClr val="071B36"/>
          </a:solidFill>
          <a:ln w="12700">
            <a:solidFill>
              <a:srgbClr val="1D5872">
                <a:alpha val="80000"/>
              </a:srgbClr>
            </a:solidFill>
            <a:prstDash val="solid"/>
          </a:ln>
        </p:spPr>
      </p:sp>
      <p:pic>
        <p:nvPicPr>
          <p:cNvPr id="7" name="Image 1" descr="/mnt/data/wc26_slide_work/wc26-forecast-var-agent-episode2-source-aware-gpt54nano/figures/model_vs_market_usa_australia.png">    </p:cNvPr>
          <p:cNvPicPr>
            <a:picLocks noChangeAspect="1"/>
          </p:cNvPicPr>
          <p:nvPr/>
        </p:nvPicPr>
        <p:blipFill>
          <a:blip r:embed="rId2"/>
          <a:stretch>
            <a:fillRect/>
          </a:stretch>
        </p:blipFill>
        <p:spPr>
          <a:xfrm>
            <a:off x="649224" y="1842516"/>
            <a:ext cx="4828032" cy="2715768"/>
          </a:xfrm>
          <a:prstGeom prst="rect">
            <a:avLst/>
          </a:prstGeom>
        </p:spPr>
      </p:pic>
      <p:sp>
        <p:nvSpPr>
          <p:cNvPr id="8" name="Shape 4"/>
          <p:cNvSpPr/>
          <p:nvPr/>
        </p:nvSpPr>
        <p:spPr>
          <a:xfrm>
            <a:off x="5806440" y="1417320"/>
            <a:ext cx="5623560" cy="3566160"/>
          </a:xfrm>
          <a:prstGeom prst="roundRect">
            <a:avLst>
              <a:gd name="adj" fmla="val 2051"/>
            </a:avLst>
          </a:prstGeom>
          <a:solidFill>
            <a:srgbClr val="FFFFFF">
              <a:alpha val="96000"/>
            </a:srgbClr>
          </a:solidFill>
          <a:ln w="12700">
            <a:solidFill>
              <a:srgbClr val="D7B65D">
                <a:alpha val="55000"/>
              </a:srgbClr>
            </a:solidFill>
            <a:prstDash val="solid"/>
          </a:ln>
        </p:spPr>
      </p:sp>
      <p:sp>
        <p:nvSpPr>
          <p:cNvPr id="9" name="Text 5"/>
          <p:cNvSpPr/>
          <p:nvPr/>
        </p:nvSpPr>
        <p:spPr>
          <a:xfrm>
            <a:off x="5952744" y="1536192"/>
            <a:ext cx="533095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What changes when we add market context?</a:t>
            </a:r>
            <a:endParaRPr lang="en-US" sz="1200" dirty="0"/>
          </a:p>
        </p:txBody>
      </p:sp>
      <p:sp>
        <p:nvSpPr>
          <p:cNvPr id="10" name="Text 6"/>
          <p:cNvSpPr/>
          <p:nvPr/>
        </p:nvSpPr>
        <p:spPr>
          <a:xfrm>
            <a:off x="5952744" y="1856232"/>
            <a:ext cx="5330952" cy="299923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The source-aware agent can compare two signals:</a:t>
            </a:r>
            <a:endParaRPr lang="en-US" sz="880" dirty="0"/>
          </a:p>
          <a:p>
            <a:pPr indent="0" marL="0">
              <a:buNone/>
            </a:pPr>
            <a:endParaRPr lang="en-US" sz="880" dirty="0"/>
          </a:p>
          <a:p>
            <a:pPr indent="0" marL="0">
              <a:buNone/>
            </a:pPr>
            <a:r>
              <a:rPr lang="en-US" sz="880" dirty="0">
                <a:solidFill>
                  <a:srgbClr val="213547"/>
                </a:solidFill>
              </a:rPr>
              <a:t>• Model probability from team priors</a:t>
            </a:r>
            <a:endParaRPr lang="en-US" sz="880" dirty="0"/>
          </a:p>
          <a:p>
            <a:pPr indent="0" marL="0">
              <a:buNone/>
            </a:pPr>
            <a:r>
              <a:rPr lang="en-US" sz="880" dirty="0">
                <a:solidFill>
                  <a:srgbClr val="213547"/>
                </a:solidFill>
              </a:rPr>
              <a:t>• Sample de-vig market probability from bundled demo odds</a:t>
            </a:r>
            <a:endParaRPr lang="en-US" sz="880" dirty="0"/>
          </a:p>
          <a:p>
            <a:pPr indent="0" marL="0">
              <a:buNone/>
            </a:pPr>
            <a:endParaRPr lang="en-US" sz="880" dirty="0"/>
          </a:p>
          <a:p>
            <a:pPr indent="0" marL="0">
              <a:buNone/>
            </a:pPr>
            <a:r>
              <a:rPr lang="en-US" sz="880" dirty="0">
                <a:solidFill>
                  <a:srgbClr val="213547"/>
                </a:solidFill>
              </a:rPr>
              <a:t>It must also disclose bookmaker margin, source timestamp, and that the odds sample is illustrative.</a:t>
            </a:r>
            <a:endParaRPr lang="en-US" sz="880" dirty="0"/>
          </a:p>
        </p:txBody>
      </p:sp>
      <p:sp>
        <p:nvSpPr>
          <p:cNvPr id="11" name="Shape 7"/>
          <p:cNvSpPr/>
          <p:nvPr/>
        </p:nvSpPr>
        <p:spPr>
          <a:xfrm>
            <a:off x="594360" y="5257800"/>
            <a:ext cx="5120640" cy="822960"/>
          </a:xfrm>
          <a:prstGeom prst="roundRect">
            <a:avLst>
              <a:gd name="adj" fmla="val 8889"/>
            </a:avLst>
          </a:prstGeom>
          <a:solidFill>
            <a:srgbClr val="061222"/>
          </a:solidFill>
          <a:ln w="12700">
            <a:solidFill>
              <a:srgbClr val="1E4F72">
                <a:alpha val="90000"/>
              </a:srgbClr>
            </a:solidFill>
            <a:prstDash val="solid"/>
          </a:ln>
        </p:spPr>
      </p:sp>
      <p:sp>
        <p:nvSpPr>
          <p:cNvPr id="12" name="Text 8"/>
          <p:cNvSpPr/>
          <p:nvPr/>
        </p:nvSpPr>
        <p:spPr>
          <a:xfrm>
            <a:off x="713232" y="5349240"/>
            <a:ext cx="4882896" cy="164592"/>
          </a:xfrm>
          <a:prstGeom prst="rect">
            <a:avLst/>
          </a:prstGeom>
          <a:noFill/>
          <a:ln/>
        </p:spPr>
        <p:txBody>
          <a:bodyPr wrap="square" lIns="0" tIns="0" rIns="0" bIns="0" rtlCol="0" anchor="ctr"/>
          <a:lstStyle/>
          <a:p>
            <a:pPr indent="0" marL="0">
              <a:buNone/>
            </a:pPr>
            <a:r>
              <a:rPr lang="en-US" sz="750" b="1" dirty="0">
                <a:solidFill>
                  <a:srgbClr val="63D6C6"/>
                </a:solidFill>
              </a:rPr>
              <a:t>MCP tool</a:t>
            </a:r>
            <a:endParaRPr lang="en-US" sz="750" dirty="0"/>
          </a:p>
        </p:txBody>
      </p:sp>
      <p:sp>
        <p:nvSpPr>
          <p:cNvPr id="13" name="Text 9"/>
          <p:cNvSpPr/>
          <p:nvPr/>
        </p:nvSpPr>
        <p:spPr>
          <a:xfrm>
            <a:off x="713232" y="5641848"/>
            <a:ext cx="4882896" cy="36576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extract_market_baseline("USA", "Australia")</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 market_p_team_a_win, market_p_draw, market_p_team_b_win, bookmaker_margin }</a:t>
            </a:r>
            <a:endParaRPr lang="en-US" sz="740" dirty="0"/>
          </a:p>
        </p:txBody>
      </p:sp>
      <p:sp>
        <p:nvSpPr>
          <p:cNvPr id="14" name="Shape 10"/>
          <p:cNvSpPr/>
          <p:nvPr/>
        </p:nvSpPr>
        <p:spPr>
          <a:xfrm>
            <a:off x="5989320" y="5257800"/>
            <a:ext cx="5440680" cy="822960"/>
          </a:xfrm>
          <a:prstGeom prst="roundRect">
            <a:avLst>
              <a:gd name="adj" fmla="val 8889"/>
            </a:avLst>
          </a:prstGeom>
          <a:solidFill>
            <a:srgbClr val="061222"/>
          </a:solidFill>
          <a:ln w="12700">
            <a:solidFill>
              <a:srgbClr val="1E4F72">
                <a:alpha val="90000"/>
              </a:srgbClr>
            </a:solidFill>
            <a:prstDash val="solid"/>
          </a:ln>
        </p:spPr>
      </p:sp>
      <p:sp>
        <p:nvSpPr>
          <p:cNvPr id="15" name="Text 11"/>
          <p:cNvSpPr/>
          <p:nvPr/>
        </p:nvSpPr>
        <p:spPr>
          <a:xfrm>
            <a:off x="6108192" y="5349240"/>
            <a:ext cx="5202936" cy="164592"/>
          </a:xfrm>
          <a:prstGeom prst="rect">
            <a:avLst/>
          </a:prstGeom>
          <a:noFill/>
          <a:ln/>
        </p:spPr>
        <p:txBody>
          <a:bodyPr wrap="square" lIns="0" tIns="0" rIns="0" bIns="0" rtlCol="0" anchor="ctr"/>
          <a:lstStyle/>
          <a:p>
            <a:pPr indent="0" marL="0">
              <a:buNone/>
            </a:pPr>
            <a:r>
              <a:rPr lang="en-US" sz="750" b="1" dirty="0">
                <a:solidFill>
                  <a:srgbClr val="63D6C6"/>
                </a:solidFill>
              </a:rPr>
              <a:t>Claim contract</a:t>
            </a:r>
            <a:endParaRPr lang="en-US" sz="750" dirty="0"/>
          </a:p>
        </p:txBody>
      </p:sp>
      <p:sp>
        <p:nvSpPr>
          <p:cNvPr id="16" name="Text 12"/>
          <p:cNvSpPr/>
          <p:nvPr/>
        </p:nvSpPr>
        <p:spPr>
          <a:xfrm>
            <a:off x="6108192" y="5641848"/>
            <a:ext cx="5202936" cy="36576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model claim → model_output</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market claim → market_baseline</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citations: team priors + sample market odds + model</a:t>
            </a:r>
            <a:endParaRPr lang="en-US" sz="740" dirty="0"/>
          </a:p>
        </p:txBody>
      </p:sp>
      <p:sp>
        <p:nvSpPr>
          <p:cNvPr id="17" name="Text 13"/>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Demo priors, educational simulator — not betting advice</a:t>
            </a:r>
            <a:endParaRPr lang="en-US" sz="680" dirty="0"/>
          </a:p>
        </p:txBody>
      </p:sp>
      <p:sp>
        <p:nvSpPr>
          <p:cNvPr id="18" name="Text 14"/>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142B"/>
        </a:solidFill>
      </p:bgPr>
    </p:bg>
    <p:spTree>
      <p:nvGrpSpPr>
        <p:cNvPr id="1" name=""/>
        <p:cNvGrpSpPr/>
        <p:nvPr/>
      </p:nvGrpSpPr>
      <p:grpSpPr>
        <a:xfrm>
          <a:off x="0" y="0"/>
          <a:ext cx="0" cy="0"/>
          <a:chOff x="0" y="0"/>
          <a:chExt cx="0" cy="0"/>
        </a:xfrm>
      </p:grpSpPr>
      <p:sp>
        <p:nvSpPr>
          <p:cNvPr id="2"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PREDICTIONS → KNOCKOUT</a:t>
            </a:r>
            <a:endParaRPr lang="en-US" sz="850" dirty="0"/>
          </a:p>
        </p:txBody>
      </p:sp>
      <p:sp>
        <p:nvSpPr>
          <p:cNvPr id="3"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Knockout projection: the path narrows from 32 teams to one champion</a:t>
            </a:r>
            <a:endParaRPr lang="en-US" sz="2400" dirty="0"/>
          </a:p>
        </p:txBody>
      </p:sp>
      <p:sp>
        <p:nvSpPr>
          <p:cNvPr id="4" name="Shape 2"/>
          <p:cNvSpPr/>
          <p:nvPr/>
        </p:nvSpPr>
        <p:spPr>
          <a:xfrm>
            <a:off x="502920" y="1170432"/>
            <a:ext cx="11155680" cy="0"/>
          </a:xfrm>
          <a:prstGeom prst="line">
            <a:avLst/>
          </a:prstGeom>
          <a:noFill/>
          <a:ln w="13970">
            <a:solidFill>
              <a:srgbClr val="0F8D68">
                <a:alpha val="80000"/>
              </a:srgbClr>
            </a:solidFill>
            <a:prstDash val="solid"/>
          </a:ln>
        </p:spPr>
      </p:sp>
      <p:sp>
        <p:nvSpPr>
          <p:cNvPr id="5" name="Shape 3"/>
          <p:cNvSpPr/>
          <p:nvPr/>
        </p:nvSpPr>
        <p:spPr>
          <a:xfrm>
            <a:off x="594360" y="1325880"/>
            <a:ext cx="6492240" cy="4526280"/>
          </a:xfrm>
          <a:prstGeom prst="roundRect">
            <a:avLst>
              <a:gd name="adj" fmla="val 1616"/>
            </a:avLst>
          </a:prstGeom>
          <a:solidFill>
            <a:srgbClr val="071B36"/>
          </a:solidFill>
          <a:ln w="12700">
            <a:solidFill>
              <a:srgbClr val="1D5872">
                <a:alpha val="80000"/>
              </a:srgbClr>
            </a:solidFill>
            <a:prstDash val="solid"/>
          </a:ln>
        </p:spPr>
      </p:sp>
      <p:pic>
        <p:nvPicPr>
          <p:cNvPr id="6" name="Image 0" descr="/mnt/data/wc26_slide_work/deck_figures/approx_bracket_path.png">    </p:cNvPr>
          <p:cNvPicPr>
            <a:picLocks noChangeAspect="1"/>
          </p:cNvPicPr>
          <p:nvPr/>
        </p:nvPicPr>
        <p:blipFill>
          <a:blip r:embed="rId1"/>
          <a:stretch>
            <a:fillRect/>
          </a:stretch>
        </p:blipFill>
        <p:spPr>
          <a:xfrm>
            <a:off x="649224" y="1839578"/>
            <a:ext cx="6382512" cy="3498884"/>
          </a:xfrm>
          <a:prstGeom prst="rect">
            <a:avLst/>
          </a:prstGeom>
        </p:spPr>
      </p:pic>
      <p:sp>
        <p:nvSpPr>
          <p:cNvPr id="7" name="Shape 4"/>
          <p:cNvSpPr/>
          <p:nvPr/>
        </p:nvSpPr>
        <p:spPr>
          <a:xfrm>
            <a:off x="7360920" y="1325880"/>
            <a:ext cx="4160520" cy="2057400"/>
          </a:xfrm>
          <a:prstGeom prst="roundRect">
            <a:avLst>
              <a:gd name="adj" fmla="val 3556"/>
            </a:avLst>
          </a:prstGeom>
          <a:solidFill>
            <a:srgbClr val="FFFFFF">
              <a:alpha val="96000"/>
            </a:srgbClr>
          </a:solidFill>
          <a:ln w="12700">
            <a:solidFill>
              <a:srgbClr val="D7B65D">
                <a:alpha val="55000"/>
              </a:srgbClr>
            </a:solidFill>
            <a:prstDash val="solid"/>
          </a:ln>
        </p:spPr>
      </p:sp>
      <p:sp>
        <p:nvSpPr>
          <p:cNvPr id="8" name="Text 5"/>
          <p:cNvSpPr/>
          <p:nvPr/>
        </p:nvSpPr>
        <p:spPr>
          <a:xfrm>
            <a:off x="7507224" y="1444752"/>
            <a:ext cx="38679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Final in the demo path</a:t>
            </a:r>
            <a:endParaRPr lang="en-US" sz="1200" dirty="0"/>
          </a:p>
        </p:txBody>
      </p:sp>
      <p:sp>
        <p:nvSpPr>
          <p:cNvPr id="9" name="Text 6"/>
          <p:cNvSpPr/>
          <p:nvPr/>
        </p:nvSpPr>
        <p:spPr>
          <a:xfrm>
            <a:off x="7507224" y="1764792"/>
            <a:ext cx="3867912" cy="149047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Final: Argentina vs France</a:t>
            </a:r>
            <a:endParaRPr lang="en-US" sz="880" dirty="0"/>
          </a:p>
          <a:p>
            <a:pPr indent="0" marL="0">
              <a:buNone/>
            </a:pPr>
            <a:r>
              <a:rPr lang="en-US" sz="880" dirty="0">
                <a:solidFill>
                  <a:srgbClr val="213547"/>
                </a:solidFill>
              </a:rPr>
              <a:t>Projected winner: Argentina</a:t>
            </a:r>
            <a:endParaRPr lang="en-US" sz="880" dirty="0"/>
          </a:p>
          <a:p>
            <a:pPr indent="0" marL="0">
              <a:buNone/>
            </a:pPr>
            <a:r>
              <a:rPr lang="en-US" sz="880" dirty="0">
                <a:solidFill>
                  <a:srgbClr val="213547"/>
                </a:solidFill>
              </a:rPr>
              <a:t>Head-to-head win probability: 51.4%</a:t>
            </a:r>
            <a:endParaRPr lang="en-US" sz="880" dirty="0"/>
          </a:p>
          <a:p>
            <a:pPr indent="0" marL="0">
              <a:buNone/>
            </a:pPr>
            <a:endParaRPr lang="en-US" sz="880" dirty="0"/>
          </a:p>
          <a:p>
            <a:pPr indent="0" marL="0">
              <a:buNone/>
            </a:pPr>
            <a:r>
              <a:rPr lang="en-US" sz="880" dirty="0">
                <a:solidFill>
                  <a:srgbClr val="213547"/>
                </a:solidFill>
              </a:rPr>
              <a:t>This is a most-likely path, not a factual prediction of the official bracket.</a:t>
            </a:r>
            <a:endParaRPr lang="en-US" sz="880" dirty="0"/>
          </a:p>
        </p:txBody>
      </p:sp>
      <p:sp>
        <p:nvSpPr>
          <p:cNvPr id="10" name="Shape 7"/>
          <p:cNvSpPr/>
          <p:nvPr/>
        </p:nvSpPr>
        <p:spPr>
          <a:xfrm>
            <a:off x="7360920" y="3611880"/>
            <a:ext cx="4160520" cy="2240280"/>
          </a:xfrm>
          <a:prstGeom prst="roundRect">
            <a:avLst>
              <a:gd name="adj" fmla="val 3265"/>
            </a:avLst>
          </a:prstGeom>
          <a:solidFill>
            <a:srgbClr val="FFFFFF">
              <a:alpha val="96000"/>
            </a:srgbClr>
          </a:solidFill>
          <a:ln w="12700">
            <a:solidFill>
              <a:srgbClr val="0F8D68">
                <a:alpha val="55000"/>
              </a:srgbClr>
            </a:solidFill>
            <a:prstDash val="solid"/>
          </a:ln>
        </p:spPr>
      </p:sp>
      <p:sp>
        <p:nvSpPr>
          <p:cNvPr id="11" name="Text 8"/>
          <p:cNvSpPr/>
          <p:nvPr/>
        </p:nvSpPr>
        <p:spPr>
          <a:xfrm>
            <a:off x="7507224" y="3730752"/>
            <a:ext cx="38679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Agent engineering concept</a:t>
            </a:r>
            <a:endParaRPr lang="en-US" sz="1200" dirty="0"/>
          </a:p>
        </p:txBody>
      </p:sp>
      <p:sp>
        <p:nvSpPr>
          <p:cNvPr id="12" name="Text 9"/>
          <p:cNvSpPr/>
          <p:nvPr/>
        </p:nvSpPr>
        <p:spPr>
          <a:xfrm>
            <a:off x="7507224" y="4050792"/>
            <a:ext cx="3867912" cy="167335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The output needs a format note: “Approximate seeded knockout.”</a:t>
            </a:r>
            <a:endParaRPr lang="en-US" sz="880" dirty="0"/>
          </a:p>
          <a:p>
            <a:pPr indent="0" marL="0">
              <a:buNone/>
            </a:pPr>
            <a:endParaRPr lang="en-US" sz="880" dirty="0"/>
          </a:p>
          <a:p>
            <a:pPr indent="0" marL="0">
              <a:buNone/>
            </a:pPr>
            <a:r>
              <a:rPr lang="en-US" sz="880" dirty="0">
                <a:solidFill>
                  <a:srgbClr val="213547"/>
                </a:solidFill>
              </a:rPr>
              <a:t>Without that note, the agent would overstate a model simplification as if it were official tournament structure.</a:t>
            </a:r>
            <a:endParaRPr lang="en-US" sz="880" dirty="0"/>
          </a:p>
        </p:txBody>
      </p:sp>
      <p:sp>
        <p:nvSpPr>
          <p:cNvPr id="13" name="Text 10"/>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Knockout path uses an educational seeded approximation; exact FIFA bracket mapping is out of scope.</a:t>
            </a:r>
            <a:endParaRPr lang="en-US" sz="680" dirty="0"/>
          </a:p>
        </p:txBody>
      </p:sp>
      <p:sp>
        <p:nvSpPr>
          <p:cNvPr id="14" name="Text 11"/>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142B"/>
        </a:solidFill>
      </p:bgPr>
    </p:bg>
    <p:spTree>
      <p:nvGrpSpPr>
        <p:cNvPr id="1" name=""/>
        <p:cNvGrpSpPr/>
        <p:nvPr/>
      </p:nvGrpSpPr>
      <p:grpSpPr>
        <a:xfrm>
          <a:off x="0" y="0"/>
          <a:ext cx="0" cy="0"/>
          <a:chOff x="0" y="0"/>
          <a:chExt cx="0" cy="0"/>
        </a:xfrm>
      </p:grpSpPr>
      <p:pic>
        <p:nvPicPr>
          <p:cNvPr id="2" name="Image 0" descr="/mnt/data/wc26_slide_work/assets/stadium_hero_dark68.png">    </p:cNvPr>
          <p:cNvPicPr>
            <a:picLocks noChangeAspect="1"/>
          </p:cNvPicPr>
          <p:nvPr/>
        </p:nvPicPr>
        <p:blipFill>
          <a:blip r:embed="rId1"/>
          <a:srcRect l="1" r="1" t="0" b="0"/>
          <a:stretch/>
        </p:blipFill>
        <p:spPr>
          <a:xfrm>
            <a:off x="0" y="0"/>
            <a:ext cx="12191695" cy="6858000"/>
          </a:xfrm>
          <a:prstGeom prst="rect">
            <a:avLst/>
          </a:prstGeom>
        </p:spPr>
      </p:pic>
      <p:sp>
        <p:nvSpPr>
          <p:cNvPr id="3"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ARCHITECTURE</a:t>
            </a:r>
            <a:endParaRPr lang="en-US" sz="850" dirty="0"/>
          </a:p>
        </p:txBody>
      </p:sp>
      <p:sp>
        <p:nvSpPr>
          <p:cNvPr id="4"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The key design choice: the LLM is not the forecasting model</a:t>
            </a:r>
            <a:endParaRPr lang="en-US" sz="2400" dirty="0"/>
          </a:p>
        </p:txBody>
      </p:sp>
      <p:sp>
        <p:nvSpPr>
          <p:cNvPr id="5" name="Shape 2"/>
          <p:cNvSpPr/>
          <p:nvPr/>
        </p:nvSpPr>
        <p:spPr>
          <a:xfrm>
            <a:off x="502920" y="1170432"/>
            <a:ext cx="11155680" cy="0"/>
          </a:xfrm>
          <a:prstGeom prst="line">
            <a:avLst/>
          </a:prstGeom>
          <a:noFill/>
          <a:ln w="13970">
            <a:solidFill>
              <a:srgbClr val="0F8D68">
                <a:alpha val="80000"/>
              </a:srgbClr>
            </a:solidFill>
            <a:prstDash val="solid"/>
          </a:ln>
        </p:spPr>
      </p:sp>
      <p:sp>
        <p:nvSpPr>
          <p:cNvPr id="6" name="Shape 3"/>
          <p:cNvSpPr/>
          <p:nvPr/>
        </p:nvSpPr>
        <p:spPr>
          <a:xfrm>
            <a:off x="640080" y="1508760"/>
            <a:ext cx="2021373" cy="777240"/>
          </a:xfrm>
          <a:prstGeom prst="roundRect">
            <a:avLst>
              <a:gd name="adj" fmla="val 9412"/>
            </a:avLst>
          </a:prstGeom>
          <a:solidFill>
            <a:srgbClr val="08213D"/>
          </a:solidFill>
          <a:ln w="12700">
            <a:solidFill>
              <a:srgbClr val="0F8D68">
                <a:alpha val="90000"/>
              </a:srgbClr>
            </a:solidFill>
            <a:prstDash val="solid"/>
          </a:ln>
        </p:spPr>
      </p:sp>
      <p:sp>
        <p:nvSpPr>
          <p:cNvPr id="7" name="Text 4"/>
          <p:cNvSpPr/>
          <p:nvPr/>
        </p:nvSpPr>
        <p:spPr>
          <a:xfrm>
            <a:off x="713232" y="1627632"/>
            <a:ext cx="1875069"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USER</a:t>
            </a:r>
            <a:endParaRPr lang="en-US" sz="750" dirty="0"/>
          </a:p>
        </p:txBody>
      </p:sp>
      <p:sp>
        <p:nvSpPr>
          <p:cNvPr id="8" name="Text 5"/>
          <p:cNvSpPr/>
          <p:nvPr/>
        </p:nvSpPr>
        <p:spPr>
          <a:xfrm>
            <a:off x="713232" y="1865376"/>
            <a:ext cx="1875069"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Question</a:t>
            </a:r>
            <a:endParaRPr lang="en-US" sz="900" dirty="0"/>
          </a:p>
        </p:txBody>
      </p:sp>
      <p:sp>
        <p:nvSpPr>
          <p:cNvPr id="9" name="Shape 6"/>
          <p:cNvSpPr/>
          <p:nvPr/>
        </p:nvSpPr>
        <p:spPr>
          <a:xfrm>
            <a:off x="2688885" y="1901952"/>
            <a:ext cx="146304" cy="0"/>
          </a:xfrm>
          <a:prstGeom prst="line">
            <a:avLst/>
          </a:prstGeom>
          <a:noFill/>
          <a:ln w="17780">
            <a:solidFill>
              <a:srgbClr val="D7B65D"/>
            </a:solidFill>
            <a:prstDash val="solid"/>
            <a:headEnd type="none"/>
            <a:tailEnd type="triangle"/>
          </a:ln>
        </p:spPr>
      </p:sp>
      <p:sp>
        <p:nvSpPr>
          <p:cNvPr id="10" name="Shape 7"/>
          <p:cNvSpPr/>
          <p:nvPr/>
        </p:nvSpPr>
        <p:spPr>
          <a:xfrm>
            <a:off x="2862621" y="1508760"/>
            <a:ext cx="2021373" cy="777240"/>
          </a:xfrm>
          <a:prstGeom prst="roundRect">
            <a:avLst>
              <a:gd name="adj" fmla="val 9412"/>
            </a:avLst>
          </a:prstGeom>
          <a:solidFill>
            <a:srgbClr val="08213D"/>
          </a:solidFill>
          <a:ln w="12700">
            <a:solidFill>
              <a:srgbClr val="0F8D68">
                <a:alpha val="90000"/>
              </a:srgbClr>
            </a:solidFill>
            <a:prstDash val="solid"/>
          </a:ln>
        </p:spPr>
      </p:sp>
      <p:sp>
        <p:nvSpPr>
          <p:cNvPr id="11" name="Text 8"/>
          <p:cNvSpPr/>
          <p:nvPr/>
        </p:nvSpPr>
        <p:spPr>
          <a:xfrm>
            <a:off x="2935773" y="1627632"/>
            <a:ext cx="1875069" cy="164592"/>
          </a:xfrm>
          <a:prstGeom prst="rect">
            <a:avLst/>
          </a:prstGeom>
          <a:noFill/>
          <a:ln/>
        </p:spPr>
        <p:txBody>
          <a:bodyPr wrap="square" lIns="0" tIns="0" rIns="0" bIns="0" rtlCol="0" anchor="ctr">
            <a:normAutofit/>
          </a:bodyPr>
          <a:lstStyle/>
          <a:p>
            <a:pPr algn="ctr" indent="0" marL="0">
              <a:buNone/>
            </a:pPr>
            <a:r>
              <a:rPr lang="en-US" sz="750" b="1" dirty="0">
                <a:solidFill>
                  <a:srgbClr val="63D6C6"/>
                </a:solidFill>
              </a:rPr>
              <a:t>AGENT</a:t>
            </a:r>
            <a:endParaRPr lang="en-US" sz="750" dirty="0"/>
          </a:p>
        </p:txBody>
      </p:sp>
      <p:sp>
        <p:nvSpPr>
          <p:cNvPr id="12" name="Text 9"/>
          <p:cNvSpPr/>
          <p:nvPr/>
        </p:nvSpPr>
        <p:spPr>
          <a:xfrm>
            <a:off x="2935773" y="1865376"/>
            <a:ext cx="1875069"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gpt-5.4-nano</a:t>
            </a:r>
            <a:endParaRPr lang="en-US" sz="900" dirty="0"/>
          </a:p>
        </p:txBody>
      </p:sp>
      <p:sp>
        <p:nvSpPr>
          <p:cNvPr id="13" name="Shape 10"/>
          <p:cNvSpPr/>
          <p:nvPr/>
        </p:nvSpPr>
        <p:spPr>
          <a:xfrm>
            <a:off x="4911425" y="1901952"/>
            <a:ext cx="146304" cy="0"/>
          </a:xfrm>
          <a:prstGeom prst="line">
            <a:avLst/>
          </a:prstGeom>
          <a:noFill/>
          <a:ln w="17780">
            <a:solidFill>
              <a:srgbClr val="D7B65D"/>
            </a:solidFill>
            <a:prstDash val="solid"/>
            <a:headEnd type="none"/>
            <a:tailEnd type="triangle"/>
          </a:ln>
        </p:spPr>
      </p:sp>
      <p:sp>
        <p:nvSpPr>
          <p:cNvPr id="14" name="Shape 11"/>
          <p:cNvSpPr/>
          <p:nvPr/>
        </p:nvSpPr>
        <p:spPr>
          <a:xfrm>
            <a:off x="5085161" y="1508760"/>
            <a:ext cx="2021373" cy="777240"/>
          </a:xfrm>
          <a:prstGeom prst="roundRect">
            <a:avLst>
              <a:gd name="adj" fmla="val 9412"/>
            </a:avLst>
          </a:prstGeom>
          <a:solidFill>
            <a:srgbClr val="08213D"/>
          </a:solidFill>
          <a:ln w="12700">
            <a:solidFill>
              <a:srgbClr val="0F8D68">
                <a:alpha val="90000"/>
              </a:srgbClr>
            </a:solidFill>
            <a:prstDash val="solid"/>
          </a:ln>
        </p:spPr>
      </p:sp>
      <p:sp>
        <p:nvSpPr>
          <p:cNvPr id="15" name="Text 12"/>
          <p:cNvSpPr/>
          <p:nvPr/>
        </p:nvSpPr>
        <p:spPr>
          <a:xfrm>
            <a:off x="5158313" y="1627632"/>
            <a:ext cx="1875069"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PROTOCOL</a:t>
            </a:r>
            <a:endParaRPr lang="en-US" sz="750" dirty="0"/>
          </a:p>
        </p:txBody>
      </p:sp>
      <p:sp>
        <p:nvSpPr>
          <p:cNvPr id="16" name="Text 13"/>
          <p:cNvSpPr/>
          <p:nvPr/>
        </p:nvSpPr>
        <p:spPr>
          <a:xfrm>
            <a:off x="5158313" y="1865376"/>
            <a:ext cx="1875069"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MCP tools</a:t>
            </a:r>
            <a:endParaRPr lang="en-US" sz="900" dirty="0"/>
          </a:p>
        </p:txBody>
      </p:sp>
      <p:sp>
        <p:nvSpPr>
          <p:cNvPr id="17" name="Shape 14"/>
          <p:cNvSpPr/>
          <p:nvPr/>
        </p:nvSpPr>
        <p:spPr>
          <a:xfrm>
            <a:off x="7133966" y="1901952"/>
            <a:ext cx="146304" cy="0"/>
          </a:xfrm>
          <a:prstGeom prst="line">
            <a:avLst/>
          </a:prstGeom>
          <a:noFill/>
          <a:ln w="17780">
            <a:solidFill>
              <a:srgbClr val="D7B65D"/>
            </a:solidFill>
            <a:prstDash val="solid"/>
            <a:headEnd type="none"/>
            <a:tailEnd type="triangle"/>
          </a:ln>
        </p:spPr>
      </p:sp>
      <p:sp>
        <p:nvSpPr>
          <p:cNvPr id="18" name="Shape 15"/>
          <p:cNvSpPr/>
          <p:nvPr/>
        </p:nvSpPr>
        <p:spPr>
          <a:xfrm>
            <a:off x="7307702" y="1508760"/>
            <a:ext cx="2021373" cy="777240"/>
          </a:xfrm>
          <a:prstGeom prst="roundRect">
            <a:avLst>
              <a:gd name="adj" fmla="val 9412"/>
            </a:avLst>
          </a:prstGeom>
          <a:solidFill>
            <a:srgbClr val="08213D"/>
          </a:solidFill>
          <a:ln w="12700">
            <a:solidFill>
              <a:srgbClr val="0F8D68">
                <a:alpha val="90000"/>
              </a:srgbClr>
            </a:solidFill>
            <a:prstDash val="solid"/>
          </a:ln>
        </p:spPr>
      </p:sp>
      <p:sp>
        <p:nvSpPr>
          <p:cNvPr id="19" name="Text 16"/>
          <p:cNvSpPr/>
          <p:nvPr/>
        </p:nvSpPr>
        <p:spPr>
          <a:xfrm>
            <a:off x="7380854" y="1627632"/>
            <a:ext cx="1875069" cy="164592"/>
          </a:xfrm>
          <a:prstGeom prst="rect">
            <a:avLst/>
          </a:prstGeom>
          <a:noFill/>
          <a:ln/>
        </p:spPr>
        <p:txBody>
          <a:bodyPr wrap="square" lIns="0" tIns="0" rIns="0" bIns="0" rtlCol="0" anchor="ctr">
            <a:normAutofit/>
          </a:bodyPr>
          <a:lstStyle/>
          <a:p>
            <a:pPr algn="ctr" indent="0" marL="0">
              <a:buNone/>
            </a:pPr>
            <a:r>
              <a:rPr lang="en-US" sz="750" b="1" dirty="0">
                <a:solidFill>
                  <a:srgbClr val="63D6C6"/>
                </a:solidFill>
              </a:rPr>
              <a:t>ENGINE</a:t>
            </a:r>
            <a:endParaRPr lang="en-US" sz="750" dirty="0"/>
          </a:p>
        </p:txBody>
      </p:sp>
      <p:sp>
        <p:nvSpPr>
          <p:cNvPr id="20" name="Text 17"/>
          <p:cNvSpPr/>
          <p:nvPr/>
        </p:nvSpPr>
        <p:spPr>
          <a:xfrm>
            <a:off x="7380854" y="1865376"/>
            <a:ext cx="1875069"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Python simulator</a:t>
            </a:r>
            <a:endParaRPr lang="en-US" sz="900" dirty="0"/>
          </a:p>
        </p:txBody>
      </p:sp>
      <p:sp>
        <p:nvSpPr>
          <p:cNvPr id="21" name="Shape 18"/>
          <p:cNvSpPr/>
          <p:nvPr/>
        </p:nvSpPr>
        <p:spPr>
          <a:xfrm>
            <a:off x="9356507" y="1901952"/>
            <a:ext cx="146304" cy="0"/>
          </a:xfrm>
          <a:prstGeom prst="line">
            <a:avLst/>
          </a:prstGeom>
          <a:noFill/>
          <a:ln w="17780">
            <a:solidFill>
              <a:srgbClr val="D7B65D"/>
            </a:solidFill>
            <a:prstDash val="solid"/>
            <a:headEnd type="none"/>
            <a:tailEnd type="triangle"/>
          </a:ln>
        </p:spPr>
      </p:sp>
      <p:sp>
        <p:nvSpPr>
          <p:cNvPr id="22" name="Shape 19"/>
          <p:cNvSpPr/>
          <p:nvPr/>
        </p:nvSpPr>
        <p:spPr>
          <a:xfrm>
            <a:off x="9530243" y="1508760"/>
            <a:ext cx="2021373" cy="777240"/>
          </a:xfrm>
          <a:prstGeom prst="roundRect">
            <a:avLst>
              <a:gd name="adj" fmla="val 9412"/>
            </a:avLst>
          </a:prstGeom>
          <a:solidFill>
            <a:srgbClr val="08213D"/>
          </a:solidFill>
          <a:ln w="12700">
            <a:solidFill>
              <a:srgbClr val="0F8D68">
                <a:alpha val="90000"/>
              </a:srgbClr>
            </a:solidFill>
            <a:prstDash val="solid"/>
          </a:ln>
        </p:spPr>
      </p:sp>
      <p:sp>
        <p:nvSpPr>
          <p:cNvPr id="23" name="Text 20"/>
          <p:cNvSpPr/>
          <p:nvPr/>
        </p:nvSpPr>
        <p:spPr>
          <a:xfrm>
            <a:off x="9603395" y="1627632"/>
            <a:ext cx="1875069"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VAR</a:t>
            </a:r>
            <a:endParaRPr lang="en-US" sz="750" dirty="0"/>
          </a:p>
        </p:txBody>
      </p:sp>
      <p:sp>
        <p:nvSpPr>
          <p:cNvPr id="24" name="Text 21"/>
          <p:cNvSpPr/>
          <p:nvPr/>
        </p:nvSpPr>
        <p:spPr>
          <a:xfrm>
            <a:off x="9603395" y="1865376"/>
            <a:ext cx="1875069"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Verifier + eval</a:t>
            </a:r>
            <a:endParaRPr lang="en-US" sz="900" dirty="0"/>
          </a:p>
        </p:txBody>
      </p:sp>
      <p:sp>
        <p:nvSpPr>
          <p:cNvPr id="25" name="Shape 22"/>
          <p:cNvSpPr/>
          <p:nvPr/>
        </p:nvSpPr>
        <p:spPr>
          <a:xfrm>
            <a:off x="731520" y="2880360"/>
            <a:ext cx="5303520" cy="2240280"/>
          </a:xfrm>
          <a:prstGeom prst="roundRect">
            <a:avLst>
              <a:gd name="adj" fmla="val 3265"/>
            </a:avLst>
          </a:prstGeom>
          <a:solidFill>
            <a:srgbClr val="FFFFFF">
              <a:alpha val="96000"/>
            </a:srgbClr>
          </a:solidFill>
          <a:ln w="12700">
            <a:solidFill>
              <a:srgbClr val="63D6C6">
                <a:alpha val="55000"/>
              </a:srgbClr>
            </a:solidFill>
            <a:prstDash val="solid"/>
          </a:ln>
        </p:spPr>
      </p:sp>
      <p:sp>
        <p:nvSpPr>
          <p:cNvPr id="26" name="Text 23"/>
          <p:cNvSpPr/>
          <p:nvPr/>
        </p:nvSpPr>
        <p:spPr>
          <a:xfrm>
            <a:off x="877824" y="2999232"/>
            <a:ext cx="50109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What gpt-5.4-nano does</a:t>
            </a:r>
            <a:endParaRPr lang="en-US" sz="1200" dirty="0"/>
          </a:p>
        </p:txBody>
      </p:sp>
      <p:sp>
        <p:nvSpPr>
          <p:cNvPr id="27" name="Text 24"/>
          <p:cNvSpPr/>
          <p:nvPr/>
        </p:nvSpPr>
        <p:spPr>
          <a:xfrm>
            <a:off x="877824" y="3319272"/>
            <a:ext cx="5010912" cy="167335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 Route the question</a:t>
            </a:r>
            <a:endParaRPr lang="en-US" sz="880" dirty="0"/>
          </a:p>
          <a:p>
            <a:pPr indent="0" marL="0">
              <a:buNone/>
            </a:pPr>
            <a:r>
              <a:rPr lang="en-US" sz="880" dirty="0">
                <a:solidFill>
                  <a:srgbClr val="213547"/>
                </a:solidFill>
              </a:rPr>
              <a:t>• Select skills</a:t>
            </a:r>
            <a:endParaRPr lang="en-US" sz="880" dirty="0"/>
          </a:p>
          <a:p>
            <a:pPr indent="0" marL="0">
              <a:buNone/>
            </a:pPr>
            <a:r>
              <a:rPr lang="en-US" sz="880" dirty="0">
                <a:solidFill>
                  <a:srgbClr val="213547"/>
                </a:solidFill>
              </a:rPr>
              <a:t>• Call MCP tools</a:t>
            </a:r>
            <a:endParaRPr lang="en-US" sz="880" dirty="0"/>
          </a:p>
          <a:p>
            <a:pPr indent="0" marL="0">
              <a:buNone/>
            </a:pPr>
            <a:r>
              <a:rPr lang="en-US" sz="880" dirty="0">
                <a:solidFill>
                  <a:srgbClr val="213547"/>
                </a:solidFill>
              </a:rPr>
              <a:t>• Explain source status</a:t>
            </a:r>
            <a:endParaRPr lang="en-US" sz="880" dirty="0"/>
          </a:p>
          <a:p>
            <a:pPr indent="0" marL="0">
              <a:buNone/>
            </a:pPr>
            <a:r>
              <a:rPr lang="en-US" sz="880" dirty="0">
                <a:solidFill>
                  <a:srgbClr val="213547"/>
                </a:solidFill>
              </a:rPr>
              <a:t>• Format structured claims</a:t>
            </a:r>
            <a:endParaRPr lang="en-US" sz="880" dirty="0"/>
          </a:p>
          <a:p>
            <a:pPr indent="0" marL="0">
              <a:buNone/>
            </a:pPr>
            <a:r>
              <a:rPr lang="en-US" sz="880" dirty="0">
                <a:solidFill>
                  <a:srgbClr val="213547"/>
                </a:solidFill>
              </a:rPr>
              <a:t>• Refuse fake certainty</a:t>
            </a:r>
            <a:endParaRPr lang="en-US" sz="880" dirty="0"/>
          </a:p>
        </p:txBody>
      </p:sp>
      <p:sp>
        <p:nvSpPr>
          <p:cNvPr id="28" name="Shape 25"/>
          <p:cNvSpPr/>
          <p:nvPr/>
        </p:nvSpPr>
        <p:spPr>
          <a:xfrm>
            <a:off x="6355080" y="2880360"/>
            <a:ext cx="5074920" cy="2240280"/>
          </a:xfrm>
          <a:prstGeom prst="roundRect">
            <a:avLst>
              <a:gd name="adj" fmla="val 3265"/>
            </a:avLst>
          </a:prstGeom>
          <a:solidFill>
            <a:srgbClr val="FFFFFF">
              <a:alpha val="96000"/>
            </a:srgbClr>
          </a:solidFill>
          <a:ln w="12700">
            <a:solidFill>
              <a:srgbClr val="D7B65D">
                <a:alpha val="55000"/>
              </a:srgbClr>
            </a:solidFill>
            <a:prstDash val="solid"/>
          </a:ln>
        </p:spPr>
      </p:sp>
      <p:sp>
        <p:nvSpPr>
          <p:cNvPr id="29" name="Text 26"/>
          <p:cNvSpPr/>
          <p:nvPr/>
        </p:nvSpPr>
        <p:spPr>
          <a:xfrm>
            <a:off x="6501384" y="2999232"/>
            <a:ext cx="47823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What Python tools do</a:t>
            </a:r>
            <a:endParaRPr lang="en-US" sz="1200" dirty="0"/>
          </a:p>
        </p:txBody>
      </p:sp>
      <p:sp>
        <p:nvSpPr>
          <p:cNvPr id="30" name="Text 27"/>
          <p:cNvSpPr/>
          <p:nvPr/>
        </p:nvSpPr>
        <p:spPr>
          <a:xfrm>
            <a:off x="6501384" y="3319272"/>
            <a:ext cx="4782312" cy="167335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 Validate the field</a:t>
            </a:r>
            <a:endParaRPr lang="en-US" sz="880" dirty="0"/>
          </a:p>
          <a:p>
            <a:pPr indent="0" marL="0">
              <a:buNone/>
            </a:pPr>
            <a:r>
              <a:rPr lang="en-US" sz="880" dirty="0">
                <a:solidFill>
                  <a:srgbClr val="213547"/>
                </a:solidFill>
              </a:rPr>
              <a:t>• Retrieve source cards</a:t>
            </a:r>
            <a:endParaRPr lang="en-US" sz="880" dirty="0"/>
          </a:p>
          <a:p>
            <a:pPr indent="0" marL="0">
              <a:buNone/>
            </a:pPr>
            <a:r>
              <a:rPr lang="en-US" sz="880" dirty="0">
                <a:solidFill>
                  <a:srgbClr val="213547"/>
                </a:solidFill>
              </a:rPr>
              <a:t>• Compute match probabilities</a:t>
            </a:r>
            <a:endParaRPr lang="en-US" sz="880" dirty="0"/>
          </a:p>
          <a:p>
            <a:pPr indent="0" marL="0">
              <a:buNone/>
            </a:pPr>
            <a:r>
              <a:rPr lang="en-US" sz="880" dirty="0">
                <a:solidFill>
                  <a:srgbClr val="213547"/>
                </a:solidFill>
              </a:rPr>
              <a:t>• Run group simulations</a:t>
            </a:r>
            <a:endParaRPr lang="en-US" sz="880" dirty="0"/>
          </a:p>
          <a:p>
            <a:pPr indent="0" marL="0">
              <a:buNone/>
            </a:pPr>
            <a:r>
              <a:rPr lang="en-US" sz="880" dirty="0">
                <a:solidFill>
                  <a:srgbClr val="213547"/>
                </a:solidFill>
              </a:rPr>
              <a:t>• Run Monte Carlo tournaments</a:t>
            </a:r>
            <a:endParaRPr lang="en-US" sz="880" dirty="0"/>
          </a:p>
          <a:p>
            <a:pPr indent="0" marL="0">
              <a:buNone/>
            </a:pPr>
            <a:r>
              <a:rPr lang="en-US" sz="880" dirty="0">
                <a:solidFill>
                  <a:srgbClr val="213547"/>
                </a:solidFill>
              </a:rPr>
              <a:t>• Verify claim support</a:t>
            </a:r>
            <a:endParaRPr lang="en-US" sz="880" dirty="0"/>
          </a:p>
        </p:txBody>
      </p:sp>
      <p:sp>
        <p:nvSpPr>
          <p:cNvPr id="31" name="Text 28"/>
          <p:cNvSpPr/>
          <p:nvPr/>
        </p:nvSpPr>
        <p:spPr>
          <a:xfrm>
            <a:off x="822960" y="5577840"/>
            <a:ext cx="10515600" cy="320040"/>
          </a:xfrm>
          <a:prstGeom prst="rect">
            <a:avLst/>
          </a:prstGeom>
          <a:noFill/>
          <a:ln/>
        </p:spPr>
        <p:txBody>
          <a:bodyPr wrap="square" lIns="0" tIns="0" rIns="0" bIns="0" rtlCol="0" anchor="ctr">
            <a:normAutofit/>
          </a:bodyPr>
          <a:lstStyle/>
          <a:p>
            <a:pPr algn="ctr" indent="0" marL="0">
              <a:buNone/>
            </a:pPr>
            <a:r>
              <a:rPr lang="en-US" sz="1800" b="1" dirty="0">
                <a:solidFill>
                  <a:srgbClr val="F7FAFC"/>
                </a:solidFill>
              </a:rPr>
              <a:t>The model presents the forecast. The tools calculate it. The harness checks it.</a:t>
            </a:r>
            <a:endParaRPr lang="en-US" sz="1800" dirty="0"/>
          </a:p>
        </p:txBody>
      </p:sp>
      <p:sp>
        <p:nvSpPr>
          <p:cNvPr id="32" name="Text 29"/>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Live OpenAI examples default to gpt-5.4-nano. Offline notebook uses deterministic mock mode for reproducibility.</a:t>
            </a:r>
            <a:endParaRPr lang="en-US" sz="680" dirty="0"/>
          </a:p>
        </p:txBody>
      </p:sp>
      <p:sp>
        <p:nvSpPr>
          <p:cNvPr id="33" name="Text 30"/>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142B"/>
        </a:solidFill>
      </p:bgPr>
    </p:bg>
    <p:spTree>
      <p:nvGrpSpPr>
        <p:cNvPr id="1" name=""/>
        <p:cNvGrpSpPr/>
        <p:nvPr/>
      </p:nvGrpSpPr>
      <p:grpSpPr>
        <a:xfrm>
          <a:off x="0" y="0"/>
          <a:ext cx="0" cy="0"/>
          <a:chOff x="0" y="0"/>
          <a:chExt cx="0" cy="0"/>
        </a:xfrm>
      </p:grpSpPr>
      <p:sp>
        <p:nvSpPr>
          <p:cNvPr id="2"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PIPELINE</a:t>
            </a:r>
            <a:endParaRPr lang="en-US" sz="850" dirty="0"/>
          </a:p>
        </p:txBody>
      </p:sp>
      <p:sp>
        <p:nvSpPr>
          <p:cNvPr id="3"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Full technical map: 14-step walkthrough grouped into seven runtime layers</a:t>
            </a:r>
            <a:endParaRPr lang="en-US" sz="2400" dirty="0"/>
          </a:p>
        </p:txBody>
      </p:sp>
      <p:sp>
        <p:nvSpPr>
          <p:cNvPr id="4" name="Shape 2"/>
          <p:cNvSpPr/>
          <p:nvPr/>
        </p:nvSpPr>
        <p:spPr>
          <a:xfrm>
            <a:off x="502920" y="1170432"/>
            <a:ext cx="11155680" cy="0"/>
          </a:xfrm>
          <a:prstGeom prst="line">
            <a:avLst/>
          </a:prstGeom>
          <a:noFill/>
          <a:ln w="13970">
            <a:solidFill>
              <a:srgbClr val="0F8D68">
                <a:alpha val="80000"/>
              </a:srgbClr>
            </a:solidFill>
            <a:prstDash val="solid"/>
          </a:ln>
        </p:spPr>
      </p:sp>
      <p:sp>
        <p:nvSpPr>
          <p:cNvPr id="5" name="Shape 3"/>
          <p:cNvSpPr/>
          <p:nvPr/>
        </p:nvSpPr>
        <p:spPr>
          <a:xfrm>
            <a:off x="640080" y="1234440"/>
            <a:ext cx="1386361" cy="777240"/>
          </a:xfrm>
          <a:prstGeom prst="roundRect">
            <a:avLst>
              <a:gd name="adj" fmla="val 9412"/>
            </a:avLst>
          </a:prstGeom>
          <a:solidFill>
            <a:srgbClr val="08213D"/>
          </a:solidFill>
          <a:ln w="12700">
            <a:solidFill>
              <a:srgbClr val="0F8D68">
                <a:alpha val="90000"/>
              </a:srgbClr>
            </a:solidFill>
            <a:prstDash val="solid"/>
          </a:ln>
        </p:spPr>
      </p:sp>
      <p:sp>
        <p:nvSpPr>
          <p:cNvPr id="6" name="Text 4"/>
          <p:cNvSpPr/>
          <p:nvPr/>
        </p:nvSpPr>
        <p:spPr>
          <a:xfrm>
            <a:off x="713232" y="1353312"/>
            <a:ext cx="1240057"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1</a:t>
            </a:r>
            <a:endParaRPr lang="en-US" sz="750" dirty="0"/>
          </a:p>
        </p:txBody>
      </p:sp>
      <p:sp>
        <p:nvSpPr>
          <p:cNvPr id="7" name="Text 5"/>
          <p:cNvSpPr/>
          <p:nvPr/>
        </p:nvSpPr>
        <p:spPr>
          <a:xfrm>
            <a:off x="713232" y="1591056"/>
            <a:ext cx="1240057"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Source registry</a:t>
            </a:r>
            <a:endParaRPr lang="en-US" sz="900" dirty="0"/>
          </a:p>
        </p:txBody>
      </p:sp>
      <p:sp>
        <p:nvSpPr>
          <p:cNvPr id="8" name="Shape 6"/>
          <p:cNvSpPr/>
          <p:nvPr/>
        </p:nvSpPr>
        <p:spPr>
          <a:xfrm>
            <a:off x="2053873" y="1627632"/>
            <a:ext cx="146304" cy="0"/>
          </a:xfrm>
          <a:prstGeom prst="line">
            <a:avLst/>
          </a:prstGeom>
          <a:noFill/>
          <a:ln w="17780">
            <a:solidFill>
              <a:srgbClr val="D7B65D"/>
            </a:solidFill>
            <a:prstDash val="solid"/>
            <a:headEnd type="none"/>
            <a:tailEnd type="triangle"/>
          </a:ln>
        </p:spPr>
      </p:sp>
      <p:sp>
        <p:nvSpPr>
          <p:cNvPr id="9" name="Shape 7"/>
          <p:cNvSpPr/>
          <p:nvPr/>
        </p:nvSpPr>
        <p:spPr>
          <a:xfrm>
            <a:off x="2227609" y="1234440"/>
            <a:ext cx="1386361" cy="777240"/>
          </a:xfrm>
          <a:prstGeom prst="roundRect">
            <a:avLst>
              <a:gd name="adj" fmla="val 9412"/>
            </a:avLst>
          </a:prstGeom>
          <a:solidFill>
            <a:srgbClr val="08213D"/>
          </a:solidFill>
          <a:ln w="12700">
            <a:solidFill>
              <a:srgbClr val="0F8D68">
                <a:alpha val="90000"/>
              </a:srgbClr>
            </a:solidFill>
            <a:prstDash val="solid"/>
          </a:ln>
        </p:spPr>
      </p:sp>
      <p:sp>
        <p:nvSpPr>
          <p:cNvPr id="10" name="Text 8"/>
          <p:cNvSpPr/>
          <p:nvPr/>
        </p:nvSpPr>
        <p:spPr>
          <a:xfrm>
            <a:off x="2300761" y="1353312"/>
            <a:ext cx="1240057"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2</a:t>
            </a:r>
            <a:endParaRPr lang="en-US" sz="750" dirty="0"/>
          </a:p>
        </p:txBody>
      </p:sp>
      <p:sp>
        <p:nvSpPr>
          <p:cNvPr id="11" name="Text 9"/>
          <p:cNvSpPr/>
          <p:nvPr/>
        </p:nvSpPr>
        <p:spPr>
          <a:xfrm>
            <a:off x="2300761" y="1591056"/>
            <a:ext cx="1240057"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Pre-flight</a:t>
            </a:r>
            <a:endParaRPr lang="en-US" sz="900" dirty="0"/>
          </a:p>
        </p:txBody>
      </p:sp>
      <p:sp>
        <p:nvSpPr>
          <p:cNvPr id="12" name="Shape 10"/>
          <p:cNvSpPr/>
          <p:nvPr/>
        </p:nvSpPr>
        <p:spPr>
          <a:xfrm>
            <a:off x="3641402" y="1627632"/>
            <a:ext cx="146304" cy="0"/>
          </a:xfrm>
          <a:prstGeom prst="line">
            <a:avLst/>
          </a:prstGeom>
          <a:noFill/>
          <a:ln w="17780">
            <a:solidFill>
              <a:srgbClr val="D7B65D"/>
            </a:solidFill>
            <a:prstDash val="solid"/>
            <a:headEnd type="none"/>
            <a:tailEnd type="triangle"/>
          </a:ln>
        </p:spPr>
      </p:sp>
      <p:sp>
        <p:nvSpPr>
          <p:cNvPr id="13" name="Shape 11"/>
          <p:cNvSpPr/>
          <p:nvPr/>
        </p:nvSpPr>
        <p:spPr>
          <a:xfrm>
            <a:off x="3815138" y="1234440"/>
            <a:ext cx="1386361" cy="777240"/>
          </a:xfrm>
          <a:prstGeom prst="roundRect">
            <a:avLst>
              <a:gd name="adj" fmla="val 9412"/>
            </a:avLst>
          </a:prstGeom>
          <a:solidFill>
            <a:srgbClr val="08213D"/>
          </a:solidFill>
          <a:ln w="12700">
            <a:solidFill>
              <a:srgbClr val="0F8D68">
                <a:alpha val="90000"/>
              </a:srgbClr>
            </a:solidFill>
            <a:prstDash val="solid"/>
          </a:ln>
        </p:spPr>
      </p:sp>
      <p:sp>
        <p:nvSpPr>
          <p:cNvPr id="14" name="Text 12"/>
          <p:cNvSpPr/>
          <p:nvPr/>
        </p:nvSpPr>
        <p:spPr>
          <a:xfrm>
            <a:off x="3888290" y="1353312"/>
            <a:ext cx="1240057"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3</a:t>
            </a:r>
            <a:endParaRPr lang="en-US" sz="750" dirty="0"/>
          </a:p>
        </p:txBody>
      </p:sp>
      <p:sp>
        <p:nvSpPr>
          <p:cNvPr id="15" name="Text 13"/>
          <p:cNvSpPr/>
          <p:nvPr/>
        </p:nvSpPr>
        <p:spPr>
          <a:xfrm>
            <a:off x="3888290" y="1591056"/>
            <a:ext cx="1240057"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RAG</a:t>
            </a:r>
            <a:endParaRPr lang="en-US" sz="900" dirty="0"/>
          </a:p>
        </p:txBody>
      </p:sp>
      <p:sp>
        <p:nvSpPr>
          <p:cNvPr id="16" name="Shape 14"/>
          <p:cNvSpPr/>
          <p:nvPr/>
        </p:nvSpPr>
        <p:spPr>
          <a:xfrm>
            <a:off x="5228931" y="1627632"/>
            <a:ext cx="146304" cy="0"/>
          </a:xfrm>
          <a:prstGeom prst="line">
            <a:avLst/>
          </a:prstGeom>
          <a:noFill/>
          <a:ln w="17780">
            <a:solidFill>
              <a:srgbClr val="D7B65D"/>
            </a:solidFill>
            <a:prstDash val="solid"/>
            <a:headEnd type="none"/>
            <a:tailEnd type="triangle"/>
          </a:ln>
        </p:spPr>
      </p:sp>
      <p:sp>
        <p:nvSpPr>
          <p:cNvPr id="17" name="Shape 15"/>
          <p:cNvSpPr/>
          <p:nvPr/>
        </p:nvSpPr>
        <p:spPr>
          <a:xfrm>
            <a:off x="5402667" y="1234440"/>
            <a:ext cx="1386361" cy="777240"/>
          </a:xfrm>
          <a:prstGeom prst="roundRect">
            <a:avLst>
              <a:gd name="adj" fmla="val 9412"/>
            </a:avLst>
          </a:prstGeom>
          <a:solidFill>
            <a:srgbClr val="08213D"/>
          </a:solidFill>
          <a:ln w="12700">
            <a:solidFill>
              <a:srgbClr val="0F8D68">
                <a:alpha val="90000"/>
              </a:srgbClr>
            </a:solidFill>
            <a:prstDash val="solid"/>
          </a:ln>
        </p:spPr>
      </p:sp>
      <p:sp>
        <p:nvSpPr>
          <p:cNvPr id="18" name="Text 16"/>
          <p:cNvSpPr/>
          <p:nvPr/>
        </p:nvSpPr>
        <p:spPr>
          <a:xfrm>
            <a:off x="5475819" y="1353312"/>
            <a:ext cx="1240057"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4</a:t>
            </a:r>
            <a:endParaRPr lang="en-US" sz="750" dirty="0"/>
          </a:p>
        </p:txBody>
      </p:sp>
      <p:sp>
        <p:nvSpPr>
          <p:cNvPr id="19" name="Text 17"/>
          <p:cNvSpPr/>
          <p:nvPr/>
        </p:nvSpPr>
        <p:spPr>
          <a:xfrm>
            <a:off x="5475819" y="1591056"/>
            <a:ext cx="1240057"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Skills</a:t>
            </a:r>
            <a:endParaRPr lang="en-US" sz="900" dirty="0"/>
          </a:p>
        </p:txBody>
      </p:sp>
      <p:sp>
        <p:nvSpPr>
          <p:cNvPr id="20" name="Shape 18"/>
          <p:cNvSpPr/>
          <p:nvPr/>
        </p:nvSpPr>
        <p:spPr>
          <a:xfrm>
            <a:off x="6816460" y="1627632"/>
            <a:ext cx="146304" cy="0"/>
          </a:xfrm>
          <a:prstGeom prst="line">
            <a:avLst/>
          </a:prstGeom>
          <a:noFill/>
          <a:ln w="17780">
            <a:solidFill>
              <a:srgbClr val="D7B65D"/>
            </a:solidFill>
            <a:prstDash val="solid"/>
            <a:headEnd type="none"/>
            <a:tailEnd type="triangle"/>
          </a:ln>
        </p:spPr>
      </p:sp>
      <p:sp>
        <p:nvSpPr>
          <p:cNvPr id="21" name="Shape 19"/>
          <p:cNvSpPr/>
          <p:nvPr/>
        </p:nvSpPr>
        <p:spPr>
          <a:xfrm>
            <a:off x="6990196" y="1234440"/>
            <a:ext cx="1386361" cy="777240"/>
          </a:xfrm>
          <a:prstGeom prst="roundRect">
            <a:avLst>
              <a:gd name="adj" fmla="val 9412"/>
            </a:avLst>
          </a:prstGeom>
          <a:solidFill>
            <a:srgbClr val="08213D"/>
          </a:solidFill>
          <a:ln w="12700">
            <a:solidFill>
              <a:srgbClr val="0F8D68">
                <a:alpha val="90000"/>
              </a:srgbClr>
            </a:solidFill>
            <a:prstDash val="solid"/>
          </a:ln>
        </p:spPr>
      </p:sp>
      <p:sp>
        <p:nvSpPr>
          <p:cNvPr id="22" name="Text 20"/>
          <p:cNvSpPr/>
          <p:nvPr/>
        </p:nvSpPr>
        <p:spPr>
          <a:xfrm>
            <a:off x="7063348" y="1353312"/>
            <a:ext cx="1240057"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5</a:t>
            </a:r>
            <a:endParaRPr lang="en-US" sz="750" dirty="0"/>
          </a:p>
        </p:txBody>
      </p:sp>
      <p:sp>
        <p:nvSpPr>
          <p:cNvPr id="23" name="Text 21"/>
          <p:cNvSpPr/>
          <p:nvPr/>
        </p:nvSpPr>
        <p:spPr>
          <a:xfrm>
            <a:off x="7063348" y="1591056"/>
            <a:ext cx="1240057"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MCP</a:t>
            </a:r>
            <a:endParaRPr lang="en-US" sz="900" dirty="0"/>
          </a:p>
        </p:txBody>
      </p:sp>
      <p:sp>
        <p:nvSpPr>
          <p:cNvPr id="24" name="Shape 22"/>
          <p:cNvSpPr/>
          <p:nvPr/>
        </p:nvSpPr>
        <p:spPr>
          <a:xfrm>
            <a:off x="8403989" y="1627632"/>
            <a:ext cx="146304" cy="0"/>
          </a:xfrm>
          <a:prstGeom prst="line">
            <a:avLst/>
          </a:prstGeom>
          <a:noFill/>
          <a:ln w="17780">
            <a:solidFill>
              <a:srgbClr val="D7B65D"/>
            </a:solidFill>
            <a:prstDash val="solid"/>
            <a:headEnd type="none"/>
            <a:tailEnd type="triangle"/>
          </a:ln>
        </p:spPr>
      </p:sp>
      <p:sp>
        <p:nvSpPr>
          <p:cNvPr id="25" name="Shape 23"/>
          <p:cNvSpPr/>
          <p:nvPr/>
        </p:nvSpPr>
        <p:spPr>
          <a:xfrm>
            <a:off x="8577725" y="1234440"/>
            <a:ext cx="1386361" cy="777240"/>
          </a:xfrm>
          <a:prstGeom prst="roundRect">
            <a:avLst>
              <a:gd name="adj" fmla="val 9412"/>
            </a:avLst>
          </a:prstGeom>
          <a:solidFill>
            <a:srgbClr val="08213D"/>
          </a:solidFill>
          <a:ln w="12700">
            <a:solidFill>
              <a:srgbClr val="0F8D68">
                <a:alpha val="90000"/>
              </a:srgbClr>
            </a:solidFill>
            <a:prstDash val="solid"/>
          </a:ln>
        </p:spPr>
      </p:sp>
      <p:sp>
        <p:nvSpPr>
          <p:cNvPr id="26" name="Text 24"/>
          <p:cNvSpPr/>
          <p:nvPr/>
        </p:nvSpPr>
        <p:spPr>
          <a:xfrm>
            <a:off x="8650877" y="1353312"/>
            <a:ext cx="1240057"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6–11</a:t>
            </a:r>
            <a:endParaRPr lang="en-US" sz="750" dirty="0"/>
          </a:p>
        </p:txBody>
      </p:sp>
      <p:sp>
        <p:nvSpPr>
          <p:cNvPr id="27" name="Text 25"/>
          <p:cNvSpPr/>
          <p:nvPr/>
        </p:nvSpPr>
        <p:spPr>
          <a:xfrm>
            <a:off x="8650877" y="1591056"/>
            <a:ext cx="1240057"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Forecast tools</a:t>
            </a:r>
            <a:endParaRPr lang="en-US" sz="900" dirty="0"/>
          </a:p>
        </p:txBody>
      </p:sp>
      <p:sp>
        <p:nvSpPr>
          <p:cNvPr id="28" name="Shape 26"/>
          <p:cNvSpPr/>
          <p:nvPr/>
        </p:nvSpPr>
        <p:spPr>
          <a:xfrm>
            <a:off x="9991518" y="1627632"/>
            <a:ext cx="146304" cy="0"/>
          </a:xfrm>
          <a:prstGeom prst="line">
            <a:avLst/>
          </a:prstGeom>
          <a:noFill/>
          <a:ln w="17780">
            <a:solidFill>
              <a:srgbClr val="D7B65D"/>
            </a:solidFill>
            <a:prstDash val="solid"/>
            <a:headEnd type="none"/>
            <a:tailEnd type="triangle"/>
          </a:ln>
        </p:spPr>
      </p:sp>
      <p:sp>
        <p:nvSpPr>
          <p:cNvPr id="29" name="Shape 27"/>
          <p:cNvSpPr/>
          <p:nvPr/>
        </p:nvSpPr>
        <p:spPr>
          <a:xfrm>
            <a:off x="10165254" y="1234440"/>
            <a:ext cx="1386361" cy="777240"/>
          </a:xfrm>
          <a:prstGeom prst="roundRect">
            <a:avLst>
              <a:gd name="adj" fmla="val 9412"/>
            </a:avLst>
          </a:prstGeom>
          <a:solidFill>
            <a:srgbClr val="08213D"/>
          </a:solidFill>
          <a:ln w="12700">
            <a:solidFill>
              <a:srgbClr val="0F8D68">
                <a:alpha val="90000"/>
              </a:srgbClr>
            </a:solidFill>
            <a:prstDash val="solid"/>
          </a:ln>
        </p:spPr>
      </p:sp>
      <p:sp>
        <p:nvSpPr>
          <p:cNvPr id="30" name="Text 28"/>
          <p:cNvSpPr/>
          <p:nvPr/>
        </p:nvSpPr>
        <p:spPr>
          <a:xfrm>
            <a:off x="10238406" y="1353312"/>
            <a:ext cx="1240057"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12–14</a:t>
            </a:r>
            <a:endParaRPr lang="en-US" sz="750" dirty="0"/>
          </a:p>
        </p:txBody>
      </p:sp>
      <p:sp>
        <p:nvSpPr>
          <p:cNvPr id="31" name="Text 29"/>
          <p:cNvSpPr/>
          <p:nvPr/>
        </p:nvSpPr>
        <p:spPr>
          <a:xfrm>
            <a:off x="10238406" y="1591056"/>
            <a:ext cx="1240057"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Output + QA</a:t>
            </a:r>
            <a:endParaRPr lang="en-US" sz="900" dirty="0"/>
          </a:p>
        </p:txBody>
      </p:sp>
      <p:sp>
        <p:nvSpPr>
          <p:cNvPr id="32" name="Shape 30"/>
          <p:cNvSpPr/>
          <p:nvPr/>
        </p:nvSpPr>
        <p:spPr>
          <a:xfrm>
            <a:off x="594360" y="2331720"/>
            <a:ext cx="5303520" cy="731520"/>
          </a:xfrm>
          <a:prstGeom prst="roundRect">
            <a:avLst>
              <a:gd name="adj" fmla="val 10000"/>
            </a:avLst>
          </a:prstGeom>
          <a:solidFill>
            <a:srgbClr val="FFFFFF">
              <a:alpha val="96000"/>
            </a:srgbClr>
          </a:solidFill>
          <a:ln w="12700">
            <a:solidFill>
              <a:srgbClr val="0F8D68">
                <a:alpha val="55000"/>
              </a:srgbClr>
            </a:solidFill>
            <a:prstDash val="solid"/>
          </a:ln>
        </p:spPr>
      </p:sp>
      <p:sp>
        <p:nvSpPr>
          <p:cNvPr id="33" name="Text 31"/>
          <p:cNvSpPr/>
          <p:nvPr/>
        </p:nvSpPr>
        <p:spPr>
          <a:xfrm>
            <a:off x="740664" y="2450592"/>
            <a:ext cx="50109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Source registry</a:t>
            </a:r>
            <a:endParaRPr lang="en-US" sz="1200" dirty="0"/>
          </a:p>
        </p:txBody>
      </p:sp>
      <p:sp>
        <p:nvSpPr>
          <p:cNvPr id="34" name="Text 32"/>
          <p:cNvSpPr/>
          <p:nvPr/>
        </p:nvSpPr>
        <p:spPr>
          <a:xfrm>
            <a:off x="740664" y="2770632"/>
            <a:ext cx="5010912" cy="16459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Allowed sources, statuses, demo/live policy, adapter slots.</a:t>
            </a:r>
            <a:endParaRPr lang="en-US" sz="880" dirty="0"/>
          </a:p>
        </p:txBody>
      </p:sp>
      <p:sp>
        <p:nvSpPr>
          <p:cNvPr id="35" name="Shape 33"/>
          <p:cNvSpPr/>
          <p:nvPr/>
        </p:nvSpPr>
        <p:spPr>
          <a:xfrm>
            <a:off x="6217920" y="2331720"/>
            <a:ext cx="5303520" cy="731520"/>
          </a:xfrm>
          <a:prstGeom prst="roundRect">
            <a:avLst>
              <a:gd name="adj" fmla="val 10000"/>
            </a:avLst>
          </a:prstGeom>
          <a:solidFill>
            <a:srgbClr val="FFFFFF">
              <a:alpha val="96000"/>
            </a:srgbClr>
          </a:solidFill>
          <a:ln w="12700">
            <a:solidFill>
              <a:srgbClr val="D7B65D">
                <a:alpha val="55000"/>
              </a:srgbClr>
            </a:solidFill>
            <a:prstDash val="solid"/>
          </a:ln>
        </p:spPr>
      </p:sp>
      <p:sp>
        <p:nvSpPr>
          <p:cNvPr id="36" name="Text 34"/>
          <p:cNvSpPr/>
          <p:nvPr/>
        </p:nvSpPr>
        <p:spPr>
          <a:xfrm>
            <a:off x="6364224" y="2450592"/>
            <a:ext cx="50109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Pre-flight</a:t>
            </a:r>
            <a:endParaRPr lang="en-US" sz="1200" dirty="0"/>
          </a:p>
        </p:txBody>
      </p:sp>
      <p:sp>
        <p:nvSpPr>
          <p:cNvPr id="37" name="Text 35"/>
          <p:cNvSpPr/>
          <p:nvPr/>
        </p:nvSpPr>
        <p:spPr>
          <a:xfrm>
            <a:off x="6364224" y="2770632"/>
            <a:ext cx="5010912" cy="16459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Validate field, feature rows, and evidence before retrieval or forecasting.</a:t>
            </a:r>
            <a:endParaRPr lang="en-US" sz="880" dirty="0"/>
          </a:p>
        </p:txBody>
      </p:sp>
      <p:sp>
        <p:nvSpPr>
          <p:cNvPr id="38" name="Shape 36"/>
          <p:cNvSpPr/>
          <p:nvPr/>
        </p:nvSpPr>
        <p:spPr>
          <a:xfrm>
            <a:off x="594360" y="3246120"/>
            <a:ext cx="5303520" cy="731520"/>
          </a:xfrm>
          <a:prstGeom prst="roundRect">
            <a:avLst>
              <a:gd name="adj" fmla="val 10000"/>
            </a:avLst>
          </a:prstGeom>
          <a:solidFill>
            <a:srgbClr val="FFFFFF">
              <a:alpha val="96000"/>
            </a:srgbClr>
          </a:solidFill>
          <a:ln w="12700">
            <a:solidFill>
              <a:srgbClr val="0F8D68">
                <a:alpha val="55000"/>
              </a:srgbClr>
            </a:solidFill>
            <a:prstDash val="solid"/>
          </a:ln>
        </p:spPr>
      </p:sp>
      <p:sp>
        <p:nvSpPr>
          <p:cNvPr id="39" name="Text 37"/>
          <p:cNvSpPr/>
          <p:nvPr/>
        </p:nvSpPr>
        <p:spPr>
          <a:xfrm>
            <a:off x="740664" y="3364992"/>
            <a:ext cx="50109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RAG</a:t>
            </a:r>
            <a:endParaRPr lang="en-US" sz="1200" dirty="0"/>
          </a:p>
        </p:txBody>
      </p:sp>
      <p:sp>
        <p:nvSpPr>
          <p:cNvPr id="40" name="Text 38"/>
          <p:cNvSpPr/>
          <p:nvPr/>
        </p:nvSpPr>
        <p:spPr>
          <a:xfrm>
            <a:off x="740664" y="3685032"/>
            <a:ext cx="5010912" cy="16459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Retrieve source cards after pre-flight passes; evidence is candidate support.</a:t>
            </a:r>
            <a:endParaRPr lang="en-US" sz="880" dirty="0"/>
          </a:p>
        </p:txBody>
      </p:sp>
      <p:sp>
        <p:nvSpPr>
          <p:cNvPr id="41" name="Shape 39"/>
          <p:cNvSpPr/>
          <p:nvPr/>
        </p:nvSpPr>
        <p:spPr>
          <a:xfrm>
            <a:off x="6217920" y="3246120"/>
            <a:ext cx="5303520" cy="731520"/>
          </a:xfrm>
          <a:prstGeom prst="roundRect">
            <a:avLst>
              <a:gd name="adj" fmla="val 10000"/>
            </a:avLst>
          </a:prstGeom>
          <a:solidFill>
            <a:srgbClr val="FFFFFF">
              <a:alpha val="96000"/>
            </a:srgbClr>
          </a:solidFill>
          <a:ln w="12700">
            <a:solidFill>
              <a:srgbClr val="D7B65D">
                <a:alpha val="55000"/>
              </a:srgbClr>
            </a:solidFill>
            <a:prstDash val="solid"/>
          </a:ln>
        </p:spPr>
      </p:sp>
      <p:sp>
        <p:nvSpPr>
          <p:cNvPr id="42" name="Text 40"/>
          <p:cNvSpPr/>
          <p:nvPr/>
        </p:nvSpPr>
        <p:spPr>
          <a:xfrm>
            <a:off x="6364224" y="3364992"/>
            <a:ext cx="50109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Skills</a:t>
            </a:r>
            <a:endParaRPr lang="en-US" sz="1200" dirty="0"/>
          </a:p>
        </p:txBody>
      </p:sp>
      <p:sp>
        <p:nvSpPr>
          <p:cNvPr id="43" name="Text 41"/>
          <p:cNvSpPr/>
          <p:nvPr/>
        </p:nvSpPr>
        <p:spPr>
          <a:xfrm>
            <a:off x="6364224" y="3685032"/>
            <a:ext cx="5010912" cy="16459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Procedures for source triage, forecast modelling, uncertainty, and eval review.</a:t>
            </a:r>
            <a:endParaRPr lang="en-US" sz="880" dirty="0"/>
          </a:p>
        </p:txBody>
      </p:sp>
      <p:sp>
        <p:nvSpPr>
          <p:cNvPr id="44" name="Shape 42"/>
          <p:cNvSpPr/>
          <p:nvPr/>
        </p:nvSpPr>
        <p:spPr>
          <a:xfrm>
            <a:off x="594360" y="4160520"/>
            <a:ext cx="5303520" cy="731520"/>
          </a:xfrm>
          <a:prstGeom prst="roundRect">
            <a:avLst>
              <a:gd name="adj" fmla="val 10000"/>
            </a:avLst>
          </a:prstGeom>
          <a:solidFill>
            <a:srgbClr val="FFFFFF">
              <a:alpha val="96000"/>
            </a:srgbClr>
          </a:solidFill>
          <a:ln w="12700">
            <a:solidFill>
              <a:srgbClr val="0F8D68">
                <a:alpha val="55000"/>
              </a:srgbClr>
            </a:solidFill>
            <a:prstDash val="solid"/>
          </a:ln>
        </p:spPr>
      </p:sp>
      <p:sp>
        <p:nvSpPr>
          <p:cNvPr id="45" name="Text 43"/>
          <p:cNvSpPr/>
          <p:nvPr/>
        </p:nvSpPr>
        <p:spPr>
          <a:xfrm>
            <a:off x="740664" y="4279392"/>
            <a:ext cx="50109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Forecast tools</a:t>
            </a:r>
            <a:endParaRPr lang="en-US" sz="1200" dirty="0"/>
          </a:p>
        </p:txBody>
      </p:sp>
      <p:sp>
        <p:nvSpPr>
          <p:cNvPr id="46" name="Text 44"/>
          <p:cNvSpPr/>
          <p:nvPr/>
        </p:nvSpPr>
        <p:spPr>
          <a:xfrm>
            <a:off x="740664" y="4599432"/>
            <a:ext cx="5010912" cy="16459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Grounding split, match model, group simulation, Monte Carlo, rolling state.</a:t>
            </a:r>
            <a:endParaRPr lang="en-US" sz="880" dirty="0"/>
          </a:p>
        </p:txBody>
      </p:sp>
      <p:sp>
        <p:nvSpPr>
          <p:cNvPr id="47" name="Shape 45"/>
          <p:cNvSpPr/>
          <p:nvPr/>
        </p:nvSpPr>
        <p:spPr>
          <a:xfrm>
            <a:off x="6217920" y="4160520"/>
            <a:ext cx="5303520" cy="731520"/>
          </a:xfrm>
          <a:prstGeom prst="roundRect">
            <a:avLst>
              <a:gd name="adj" fmla="val 10000"/>
            </a:avLst>
          </a:prstGeom>
          <a:solidFill>
            <a:srgbClr val="FFFFFF">
              <a:alpha val="96000"/>
            </a:srgbClr>
          </a:solidFill>
          <a:ln w="12700">
            <a:solidFill>
              <a:srgbClr val="D7B65D">
                <a:alpha val="55000"/>
              </a:srgbClr>
            </a:solidFill>
            <a:prstDash val="solid"/>
          </a:ln>
        </p:spPr>
      </p:sp>
      <p:sp>
        <p:nvSpPr>
          <p:cNvPr id="48" name="Text 46"/>
          <p:cNvSpPr/>
          <p:nvPr/>
        </p:nvSpPr>
        <p:spPr>
          <a:xfrm>
            <a:off x="6364224" y="4279392"/>
            <a:ext cx="50109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Output + claims</a:t>
            </a:r>
            <a:endParaRPr lang="en-US" sz="1200" dirty="0"/>
          </a:p>
        </p:txBody>
      </p:sp>
      <p:sp>
        <p:nvSpPr>
          <p:cNvPr id="49" name="Text 47"/>
          <p:cNvSpPr/>
          <p:nvPr/>
        </p:nvSpPr>
        <p:spPr>
          <a:xfrm>
            <a:off x="6364224" y="4599432"/>
            <a:ext cx="5010912" cy="16459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Structured answer with typed claims, citations, warnings, abstention, metadata.</a:t>
            </a:r>
            <a:endParaRPr lang="en-US" sz="880" dirty="0"/>
          </a:p>
        </p:txBody>
      </p:sp>
      <p:sp>
        <p:nvSpPr>
          <p:cNvPr id="50" name="Shape 48"/>
          <p:cNvSpPr/>
          <p:nvPr/>
        </p:nvSpPr>
        <p:spPr>
          <a:xfrm>
            <a:off x="594360" y="5074920"/>
            <a:ext cx="5303520" cy="731520"/>
          </a:xfrm>
          <a:prstGeom prst="roundRect">
            <a:avLst>
              <a:gd name="adj" fmla="val 10000"/>
            </a:avLst>
          </a:prstGeom>
          <a:solidFill>
            <a:srgbClr val="FFFFFF">
              <a:alpha val="96000"/>
            </a:srgbClr>
          </a:solidFill>
          <a:ln w="12700">
            <a:solidFill>
              <a:srgbClr val="0F8D68">
                <a:alpha val="55000"/>
              </a:srgbClr>
            </a:solidFill>
            <a:prstDash val="solid"/>
          </a:ln>
        </p:spPr>
      </p:sp>
      <p:sp>
        <p:nvSpPr>
          <p:cNvPr id="51" name="Text 49"/>
          <p:cNvSpPr/>
          <p:nvPr/>
        </p:nvSpPr>
        <p:spPr>
          <a:xfrm>
            <a:off x="740664" y="5193792"/>
            <a:ext cx="50109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Eval + live path</a:t>
            </a:r>
            <a:endParaRPr lang="en-US" sz="1200" dirty="0"/>
          </a:p>
        </p:txBody>
      </p:sp>
      <p:sp>
        <p:nvSpPr>
          <p:cNvPr id="52" name="Text 50"/>
          <p:cNvSpPr/>
          <p:nvPr/>
        </p:nvSpPr>
        <p:spPr>
          <a:xfrm>
            <a:off x="740664" y="5513832"/>
            <a:ext cx="5010912" cy="16459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Verifier and harness score support; live mode reuses the same contract.</a:t>
            </a:r>
            <a:endParaRPr lang="en-US" sz="880" dirty="0"/>
          </a:p>
        </p:txBody>
      </p:sp>
      <p:sp>
        <p:nvSpPr>
          <p:cNvPr id="53" name="Text 51"/>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Demo priors, educational simulator — not betting advice</a:t>
            </a:r>
            <a:endParaRPr lang="en-US" sz="680" dirty="0"/>
          </a:p>
        </p:txBody>
      </p:sp>
      <p:sp>
        <p:nvSpPr>
          <p:cNvPr id="54" name="Text 52"/>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142B"/>
        </a:solidFill>
      </p:bgPr>
    </p:bg>
    <p:spTree>
      <p:nvGrpSpPr>
        <p:cNvPr id="1" name=""/>
        <p:cNvGrpSpPr/>
        <p:nvPr/>
      </p:nvGrpSpPr>
      <p:grpSpPr>
        <a:xfrm>
          <a:off x="0" y="0"/>
          <a:ext cx="0" cy="0"/>
          <a:chOff x="0" y="0"/>
          <a:chExt cx="0" cy="0"/>
        </a:xfrm>
      </p:grpSpPr>
      <p:pic>
        <p:nvPicPr>
          <p:cNvPr id="2" name="Image 0" descr="/mnt/data/wc26_slide_work/assets/football_ball_closeup_dark74.png">    </p:cNvPr>
          <p:cNvPicPr>
            <a:picLocks noChangeAspect="1"/>
          </p:cNvPicPr>
          <p:nvPr/>
        </p:nvPicPr>
        <p:blipFill>
          <a:blip r:embed="rId1"/>
          <a:srcRect l="1" r="1" t="0" b="0"/>
          <a:stretch/>
        </p:blipFill>
        <p:spPr>
          <a:xfrm>
            <a:off x="0" y="0"/>
            <a:ext cx="12191695" cy="6858000"/>
          </a:xfrm>
          <a:prstGeom prst="rect">
            <a:avLst/>
          </a:prstGeom>
        </p:spPr>
      </p:pic>
      <p:sp>
        <p:nvSpPr>
          <p:cNvPr id="3"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FORECAST VAR</a:t>
            </a:r>
            <a:endParaRPr lang="en-US" sz="850" dirty="0"/>
          </a:p>
        </p:txBody>
      </p:sp>
      <p:sp>
        <p:nvSpPr>
          <p:cNvPr id="4"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Step 1 — Source registry: the agent must say what it is allowed to know</a:t>
            </a:r>
            <a:endParaRPr lang="en-US" sz="2400" dirty="0"/>
          </a:p>
        </p:txBody>
      </p:sp>
      <p:sp>
        <p:nvSpPr>
          <p:cNvPr id="5" name="Shape 2"/>
          <p:cNvSpPr/>
          <p:nvPr/>
        </p:nvSpPr>
        <p:spPr>
          <a:xfrm>
            <a:off x="502920" y="1170432"/>
            <a:ext cx="11155680" cy="0"/>
          </a:xfrm>
          <a:prstGeom prst="line">
            <a:avLst/>
          </a:prstGeom>
          <a:noFill/>
          <a:ln w="13970">
            <a:solidFill>
              <a:srgbClr val="0F8D68">
                <a:alpha val="80000"/>
              </a:srgbClr>
            </a:solidFill>
            <a:prstDash val="solid"/>
          </a:ln>
        </p:spPr>
      </p:sp>
      <p:sp>
        <p:nvSpPr>
          <p:cNvPr id="6" name="Shape 3"/>
          <p:cNvSpPr/>
          <p:nvPr/>
        </p:nvSpPr>
        <p:spPr>
          <a:xfrm>
            <a:off x="548640" y="1325880"/>
            <a:ext cx="5303520" cy="4114800"/>
          </a:xfrm>
          <a:prstGeom prst="roundRect">
            <a:avLst>
              <a:gd name="adj" fmla="val 1778"/>
            </a:avLst>
          </a:prstGeom>
          <a:solidFill>
            <a:srgbClr val="071B36"/>
          </a:solidFill>
          <a:ln w="12700">
            <a:solidFill>
              <a:srgbClr val="1D5872">
                <a:alpha val="80000"/>
              </a:srgbClr>
            </a:solidFill>
            <a:prstDash val="solid"/>
          </a:ln>
        </p:spPr>
      </p:sp>
      <p:pic>
        <p:nvPicPr>
          <p:cNvPr id="7" name="Image 1" descr="/mnt/data/wc26_slide_work/wc26-forecast-var-agent-episode2-source-aware-gpt54nano/figures/source_coverage_status.png">    </p:cNvPr>
          <p:cNvPicPr>
            <a:picLocks noChangeAspect="1"/>
          </p:cNvPicPr>
          <p:nvPr/>
        </p:nvPicPr>
        <p:blipFill>
          <a:blip r:embed="rId2"/>
          <a:stretch>
            <a:fillRect/>
          </a:stretch>
        </p:blipFill>
        <p:spPr>
          <a:xfrm>
            <a:off x="603504" y="2084832"/>
            <a:ext cx="5193792" cy="2596896"/>
          </a:xfrm>
          <a:prstGeom prst="rect">
            <a:avLst/>
          </a:prstGeom>
        </p:spPr>
      </p:pic>
      <p:sp>
        <p:nvSpPr>
          <p:cNvPr id="8" name="Shape 4"/>
          <p:cNvSpPr/>
          <p:nvPr/>
        </p:nvSpPr>
        <p:spPr>
          <a:xfrm>
            <a:off x="6172200" y="1325880"/>
            <a:ext cx="5257800" cy="1874520"/>
          </a:xfrm>
          <a:prstGeom prst="roundRect">
            <a:avLst>
              <a:gd name="adj" fmla="val 3902"/>
            </a:avLst>
          </a:prstGeom>
          <a:solidFill>
            <a:srgbClr val="061222"/>
          </a:solidFill>
          <a:ln w="12700">
            <a:solidFill>
              <a:srgbClr val="1E4F72">
                <a:alpha val="90000"/>
              </a:srgbClr>
            </a:solidFill>
            <a:prstDash val="solid"/>
          </a:ln>
        </p:spPr>
      </p:sp>
      <p:sp>
        <p:nvSpPr>
          <p:cNvPr id="9" name="Text 5"/>
          <p:cNvSpPr/>
          <p:nvPr/>
        </p:nvSpPr>
        <p:spPr>
          <a:xfrm>
            <a:off x="6291072" y="1417320"/>
            <a:ext cx="5020056" cy="164592"/>
          </a:xfrm>
          <a:prstGeom prst="rect">
            <a:avLst/>
          </a:prstGeom>
          <a:noFill/>
          <a:ln/>
        </p:spPr>
        <p:txBody>
          <a:bodyPr wrap="square" lIns="0" tIns="0" rIns="0" bIns="0" rtlCol="0" anchor="ctr"/>
          <a:lstStyle/>
          <a:p>
            <a:pPr indent="0" marL="0">
              <a:buNone/>
            </a:pPr>
            <a:r>
              <a:rPr lang="en-US" sz="750" b="1" dirty="0">
                <a:solidFill>
                  <a:srgbClr val="63D6C6"/>
                </a:solidFill>
              </a:rPr>
              <a:t>source_registry.json</a:t>
            </a:r>
            <a:endParaRPr lang="en-US" sz="750" dirty="0"/>
          </a:p>
        </p:txBody>
      </p:sp>
      <p:sp>
        <p:nvSpPr>
          <p:cNvPr id="10" name="Text 6"/>
          <p:cNvSpPr/>
          <p:nvPr/>
        </p:nvSpPr>
        <p:spPr>
          <a:xfrm>
            <a:off x="6291072" y="1709928"/>
            <a:ext cx="5020056" cy="141732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"source_id": "SRC-SAMPLE-TEAM-PRIORS",</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"status": "bundled_demo_only",</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"adds": ["strength_rating", "travel_load"],</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"forecast_use": ["match", "group", "simulation"]</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a:t>
            </a:r>
            <a:endParaRPr lang="en-US" sz="740" dirty="0"/>
          </a:p>
        </p:txBody>
      </p:sp>
      <p:sp>
        <p:nvSpPr>
          <p:cNvPr id="11" name="Shape 7"/>
          <p:cNvSpPr/>
          <p:nvPr/>
        </p:nvSpPr>
        <p:spPr>
          <a:xfrm>
            <a:off x="6172200" y="3493008"/>
            <a:ext cx="5257800" cy="1947672"/>
          </a:xfrm>
          <a:prstGeom prst="roundRect">
            <a:avLst>
              <a:gd name="adj" fmla="val 3756"/>
            </a:avLst>
          </a:prstGeom>
          <a:solidFill>
            <a:srgbClr val="FFFFFF">
              <a:alpha val="96000"/>
            </a:srgbClr>
          </a:solidFill>
          <a:ln w="12700">
            <a:solidFill>
              <a:srgbClr val="D7B65D">
                <a:alpha val="55000"/>
              </a:srgbClr>
            </a:solidFill>
            <a:prstDash val="solid"/>
          </a:ln>
        </p:spPr>
      </p:sp>
      <p:sp>
        <p:nvSpPr>
          <p:cNvPr id="12" name="Text 8"/>
          <p:cNvSpPr/>
          <p:nvPr/>
        </p:nvSpPr>
        <p:spPr>
          <a:xfrm>
            <a:off x="6318504" y="3611880"/>
            <a:ext cx="496519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Agent concept: source governance</a:t>
            </a:r>
            <a:endParaRPr lang="en-US" sz="1200" dirty="0"/>
          </a:p>
        </p:txBody>
      </p:sp>
      <p:sp>
        <p:nvSpPr>
          <p:cNvPr id="13" name="Text 9"/>
          <p:cNvSpPr/>
          <p:nvPr/>
        </p:nvSpPr>
        <p:spPr>
          <a:xfrm>
            <a:off x="6318504" y="3931920"/>
            <a:ext cx="4965192" cy="1380744"/>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The registry separates official facts, demo priors, generated evidence, adapter placeholders, and disabled/live sources.</a:t>
            </a:r>
            <a:endParaRPr lang="en-US" sz="880" dirty="0"/>
          </a:p>
          <a:p>
            <a:pPr indent="0" marL="0">
              <a:buNone/>
            </a:pPr>
            <a:endParaRPr lang="en-US" sz="880" dirty="0"/>
          </a:p>
          <a:p>
            <a:pPr indent="0" marL="0">
              <a:buNone/>
            </a:pPr>
            <a:r>
              <a:rPr lang="en-US" sz="880" dirty="0">
                <a:solidFill>
                  <a:srgbClr val="213547"/>
                </a:solidFill>
              </a:rPr>
              <a:t>This stops the agent from claiming it used rankings, lineups, injuries, or odds that were never actually refreshed.</a:t>
            </a:r>
            <a:endParaRPr lang="en-US" sz="880" dirty="0"/>
          </a:p>
        </p:txBody>
      </p:sp>
      <p:sp>
        <p:nvSpPr>
          <p:cNvPr id="14" name="Text 10"/>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Demo priors, educational simulator — not betting advice</a:t>
            </a:r>
            <a:endParaRPr lang="en-US" sz="680" dirty="0"/>
          </a:p>
        </p:txBody>
      </p:sp>
      <p:sp>
        <p:nvSpPr>
          <p:cNvPr id="15" name="Text 11"/>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142B"/>
        </a:solidFill>
      </p:bgPr>
    </p:bg>
    <p:spTree>
      <p:nvGrpSpPr>
        <p:cNvPr id="1" name=""/>
        <p:cNvGrpSpPr/>
        <p:nvPr/>
      </p:nvGrpSpPr>
      <p:grpSpPr>
        <a:xfrm>
          <a:off x="0" y="0"/>
          <a:ext cx="0" cy="0"/>
          <a:chOff x="0" y="0"/>
          <a:chExt cx="0" cy="0"/>
        </a:xfrm>
      </p:grpSpPr>
      <p:sp>
        <p:nvSpPr>
          <p:cNvPr id="2"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FORECAST VAR</a:t>
            </a:r>
            <a:endParaRPr lang="en-US" sz="850" dirty="0"/>
          </a:p>
        </p:txBody>
      </p:sp>
      <p:sp>
        <p:nvSpPr>
          <p:cNvPr id="3"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Step 2 — Pre-flight gate: validate before RAG, tools, or forecasts</a:t>
            </a:r>
            <a:endParaRPr lang="en-US" sz="2400" dirty="0"/>
          </a:p>
        </p:txBody>
      </p:sp>
      <p:sp>
        <p:nvSpPr>
          <p:cNvPr id="4" name="Shape 2"/>
          <p:cNvSpPr/>
          <p:nvPr/>
        </p:nvSpPr>
        <p:spPr>
          <a:xfrm>
            <a:off x="502920" y="1170432"/>
            <a:ext cx="11155680" cy="0"/>
          </a:xfrm>
          <a:prstGeom prst="line">
            <a:avLst/>
          </a:prstGeom>
          <a:noFill/>
          <a:ln w="13970">
            <a:solidFill>
              <a:srgbClr val="0F8D68">
                <a:alpha val="80000"/>
              </a:srgbClr>
            </a:solidFill>
            <a:prstDash val="solid"/>
          </a:ln>
        </p:spPr>
      </p:sp>
      <p:sp>
        <p:nvSpPr>
          <p:cNvPr id="5" name="Shape 3"/>
          <p:cNvSpPr/>
          <p:nvPr/>
        </p:nvSpPr>
        <p:spPr>
          <a:xfrm>
            <a:off x="594360" y="1371600"/>
            <a:ext cx="4754880" cy="3566160"/>
          </a:xfrm>
          <a:prstGeom prst="roundRect">
            <a:avLst>
              <a:gd name="adj" fmla="val 2051"/>
            </a:avLst>
          </a:prstGeom>
          <a:solidFill>
            <a:srgbClr val="071B36"/>
          </a:solidFill>
          <a:ln w="12700">
            <a:solidFill>
              <a:srgbClr val="1D5872">
                <a:alpha val="80000"/>
              </a:srgbClr>
            </a:solidFill>
            <a:prstDash val="solid"/>
          </a:ln>
        </p:spPr>
      </p:sp>
      <p:pic>
        <p:nvPicPr>
          <p:cNvPr id="6" name="Image 0" descr="/mnt/data/wc26_slide_work/wc26-forecast-var-agent-episode2-source-aware-gpt54nano/figures/preflight_readiness.png">    </p:cNvPr>
          <p:cNvPicPr>
            <a:picLocks noChangeAspect="1"/>
          </p:cNvPicPr>
          <p:nvPr/>
        </p:nvPicPr>
        <p:blipFill>
          <a:blip r:embed="rId1"/>
          <a:stretch>
            <a:fillRect/>
          </a:stretch>
        </p:blipFill>
        <p:spPr>
          <a:xfrm>
            <a:off x="649224" y="1935328"/>
            <a:ext cx="4645152" cy="2438705"/>
          </a:xfrm>
          <a:prstGeom prst="rect">
            <a:avLst/>
          </a:prstGeom>
        </p:spPr>
      </p:pic>
      <p:sp>
        <p:nvSpPr>
          <p:cNvPr id="7" name="Shape 4"/>
          <p:cNvSpPr/>
          <p:nvPr/>
        </p:nvSpPr>
        <p:spPr>
          <a:xfrm>
            <a:off x="5669280" y="1371600"/>
            <a:ext cx="5577840" cy="1965960"/>
          </a:xfrm>
          <a:prstGeom prst="roundRect">
            <a:avLst>
              <a:gd name="adj" fmla="val 3721"/>
            </a:avLst>
          </a:prstGeom>
          <a:solidFill>
            <a:srgbClr val="061222"/>
          </a:solidFill>
          <a:ln w="12700">
            <a:solidFill>
              <a:srgbClr val="1E4F72">
                <a:alpha val="90000"/>
              </a:srgbClr>
            </a:solidFill>
            <a:prstDash val="solid"/>
          </a:ln>
        </p:spPr>
      </p:sp>
      <p:sp>
        <p:nvSpPr>
          <p:cNvPr id="8" name="Text 5"/>
          <p:cNvSpPr/>
          <p:nvPr/>
        </p:nvSpPr>
        <p:spPr>
          <a:xfrm>
            <a:off x="5788152" y="1463040"/>
            <a:ext cx="5340096" cy="164592"/>
          </a:xfrm>
          <a:prstGeom prst="rect">
            <a:avLst/>
          </a:prstGeom>
          <a:noFill/>
          <a:ln/>
        </p:spPr>
        <p:txBody>
          <a:bodyPr wrap="square" lIns="0" tIns="0" rIns="0" bIns="0" rtlCol="0" anchor="ctr"/>
          <a:lstStyle/>
          <a:p>
            <a:pPr indent="0" marL="0">
              <a:buNone/>
            </a:pPr>
            <a:r>
              <a:rPr lang="en-US" sz="750" b="1" dirty="0">
                <a:solidFill>
                  <a:srgbClr val="63D6C6"/>
                </a:solidFill>
              </a:rPr>
              <a:t>src/forecast_var/tools.py</a:t>
            </a:r>
            <a:endParaRPr lang="en-US" sz="750" dirty="0"/>
          </a:p>
        </p:txBody>
      </p:sp>
      <p:sp>
        <p:nvSpPr>
          <p:cNvPr id="9" name="Text 6"/>
          <p:cNvSpPr/>
          <p:nvPr/>
        </p:nvSpPr>
        <p:spPr>
          <a:xfrm>
            <a:off x="5788152" y="1755648"/>
            <a:ext cx="5340096" cy="150876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def preflight_forecast_context():</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validation = validate_tournament_field()</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missing = teams - feature_rows</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extra = feature_rows - teams</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ready = validation["valid"] and not missing and evidence_count &gt; 0</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return {"ready_for_forecast": ready, ...}</a:t>
            </a:r>
            <a:endParaRPr lang="en-US" sz="740" dirty="0"/>
          </a:p>
        </p:txBody>
      </p:sp>
      <p:sp>
        <p:nvSpPr>
          <p:cNvPr id="10" name="Shape 7"/>
          <p:cNvSpPr/>
          <p:nvPr/>
        </p:nvSpPr>
        <p:spPr>
          <a:xfrm>
            <a:off x="5669280" y="3657600"/>
            <a:ext cx="5577840" cy="1280160"/>
          </a:xfrm>
          <a:prstGeom prst="roundRect">
            <a:avLst>
              <a:gd name="adj" fmla="val 5714"/>
            </a:avLst>
          </a:prstGeom>
          <a:solidFill>
            <a:srgbClr val="FFFFFF">
              <a:alpha val="96000"/>
            </a:srgbClr>
          </a:solidFill>
          <a:ln w="12700">
            <a:solidFill>
              <a:srgbClr val="0F8D68">
                <a:alpha val="55000"/>
              </a:srgbClr>
            </a:solidFill>
            <a:prstDash val="solid"/>
          </a:ln>
        </p:spPr>
      </p:sp>
      <p:sp>
        <p:nvSpPr>
          <p:cNvPr id="11" name="Text 8"/>
          <p:cNvSpPr/>
          <p:nvPr/>
        </p:nvSpPr>
        <p:spPr>
          <a:xfrm>
            <a:off x="5815584" y="3776472"/>
            <a:ext cx="528523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Output format</a:t>
            </a:r>
            <a:endParaRPr lang="en-US" sz="1200" dirty="0"/>
          </a:p>
        </p:txBody>
      </p:sp>
      <p:sp>
        <p:nvSpPr>
          <p:cNvPr id="12" name="Text 9"/>
          <p:cNvSpPr/>
          <p:nvPr/>
        </p:nvSpPr>
        <p:spPr>
          <a:xfrm>
            <a:off x="5815584" y="4096512"/>
            <a:ext cx="5285232" cy="71323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ready_for_forecast: true</a:t>
            </a:r>
            <a:endParaRPr lang="en-US" sz="880" dirty="0"/>
          </a:p>
          <a:p>
            <a:pPr indent="0" marL="0">
              <a:buNone/>
            </a:pPr>
            <a:r>
              <a:rPr lang="en-US" sz="880" dirty="0">
                <a:solidFill>
                  <a:srgbClr val="213547"/>
                </a:solidFill>
              </a:rPr>
              <a:t>field_valid: true</a:t>
            </a:r>
            <a:endParaRPr lang="en-US" sz="880" dirty="0"/>
          </a:p>
          <a:p>
            <a:pPr indent="0" marL="0">
              <a:buNone/>
            </a:pPr>
            <a:r>
              <a:rPr lang="en-US" sz="880" dirty="0">
                <a:solidFill>
                  <a:srgbClr val="213547"/>
                </a:solidFill>
              </a:rPr>
              <a:t>teams: 48</a:t>
            </a:r>
            <a:endParaRPr lang="en-US" sz="880" dirty="0"/>
          </a:p>
          <a:p>
            <a:pPr indent="0" marL="0">
              <a:buNone/>
            </a:pPr>
            <a:r>
              <a:rPr lang="en-US" sz="880" dirty="0">
                <a:solidFill>
                  <a:srgbClr val="213547"/>
                </a:solidFill>
              </a:rPr>
              <a:t>feature_rows: 48</a:t>
            </a:r>
            <a:endParaRPr lang="en-US" sz="880" dirty="0"/>
          </a:p>
          <a:p>
            <a:pPr indent="0" marL="0">
              <a:buNone/>
            </a:pPr>
            <a:r>
              <a:rPr lang="en-US" sz="880" dirty="0">
                <a:solidFill>
                  <a:srgbClr val="213547"/>
                </a:solidFill>
              </a:rPr>
              <a:t>evidence_docs: 73</a:t>
            </a:r>
            <a:endParaRPr lang="en-US" sz="880" dirty="0"/>
          </a:p>
        </p:txBody>
      </p:sp>
      <p:sp>
        <p:nvSpPr>
          <p:cNvPr id="13" name="Text 10"/>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Demo priors, educational simulator — not betting advice</a:t>
            </a:r>
            <a:endParaRPr lang="en-US" sz="680" dirty="0"/>
          </a:p>
        </p:txBody>
      </p:sp>
      <p:sp>
        <p:nvSpPr>
          <p:cNvPr id="14" name="Text 11"/>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142B"/>
        </a:solidFill>
      </p:bgPr>
    </p:bg>
    <p:spTree>
      <p:nvGrpSpPr>
        <p:cNvPr id="1" name=""/>
        <p:cNvGrpSpPr/>
        <p:nvPr/>
      </p:nvGrpSpPr>
      <p:grpSpPr>
        <a:xfrm>
          <a:off x="0" y="0"/>
          <a:ext cx="0" cy="0"/>
          <a:chOff x="0" y="0"/>
          <a:chExt cx="0" cy="0"/>
        </a:xfrm>
      </p:grpSpPr>
      <p:pic>
        <p:nvPicPr>
          <p:cNvPr id="2" name="Image 0" descr="/mnt/data/wc26_slide_work/assets/forecast_var_room_dark68.png">    </p:cNvPr>
          <p:cNvPicPr>
            <a:picLocks noChangeAspect="1"/>
          </p:cNvPicPr>
          <p:nvPr/>
        </p:nvPicPr>
        <p:blipFill>
          <a:blip r:embed="rId1"/>
          <a:srcRect l="1" r="1" t="0" b="0"/>
          <a:stretch/>
        </p:blipFill>
        <p:spPr>
          <a:xfrm>
            <a:off x="0" y="0"/>
            <a:ext cx="12191695" cy="6858000"/>
          </a:xfrm>
          <a:prstGeom prst="rect">
            <a:avLst/>
          </a:prstGeom>
        </p:spPr>
      </p:pic>
      <p:sp>
        <p:nvSpPr>
          <p:cNvPr id="3"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FORECAST VAR</a:t>
            </a:r>
            <a:endParaRPr lang="en-US" sz="850" dirty="0"/>
          </a:p>
        </p:txBody>
      </p:sp>
      <p:sp>
        <p:nvSpPr>
          <p:cNvPr id="4"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Step 3 — RAG: retrieve source cards after pre-flight passes</a:t>
            </a:r>
            <a:endParaRPr lang="en-US" sz="2400" dirty="0"/>
          </a:p>
        </p:txBody>
      </p:sp>
      <p:sp>
        <p:nvSpPr>
          <p:cNvPr id="5" name="Shape 2"/>
          <p:cNvSpPr/>
          <p:nvPr/>
        </p:nvSpPr>
        <p:spPr>
          <a:xfrm>
            <a:off x="502920" y="1170432"/>
            <a:ext cx="11155680" cy="0"/>
          </a:xfrm>
          <a:prstGeom prst="line">
            <a:avLst/>
          </a:prstGeom>
          <a:noFill/>
          <a:ln w="13970">
            <a:solidFill>
              <a:srgbClr val="0F8D68">
                <a:alpha val="80000"/>
              </a:srgbClr>
            </a:solidFill>
            <a:prstDash val="solid"/>
          </a:ln>
        </p:spPr>
      </p:sp>
      <p:sp>
        <p:nvSpPr>
          <p:cNvPr id="6" name="Shape 3"/>
          <p:cNvSpPr/>
          <p:nvPr/>
        </p:nvSpPr>
        <p:spPr>
          <a:xfrm>
            <a:off x="640080" y="1417320"/>
            <a:ext cx="5166360" cy="2194560"/>
          </a:xfrm>
          <a:prstGeom prst="roundRect">
            <a:avLst>
              <a:gd name="adj" fmla="val 3333"/>
            </a:avLst>
          </a:prstGeom>
          <a:solidFill>
            <a:srgbClr val="061222"/>
          </a:solidFill>
          <a:ln w="12700">
            <a:solidFill>
              <a:srgbClr val="1E4F72">
                <a:alpha val="90000"/>
              </a:srgbClr>
            </a:solidFill>
            <a:prstDash val="solid"/>
          </a:ln>
        </p:spPr>
      </p:sp>
      <p:sp>
        <p:nvSpPr>
          <p:cNvPr id="7" name="Text 4"/>
          <p:cNvSpPr/>
          <p:nvPr/>
        </p:nvSpPr>
        <p:spPr>
          <a:xfrm>
            <a:off x="758952" y="1508760"/>
            <a:ext cx="4928616" cy="164592"/>
          </a:xfrm>
          <a:prstGeom prst="rect">
            <a:avLst/>
          </a:prstGeom>
          <a:noFill/>
          <a:ln/>
        </p:spPr>
        <p:txBody>
          <a:bodyPr wrap="square" lIns="0" tIns="0" rIns="0" bIns="0" rtlCol="0" anchor="ctr"/>
          <a:lstStyle/>
          <a:p>
            <a:pPr indent="0" marL="0">
              <a:buNone/>
            </a:pPr>
            <a:r>
              <a:rPr lang="en-US" sz="750" b="1" dirty="0">
                <a:solidFill>
                  <a:srgbClr val="63D6C6"/>
                </a:solidFill>
              </a:rPr>
              <a:t>RAG tool</a:t>
            </a:r>
            <a:endParaRPr lang="en-US" sz="750" dirty="0"/>
          </a:p>
        </p:txBody>
      </p:sp>
      <p:sp>
        <p:nvSpPr>
          <p:cNvPr id="8" name="Text 5"/>
          <p:cNvSpPr/>
          <p:nvPr/>
        </p:nvSpPr>
        <p:spPr>
          <a:xfrm>
            <a:off x="758952" y="1801368"/>
            <a:ext cx="4928616" cy="173736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def search_source_cards(query, k=5):</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cards = token_overlap_search(query)</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return {</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"query": query,</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"cards": cards,</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"citations": [c["citation"] for c in cards]</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a:t>
            </a:r>
            <a:endParaRPr lang="en-US" sz="740" dirty="0"/>
          </a:p>
        </p:txBody>
      </p:sp>
      <p:sp>
        <p:nvSpPr>
          <p:cNvPr id="9" name="Shape 6"/>
          <p:cNvSpPr/>
          <p:nvPr/>
        </p:nvSpPr>
        <p:spPr>
          <a:xfrm>
            <a:off x="6080760" y="1417320"/>
            <a:ext cx="5166360" cy="2194560"/>
          </a:xfrm>
          <a:prstGeom prst="roundRect">
            <a:avLst>
              <a:gd name="adj" fmla="val 3333"/>
            </a:avLst>
          </a:prstGeom>
          <a:solidFill>
            <a:srgbClr val="061222"/>
          </a:solidFill>
          <a:ln w="12700">
            <a:solidFill>
              <a:srgbClr val="1E4F72">
                <a:alpha val="90000"/>
              </a:srgbClr>
            </a:solidFill>
            <a:prstDash val="solid"/>
          </a:ln>
        </p:spPr>
      </p:sp>
      <p:sp>
        <p:nvSpPr>
          <p:cNvPr id="10" name="Text 7"/>
          <p:cNvSpPr/>
          <p:nvPr/>
        </p:nvSpPr>
        <p:spPr>
          <a:xfrm>
            <a:off x="6199632" y="1508760"/>
            <a:ext cx="4928616" cy="164592"/>
          </a:xfrm>
          <a:prstGeom prst="rect">
            <a:avLst/>
          </a:prstGeom>
          <a:noFill/>
          <a:ln/>
        </p:spPr>
        <p:txBody>
          <a:bodyPr wrap="square" lIns="0" tIns="0" rIns="0" bIns="0" rtlCol="0" anchor="ctr"/>
          <a:lstStyle/>
          <a:p>
            <a:pPr indent="0" marL="0">
              <a:buNone/>
            </a:pPr>
            <a:r>
              <a:rPr lang="en-US" sz="750" b="1" dirty="0">
                <a:solidFill>
                  <a:srgbClr val="63D6C6"/>
                </a:solidFill>
              </a:rPr>
              <a:t>source_cards.jsonl</a:t>
            </a:r>
            <a:endParaRPr lang="en-US" sz="750" dirty="0"/>
          </a:p>
        </p:txBody>
      </p:sp>
      <p:sp>
        <p:nvSpPr>
          <p:cNvPr id="11" name="Text 8"/>
          <p:cNvSpPr/>
          <p:nvPr/>
        </p:nvSpPr>
        <p:spPr>
          <a:xfrm>
            <a:off x="6199632" y="1801368"/>
            <a:ext cx="4928616" cy="173736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"id": "SRC-FIFA-WC26",</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"claim": "final 48-team field and groups",</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"supports": [</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"tournament_field",</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"group_membership",</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"qualified_team"</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a:t>
            </a:r>
            <a:endParaRPr lang="en-US" sz="740" dirty="0"/>
          </a:p>
        </p:txBody>
      </p:sp>
      <p:sp>
        <p:nvSpPr>
          <p:cNvPr id="12" name="Shape 9"/>
          <p:cNvSpPr/>
          <p:nvPr/>
        </p:nvSpPr>
        <p:spPr>
          <a:xfrm>
            <a:off x="640080" y="3977640"/>
            <a:ext cx="10607040" cy="1188720"/>
          </a:xfrm>
          <a:prstGeom prst="roundRect">
            <a:avLst>
              <a:gd name="adj" fmla="val 6154"/>
            </a:avLst>
          </a:prstGeom>
          <a:solidFill>
            <a:srgbClr val="FFFFFF">
              <a:alpha val="96000"/>
            </a:srgbClr>
          </a:solidFill>
          <a:ln w="12700">
            <a:solidFill>
              <a:srgbClr val="D7B65D">
                <a:alpha val="55000"/>
              </a:srgbClr>
            </a:solidFill>
            <a:prstDash val="solid"/>
          </a:ln>
        </p:spPr>
      </p:sp>
      <p:sp>
        <p:nvSpPr>
          <p:cNvPr id="13" name="Text 10"/>
          <p:cNvSpPr/>
          <p:nvPr/>
        </p:nvSpPr>
        <p:spPr>
          <a:xfrm>
            <a:off x="786384" y="4096512"/>
            <a:ext cx="1031443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Agent concept: retrieval is not enough</a:t>
            </a:r>
            <a:endParaRPr lang="en-US" sz="1200" dirty="0"/>
          </a:p>
        </p:txBody>
      </p:sp>
      <p:sp>
        <p:nvSpPr>
          <p:cNvPr id="14" name="Text 11"/>
          <p:cNvSpPr/>
          <p:nvPr/>
        </p:nvSpPr>
        <p:spPr>
          <a:xfrm>
            <a:off x="786384" y="4416552"/>
            <a:ext cx="10314432" cy="62179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RAG retrieves candidate evidence. The claim verifier still checks whether the cited source supports the claim type. This avoids “citation theatre,” where an answer has citations that do not actually support the statement.</a:t>
            </a:r>
            <a:endParaRPr lang="en-US" sz="880" dirty="0"/>
          </a:p>
        </p:txBody>
      </p:sp>
      <p:sp>
        <p:nvSpPr>
          <p:cNvPr id="15" name="Text 12"/>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Demo priors, educational simulator — not betting advice</a:t>
            </a:r>
            <a:endParaRPr lang="en-US" sz="680" dirty="0"/>
          </a:p>
        </p:txBody>
      </p:sp>
      <p:sp>
        <p:nvSpPr>
          <p:cNvPr id="16" name="Text 13"/>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142B"/>
        </a:solidFill>
      </p:bgPr>
    </p:bg>
    <p:spTree>
      <p:nvGrpSpPr>
        <p:cNvPr id="1" name=""/>
        <p:cNvGrpSpPr/>
        <p:nvPr/>
      </p:nvGrpSpPr>
      <p:grpSpPr>
        <a:xfrm>
          <a:off x="0" y="0"/>
          <a:ext cx="0" cy="0"/>
          <a:chOff x="0" y="0"/>
          <a:chExt cx="0" cy="0"/>
        </a:xfrm>
      </p:grpSpPr>
      <p:sp>
        <p:nvSpPr>
          <p:cNvPr id="2"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FORECAST VAR</a:t>
            </a:r>
            <a:endParaRPr lang="en-US" sz="850" dirty="0"/>
          </a:p>
        </p:txBody>
      </p:sp>
      <p:sp>
        <p:nvSpPr>
          <p:cNvPr id="3"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Step 4 — Skills: procedural memory for a safer football forecaster</a:t>
            </a:r>
            <a:endParaRPr lang="en-US" sz="2400" dirty="0"/>
          </a:p>
        </p:txBody>
      </p:sp>
      <p:sp>
        <p:nvSpPr>
          <p:cNvPr id="4" name="Shape 2"/>
          <p:cNvSpPr/>
          <p:nvPr/>
        </p:nvSpPr>
        <p:spPr>
          <a:xfrm>
            <a:off x="502920" y="1170432"/>
            <a:ext cx="11155680" cy="0"/>
          </a:xfrm>
          <a:prstGeom prst="line">
            <a:avLst/>
          </a:prstGeom>
          <a:noFill/>
          <a:ln w="13970">
            <a:solidFill>
              <a:srgbClr val="0F8D68">
                <a:alpha val="80000"/>
              </a:srgbClr>
            </a:solidFill>
            <a:prstDash val="solid"/>
          </a:ln>
        </p:spPr>
      </p:sp>
      <p:sp>
        <p:nvSpPr>
          <p:cNvPr id="5" name="Shape 3"/>
          <p:cNvSpPr/>
          <p:nvPr/>
        </p:nvSpPr>
        <p:spPr>
          <a:xfrm>
            <a:off x="594360" y="1325880"/>
            <a:ext cx="5577840" cy="2514600"/>
          </a:xfrm>
          <a:prstGeom prst="roundRect">
            <a:avLst>
              <a:gd name="adj" fmla="val 2909"/>
            </a:avLst>
          </a:prstGeom>
          <a:solidFill>
            <a:srgbClr val="061222"/>
          </a:solidFill>
          <a:ln w="12700">
            <a:solidFill>
              <a:srgbClr val="1E4F72">
                <a:alpha val="90000"/>
              </a:srgbClr>
            </a:solidFill>
            <a:prstDash val="solid"/>
          </a:ln>
        </p:spPr>
      </p:sp>
      <p:sp>
        <p:nvSpPr>
          <p:cNvPr id="6" name="Text 4"/>
          <p:cNvSpPr/>
          <p:nvPr/>
        </p:nvSpPr>
        <p:spPr>
          <a:xfrm>
            <a:off x="713232" y="1417320"/>
            <a:ext cx="5340096" cy="164592"/>
          </a:xfrm>
          <a:prstGeom prst="rect">
            <a:avLst/>
          </a:prstGeom>
          <a:noFill/>
          <a:ln/>
        </p:spPr>
        <p:txBody>
          <a:bodyPr wrap="square" lIns="0" tIns="0" rIns="0" bIns="0" rtlCol="0" anchor="ctr"/>
          <a:lstStyle/>
          <a:p>
            <a:pPr indent="0" marL="0">
              <a:buNone/>
            </a:pPr>
            <a:r>
              <a:rPr lang="en-US" sz="750" b="1" dirty="0">
                <a:solidFill>
                  <a:srgbClr val="63D6C6"/>
                </a:solidFill>
              </a:rPr>
              <a:t>SKILL.md example</a:t>
            </a:r>
            <a:endParaRPr lang="en-US" sz="750" dirty="0"/>
          </a:p>
        </p:txBody>
      </p:sp>
      <p:sp>
        <p:nvSpPr>
          <p:cNvPr id="7" name="Text 5"/>
          <p:cNvSpPr/>
          <p:nvPr/>
        </p:nvSpPr>
        <p:spPr>
          <a:xfrm>
            <a:off x="713232" y="1709928"/>
            <a:ext cx="5340096" cy="205740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name: forecast-modeling</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description: use deterministic forecasting tools instead of free-form guessing. use when the user asks for match probabilities, favourites, winners, group forecasts, rankings, monte carlo simulations, rolling forecasts, or model explanations.</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a:t>
            </a:r>
            <a:endParaRPr lang="en-US" sz="740" dirty="0"/>
          </a:p>
          <a:p>
            <a:pPr indent="0" marL="0">
              <a:buNone/>
            </a:pP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1. Call the narrowest MCP forecast tool.</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2. Report probabilities, not deterministic winners.</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3. Label bundled priors as demo inputs.</a:t>
            </a:r>
            <a:endParaRPr lang="en-US" sz="740" dirty="0"/>
          </a:p>
        </p:txBody>
      </p:sp>
      <p:sp>
        <p:nvSpPr>
          <p:cNvPr id="8" name="Shape 6"/>
          <p:cNvSpPr/>
          <p:nvPr/>
        </p:nvSpPr>
        <p:spPr>
          <a:xfrm>
            <a:off x="6446520" y="1325880"/>
            <a:ext cx="4846320" cy="2514600"/>
          </a:xfrm>
          <a:prstGeom prst="roundRect">
            <a:avLst>
              <a:gd name="adj" fmla="val 2909"/>
            </a:avLst>
          </a:prstGeom>
          <a:solidFill>
            <a:srgbClr val="FFFFFF">
              <a:alpha val="96000"/>
            </a:srgbClr>
          </a:solidFill>
          <a:ln w="12700">
            <a:solidFill>
              <a:srgbClr val="0F8D68">
                <a:alpha val="55000"/>
              </a:srgbClr>
            </a:solidFill>
            <a:prstDash val="solid"/>
          </a:ln>
        </p:spPr>
      </p:sp>
      <p:sp>
        <p:nvSpPr>
          <p:cNvPr id="9" name="Text 7"/>
          <p:cNvSpPr/>
          <p:nvPr/>
        </p:nvSpPr>
        <p:spPr>
          <a:xfrm>
            <a:off x="6592824" y="1444752"/>
            <a:ext cx="45537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Why skills matter</a:t>
            </a:r>
            <a:endParaRPr lang="en-US" sz="1200" dirty="0"/>
          </a:p>
        </p:txBody>
      </p:sp>
      <p:sp>
        <p:nvSpPr>
          <p:cNvPr id="10" name="Text 8"/>
          <p:cNvSpPr/>
          <p:nvPr/>
        </p:nvSpPr>
        <p:spPr>
          <a:xfrm>
            <a:off x="6592824" y="1764792"/>
            <a:ext cx="4553712" cy="194767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Skills are not data. They are compact instructions loaded when relevant.</a:t>
            </a:r>
            <a:endParaRPr lang="en-US" sz="880" dirty="0"/>
          </a:p>
          <a:p>
            <a:pPr indent="0" marL="0">
              <a:buNone/>
            </a:pPr>
            <a:endParaRPr lang="en-US" sz="880" dirty="0"/>
          </a:p>
          <a:p>
            <a:pPr indent="0" marL="0">
              <a:buNone/>
            </a:pPr>
            <a:r>
              <a:rPr lang="en-US" sz="880" dirty="0">
                <a:solidFill>
                  <a:srgbClr val="213547"/>
                </a:solidFill>
              </a:rPr>
              <a:t>In this project, skills enforce source triage, pre-flight checks, citation discipline, uncertainty calibration, Monte Carlo behaviour, and eval review.</a:t>
            </a:r>
            <a:endParaRPr lang="en-US" sz="880" dirty="0"/>
          </a:p>
        </p:txBody>
      </p:sp>
      <p:sp>
        <p:nvSpPr>
          <p:cNvPr id="11" name="Shape 9"/>
          <p:cNvSpPr/>
          <p:nvPr/>
        </p:nvSpPr>
        <p:spPr>
          <a:xfrm>
            <a:off x="640080" y="4434840"/>
            <a:ext cx="2021373" cy="777240"/>
          </a:xfrm>
          <a:prstGeom prst="roundRect">
            <a:avLst>
              <a:gd name="adj" fmla="val 9412"/>
            </a:avLst>
          </a:prstGeom>
          <a:solidFill>
            <a:srgbClr val="08213D"/>
          </a:solidFill>
          <a:ln w="12700">
            <a:solidFill>
              <a:srgbClr val="0F8D68">
                <a:alpha val="90000"/>
              </a:srgbClr>
            </a:solidFill>
            <a:prstDash val="solid"/>
          </a:ln>
        </p:spPr>
      </p:sp>
      <p:sp>
        <p:nvSpPr>
          <p:cNvPr id="12" name="Text 10"/>
          <p:cNvSpPr/>
          <p:nvPr/>
        </p:nvSpPr>
        <p:spPr>
          <a:xfrm>
            <a:off x="713232" y="4553712"/>
            <a:ext cx="1875069"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skill</a:t>
            </a:r>
            <a:endParaRPr lang="en-US" sz="750" dirty="0"/>
          </a:p>
        </p:txBody>
      </p:sp>
      <p:sp>
        <p:nvSpPr>
          <p:cNvPr id="13" name="Text 11"/>
          <p:cNvSpPr/>
          <p:nvPr/>
        </p:nvSpPr>
        <p:spPr>
          <a:xfrm>
            <a:off x="713232" y="4791456"/>
            <a:ext cx="1875069"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source triage</a:t>
            </a:r>
            <a:endParaRPr lang="en-US" sz="900" dirty="0"/>
          </a:p>
        </p:txBody>
      </p:sp>
      <p:sp>
        <p:nvSpPr>
          <p:cNvPr id="14" name="Shape 12"/>
          <p:cNvSpPr/>
          <p:nvPr/>
        </p:nvSpPr>
        <p:spPr>
          <a:xfrm>
            <a:off x="2688885" y="4828032"/>
            <a:ext cx="146304" cy="0"/>
          </a:xfrm>
          <a:prstGeom prst="line">
            <a:avLst/>
          </a:prstGeom>
          <a:noFill/>
          <a:ln w="17780">
            <a:solidFill>
              <a:srgbClr val="D7B65D"/>
            </a:solidFill>
            <a:prstDash val="solid"/>
            <a:headEnd type="none"/>
            <a:tailEnd type="triangle"/>
          </a:ln>
        </p:spPr>
      </p:sp>
      <p:sp>
        <p:nvSpPr>
          <p:cNvPr id="15" name="Shape 13"/>
          <p:cNvSpPr/>
          <p:nvPr/>
        </p:nvSpPr>
        <p:spPr>
          <a:xfrm>
            <a:off x="2862621" y="4434840"/>
            <a:ext cx="2021373" cy="777240"/>
          </a:xfrm>
          <a:prstGeom prst="roundRect">
            <a:avLst>
              <a:gd name="adj" fmla="val 9412"/>
            </a:avLst>
          </a:prstGeom>
          <a:solidFill>
            <a:srgbClr val="08213D"/>
          </a:solidFill>
          <a:ln w="12700">
            <a:solidFill>
              <a:srgbClr val="0F8D68">
                <a:alpha val="90000"/>
              </a:srgbClr>
            </a:solidFill>
            <a:prstDash val="solid"/>
          </a:ln>
        </p:spPr>
      </p:sp>
      <p:sp>
        <p:nvSpPr>
          <p:cNvPr id="16" name="Text 14"/>
          <p:cNvSpPr/>
          <p:nvPr/>
        </p:nvSpPr>
        <p:spPr>
          <a:xfrm>
            <a:off x="2935773" y="4553712"/>
            <a:ext cx="1875069"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skill</a:t>
            </a:r>
            <a:endParaRPr lang="en-US" sz="750" dirty="0"/>
          </a:p>
        </p:txBody>
      </p:sp>
      <p:sp>
        <p:nvSpPr>
          <p:cNvPr id="17" name="Text 15"/>
          <p:cNvSpPr/>
          <p:nvPr/>
        </p:nvSpPr>
        <p:spPr>
          <a:xfrm>
            <a:off x="2935773" y="4791456"/>
            <a:ext cx="1875069"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preflight</a:t>
            </a:r>
            <a:endParaRPr lang="en-US" sz="900" dirty="0"/>
          </a:p>
        </p:txBody>
      </p:sp>
      <p:sp>
        <p:nvSpPr>
          <p:cNvPr id="18" name="Shape 16"/>
          <p:cNvSpPr/>
          <p:nvPr/>
        </p:nvSpPr>
        <p:spPr>
          <a:xfrm>
            <a:off x="4911425" y="4828032"/>
            <a:ext cx="146304" cy="0"/>
          </a:xfrm>
          <a:prstGeom prst="line">
            <a:avLst/>
          </a:prstGeom>
          <a:noFill/>
          <a:ln w="17780">
            <a:solidFill>
              <a:srgbClr val="D7B65D"/>
            </a:solidFill>
            <a:prstDash val="solid"/>
            <a:headEnd type="none"/>
            <a:tailEnd type="triangle"/>
          </a:ln>
        </p:spPr>
      </p:sp>
      <p:sp>
        <p:nvSpPr>
          <p:cNvPr id="19" name="Shape 17"/>
          <p:cNvSpPr/>
          <p:nvPr/>
        </p:nvSpPr>
        <p:spPr>
          <a:xfrm>
            <a:off x="5085161" y="4434840"/>
            <a:ext cx="2021373" cy="777240"/>
          </a:xfrm>
          <a:prstGeom prst="roundRect">
            <a:avLst>
              <a:gd name="adj" fmla="val 9412"/>
            </a:avLst>
          </a:prstGeom>
          <a:solidFill>
            <a:srgbClr val="08213D"/>
          </a:solidFill>
          <a:ln w="12700">
            <a:solidFill>
              <a:srgbClr val="0F8D68">
                <a:alpha val="90000"/>
              </a:srgbClr>
            </a:solidFill>
            <a:prstDash val="solid"/>
          </a:ln>
        </p:spPr>
      </p:sp>
      <p:sp>
        <p:nvSpPr>
          <p:cNvPr id="20" name="Text 18"/>
          <p:cNvSpPr/>
          <p:nvPr/>
        </p:nvSpPr>
        <p:spPr>
          <a:xfrm>
            <a:off x="5158313" y="4553712"/>
            <a:ext cx="1875069"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skill</a:t>
            </a:r>
            <a:endParaRPr lang="en-US" sz="750" dirty="0"/>
          </a:p>
        </p:txBody>
      </p:sp>
      <p:sp>
        <p:nvSpPr>
          <p:cNvPr id="21" name="Text 19"/>
          <p:cNvSpPr/>
          <p:nvPr/>
        </p:nvSpPr>
        <p:spPr>
          <a:xfrm>
            <a:off x="5158313" y="4791456"/>
            <a:ext cx="1875069"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forecast model</a:t>
            </a:r>
            <a:endParaRPr lang="en-US" sz="900" dirty="0"/>
          </a:p>
        </p:txBody>
      </p:sp>
      <p:sp>
        <p:nvSpPr>
          <p:cNvPr id="22" name="Shape 20"/>
          <p:cNvSpPr/>
          <p:nvPr/>
        </p:nvSpPr>
        <p:spPr>
          <a:xfrm>
            <a:off x="7133966" y="4828032"/>
            <a:ext cx="146304" cy="0"/>
          </a:xfrm>
          <a:prstGeom prst="line">
            <a:avLst/>
          </a:prstGeom>
          <a:noFill/>
          <a:ln w="17780">
            <a:solidFill>
              <a:srgbClr val="D7B65D"/>
            </a:solidFill>
            <a:prstDash val="solid"/>
            <a:headEnd type="none"/>
            <a:tailEnd type="triangle"/>
          </a:ln>
        </p:spPr>
      </p:sp>
      <p:sp>
        <p:nvSpPr>
          <p:cNvPr id="23" name="Shape 21"/>
          <p:cNvSpPr/>
          <p:nvPr/>
        </p:nvSpPr>
        <p:spPr>
          <a:xfrm>
            <a:off x="7307702" y="4434840"/>
            <a:ext cx="2021373" cy="777240"/>
          </a:xfrm>
          <a:prstGeom prst="roundRect">
            <a:avLst>
              <a:gd name="adj" fmla="val 9412"/>
            </a:avLst>
          </a:prstGeom>
          <a:solidFill>
            <a:srgbClr val="08213D"/>
          </a:solidFill>
          <a:ln w="12700">
            <a:solidFill>
              <a:srgbClr val="0F8D68">
                <a:alpha val="90000"/>
              </a:srgbClr>
            </a:solidFill>
            <a:prstDash val="solid"/>
          </a:ln>
        </p:spPr>
      </p:sp>
      <p:sp>
        <p:nvSpPr>
          <p:cNvPr id="24" name="Text 22"/>
          <p:cNvSpPr/>
          <p:nvPr/>
        </p:nvSpPr>
        <p:spPr>
          <a:xfrm>
            <a:off x="7380854" y="4553712"/>
            <a:ext cx="1875069"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skill</a:t>
            </a:r>
            <a:endParaRPr lang="en-US" sz="750" dirty="0"/>
          </a:p>
        </p:txBody>
      </p:sp>
      <p:sp>
        <p:nvSpPr>
          <p:cNvPr id="25" name="Text 23"/>
          <p:cNvSpPr/>
          <p:nvPr/>
        </p:nvSpPr>
        <p:spPr>
          <a:xfrm>
            <a:off x="7380854" y="4791456"/>
            <a:ext cx="1875069"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uncertainty</a:t>
            </a:r>
            <a:endParaRPr lang="en-US" sz="900" dirty="0"/>
          </a:p>
        </p:txBody>
      </p:sp>
      <p:sp>
        <p:nvSpPr>
          <p:cNvPr id="26" name="Shape 24"/>
          <p:cNvSpPr/>
          <p:nvPr/>
        </p:nvSpPr>
        <p:spPr>
          <a:xfrm>
            <a:off x="9356507" y="4828032"/>
            <a:ext cx="146304" cy="0"/>
          </a:xfrm>
          <a:prstGeom prst="line">
            <a:avLst/>
          </a:prstGeom>
          <a:noFill/>
          <a:ln w="17780">
            <a:solidFill>
              <a:srgbClr val="D7B65D"/>
            </a:solidFill>
            <a:prstDash val="solid"/>
            <a:headEnd type="none"/>
            <a:tailEnd type="triangle"/>
          </a:ln>
        </p:spPr>
      </p:sp>
      <p:sp>
        <p:nvSpPr>
          <p:cNvPr id="27" name="Shape 25"/>
          <p:cNvSpPr/>
          <p:nvPr/>
        </p:nvSpPr>
        <p:spPr>
          <a:xfrm>
            <a:off x="9530243" y="4434840"/>
            <a:ext cx="2021373" cy="777240"/>
          </a:xfrm>
          <a:prstGeom prst="roundRect">
            <a:avLst>
              <a:gd name="adj" fmla="val 9412"/>
            </a:avLst>
          </a:prstGeom>
          <a:solidFill>
            <a:srgbClr val="08213D"/>
          </a:solidFill>
          <a:ln w="12700">
            <a:solidFill>
              <a:srgbClr val="0F8D68">
                <a:alpha val="90000"/>
              </a:srgbClr>
            </a:solidFill>
            <a:prstDash val="solid"/>
          </a:ln>
        </p:spPr>
      </p:sp>
      <p:sp>
        <p:nvSpPr>
          <p:cNvPr id="28" name="Text 26"/>
          <p:cNvSpPr/>
          <p:nvPr/>
        </p:nvSpPr>
        <p:spPr>
          <a:xfrm>
            <a:off x="9603395" y="4553712"/>
            <a:ext cx="1875069"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skill</a:t>
            </a:r>
            <a:endParaRPr lang="en-US" sz="750" dirty="0"/>
          </a:p>
        </p:txBody>
      </p:sp>
      <p:sp>
        <p:nvSpPr>
          <p:cNvPr id="29" name="Text 27"/>
          <p:cNvSpPr/>
          <p:nvPr/>
        </p:nvSpPr>
        <p:spPr>
          <a:xfrm>
            <a:off x="9603395" y="4791456"/>
            <a:ext cx="1875069"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eval review</a:t>
            </a:r>
            <a:endParaRPr lang="en-US" sz="900" dirty="0"/>
          </a:p>
        </p:txBody>
      </p:sp>
      <p:sp>
        <p:nvSpPr>
          <p:cNvPr id="30" name="Text 28"/>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Demo priors, educational simulator — not betting advice</a:t>
            </a:r>
            <a:endParaRPr lang="en-US" sz="680" dirty="0"/>
          </a:p>
        </p:txBody>
      </p:sp>
      <p:sp>
        <p:nvSpPr>
          <p:cNvPr id="31" name="Text 29"/>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142B"/>
        </a:solidFill>
      </p:bgPr>
    </p:bg>
    <p:spTree>
      <p:nvGrpSpPr>
        <p:cNvPr id="1" name=""/>
        <p:cNvGrpSpPr/>
        <p:nvPr/>
      </p:nvGrpSpPr>
      <p:grpSpPr>
        <a:xfrm>
          <a:off x="0" y="0"/>
          <a:ext cx="0" cy="0"/>
          <a:chOff x="0" y="0"/>
          <a:chExt cx="0" cy="0"/>
        </a:xfrm>
      </p:grpSpPr>
      <p:pic>
        <p:nvPicPr>
          <p:cNvPr id="2" name="Image 0" descr="/mnt/data/wc26_slide_work/assets/stadium_hero_dark72.png">    </p:cNvPr>
          <p:cNvPicPr>
            <a:picLocks noChangeAspect="1"/>
          </p:cNvPicPr>
          <p:nvPr/>
        </p:nvPicPr>
        <p:blipFill>
          <a:blip r:embed="rId1"/>
          <a:srcRect l="1" r="1" t="0" b="0"/>
          <a:stretch/>
        </p:blipFill>
        <p:spPr>
          <a:xfrm>
            <a:off x="0" y="0"/>
            <a:ext cx="12191695" cy="6858000"/>
          </a:xfrm>
          <a:prstGeom prst="rect">
            <a:avLst/>
          </a:prstGeom>
        </p:spPr>
      </p:pic>
      <p:sp>
        <p:nvSpPr>
          <p:cNvPr id="3"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FORECAST VAR</a:t>
            </a:r>
            <a:endParaRPr lang="en-US" sz="850" dirty="0"/>
          </a:p>
        </p:txBody>
      </p:sp>
      <p:sp>
        <p:nvSpPr>
          <p:cNvPr id="4"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Step 5 — MCP: a strict tool boundary between the agent and the forecasting engine</a:t>
            </a:r>
            <a:endParaRPr lang="en-US" sz="2400" dirty="0"/>
          </a:p>
        </p:txBody>
      </p:sp>
      <p:sp>
        <p:nvSpPr>
          <p:cNvPr id="5" name="Shape 2"/>
          <p:cNvSpPr/>
          <p:nvPr/>
        </p:nvSpPr>
        <p:spPr>
          <a:xfrm>
            <a:off x="502920" y="1170432"/>
            <a:ext cx="11155680" cy="0"/>
          </a:xfrm>
          <a:prstGeom prst="line">
            <a:avLst/>
          </a:prstGeom>
          <a:noFill/>
          <a:ln w="13970">
            <a:solidFill>
              <a:srgbClr val="0F8D68">
                <a:alpha val="80000"/>
              </a:srgbClr>
            </a:solidFill>
            <a:prstDash val="solid"/>
          </a:ln>
        </p:spPr>
      </p:sp>
      <p:sp>
        <p:nvSpPr>
          <p:cNvPr id="6" name="Shape 3"/>
          <p:cNvSpPr/>
          <p:nvPr/>
        </p:nvSpPr>
        <p:spPr>
          <a:xfrm>
            <a:off x="594360" y="1325880"/>
            <a:ext cx="5486400" cy="2103120"/>
          </a:xfrm>
          <a:prstGeom prst="roundRect">
            <a:avLst>
              <a:gd name="adj" fmla="val 3478"/>
            </a:avLst>
          </a:prstGeom>
          <a:solidFill>
            <a:srgbClr val="061222"/>
          </a:solidFill>
          <a:ln w="12700">
            <a:solidFill>
              <a:srgbClr val="1E4F72">
                <a:alpha val="90000"/>
              </a:srgbClr>
            </a:solidFill>
            <a:prstDash val="solid"/>
          </a:ln>
        </p:spPr>
      </p:sp>
      <p:sp>
        <p:nvSpPr>
          <p:cNvPr id="7" name="Text 4"/>
          <p:cNvSpPr/>
          <p:nvPr/>
        </p:nvSpPr>
        <p:spPr>
          <a:xfrm>
            <a:off x="713232" y="1417320"/>
            <a:ext cx="5248656" cy="164592"/>
          </a:xfrm>
          <a:prstGeom prst="rect">
            <a:avLst/>
          </a:prstGeom>
          <a:noFill/>
          <a:ln/>
        </p:spPr>
        <p:txBody>
          <a:bodyPr wrap="square" lIns="0" tIns="0" rIns="0" bIns="0" rtlCol="0" anchor="ctr"/>
          <a:lstStyle/>
          <a:p>
            <a:pPr indent="0" marL="0">
              <a:buNone/>
            </a:pPr>
            <a:r>
              <a:rPr lang="en-US" sz="750" b="1" dirty="0">
                <a:solidFill>
                  <a:srgbClr val="63D6C6"/>
                </a:solidFill>
              </a:rPr>
              <a:t>MCP server tool</a:t>
            </a:r>
            <a:endParaRPr lang="en-US" sz="750" dirty="0"/>
          </a:p>
        </p:txBody>
      </p:sp>
      <p:sp>
        <p:nvSpPr>
          <p:cNvPr id="8" name="Text 5"/>
          <p:cNvSpPr/>
          <p:nvPr/>
        </p:nvSpPr>
        <p:spPr>
          <a:xfrm>
            <a:off x="713232" y="1709928"/>
            <a:ext cx="5248656" cy="164592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 mcp_servers/worldcup_forecast/server.py</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@app.tool()</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def simulate_tournament(sims: int = 3000,</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seed: int = 2026,</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limit: int = 12) -&gt; dict:</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return tools.simulate_tournament(</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sims=sims, seed=seed, limit=limit</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a:t>
            </a:r>
            <a:endParaRPr lang="en-US" sz="740" dirty="0"/>
          </a:p>
        </p:txBody>
      </p:sp>
      <p:sp>
        <p:nvSpPr>
          <p:cNvPr id="9" name="Shape 6"/>
          <p:cNvSpPr/>
          <p:nvPr/>
        </p:nvSpPr>
        <p:spPr>
          <a:xfrm>
            <a:off x="6355080" y="1325880"/>
            <a:ext cx="4937760" cy="2103120"/>
          </a:xfrm>
          <a:prstGeom prst="roundRect">
            <a:avLst>
              <a:gd name="adj" fmla="val 3478"/>
            </a:avLst>
          </a:prstGeom>
          <a:solidFill>
            <a:srgbClr val="061222"/>
          </a:solidFill>
          <a:ln w="12700">
            <a:solidFill>
              <a:srgbClr val="1E4F72">
                <a:alpha val="90000"/>
              </a:srgbClr>
            </a:solidFill>
            <a:prstDash val="solid"/>
          </a:ln>
        </p:spPr>
      </p:sp>
      <p:sp>
        <p:nvSpPr>
          <p:cNvPr id="10" name="Text 7"/>
          <p:cNvSpPr/>
          <p:nvPr/>
        </p:nvSpPr>
        <p:spPr>
          <a:xfrm>
            <a:off x="6473952" y="1417320"/>
            <a:ext cx="4700016" cy="164592"/>
          </a:xfrm>
          <a:prstGeom prst="rect">
            <a:avLst/>
          </a:prstGeom>
          <a:noFill/>
          <a:ln/>
        </p:spPr>
        <p:txBody>
          <a:bodyPr wrap="square" lIns="0" tIns="0" rIns="0" bIns="0" rtlCol="0" anchor="ctr"/>
          <a:lstStyle/>
          <a:p>
            <a:pPr indent="0" marL="0">
              <a:buNone/>
            </a:pPr>
            <a:r>
              <a:rPr lang="en-US" sz="750" b="1" dirty="0">
                <a:solidFill>
                  <a:srgbClr val="63D6C6"/>
                </a:solidFill>
              </a:rPr>
              <a:t>OpenAI live path</a:t>
            </a:r>
            <a:endParaRPr lang="en-US" sz="750" dirty="0"/>
          </a:p>
        </p:txBody>
      </p:sp>
      <p:sp>
        <p:nvSpPr>
          <p:cNvPr id="11" name="Text 8"/>
          <p:cNvSpPr/>
          <p:nvPr/>
        </p:nvSpPr>
        <p:spPr>
          <a:xfrm>
            <a:off x="6473952" y="1709928"/>
            <a:ext cx="4700016" cy="164592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mcp = MCPServerStdio(</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params={"command": "python", "args": ["mcp_servers/worldcup_forecast/server.py"]}</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agent = Agent(</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model=DEFAULT_OPENAI_MODEL,</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mcp_servers=[mcp],</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output_type=AgentAnswer,</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a:t>
            </a:r>
            <a:endParaRPr lang="en-US" sz="740" dirty="0"/>
          </a:p>
        </p:txBody>
      </p:sp>
      <p:sp>
        <p:nvSpPr>
          <p:cNvPr id="12" name="Shape 9"/>
          <p:cNvSpPr/>
          <p:nvPr/>
        </p:nvSpPr>
        <p:spPr>
          <a:xfrm>
            <a:off x="731520" y="3840480"/>
            <a:ext cx="10378440" cy="1280160"/>
          </a:xfrm>
          <a:prstGeom prst="roundRect">
            <a:avLst>
              <a:gd name="adj" fmla="val 5714"/>
            </a:avLst>
          </a:prstGeom>
          <a:solidFill>
            <a:srgbClr val="FFFFFF">
              <a:alpha val="96000"/>
            </a:srgbClr>
          </a:solidFill>
          <a:ln w="12700">
            <a:solidFill>
              <a:srgbClr val="D7B65D">
                <a:alpha val="55000"/>
              </a:srgbClr>
            </a:solidFill>
            <a:prstDash val="solid"/>
          </a:ln>
        </p:spPr>
      </p:sp>
      <p:sp>
        <p:nvSpPr>
          <p:cNvPr id="13" name="Text 10"/>
          <p:cNvSpPr/>
          <p:nvPr/>
        </p:nvSpPr>
        <p:spPr>
          <a:xfrm>
            <a:off x="877824" y="3959352"/>
            <a:ext cx="1008583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Agent concept: tool contracts beat free-form guessing</a:t>
            </a:r>
            <a:endParaRPr lang="en-US" sz="1200" dirty="0"/>
          </a:p>
        </p:txBody>
      </p:sp>
      <p:sp>
        <p:nvSpPr>
          <p:cNvPr id="14" name="Text 11"/>
          <p:cNvSpPr/>
          <p:nvPr/>
        </p:nvSpPr>
        <p:spPr>
          <a:xfrm>
            <a:off x="877824" y="4279392"/>
            <a:ext cx="10085832" cy="71323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MCP makes the tool list explicit, read-only, and inspectable. The agent can ask the simulator for probabilities; it cannot silently invent a source, mutate data, or claim to have run a tool it did not call.</a:t>
            </a:r>
            <a:endParaRPr lang="en-US" sz="880" dirty="0"/>
          </a:p>
        </p:txBody>
      </p:sp>
      <p:sp>
        <p:nvSpPr>
          <p:cNvPr id="15" name="Text 12"/>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Default live model: gpt-5.4-nano. The offline notebook uses deterministic mock mode.</a:t>
            </a:r>
            <a:endParaRPr lang="en-US" sz="680" dirty="0"/>
          </a:p>
        </p:txBody>
      </p:sp>
      <p:sp>
        <p:nvSpPr>
          <p:cNvPr id="16" name="Text 13"/>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6142B"/>
        </a:solidFill>
      </p:bgPr>
    </p:bg>
    <p:spTree>
      <p:nvGrpSpPr>
        <p:cNvPr id="1" name=""/>
        <p:cNvGrpSpPr/>
        <p:nvPr/>
      </p:nvGrpSpPr>
      <p:grpSpPr>
        <a:xfrm>
          <a:off x="0" y="0"/>
          <a:ext cx="0" cy="0"/>
          <a:chOff x="0" y="0"/>
          <a:chExt cx="0" cy="0"/>
        </a:xfrm>
      </p:grpSpPr>
      <p:sp>
        <p:nvSpPr>
          <p:cNvPr id="2"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FORECAST VAR</a:t>
            </a:r>
            <a:endParaRPr lang="en-US" sz="850" dirty="0"/>
          </a:p>
        </p:txBody>
      </p:sp>
      <p:sp>
        <p:nvSpPr>
          <p:cNvPr id="3"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Step 6 — Factual grounding vs model grounding: predictions are not facts</a:t>
            </a:r>
            <a:endParaRPr lang="en-US" sz="2400" dirty="0"/>
          </a:p>
        </p:txBody>
      </p:sp>
      <p:sp>
        <p:nvSpPr>
          <p:cNvPr id="4" name="Shape 2"/>
          <p:cNvSpPr/>
          <p:nvPr/>
        </p:nvSpPr>
        <p:spPr>
          <a:xfrm>
            <a:off x="502920" y="1170432"/>
            <a:ext cx="11155680" cy="0"/>
          </a:xfrm>
          <a:prstGeom prst="line">
            <a:avLst/>
          </a:prstGeom>
          <a:noFill/>
          <a:ln w="13970">
            <a:solidFill>
              <a:srgbClr val="0F8D68">
                <a:alpha val="80000"/>
              </a:srgbClr>
            </a:solidFill>
            <a:prstDash val="solid"/>
          </a:ln>
        </p:spPr>
      </p:sp>
      <p:sp>
        <p:nvSpPr>
          <p:cNvPr id="5" name="Shape 3"/>
          <p:cNvSpPr/>
          <p:nvPr/>
        </p:nvSpPr>
        <p:spPr>
          <a:xfrm>
            <a:off x="594360" y="1325880"/>
            <a:ext cx="5303520" cy="1965960"/>
          </a:xfrm>
          <a:prstGeom prst="roundRect">
            <a:avLst>
              <a:gd name="adj" fmla="val 3721"/>
            </a:avLst>
          </a:prstGeom>
          <a:solidFill>
            <a:srgbClr val="FFFFFF">
              <a:alpha val="96000"/>
            </a:srgbClr>
          </a:solidFill>
          <a:ln w="12700">
            <a:solidFill>
              <a:srgbClr val="0F8D68">
                <a:alpha val="55000"/>
              </a:srgbClr>
            </a:solidFill>
            <a:prstDash val="solid"/>
          </a:ln>
        </p:spPr>
      </p:sp>
      <p:sp>
        <p:nvSpPr>
          <p:cNvPr id="6" name="Text 4"/>
          <p:cNvSpPr/>
          <p:nvPr/>
        </p:nvSpPr>
        <p:spPr>
          <a:xfrm>
            <a:off x="740664" y="1444752"/>
            <a:ext cx="50109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Factual grounding</a:t>
            </a:r>
            <a:endParaRPr lang="en-US" sz="1200" dirty="0"/>
          </a:p>
        </p:txBody>
      </p:sp>
      <p:sp>
        <p:nvSpPr>
          <p:cNvPr id="7" name="Text 5"/>
          <p:cNvSpPr/>
          <p:nvPr/>
        </p:nvSpPr>
        <p:spPr>
          <a:xfrm>
            <a:off x="740664" y="1764792"/>
            <a:ext cx="5010912" cy="139903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Example claim:</a:t>
            </a:r>
            <a:endParaRPr lang="en-US" sz="880" dirty="0"/>
          </a:p>
          <a:p>
            <a:pPr indent="0" marL="0">
              <a:buNone/>
            </a:pPr>
            <a:r>
              <a:rPr lang="en-US" sz="880" dirty="0">
                <a:solidFill>
                  <a:srgbClr val="213547"/>
                </a:solidFill>
              </a:rPr>
              <a:t>“The tournament has 48 teams and 12 groups.”</a:t>
            </a:r>
            <a:endParaRPr lang="en-US" sz="880" dirty="0"/>
          </a:p>
          <a:p>
            <a:pPr indent="0" marL="0">
              <a:buNone/>
            </a:pPr>
            <a:endParaRPr lang="en-US" sz="880" dirty="0"/>
          </a:p>
          <a:p>
            <a:pPr indent="0" marL="0">
              <a:buNone/>
            </a:pPr>
            <a:r>
              <a:rPr lang="en-US" sz="880" dirty="0">
                <a:solidFill>
                  <a:srgbClr val="213547"/>
                </a:solidFill>
              </a:rPr>
              <a:t>Support required:</a:t>
            </a:r>
            <a:endParaRPr lang="en-US" sz="880" dirty="0"/>
          </a:p>
          <a:p>
            <a:pPr indent="0" marL="0">
              <a:buNone/>
            </a:pPr>
            <a:r>
              <a:rPr lang="en-US" sz="880" dirty="0">
                <a:solidFill>
                  <a:srgbClr val="213547"/>
                </a:solidFill>
              </a:rPr>
              <a:t>tournament_field, group_membership, qualified_team</a:t>
            </a:r>
            <a:endParaRPr lang="en-US" sz="880" dirty="0"/>
          </a:p>
          <a:p>
            <a:pPr indent="0" marL="0">
              <a:buNone/>
            </a:pPr>
            <a:endParaRPr lang="en-US" sz="880" dirty="0"/>
          </a:p>
          <a:p>
            <a:pPr indent="0" marL="0">
              <a:buNone/>
            </a:pPr>
            <a:r>
              <a:rPr lang="en-US" sz="880" dirty="0">
                <a:solidFill>
                  <a:srgbClr val="213547"/>
                </a:solidFill>
              </a:rPr>
              <a:t>Source type:</a:t>
            </a:r>
            <a:endParaRPr lang="en-US" sz="880" dirty="0"/>
          </a:p>
          <a:p>
            <a:pPr indent="0" marL="0">
              <a:buNone/>
            </a:pPr>
            <a:r>
              <a:rPr lang="en-US" sz="880" dirty="0">
                <a:solidFill>
                  <a:srgbClr val="213547"/>
                </a:solidFill>
              </a:rPr>
              <a:t>official field snapshot / cross-check</a:t>
            </a:r>
            <a:endParaRPr lang="en-US" sz="880" dirty="0"/>
          </a:p>
        </p:txBody>
      </p:sp>
      <p:sp>
        <p:nvSpPr>
          <p:cNvPr id="8" name="Shape 6"/>
          <p:cNvSpPr/>
          <p:nvPr/>
        </p:nvSpPr>
        <p:spPr>
          <a:xfrm>
            <a:off x="6263640" y="1325880"/>
            <a:ext cx="5303520" cy="1965960"/>
          </a:xfrm>
          <a:prstGeom prst="roundRect">
            <a:avLst>
              <a:gd name="adj" fmla="val 3721"/>
            </a:avLst>
          </a:prstGeom>
          <a:solidFill>
            <a:srgbClr val="FFFFFF">
              <a:alpha val="96000"/>
            </a:srgbClr>
          </a:solidFill>
          <a:ln w="12700">
            <a:solidFill>
              <a:srgbClr val="D7B65D">
                <a:alpha val="55000"/>
              </a:srgbClr>
            </a:solidFill>
            <a:prstDash val="solid"/>
          </a:ln>
        </p:spPr>
      </p:sp>
      <p:sp>
        <p:nvSpPr>
          <p:cNvPr id="9" name="Text 7"/>
          <p:cNvSpPr/>
          <p:nvPr/>
        </p:nvSpPr>
        <p:spPr>
          <a:xfrm>
            <a:off x="6409944" y="1444752"/>
            <a:ext cx="50109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Model grounding</a:t>
            </a:r>
            <a:endParaRPr lang="en-US" sz="1200" dirty="0"/>
          </a:p>
        </p:txBody>
      </p:sp>
      <p:sp>
        <p:nvSpPr>
          <p:cNvPr id="10" name="Text 8"/>
          <p:cNvSpPr/>
          <p:nvPr/>
        </p:nvSpPr>
        <p:spPr>
          <a:xfrm>
            <a:off x="6409944" y="1764792"/>
            <a:ext cx="5010912" cy="139903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Example claim:</a:t>
            </a:r>
            <a:endParaRPr lang="en-US" sz="880" dirty="0"/>
          </a:p>
          <a:p>
            <a:pPr indent="0" marL="0">
              <a:buNone/>
            </a:pPr>
            <a:r>
              <a:rPr lang="en-US" sz="880" dirty="0">
                <a:solidFill>
                  <a:srgbClr val="213547"/>
                </a:solidFill>
              </a:rPr>
              <a:t>“Argentina has 21.7% champion probability.”</a:t>
            </a:r>
            <a:endParaRPr lang="en-US" sz="880" dirty="0"/>
          </a:p>
          <a:p>
            <a:pPr indent="0" marL="0">
              <a:buNone/>
            </a:pPr>
            <a:endParaRPr lang="en-US" sz="880" dirty="0"/>
          </a:p>
          <a:p>
            <a:pPr indent="0" marL="0">
              <a:buNone/>
            </a:pPr>
            <a:r>
              <a:rPr lang="en-US" sz="880" dirty="0">
                <a:solidFill>
                  <a:srgbClr val="213547"/>
                </a:solidFill>
              </a:rPr>
              <a:t>Support required:</a:t>
            </a:r>
            <a:endParaRPr lang="en-US" sz="880" dirty="0"/>
          </a:p>
          <a:p>
            <a:pPr indent="0" marL="0">
              <a:buNone/>
            </a:pPr>
            <a:r>
              <a:rPr lang="en-US" sz="880" dirty="0">
                <a:solidFill>
                  <a:srgbClr val="213547"/>
                </a:solidFill>
              </a:rPr>
              <a:t>model_input, model_logic, model_output, uncertainty</a:t>
            </a:r>
            <a:endParaRPr lang="en-US" sz="880" dirty="0"/>
          </a:p>
          <a:p>
            <a:pPr indent="0" marL="0">
              <a:buNone/>
            </a:pPr>
            <a:endParaRPr lang="en-US" sz="880" dirty="0"/>
          </a:p>
          <a:p>
            <a:pPr indent="0" marL="0">
              <a:buNone/>
            </a:pPr>
            <a:r>
              <a:rPr lang="en-US" sz="880" dirty="0">
                <a:solidFill>
                  <a:srgbClr val="213547"/>
                </a:solidFill>
              </a:rPr>
              <a:t>Source type:</a:t>
            </a:r>
            <a:endParaRPr lang="en-US" sz="880" dirty="0"/>
          </a:p>
          <a:p>
            <a:pPr indent="0" marL="0">
              <a:buNone/>
            </a:pPr>
            <a:r>
              <a:rPr lang="en-US" sz="880" dirty="0">
                <a:solidFill>
                  <a:srgbClr val="213547"/>
                </a:solidFill>
              </a:rPr>
              <a:t>features + simulator output</a:t>
            </a:r>
            <a:endParaRPr lang="en-US" sz="880" dirty="0"/>
          </a:p>
        </p:txBody>
      </p:sp>
      <p:sp>
        <p:nvSpPr>
          <p:cNvPr id="11" name="Shape 9"/>
          <p:cNvSpPr/>
          <p:nvPr/>
        </p:nvSpPr>
        <p:spPr>
          <a:xfrm>
            <a:off x="594360" y="3703320"/>
            <a:ext cx="5303520" cy="1554480"/>
          </a:xfrm>
          <a:prstGeom prst="roundRect">
            <a:avLst>
              <a:gd name="adj" fmla="val 4706"/>
            </a:avLst>
          </a:prstGeom>
          <a:solidFill>
            <a:srgbClr val="061222"/>
          </a:solidFill>
          <a:ln w="12700">
            <a:solidFill>
              <a:srgbClr val="1E4F72">
                <a:alpha val="90000"/>
              </a:srgbClr>
            </a:solidFill>
            <a:prstDash val="solid"/>
          </a:ln>
        </p:spPr>
      </p:sp>
      <p:sp>
        <p:nvSpPr>
          <p:cNvPr id="12" name="Text 10"/>
          <p:cNvSpPr/>
          <p:nvPr/>
        </p:nvSpPr>
        <p:spPr>
          <a:xfrm>
            <a:off x="713232" y="3794760"/>
            <a:ext cx="5065776" cy="164592"/>
          </a:xfrm>
          <a:prstGeom prst="rect">
            <a:avLst/>
          </a:prstGeom>
          <a:noFill/>
          <a:ln/>
        </p:spPr>
        <p:txBody>
          <a:bodyPr wrap="square" lIns="0" tIns="0" rIns="0" bIns="0" rtlCol="0" anchor="ctr"/>
          <a:lstStyle/>
          <a:p>
            <a:pPr indent="0" marL="0">
              <a:buNone/>
            </a:pPr>
            <a:r>
              <a:rPr lang="en-US" sz="750" b="1" dirty="0">
                <a:solidFill>
                  <a:srgbClr val="63D6C6"/>
                </a:solidFill>
              </a:rPr>
              <a:t>Typed claim</a:t>
            </a:r>
            <a:endParaRPr lang="en-US" sz="750" dirty="0"/>
          </a:p>
        </p:txBody>
      </p:sp>
      <p:sp>
        <p:nvSpPr>
          <p:cNvPr id="13" name="Text 11"/>
          <p:cNvSpPr/>
          <p:nvPr/>
        </p:nvSpPr>
        <p:spPr>
          <a:xfrm>
            <a:off x="713232" y="4087368"/>
            <a:ext cx="5065776" cy="109728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claim = {</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"text": "Argentina is the top favourite under demo priors.",</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"claim_type": "model_output",</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"citation_ids": ["CITE-SRC-SAMPLE-TEAM-PRIORS", "CITE-MODEL-FORECAST-VAR-V1"]</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a:t>
            </a:r>
            <a:endParaRPr lang="en-US" sz="740" dirty="0"/>
          </a:p>
        </p:txBody>
      </p:sp>
      <p:sp>
        <p:nvSpPr>
          <p:cNvPr id="14" name="Shape 12"/>
          <p:cNvSpPr/>
          <p:nvPr/>
        </p:nvSpPr>
        <p:spPr>
          <a:xfrm>
            <a:off x="6263640" y="3703320"/>
            <a:ext cx="5303520" cy="1554480"/>
          </a:xfrm>
          <a:prstGeom prst="roundRect">
            <a:avLst>
              <a:gd name="adj" fmla="val 4706"/>
            </a:avLst>
          </a:prstGeom>
          <a:solidFill>
            <a:srgbClr val="061222"/>
          </a:solidFill>
          <a:ln w="12700">
            <a:solidFill>
              <a:srgbClr val="1E4F72">
                <a:alpha val="90000"/>
              </a:srgbClr>
            </a:solidFill>
            <a:prstDash val="solid"/>
          </a:ln>
        </p:spPr>
      </p:sp>
      <p:sp>
        <p:nvSpPr>
          <p:cNvPr id="15" name="Text 13"/>
          <p:cNvSpPr/>
          <p:nvPr/>
        </p:nvSpPr>
        <p:spPr>
          <a:xfrm>
            <a:off x="6382512" y="3794760"/>
            <a:ext cx="5065776" cy="164592"/>
          </a:xfrm>
          <a:prstGeom prst="rect">
            <a:avLst/>
          </a:prstGeom>
          <a:noFill/>
          <a:ln/>
        </p:spPr>
        <p:txBody>
          <a:bodyPr wrap="square" lIns="0" tIns="0" rIns="0" bIns="0" rtlCol="0" anchor="ctr"/>
          <a:lstStyle/>
          <a:p>
            <a:pPr indent="0" marL="0">
              <a:buNone/>
            </a:pPr>
            <a:r>
              <a:rPr lang="en-US" sz="750" b="1" dirty="0">
                <a:solidFill>
                  <a:srgbClr val="63D6C6"/>
                </a:solidFill>
              </a:rPr>
              <a:t>Verifier output</a:t>
            </a:r>
            <a:endParaRPr lang="en-US" sz="750" dirty="0"/>
          </a:p>
        </p:txBody>
      </p:sp>
      <p:sp>
        <p:nvSpPr>
          <p:cNvPr id="16" name="Text 14"/>
          <p:cNvSpPr/>
          <p:nvPr/>
        </p:nvSpPr>
        <p:spPr>
          <a:xfrm>
            <a:off x="6382512" y="4087368"/>
            <a:ext cx="5065776" cy="109728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verify_claims_against_sources(claims)</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"source_support_precision": 1.0,</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"support_class": "SUPPORTED_MODEL_DERIVED"</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a:t>
            </a:r>
            <a:endParaRPr lang="en-US" sz="740" dirty="0"/>
          </a:p>
        </p:txBody>
      </p:sp>
      <p:sp>
        <p:nvSpPr>
          <p:cNvPr id="17" name="Text 15"/>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Demo priors, educational simulator — not betting advice</a:t>
            </a:r>
            <a:endParaRPr lang="en-US" sz="680" dirty="0"/>
          </a:p>
        </p:txBody>
      </p:sp>
      <p:sp>
        <p:nvSpPr>
          <p:cNvPr id="18" name="Text 16"/>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142B"/>
        </a:solidFill>
      </p:bgPr>
    </p:bg>
    <p:spTree>
      <p:nvGrpSpPr>
        <p:cNvPr id="1" name=""/>
        <p:cNvGrpSpPr/>
        <p:nvPr/>
      </p:nvGrpSpPr>
      <p:grpSpPr>
        <a:xfrm>
          <a:off x="0" y="0"/>
          <a:ext cx="0" cy="0"/>
          <a:chOff x="0" y="0"/>
          <a:chExt cx="0" cy="0"/>
        </a:xfrm>
      </p:grpSpPr>
      <p:pic>
        <p:nvPicPr>
          <p:cNvPr id="2" name="Image 0" descr="/mnt/data/wc26_slide_work/assets/football_ball_closeup_dark68.png">    </p:cNvPr>
          <p:cNvPicPr>
            <a:picLocks noChangeAspect="1"/>
          </p:cNvPicPr>
          <p:nvPr/>
        </p:nvPicPr>
        <p:blipFill>
          <a:blip r:embed="rId1"/>
          <a:srcRect l="1" r="1" t="0" b="0"/>
          <a:stretch/>
        </p:blipFill>
        <p:spPr>
          <a:xfrm>
            <a:off x="0" y="0"/>
            <a:ext cx="12191695" cy="6858000"/>
          </a:xfrm>
          <a:prstGeom prst="rect">
            <a:avLst/>
          </a:prstGeom>
        </p:spPr>
      </p:pic>
      <p:sp>
        <p:nvSpPr>
          <p:cNvPr id="3"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FORECAST VAR</a:t>
            </a:r>
            <a:endParaRPr lang="en-US" sz="850" dirty="0"/>
          </a:p>
        </p:txBody>
      </p:sp>
      <p:sp>
        <p:nvSpPr>
          <p:cNvPr id="4"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Step 7 — Match model: turn team inputs into a 1X2 probability distribution</a:t>
            </a:r>
            <a:endParaRPr lang="en-US" sz="2400" dirty="0"/>
          </a:p>
        </p:txBody>
      </p:sp>
      <p:sp>
        <p:nvSpPr>
          <p:cNvPr id="5" name="Shape 2"/>
          <p:cNvSpPr/>
          <p:nvPr/>
        </p:nvSpPr>
        <p:spPr>
          <a:xfrm>
            <a:off x="502920" y="1170432"/>
            <a:ext cx="11155680" cy="0"/>
          </a:xfrm>
          <a:prstGeom prst="line">
            <a:avLst/>
          </a:prstGeom>
          <a:noFill/>
          <a:ln w="13970">
            <a:solidFill>
              <a:srgbClr val="0F8D68">
                <a:alpha val="80000"/>
              </a:srgbClr>
            </a:solidFill>
            <a:prstDash val="solid"/>
          </a:ln>
        </p:spPr>
      </p:sp>
      <p:sp>
        <p:nvSpPr>
          <p:cNvPr id="6" name="Shape 3"/>
          <p:cNvSpPr/>
          <p:nvPr/>
        </p:nvSpPr>
        <p:spPr>
          <a:xfrm>
            <a:off x="594360" y="1325880"/>
            <a:ext cx="5303520" cy="2468880"/>
          </a:xfrm>
          <a:prstGeom prst="roundRect">
            <a:avLst>
              <a:gd name="adj" fmla="val 2963"/>
            </a:avLst>
          </a:prstGeom>
          <a:solidFill>
            <a:srgbClr val="061222"/>
          </a:solidFill>
          <a:ln w="12700">
            <a:solidFill>
              <a:srgbClr val="1E4F72">
                <a:alpha val="90000"/>
              </a:srgbClr>
            </a:solidFill>
            <a:prstDash val="solid"/>
          </a:ln>
        </p:spPr>
      </p:sp>
      <p:sp>
        <p:nvSpPr>
          <p:cNvPr id="7" name="Text 4"/>
          <p:cNvSpPr/>
          <p:nvPr/>
        </p:nvSpPr>
        <p:spPr>
          <a:xfrm>
            <a:off x="713232" y="1417320"/>
            <a:ext cx="5065776" cy="164592"/>
          </a:xfrm>
          <a:prstGeom prst="rect">
            <a:avLst/>
          </a:prstGeom>
          <a:noFill/>
          <a:ln/>
        </p:spPr>
        <p:txBody>
          <a:bodyPr wrap="square" lIns="0" tIns="0" rIns="0" bIns="0" rtlCol="0" anchor="ctr"/>
          <a:lstStyle/>
          <a:p>
            <a:pPr indent="0" marL="0">
              <a:buNone/>
            </a:pPr>
            <a:r>
              <a:rPr lang="en-US" sz="750" b="1" dirty="0">
                <a:solidFill>
                  <a:srgbClr val="63D6C6"/>
                </a:solidFill>
              </a:rPr>
              <a:t>src/forecast_var/forecast_model.py</a:t>
            </a:r>
            <a:endParaRPr lang="en-US" sz="750" dirty="0"/>
          </a:p>
        </p:txBody>
      </p:sp>
      <p:sp>
        <p:nvSpPr>
          <p:cNvPr id="8" name="Text 5"/>
          <p:cNvSpPr/>
          <p:nvPr/>
        </p:nvSpPr>
        <p:spPr>
          <a:xfrm>
            <a:off x="713232" y="1709928"/>
            <a:ext cx="5065776" cy="201168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def match_probabilities(team_a, team_b, scenario=None):</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diff = adjusted_rating(team_a) - adjusted_rating(team_b)</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p_a_no_draw = 1 / (1 + 10 ** (-diff / 420))</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draw = bounded_draw_probability(diff)</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p_a = (1 - draw) * p_a_no_draw</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p_b = 1 - draw - p_a</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return {"p_team_a_win": p_a,</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"p_draw": draw,</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"p_team_b_win": p_b}</a:t>
            </a:r>
            <a:endParaRPr lang="en-US" sz="740" dirty="0"/>
          </a:p>
        </p:txBody>
      </p:sp>
      <p:sp>
        <p:nvSpPr>
          <p:cNvPr id="9" name="Shape 6"/>
          <p:cNvSpPr/>
          <p:nvPr/>
        </p:nvSpPr>
        <p:spPr>
          <a:xfrm>
            <a:off x="6309360" y="1325880"/>
            <a:ext cx="4937760" cy="2468880"/>
          </a:xfrm>
          <a:prstGeom prst="roundRect">
            <a:avLst>
              <a:gd name="adj" fmla="val 2963"/>
            </a:avLst>
          </a:prstGeom>
          <a:solidFill>
            <a:srgbClr val="FFFFFF">
              <a:alpha val="96000"/>
            </a:srgbClr>
          </a:solidFill>
          <a:ln w="12700">
            <a:solidFill>
              <a:srgbClr val="D7B65D">
                <a:alpha val="55000"/>
              </a:srgbClr>
            </a:solidFill>
            <a:prstDash val="solid"/>
          </a:ln>
        </p:spPr>
      </p:sp>
      <p:sp>
        <p:nvSpPr>
          <p:cNvPr id="10" name="Text 7"/>
          <p:cNvSpPr/>
          <p:nvPr/>
        </p:nvSpPr>
        <p:spPr>
          <a:xfrm>
            <a:off x="6455664" y="1444752"/>
            <a:ext cx="464515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Example output: USA vs Australia</a:t>
            </a:r>
            <a:endParaRPr lang="en-US" sz="1200" dirty="0"/>
          </a:p>
        </p:txBody>
      </p:sp>
      <p:sp>
        <p:nvSpPr>
          <p:cNvPr id="11" name="Text 8"/>
          <p:cNvSpPr/>
          <p:nvPr/>
        </p:nvSpPr>
        <p:spPr>
          <a:xfrm>
            <a:off x="6455664" y="1764792"/>
            <a:ext cx="4645152" cy="190195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USA win: 50.9%</a:t>
            </a:r>
            <a:endParaRPr lang="en-US" sz="880" dirty="0"/>
          </a:p>
          <a:p>
            <a:pPr indent="0" marL="0">
              <a:buNone/>
            </a:pPr>
            <a:r>
              <a:rPr lang="en-US" sz="880" dirty="0">
                <a:solidFill>
                  <a:srgbClr val="213547"/>
                </a:solidFill>
              </a:rPr>
              <a:t>Draw: 21.0%</a:t>
            </a:r>
            <a:endParaRPr lang="en-US" sz="880" dirty="0"/>
          </a:p>
          <a:p>
            <a:pPr indent="0" marL="0">
              <a:buNone/>
            </a:pPr>
            <a:r>
              <a:rPr lang="en-US" sz="880" dirty="0">
                <a:solidFill>
                  <a:srgbClr val="213547"/>
                </a:solidFill>
              </a:rPr>
              <a:t>Australia win: 28.1%</a:t>
            </a:r>
            <a:endParaRPr lang="en-US" sz="880" dirty="0"/>
          </a:p>
          <a:p>
            <a:pPr indent="0" marL="0">
              <a:buNone/>
            </a:pPr>
            <a:endParaRPr lang="en-US" sz="880" dirty="0"/>
          </a:p>
          <a:p>
            <a:pPr indent="0" marL="0">
              <a:buNone/>
            </a:pPr>
            <a:r>
              <a:rPr lang="en-US" sz="880" dirty="0">
                <a:solidFill>
                  <a:srgbClr val="213547"/>
                </a:solidFill>
              </a:rPr>
              <a:t>Inputs: strength rating, host advantage, travel-load proxy, optional scenario adjustments.</a:t>
            </a:r>
            <a:endParaRPr lang="en-US" sz="880" dirty="0"/>
          </a:p>
        </p:txBody>
      </p:sp>
      <p:sp>
        <p:nvSpPr>
          <p:cNvPr id="12" name="Shape 9"/>
          <p:cNvSpPr/>
          <p:nvPr/>
        </p:nvSpPr>
        <p:spPr>
          <a:xfrm>
            <a:off x="594360" y="4251960"/>
            <a:ext cx="10652760" cy="960120"/>
          </a:xfrm>
          <a:prstGeom prst="roundRect">
            <a:avLst>
              <a:gd name="adj" fmla="val 7619"/>
            </a:avLst>
          </a:prstGeom>
          <a:solidFill>
            <a:srgbClr val="FFFFFF">
              <a:alpha val="96000"/>
            </a:srgbClr>
          </a:solidFill>
          <a:ln w="12700">
            <a:solidFill>
              <a:srgbClr val="63D6C6">
                <a:alpha val="55000"/>
              </a:srgbClr>
            </a:solidFill>
            <a:prstDash val="solid"/>
          </a:ln>
        </p:spPr>
      </p:sp>
      <p:sp>
        <p:nvSpPr>
          <p:cNvPr id="13" name="Text 10"/>
          <p:cNvSpPr/>
          <p:nvPr/>
        </p:nvSpPr>
        <p:spPr>
          <a:xfrm>
            <a:off x="740664" y="4370832"/>
            <a:ext cx="1036015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Agent concept</a:t>
            </a:r>
            <a:endParaRPr lang="en-US" sz="1200" dirty="0"/>
          </a:p>
        </p:txBody>
      </p:sp>
      <p:sp>
        <p:nvSpPr>
          <p:cNvPr id="14" name="Text 11"/>
          <p:cNvSpPr/>
          <p:nvPr/>
        </p:nvSpPr>
        <p:spPr>
          <a:xfrm>
            <a:off x="740664" y="4690872"/>
            <a:ext cx="10360152" cy="39319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The LLM should not “feel” that a team will win. It should call a deterministic model tool, receive probabilities, then explain assumptions and limitations in natural language.</a:t>
            </a:r>
            <a:endParaRPr lang="en-US" sz="880" dirty="0"/>
          </a:p>
        </p:txBody>
      </p:sp>
      <p:sp>
        <p:nvSpPr>
          <p:cNvPr id="15" name="Text 12"/>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Demo priors, educational simulator — not betting advice</a:t>
            </a:r>
            <a:endParaRPr lang="en-US" sz="680" dirty="0"/>
          </a:p>
        </p:txBody>
      </p:sp>
      <p:sp>
        <p:nvSpPr>
          <p:cNvPr id="16" name="Text 13"/>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6142B"/>
        </a:solidFill>
      </p:bgPr>
    </p:bg>
    <p:spTree>
      <p:nvGrpSpPr>
        <p:cNvPr id="1" name=""/>
        <p:cNvGrpSpPr/>
        <p:nvPr/>
      </p:nvGrpSpPr>
      <p:grpSpPr>
        <a:xfrm>
          <a:off x="0" y="0"/>
          <a:ext cx="0" cy="0"/>
          <a:chOff x="0" y="0"/>
          <a:chExt cx="0" cy="0"/>
        </a:xfrm>
      </p:grpSpPr>
      <p:sp>
        <p:nvSpPr>
          <p:cNvPr id="2"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FORECAST VAR</a:t>
            </a:r>
            <a:endParaRPr lang="en-US" sz="850" dirty="0"/>
          </a:p>
        </p:txBody>
      </p:sp>
      <p:sp>
        <p:nvSpPr>
          <p:cNvPr id="3"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Step 8 — Group simulation: six matches become winner/top-two probabilities</a:t>
            </a:r>
            <a:endParaRPr lang="en-US" sz="2400" dirty="0"/>
          </a:p>
        </p:txBody>
      </p:sp>
      <p:sp>
        <p:nvSpPr>
          <p:cNvPr id="4" name="Shape 2"/>
          <p:cNvSpPr/>
          <p:nvPr/>
        </p:nvSpPr>
        <p:spPr>
          <a:xfrm>
            <a:off x="502920" y="1170432"/>
            <a:ext cx="11155680" cy="0"/>
          </a:xfrm>
          <a:prstGeom prst="line">
            <a:avLst/>
          </a:prstGeom>
          <a:noFill/>
          <a:ln w="13970">
            <a:solidFill>
              <a:srgbClr val="0F8D68">
                <a:alpha val="80000"/>
              </a:srgbClr>
            </a:solidFill>
            <a:prstDash val="solid"/>
          </a:ln>
        </p:spPr>
      </p:sp>
      <p:sp>
        <p:nvSpPr>
          <p:cNvPr id="5" name="Shape 3"/>
          <p:cNvSpPr/>
          <p:nvPr/>
        </p:nvSpPr>
        <p:spPr>
          <a:xfrm>
            <a:off x="594360" y="1371600"/>
            <a:ext cx="4983480" cy="3474720"/>
          </a:xfrm>
          <a:prstGeom prst="roundRect">
            <a:avLst>
              <a:gd name="adj" fmla="val 2105"/>
            </a:avLst>
          </a:prstGeom>
          <a:solidFill>
            <a:srgbClr val="071B36"/>
          </a:solidFill>
          <a:ln w="12700">
            <a:solidFill>
              <a:srgbClr val="1D5872">
                <a:alpha val="80000"/>
              </a:srgbClr>
            </a:solidFill>
            <a:prstDash val="solid"/>
          </a:ln>
        </p:spPr>
      </p:sp>
      <p:pic>
        <p:nvPicPr>
          <p:cNvPr id="6" name="Image 0" descr="/mnt/data/wc26_slide_work/wc26-forecast-var-agent-episode2-source-aware-gpt54nano/figures/group_d_winner_probabilities.png">    </p:cNvPr>
          <p:cNvPicPr>
            <a:picLocks noChangeAspect="1"/>
          </p:cNvPicPr>
          <p:nvPr/>
        </p:nvPicPr>
        <p:blipFill>
          <a:blip r:embed="rId1"/>
          <a:stretch>
            <a:fillRect/>
          </a:stretch>
        </p:blipFill>
        <p:spPr>
          <a:xfrm>
            <a:off x="649224" y="1738217"/>
            <a:ext cx="4873752" cy="2741486"/>
          </a:xfrm>
          <a:prstGeom prst="rect">
            <a:avLst/>
          </a:prstGeom>
        </p:spPr>
      </p:pic>
      <p:sp>
        <p:nvSpPr>
          <p:cNvPr id="7" name="Shape 4"/>
          <p:cNvSpPr/>
          <p:nvPr/>
        </p:nvSpPr>
        <p:spPr>
          <a:xfrm>
            <a:off x="5897880" y="1371600"/>
            <a:ext cx="5349240" cy="3474720"/>
          </a:xfrm>
          <a:prstGeom prst="roundRect">
            <a:avLst>
              <a:gd name="adj" fmla="val 2105"/>
            </a:avLst>
          </a:prstGeom>
          <a:solidFill>
            <a:srgbClr val="FFFFFF">
              <a:alpha val="96000"/>
            </a:srgbClr>
          </a:solidFill>
          <a:ln w="12700">
            <a:solidFill>
              <a:srgbClr val="0F8D68">
                <a:alpha val="55000"/>
              </a:srgbClr>
            </a:solidFill>
            <a:prstDash val="solid"/>
          </a:ln>
        </p:spPr>
      </p:sp>
      <p:sp>
        <p:nvSpPr>
          <p:cNvPr id="8" name="Text 5"/>
          <p:cNvSpPr/>
          <p:nvPr/>
        </p:nvSpPr>
        <p:spPr>
          <a:xfrm>
            <a:off x="6044184" y="1490472"/>
            <a:ext cx="505663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Group D output format</a:t>
            </a:r>
            <a:endParaRPr lang="en-US" sz="1200" dirty="0"/>
          </a:p>
        </p:txBody>
      </p:sp>
      <p:sp>
        <p:nvSpPr>
          <p:cNvPr id="9" name="Text 6"/>
          <p:cNvSpPr/>
          <p:nvPr/>
        </p:nvSpPr>
        <p:spPr>
          <a:xfrm>
            <a:off x="6044184" y="1810512"/>
            <a:ext cx="5056632" cy="290779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USA: winner 49.8% · top2 74.3%</a:t>
            </a:r>
            <a:endParaRPr lang="en-US" sz="880" dirty="0"/>
          </a:p>
          <a:p>
            <a:pPr indent="0" marL="0">
              <a:buNone/>
            </a:pPr>
            <a:r>
              <a:rPr lang="en-US" sz="880" dirty="0">
                <a:solidFill>
                  <a:srgbClr val="213547"/>
                </a:solidFill>
              </a:rPr>
              <a:t>Paraguay: winner 16.3% · top2 40.2%</a:t>
            </a:r>
            <a:endParaRPr lang="en-US" sz="880" dirty="0"/>
          </a:p>
          <a:p>
            <a:pPr indent="0" marL="0">
              <a:buNone/>
            </a:pPr>
            <a:r>
              <a:rPr lang="en-US" sz="880" dirty="0">
                <a:solidFill>
                  <a:srgbClr val="213547"/>
                </a:solidFill>
              </a:rPr>
              <a:t>Australia: winner 11.3% · top2 31.7%</a:t>
            </a:r>
            <a:endParaRPr lang="en-US" sz="880" dirty="0"/>
          </a:p>
          <a:p>
            <a:pPr indent="0" marL="0">
              <a:buNone/>
            </a:pPr>
            <a:r>
              <a:rPr lang="en-US" sz="880" dirty="0">
                <a:solidFill>
                  <a:srgbClr val="213547"/>
                </a:solidFill>
              </a:rPr>
              <a:t>Türkiye: winner 22.6% · top2 53.8%</a:t>
            </a:r>
            <a:endParaRPr lang="en-US" sz="880" dirty="0"/>
          </a:p>
          <a:p>
            <a:pPr indent="0" marL="0">
              <a:buNone/>
            </a:pPr>
            <a:endParaRPr lang="en-US" sz="880" dirty="0"/>
          </a:p>
          <a:p>
            <a:pPr indent="0" marL="0">
              <a:buNone/>
            </a:pPr>
            <a:r>
              <a:rPr lang="en-US" sz="880" dirty="0">
                <a:solidFill>
                  <a:srgbClr val="213547"/>
                </a:solidFill>
              </a:rPr>
              <a:t>This is generated by Monte Carlo group simulation over the six round-robin games.</a:t>
            </a:r>
            <a:endParaRPr lang="en-US" sz="880" dirty="0"/>
          </a:p>
        </p:txBody>
      </p:sp>
      <p:sp>
        <p:nvSpPr>
          <p:cNvPr id="10" name="Shape 7"/>
          <p:cNvSpPr/>
          <p:nvPr/>
        </p:nvSpPr>
        <p:spPr>
          <a:xfrm>
            <a:off x="594360" y="5166360"/>
            <a:ext cx="10652760" cy="685800"/>
          </a:xfrm>
          <a:prstGeom prst="roundRect">
            <a:avLst>
              <a:gd name="adj" fmla="val 10667"/>
            </a:avLst>
          </a:prstGeom>
          <a:solidFill>
            <a:srgbClr val="061222"/>
          </a:solidFill>
          <a:ln w="12700">
            <a:solidFill>
              <a:srgbClr val="1E4F72">
                <a:alpha val="90000"/>
              </a:srgbClr>
            </a:solidFill>
            <a:prstDash val="solid"/>
          </a:ln>
        </p:spPr>
      </p:sp>
      <p:sp>
        <p:nvSpPr>
          <p:cNvPr id="11" name="Text 8"/>
          <p:cNvSpPr/>
          <p:nvPr/>
        </p:nvSpPr>
        <p:spPr>
          <a:xfrm>
            <a:off x="713232" y="5257800"/>
            <a:ext cx="10415016" cy="164592"/>
          </a:xfrm>
          <a:prstGeom prst="rect">
            <a:avLst/>
          </a:prstGeom>
          <a:noFill/>
          <a:ln/>
        </p:spPr>
        <p:txBody>
          <a:bodyPr wrap="square" lIns="0" tIns="0" rIns="0" bIns="0" rtlCol="0" anchor="ctr"/>
          <a:lstStyle/>
          <a:p>
            <a:pPr indent="0" marL="0">
              <a:buNone/>
            </a:pPr>
            <a:r>
              <a:rPr lang="en-US" sz="750" b="1" dirty="0">
                <a:solidFill>
                  <a:srgbClr val="63D6C6"/>
                </a:solidFill>
              </a:rPr>
              <a:t>MCP tool result shape</a:t>
            </a:r>
            <a:endParaRPr lang="en-US" sz="750" dirty="0"/>
          </a:p>
        </p:txBody>
      </p:sp>
      <p:sp>
        <p:nvSpPr>
          <p:cNvPr id="12" name="Text 9"/>
          <p:cNvSpPr/>
          <p:nvPr/>
        </p:nvSpPr>
        <p:spPr>
          <a:xfrm>
            <a:off x="713232" y="5550408"/>
            <a:ext cx="10415016" cy="22860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forecast_group("D", sims=5000) → { group, teams, group_probabilities: { team: { winner, top2, top3 } }, matchups, citations, warnings }</a:t>
            </a:r>
            <a:endParaRPr lang="en-US" sz="740" dirty="0"/>
          </a:p>
        </p:txBody>
      </p:sp>
      <p:sp>
        <p:nvSpPr>
          <p:cNvPr id="13" name="Text 10"/>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Demo priors, educational simulator — not betting advice</a:t>
            </a:r>
            <a:endParaRPr lang="en-US" sz="680" dirty="0"/>
          </a:p>
        </p:txBody>
      </p:sp>
      <p:sp>
        <p:nvSpPr>
          <p:cNvPr id="14" name="Text 11"/>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6142B"/>
        </a:solidFill>
      </p:bgPr>
    </p:bg>
    <p:spTree>
      <p:nvGrpSpPr>
        <p:cNvPr id="1" name=""/>
        <p:cNvGrpSpPr/>
        <p:nvPr/>
      </p:nvGrpSpPr>
      <p:grpSpPr>
        <a:xfrm>
          <a:off x="0" y="0"/>
          <a:ext cx="0" cy="0"/>
          <a:chOff x="0" y="0"/>
          <a:chExt cx="0" cy="0"/>
        </a:xfrm>
      </p:grpSpPr>
      <p:pic>
        <p:nvPicPr>
          <p:cNvPr id="2" name="Image 0" descr="/mnt/data/wc26_slide_work/assets/forecast_var_room_dark60.png">    </p:cNvPr>
          <p:cNvPicPr>
            <a:picLocks noChangeAspect="1"/>
          </p:cNvPicPr>
          <p:nvPr/>
        </p:nvPicPr>
        <p:blipFill>
          <a:blip r:embed="rId1"/>
          <a:srcRect l="1" r="1" t="0" b="0"/>
          <a:stretch/>
        </p:blipFill>
        <p:spPr>
          <a:xfrm>
            <a:off x="0" y="0"/>
            <a:ext cx="12191695" cy="6858000"/>
          </a:xfrm>
          <a:prstGeom prst="rect">
            <a:avLst/>
          </a:prstGeom>
        </p:spPr>
      </p:pic>
      <p:sp>
        <p:nvSpPr>
          <p:cNvPr id="3"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FORECAST VAR</a:t>
            </a:r>
            <a:endParaRPr lang="en-US" sz="850" dirty="0"/>
          </a:p>
        </p:txBody>
      </p:sp>
      <p:sp>
        <p:nvSpPr>
          <p:cNvPr id="4"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Step 9 — Monte Carlo: thousands of possible tournaments, one probability table</a:t>
            </a:r>
            <a:endParaRPr lang="en-US" sz="2400" dirty="0"/>
          </a:p>
        </p:txBody>
      </p:sp>
      <p:sp>
        <p:nvSpPr>
          <p:cNvPr id="5" name="Shape 2"/>
          <p:cNvSpPr/>
          <p:nvPr/>
        </p:nvSpPr>
        <p:spPr>
          <a:xfrm>
            <a:off x="502920" y="1170432"/>
            <a:ext cx="11155680" cy="0"/>
          </a:xfrm>
          <a:prstGeom prst="line">
            <a:avLst/>
          </a:prstGeom>
          <a:noFill/>
          <a:ln w="13970">
            <a:solidFill>
              <a:srgbClr val="0F8D68">
                <a:alpha val="80000"/>
              </a:srgbClr>
            </a:solidFill>
            <a:prstDash val="solid"/>
          </a:ln>
        </p:spPr>
      </p:sp>
      <p:sp>
        <p:nvSpPr>
          <p:cNvPr id="6" name="Shape 3"/>
          <p:cNvSpPr/>
          <p:nvPr/>
        </p:nvSpPr>
        <p:spPr>
          <a:xfrm>
            <a:off x="594360" y="1325880"/>
            <a:ext cx="4892040" cy="2926080"/>
          </a:xfrm>
          <a:prstGeom prst="roundRect">
            <a:avLst>
              <a:gd name="adj" fmla="val 2500"/>
            </a:avLst>
          </a:prstGeom>
          <a:solidFill>
            <a:srgbClr val="071B36"/>
          </a:solidFill>
          <a:ln w="12700">
            <a:solidFill>
              <a:srgbClr val="1D5872">
                <a:alpha val="80000"/>
              </a:srgbClr>
            </a:solidFill>
            <a:prstDash val="solid"/>
          </a:ln>
        </p:spPr>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685800" y="1417320"/>
            <a:ext cx="4709160" cy="2743200"/>
          </a:xfrm>
          <a:prstGeom prst="rect">
            <a:avLst/>
          </a:prstGeom>
        </p:spPr>
      </p:pic>
      <p:sp>
        <p:nvSpPr>
          <p:cNvPr id="8" name="Shape 4"/>
          <p:cNvSpPr/>
          <p:nvPr/>
        </p:nvSpPr>
        <p:spPr>
          <a:xfrm>
            <a:off x="5806440" y="1325880"/>
            <a:ext cx="5486400" cy="2926080"/>
          </a:xfrm>
          <a:prstGeom prst="roundRect">
            <a:avLst>
              <a:gd name="adj" fmla="val 2500"/>
            </a:avLst>
          </a:prstGeom>
          <a:solidFill>
            <a:srgbClr val="071B36"/>
          </a:solidFill>
          <a:ln w="12700">
            <a:solidFill>
              <a:srgbClr val="1D5872">
                <a:alpha val="80000"/>
              </a:srgbClr>
            </a:solidFill>
            <a:prstDash val="solid"/>
          </a:ln>
        </p:spPr>
      </p:sp>
      <p:pic>
        <p:nvPicPr>
          <p:cNvPr id="9" name="Image 1" descr="/mnt/data/wc26_slide_work/deck_figures/knockout_stage_funnel.png">    </p:cNvPr>
          <p:cNvPicPr>
            <a:picLocks noChangeAspect="1"/>
          </p:cNvPicPr>
          <p:nvPr/>
        </p:nvPicPr>
        <p:blipFill>
          <a:blip r:embed="rId5"/>
          <a:stretch>
            <a:fillRect/>
          </a:stretch>
        </p:blipFill>
        <p:spPr>
          <a:xfrm>
            <a:off x="5861304" y="1485202"/>
            <a:ext cx="5376672" cy="2607437"/>
          </a:xfrm>
          <a:prstGeom prst="rect">
            <a:avLst/>
          </a:prstGeom>
        </p:spPr>
      </p:pic>
      <p:sp>
        <p:nvSpPr>
          <p:cNvPr id="10" name="Shape 5"/>
          <p:cNvSpPr/>
          <p:nvPr/>
        </p:nvSpPr>
        <p:spPr>
          <a:xfrm>
            <a:off x="594360" y="4617720"/>
            <a:ext cx="5029200" cy="1143000"/>
          </a:xfrm>
          <a:prstGeom prst="roundRect">
            <a:avLst>
              <a:gd name="adj" fmla="val 6400"/>
            </a:avLst>
          </a:prstGeom>
          <a:solidFill>
            <a:srgbClr val="061222"/>
          </a:solidFill>
          <a:ln w="12700">
            <a:solidFill>
              <a:srgbClr val="1E4F72">
                <a:alpha val="90000"/>
              </a:srgbClr>
            </a:solidFill>
            <a:prstDash val="solid"/>
          </a:ln>
        </p:spPr>
      </p:sp>
      <p:sp>
        <p:nvSpPr>
          <p:cNvPr id="11" name="Text 6"/>
          <p:cNvSpPr/>
          <p:nvPr/>
        </p:nvSpPr>
        <p:spPr>
          <a:xfrm>
            <a:off x="713232" y="4709160"/>
            <a:ext cx="4791456" cy="164592"/>
          </a:xfrm>
          <a:prstGeom prst="rect">
            <a:avLst/>
          </a:prstGeom>
          <a:noFill/>
          <a:ln/>
        </p:spPr>
        <p:txBody>
          <a:bodyPr wrap="square" lIns="0" tIns="0" rIns="0" bIns="0" rtlCol="0" anchor="ctr"/>
          <a:lstStyle/>
          <a:p>
            <a:pPr indent="0" marL="0">
              <a:buNone/>
            </a:pPr>
            <a:r>
              <a:rPr lang="en-US" sz="750" b="1" dirty="0">
                <a:solidFill>
                  <a:srgbClr val="63D6C6"/>
                </a:solidFill>
              </a:rPr>
              <a:t>Tool call</a:t>
            </a:r>
            <a:endParaRPr lang="en-US" sz="750" dirty="0"/>
          </a:p>
        </p:txBody>
      </p:sp>
      <p:sp>
        <p:nvSpPr>
          <p:cNvPr id="12" name="Text 7"/>
          <p:cNvSpPr/>
          <p:nvPr/>
        </p:nvSpPr>
        <p:spPr>
          <a:xfrm>
            <a:off x="713232" y="5001768"/>
            <a:ext cx="4791456" cy="68580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simulate_tournament(sims=3000, seed=2026)</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top_teams: [</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{team, round32, round16, quarterfinal,</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semifinal, final, champion}</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a:t>
            </a:r>
            <a:endParaRPr lang="en-US" sz="740" dirty="0"/>
          </a:p>
        </p:txBody>
      </p:sp>
      <p:sp>
        <p:nvSpPr>
          <p:cNvPr id="13" name="Shape 8"/>
          <p:cNvSpPr/>
          <p:nvPr/>
        </p:nvSpPr>
        <p:spPr>
          <a:xfrm>
            <a:off x="5897880" y="4617720"/>
            <a:ext cx="5394960" cy="1143000"/>
          </a:xfrm>
          <a:prstGeom prst="roundRect">
            <a:avLst>
              <a:gd name="adj" fmla="val 6400"/>
            </a:avLst>
          </a:prstGeom>
          <a:solidFill>
            <a:srgbClr val="FFFFFF">
              <a:alpha val="96000"/>
            </a:srgbClr>
          </a:solidFill>
          <a:ln w="12700">
            <a:solidFill>
              <a:srgbClr val="D7B65D">
                <a:alpha val="55000"/>
              </a:srgbClr>
            </a:solidFill>
            <a:prstDash val="solid"/>
          </a:ln>
        </p:spPr>
      </p:sp>
      <p:sp>
        <p:nvSpPr>
          <p:cNvPr id="14" name="Text 9"/>
          <p:cNvSpPr/>
          <p:nvPr/>
        </p:nvSpPr>
        <p:spPr>
          <a:xfrm>
            <a:off x="6044184" y="4736592"/>
            <a:ext cx="510235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LLM vs simulator</a:t>
            </a:r>
            <a:endParaRPr lang="en-US" sz="1200" dirty="0"/>
          </a:p>
        </p:txBody>
      </p:sp>
      <p:sp>
        <p:nvSpPr>
          <p:cNvPr id="15" name="Text 10"/>
          <p:cNvSpPr/>
          <p:nvPr/>
        </p:nvSpPr>
        <p:spPr>
          <a:xfrm>
            <a:off x="6044184" y="5056632"/>
            <a:ext cx="5102352" cy="57607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gpt-5.4-nano decides to call the tool and explains the result. Python samples match outcomes and calculates probabilities.</a:t>
            </a:r>
            <a:endParaRPr lang="en-US" sz="880" dirty="0"/>
          </a:p>
        </p:txBody>
      </p:sp>
      <p:sp>
        <p:nvSpPr>
          <p:cNvPr id="16" name="Text 11"/>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The embedded video and synthetic football visuals are generated assets for illustration.</a:t>
            </a:r>
            <a:endParaRPr lang="en-US" sz="680" dirty="0"/>
          </a:p>
        </p:txBody>
      </p:sp>
      <p:sp>
        <p:nvSpPr>
          <p:cNvPr id="17" name="Text 12"/>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6142B"/>
        </a:solidFill>
      </p:bgPr>
    </p:bg>
    <p:spTree>
      <p:nvGrpSpPr>
        <p:cNvPr id="1" name=""/>
        <p:cNvGrpSpPr/>
        <p:nvPr/>
      </p:nvGrpSpPr>
      <p:grpSpPr>
        <a:xfrm>
          <a:off x="0" y="0"/>
          <a:ext cx="0" cy="0"/>
          <a:chOff x="0" y="0"/>
          <a:chExt cx="0" cy="0"/>
        </a:xfrm>
      </p:grpSpPr>
      <p:sp>
        <p:nvSpPr>
          <p:cNvPr id="2"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FORECAST VAR</a:t>
            </a:r>
            <a:endParaRPr lang="en-US" sz="850" dirty="0"/>
          </a:p>
        </p:txBody>
      </p:sp>
      <p:sp>
        <p:nvSpPr>
          <p:cNvPr id="3"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Step 10 — Rolling forecast: lock completed results, forecast only the unknown future</a:t>
            </a:r>
            <a:endParaRPr lang="en-US" sz="2400" dirty="0"/>
          </a:p>
        </p:txBody>
      </p:sp>
      <p:sp>
        <p:nvSpPr>
          <p:cNvPr id="4" name="Shape 2"/>
          <p:cNvSpPr/>
          <p:nvPr/>
        </p:nvSpPr>
        <p:spPr>
          <a:xfrm>
            <a:off x="502920" y="1170432"/>
            <a:ext cx="11155680" cy="0"/>
          </a:xfrm>
          <a:prstGeom prst="line">
            <a:avLst/>
          </a:prstGeom>
          <a:noFill/>
          <a:ln w="13970">
            <a:solidFill>
              <a:srgbClr val="0F8D68">
                <a:alpha val="80000"/>
              </a:srgbClr>
            </a:solidFill>
            <a:prstDash val="solid"/>
          </a:ln>
        </p:spPr>
      </p:sp>
      <p:sp>
        <p:nvSpPr>
          <p:cNvPr id="5" name="Shape 3"/>
          <p:cNvSpPr/>
          <p:nvPr/>
        </p:nvSpPr>
        <p:spPr>
          <a:xfrm>
            <a:off x="594360" y="1325880"/>
            <a:ext cx="5349240" cy="1554480"/>
          </a:xfrm>
          <a:prstGeom prst="roundRect">
            <a:avLst>
              <a:gd name="adj" fmla="val 4706"/>
            </a:avLst>
          </a:prstGeom>
          <a:solidFill>
            <a:srgbClr val="061222"/>
          </a:solidFill>
          <a:ln w="12700">
            <a:solidFill>
              <a:srgbClr val="1E4F72">
                <a:alpha val="90000"/>
              </a:srgbClr>
            </a:solidFill>
            <a:prstDash val="solid"/>
          </a:ln>
        </p:spPr>
      </p:sp>
      <p:sp>
        <p:nvSpPr>
          <p:cNvPr id="6" name="Text 4"/>
          <p:cNvSpPr/>
          <p:nvPr/>
        </p:nvSpPr>
        <p:spPr>
          <a:xfrm>
            <a:off x="713232" y="1417320"/>
            <a:ext cx="5111496" cy="164592"/>
          </a:xfrm>
          <a:prstGeom prst="rect">
            <a:avLst/>
          </a:prstGeom>
          <a:noFill/>
          <a:ln/>
        </p:spPr>
        <p:txBody>
          <a:bodyPr wrap="square" lIns="0" tIns="0" rIns="0" bIns="0" rtlCol="0" anchor="ctr"/>
          <a:lstStyle/>
          <a:p>
            <a:pPr indent="0" marL="0">
              <a:buNone/>
            </a:pPr>
            <a:r>
              <a:rPr lang="en-US" sz="750" b="1" dirty="0">
                <a:solidFill>
                  <a:srgbClr val="63D6C6"/>
                </a:solidFill>
              </a:rPr>
              <a:t>Input</a:t>
            </a:r>
            <a:endParaRPr lang="en-US" sz="750" dirty="0"/>
          </a:p>
        </p:txBody>
      </p:sp>
      <p:sp>
        <p:nvSpPr>
          <p:cNvPr id="7" name="Text 5"/>
          <p:cNvSpPr/>
          <p:nvPr/>
        </p:nvSpPr>
        <p:spPr>
          <a:xfrm>
            <a:off x="713232" y="1709928"/>
            <a:ext cx="5111496" cy="109728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rolling_group_forecast(</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group="D",</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completed_results=[</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{"team_a":"USA", "team_b":"Australia", "team_a_goals":2, "team_b_goals":1}</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a:t>
            </a:r>
            <a:endParaRPr lang="en-US" sz="740" dirty="0"/>
          </a:p>
        </p:txBody>
      </p:sp>
      <p:sp>
        <p:nvSpPr>
          <p:cNvPr id="8" name="Shape 6"/>
          <p:cNvSpPr/>
          <p:nvPr/>
        </p:nvSpPr>
        <p:spPr>
          <a:xfrm>
            <a:off x="6263640" y="1325880"/>
            <a:ext cx="5120640" cy="1554480"/>
          </a:xfrm>
          <a:prstGeom prst="roundRect">
            <a:avLst>
              <a:gd name="adj" fmla="val 4706"/>
            </a:avLst>
          </a:prstGeom>
          <a:solidFill>
            <a:srgbClr val="FFFFFF">
              <a:alpha val="96000"/>
            </a:srgbClr>
          </a:solidFill>
          <a:ln w="12700">
            <a:solidFill>
              <a:srgbClr val="0F8D68">
                <a:alpha val="55000"/>
              </a:srgbClr>
            </a:solidFill>
            <a:prstDash val="solid"/>
          </a:ln>
        </p:spPr>
      </p:sp>
      <p:sp>
        <p:nvSpPr>
          <p:cNvPr id="9" name="Text 7"/>
          <p:cNvSpPr/>
          <p:nvPr/>
        </p:nvSpPr>
        <p:spPr>
          <a:xfrm>
            <a:off x="6409944" y="1444752"/>
            <a:ext cx="482803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Output after the locked result</a:t>
            </a:r>
            <a:endParaRPr lang="en-US" sz="1200" dirty="0"/>
          </a:p>
        </p:txBody>
      </p:sp>
      <p:sp>
        <p:nvSpPr>
          <p:cNvPr id="10" name="Text 8"/>
          <p:cNvSpPr/>
          <p:nvPr/>
        </p:nvSpPr>
        <p:spPr>
          <a:xfrm>
            <a:off x="6409944" y="1764792"/>
            <a:ext cx="4828032" cy="98755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USA: winner 68.2% · top2 90.6% · top3 99.1%</a:t>
            </a:r>
            <a:endParaRPr lang="en-US" sz="880" dirty="0"/>
          </a:p>
          <a:p>
            <a:pPr indent="0" marL="0">
              <a:buNone/>
            </a:pPr>
            <a:r>
              <a:rPr lang="en-US" sz="880" dirty="0">
                <a:solidFill>
                  <a:srgbClr val="213547"/>
                </a:solidFill>
              </a:rPr>
              <a:t>Türkiye: winner 17.4% · top2 53.6% · top3 81.8%</a:t>
            </a:r>
            <a:endParaRPr lang="en-US" sz="880" dirty="0"/>
          </a:p>
          <a:p>
            <a:pPr indent="0" marL="0">
              <a:buNone/>
            </a:pPr>
            <a:r>
              <a:rPr lang="en-US" sz="880" dirty="0">
                <a:solidFill>
                  <a:srgbClr val="213547"/>
                </a:solidFill>
              </a:rPr>
              <a:t>Paraguay: winner 12.8% · top2 40.3% · top3 76.9%</a:t>
            </a:r>
            <a:endParaRPr lang="en-US" sz="880" dirty="0"/>
          </a:p>
          <a:p>
            <a:pPr indent="0" marL="0">
              <a:buNone/>
            </a:pPr>
            <a:r>
              <a:rPr lang="en-US" sz="880" dirty="0">
                <a:solidFill>
                  <a:srgbClr val="213547"/>
                </a:solidFill>
              </a:rPr>
              <a:t>Australia: winner 1.6% · top2 15.5% · top3 42.2%</a:t>
            </a:r>
            <a:endParaRPr lang="en-US" sz="880" dirty="0"/>
          </a:p>
        </p:txBody>
      </p:sp>
      <p:sp>
        <p:nvSpPr>
          <p:cNvPr id="11" name="Shape 9"/>
          <p:cNvSpPr/>
          <p:nvPr/>
        </p:nvSpPr>
        <p:spPr>
          <a:xfrm>
            <a:off x="640080" y="3520440"/>
            <a:ext cx="2021373" cy="777240"/>
          </a:xfrm>
          <a:prstGeom prst="roundRect">
            <a:avLst>
              <a:gd name="adj" fmla="val 9412"/>
            </a:avLst>
          </a:prstGeom>
          <a:solidFill>
            <a:srgbClr val="08213D"/>
          </a:solidFill>
          <a:ln w="12700">
            <a:solidFill>
              <a:srgbClr val="0F8D68">
                <a:alpha val="90000"/>
              </a:srgbClr>
            </a:solidFill>
            <a:prstDash val="solid"/>
          </a:ln>
        </p:spPr>
      </p:sp>
      <p:sp>
        <p:nvSpPr>
          <p:cNvPr id="12" name="Text 10"/>
          <p:cNvSpPr/>
          <p:nvPr/>
        </p:nvSpPr>
        <p:spPr>
          <a:xfrm>
            <a:off x="713232" y="3639312"/>
            <a:ext cx="1875069"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completed</a:t>
            </a:r>
            <a:endParaRPr lang="en-US" sz="750" dirty="0"/>
          </a:p>
        </p:txBody>
      </p:sp>
      <p:sp>
        <p:nvSpPr>
          <p:cNvPr id="13" name="Text 11"/>
          <p:cNvSpPr/>
          <p:nvPr/>
        </p:nvSpPr>
        <p:spPr>
          <a:xfrm>
            <a:off x="713232" y="3877056"/>
            <a:ext cx="1875069"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result</a:t>
            </a:r>
            <a:endParaRPr lang="en-US" sz="900" dirty="0"/>
          </a:p>
        </p:txBody>
      </p:sp>
      <p:sp>
        <p:nvSpPr>
          <p:cNvPr id="14" name="Shape 12"/>
          <p:cNvSpPr/>
          <p:nvPr/>
        </p:nvSpPr>
        <p:spPr>
          <a:xfrm>
            <a:off x="2688885" y="3913632"/>
            <a:ext cx="146304" cy="0"/>
          </a:xfrm>
          <a:prstGeom prst="line">
            <a:avLst/>
          </a:prstGeom>
          <a:noFill/>
          <a:ln w="17780">
            <a:solidFill>
              <a:srgbClr val="D7B65D"/>
            </a:solidFill>
            <a:prstDash val="solid"/>
            <a:headEnd type="none"/>
            <a:tailEnd type="triangle"/>
          </a:ln>
        </p:spPr>
      </p:sp>
      <p:sp>
        <p:nvSpPr>
          <p:cNvPr id="15" name="Shape 13"/>
          <p:cNvSpPr/>
          <p:nvPr/>
        </p:nvSpPr>
        <p:spPr>
          <a:xfrm>
            <a:off x="2862621" y="3520440"/>
            <a:ext cx="2021373" cy="777240"/>
          </a:xfrm>
          <a:prstGeom prst="roundRect">
            <a:avLst>
              <a:gd name="adj" fmla="val 9412"/>
            </a:avLst>
          </a:prstGeom>
          <a:solidFill>
            <a:srgbClr val="08213D"/>
          </a:solidFill>
          <a:ln w="12700">
            <a:solidFill>
              <a:srgbClr val="0F8D68">
                <a:alpha val="90000"/>
              </a:srgbClr>
            </a:solidFill>
            <a:prstDash val="solid"/>
          </a:ln>
        </p:spPr>
      </p:sp>
      <p:sp>
        <p:nvSpPr>
          <p:cNvPr id="16" name="Text 14"/>
          <p:cNvSpPr/>
          <p:nvPr/>
        </p:nvSpPr>
        <p:spPr>
          <a:xfrm>
            <a:off x="2935773" y="3639312"/>
            <a:ext cx="1875069"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lock</a:t>
            </a:r>
            <a:endParaRPr lang="en-US" sz="750" dirty="0"/>
          </a:p>
        </p:txBody>
      </p:sp>
      <p:sp>
        <p:nvSpPr>
          <p:cNvPr id="17" name="Text 15"/>
          <p:cNvSpPr/>
          <p:nvPr/>
        </p:nvSpPr>
        <p:spPr>
          <a:xfrm>
            <a:off x="2935773" y="3877056"/>
            <a:ext cx="1875069"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points</a:t>
            </a:r>
            <a:endParaRPr lang="en-US" sz="900" dirty="0"/>
          </a:p>
        </p:txBody>
      </p:sp>
      <p:sp>
        <p:nvSpPr>
          <p:cNvPr id="18" name="Shape 16"/>
          <p:cNvSpPr/>
          <p:nvPr/>
        </p:nvSpPr>
        <p:spPr>
          <a:xfrm>
            <a:off x="4911425" y="3913632"/>
            <a:ext cx="146304" cy="0"/>
          </a:xfrm>
          <a:prstGeom prst="line">
            <a:avLst/>
          </a:prstGeom>
          <a:noFill/>
          <a:ln w="17780">
            <a:solidFill>
              <a:srgbClr val="D7B65D"/>
            </a:solidFill>
            <a:prstDash val="solid"/>
            <a:headEnd type="none"/>
            <a:tailEnd type="triangle"/>
          </a:ln>
        </p:spPr>
      </p:sp>
      <p:sp>
        <p:nvSpPr>
          <p:cNvPr id="19" name="Shape 17"/>
          <p:cNvSpPr/>
          <p:nvPr/>
        </p:nvSpPr>
        <p:spPr>
          <a:xfrm>
            <a:off x="5085161" y="3520440"/>
            <a:ext cx="2021373" cy="777240"/>
          </a:xfrm>
          <a:prstGeom prst="roundRect">
            <a:avLst>
              <a:gd name="adj" fmla="val 9412"/>
            </a:avLst>
          </a:prstGeom>
          <a:solidFill>
            <a:srgbClr val="08213D"/>
          </a:solidFill>
          <a:ln w="12700">
            <a:solidFill>
              <a:srgbClr val="0F8D68">
                <a:alpha val="90000"/>
              </a:srgbClr>
            </a:solidFill>
            <a:prstDash val="solid"/>
          </a:ln>
        </p:spPr>
      </p:sp>
      <p:sp>
        <p:nvSpPr>
          <p:cNvPr id="20" name="Text 18"/>
          <p:cNvSpPr/>
          <p:nvPr/>
        </p:nvSpPr>
        <p:spPr>
          <a:xfrm>
            <a:off x="5158313" y="3639312"/>
            <a:ext cx="1875069"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remove</a:t>
            </a:r>
            <a:endParaRPr lang="en-US" sz="750" dirty="0"/>
          </a:p>
        </p:txBody>
      </p:sp>
      <p:sp>
        <p:nvSpPr>
          <p:cNvPr id="21" name="Text 19"/>
          <p:cNvSpPr/>
          <p:nvPr/>
        </p:nvSpPr>
        <p:spPr>
          <a:xfrm>
            <a:off x="5158313" y="3877056"/>
            <a:ext cx="1875069"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played match</a:t>
            </a:r>
            <a:endParaRPr lang="en-US" sz="900" dirty="0"/>
          </a:p>
        </p:txBody>
      </p:sp>
      <p:sp>
        <p:nvSpPr>
          <p:cNvPr id="22" name="Shape 20"/>
          <p:cNvSpPr/>
          <p:nvPr/>
        </p:nvSpPr>
        <p:spPr>
          <a:xfrm>
            <a:off x="7133966" y="3913632"/>
            <a:ext cx="146304" cy="0"/>
          </a:xfrm>
          <a:prstGeom prst="line">
            <a:avLst/>
          </a:prstGeom>
          <a:noFill/>
          <a:ln w="17780">
            <a:solidFill>
              <a:srgbClr val="D7B65D"/>
            </a:solidFill>
            <a:prstDash val="solid"/>
            <a:headEnd type="none"/>
            <a:tailEnd type="triangle"/>
          </a:ln>
        </p:spPr>
      </p:sp>
      <p:sp>
        <p:nvSpPr>
          <p:cNvPr id="23" name="Shape 21"/>
          <p:cNvSpPr/>
          <p:nvPr/>
        </p:nvSpPr>
        <p:spPr>
          <a:xfrm>
            <a:off x="7307702" y="3520440"/>
            <a:ext cx="2021373" cy="777240"/>
          </a:xfrm>
          <a:prstGeom prst="roundRect">
            <a:avLst>
              <a:gd name="adj" fmla="val 9412"/>
            </a:avLst>
          </a:prstGeom>
          <a:solidFill>
            <a:srgbClr val="08213D"/>
          </a:solidFill>
          <a:ln w="12700">
            <a:solidFill>
              <a:srgbClr val="0F8D68">
                <a:alpha val="90000"/>
              </a:srgbClr>
            </a:solidFill>
            <a:prstDash val="solid"/>
          </a:ln>
        </p:spPr>
      </p:sp>
      <p:sp>
        <p:nvSpPr>
          <p:cNvPr id="24" name="Text 22"/>
          <p:cNvSpPr/>
          <p:nvPr/>
        </p:nvSpPr>
        <p:spPr>
          <a:xfrm>
            <a:off x="7380854" y="3639312"/>
            <a:ext cx="1875069"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simulate</a:t>
            </a:r>
            <a:endParaRPr lang="en-US" sz="750" dirty="0"/>
          </a:p>
        </p:txBody>
      </p:sp>
      <p:sp>
        <p:nvSpPr>
          <p:cNvPr id="25" name="Text 23"/>
          <p:cNvSpPr/>
          <p:nvPr/>
        </p:nvSpPr>
        <p:spPr>
          <a:xfrm>
            <a:off x="7380854" y="3877056"/>
            <a:ext cx="1875069"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remaining games</a:t>
            </a:r>
            <a:endParaRPr lang="en-US" sz="900" dirty="0"/>
          </a:p>
        </p:txBody>
      </p:sp>
      <p:sp>
        <p:nvSpPr>
          <p:cNvPr id="26" name="Shape 24"/>
          <p:cNvSpPr/>
          <p:nvPr/>
        </p:nvSpPr>
        <p:spPr>
          <a:xfrm>
            <a:off x="9356507" y="3913632"/>
            <a:ext cx="146304" cy="0"/>
          </a:xfrm>
          <a:prstGeom prst="line">
            <a:avLst/>
          </a:prstGeom>
          <a:noFill/>
          <a:ln w="17780">
            <a:solidFill>
              <a:srgbClr val="D7B65D"/>
            </a:solidFill>
            <a:prstDash val="solid"/>
            <a:headEnd type="none"/>
            <a:tailEnd type="triangle"/>
          </a:ln>
        </p:spPr>
      </p:sp>
      <p:sp>
        <p:nvSpPr>
          <p:cNvPr id="27" name="Shape 25"/>
          <p:cNvSpPr/>
          <p:nvPr/>
        </p:nvSpPr>
        <p:spPr>
          <a:xfrm>
            <a:off x="9530243" y="3520440"/>
            <a:ext cx="2021373" cy="777240"/>
          </a:xfrm>
          <a:prstGeom prst="roundRect">
            <a:avLst>
              <a:gd name="adj" fmla="val 9412"/>
            </a:avLst>
          </a:prstGeom>
          <a:solidFill>
            <a:srgbClr val="08213D"/>
          </a:solidFill>
          <a:ln w="12700">
            <a:solidFill>
              <a:srgbClr val="0F8D68">
                <a:alpha val="90000"/>
              </a:srgbClr>
            </a:solidFill>
            <a:prstDash val="solid"/>
          </a:ln>
        </p:spPr>
      </p:sp>
      <p:sp>
        <p:nvSpPr>
          <p:cNvPr id="28" name="Text 26"/>
          <p:cNvSpPr/>
          <p:nvPr/>
        </p:nvSpPr>
        <p:spPr>
          <a:xfrm>
            <a:off x="9603395" y="3639312"/>
            <a:ext cx="1875069"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return</a:t>
            </a:r>
            <a:endParaRPr lang="en-US" sz="750" dirty="0"/>
          </a:p>
        </p:txBody>
      </p:sp>
      <p:sp>
        <p:nvSpPr>
          <p:cNvPr id="29" name="Text 27"/>
          <p:cNvSpPr/>
          <p:nvPr/>
        </p:nvSpPr>
        <p:spPr>
          <a:xfrm>
            <a:off x="9603395" y="3877056"/>
            <a:ext cx="1875069"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updated odds</a:t>
            </a:r>
            <a:endParaRPr lang="en-US" sz="900" dirty="0"/>
          </a:p>
        </p:txBody>
      </p:sp>
      <p:sp>
        <p:nvSpPr>
          <p:cNvPr id="30" name="Shape 28"/>
          <p:cNvSpPr/>
          <p:nvPr/>
        </p:nvSpPr>
        <p:spPr>
          <a:xfrm>
            <a:off x="777240" y="4983480"/>
            <a:ext cx="10561320" cy="731520"/>
          </a:xfrm>
          <a:prstGeom prst="roundRect">
            <a:avLst>
              <a:gd name="adj" fmla="val 10000"/>
            </a:avLst>
          </a:prstGeom>
          <a:solidFill>
            <a:srgbClr val="FFFFFF">
              <a:alpha val="96000"/>
            </a:srgbClr>
          </a:solidFill>
          <a:ln w="12700">
            <a:solidFill>
              <a:srgbClr val="D7B65D">
                <a:alpha val="55000"/>
              </a:srgbClr>
            </a:solidFill>
            <a:prstDash val="solid"/>
          </a:ln>
        </p:spPr>
      </p:sp>
      <p:sp>
        <p:nvSpPr>
          <p:cNvPr id="31" name="Text 29"/>
          <p:cNvSpPr/>
          <p:nvPr/>
        </p:nvSpPr>
        <p:spPr>
          <a:xfrm>
            <a:off x="923544" y="5102352"/>
            <a:ext cx="102687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Agent concept</a:t>
            </a:r>
            <a:endParaRPr lang="en-US" sz="1200" dirty="0"/>
          </a:p>
        </p:txBody>
      </p:sp>
      <p:sp>
        <p:nvSpPr>
          <p:cNvPr id="32" name="Text 30"/>
          <p:cNvSpPr/>
          <p:nvPr/>
        </p:nvSpPr>
        <p:spPr>
          <a:xfrm>
            <a:off x="923544" y="5422392"/>
            <a:ext cx="10268712" cy="16459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Rolling agents need state. A completed result must become a fixed input, not a scenario that the agent re-predicts.</a:t>
            </a:r>
            <a:endParaRPr lang="en-US" sz="880" dirty="0"/>
          </a:p>
        </p:txBody>
      </p:sp>
      <p:sp>
        <p:nvSpPr>
          <p:cNvPr id="33" name="Text 31"/>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Demo priors, educational simulator — not betting advice</a:t>
            </a:r>
            <a:endParaRPr lang="en-US" sz="680" dirty="0"/>
          </a:p>
        </p:txBody>
      </p:sp>
      <p:sp>
        <p:nvSpPr>
          <p:cNvPr id="34" name="Text 32"/>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6142B"/>
        </a:solidFill>
      </p:bgPr>
    </p:bg>
    <p:spTree>
      <p:nvGrpSpPr>
        <p:cNvPr id="1" name=""/>
        <p:cNvGrpSpPr/>
        <p:nvPr/>
      </p:nvGrpSpPr>
      <p:grpSpPr>
        <a:xfrm>
          <a:off x="0" y="0"/>
          <a:ext cx="0" cy="0"/>
          <a:chOff x="0" y="0"/>
          <a:chExt cx="0" cy="0"/>
        </a:xfrm>
      </p:grpSpPr>
      <p:pic>
        <p:nvPicPr>
          <p:cNvPr id="2" name="Image 0" descr="/mnt/data/wc26_slide_work/assets/stadium_hero_dark72.png">    </p:cNvPr>
          <p:cNvPicPr>
            <a:picLocks noChangeAspect="1"/>
          </p:cNvPicPr>
          <p:nvPr/>
        </p:nvPicPr>
        <p:blipFill>
          <a:blip r:embed="rId1"/>
          <a:srcRect l="1" r="1" t="0" b="0"/>
          <a:stretch/>
        </p:blipFill>
        <p:spPr>
          <a:xfrm>
            <a:off x="0" y="0"/>
            <a:ext cx="12191695" cy="6858000"/>
          </a:xfrm>
          <a:prstGeom prst="rect">
            <a:avLst/>
          </a:prstGeom>
        </p:spPr>
      </p:pic>
      <p:sp>
        <p:nvSpPr>
          <p:cNvPr id="3"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FORECAST VAR</a:t>
            </a:r>
            <a:endParaRPr lang="en-US" sz="850" dirty="0"/>
          </a:p>
        </p:txBody>
      </p:sp>
      <p:sp>
        <p:nvSpPr>
          <p:cNvPr id="4"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Step 11 — Source-aware upgrade: adapters turn the project into a living forecast system</a:t>
            </a:r>
            <a:endParaRPr lang="en-US" sz="2400" dirty="0"/>
          </a:p>
        </p:txBody>
      </p:sp>
      <p:sp>
        <p:nvSpPr>
          <p:cNvPr id="5" name="Shape 2"/>
          <p:cNvSpPr/>
          <p:nvPr/>
        </p:nvSpPr>
        <p:spPr>
          <a:xfrm>
            <a:off x="502920" y="1170432"/>
            <a:ext cx="11155680" cy="0"/>
          </a:xfrm>
          <a:prstGeom prst="line">
            <a:avLst/>
          </a:prstGeom>
          <a:noFill/>
          <a:ln w="13970">
            <a:solidFill>
              <a:srgbClr val="0F8D68">
                <a:alpha val="80000"/>
              </a:srgbClr>
            </a:solidFill>
            <a:prstDash val="solid"/>
          </a:ln>
        </p:spPr>
      </p:sp>
      <p:sp>
        <p:nvSpPr>
          <p:cNvPr id="6" name="Shape 3"/>
          <p:cNvSpPr/>
          <p:nvPr/>
        </p:nvSpPr>
        <p:spPr>
          <a:xfrm>
            <a:off x="594360" y="1325880"/>
            <a:ext cx="5257800" cy="1828800"/>
          </a:xfrm>
          <a:prstGeom prst="roundRect">
            <a:avLst>
              <a:gd name="adj" fmla="val 4000"/>
            </a:avLst>
          </a:prstGeom>
          <a:solidFill>
            <a:srgbClr val="061222"/>
          </a:solidFill>
          <a:ln w="12700">
            <a:solidFill>
              <a:srgbClr val="1E4F72">
                <a:alpha val="90000"/>
              </a:srgbClr>
            </a:solidFill>
            <a:prstDash val="solid"/>
          </a:ln>
        </p:spPr>
      </p:sp>
      <p:sp>
        <p:nvSpPr>
          <p:cNvPr id="7" name="Text 4"/>
          <p:cNvSpPr/>
          <p:nvPr/>
        </p:nvSpPr>
        <p:spPr>
          <a:xfrm>
            <a:off x="713232" y="1417320"/>
            <a:ext cx="5020056" cy="164592"/>
          </a:xfrm>
          <a:prstGeom prst="rect">
            <a:avLst/>
          </a:prstGeom>
          <a:noFill/>
          <a:ln/>
        </p:spPr>
        <p:txBody>
          <a:bodyPr wrap="square" lIns="0" tIns="0" rIns="0" bIns="0" rtlCol="0" anchor="ctr"/>
          <a:lstStyle/>
          <a:p>
            <a:pPr indent="0" marL="0">
              <a:buNone/>
            </a:pPr>
            <a:r>
              <a:rPr lang="en-US" sz="750" b="1" dirty="0">
                <a:solidFill>
                  <a:srgbClr val="63D6C6"/>
                </a:solidFill>
              </a:rPr>
              <a:t>Source refresh</a:t>
            </a:r>
            <a:endParaRPr lang="en-US" sz="750" dirty="0"/>
          </a:p>
        </p:txBody>
      </p:sp>
      <p:sp>
        <p:nvSpPr>
          <p:cNvPr id="8" name="Text 5"/>
          <p:cNvSpPr/>
          <p:nvPr/>
        </p:nvSpPr>
        <p:spPr>
          <a:xfrm>
            <a:off x="713232" y="1709928"/>
            <a:ext cx="5020056" cy="137160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python scripts/refresh_sources.py</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data/generated/evidence_index.jsonl</a:t>
            </a:r>
            <a:endParaRPr lang="en-US" sz="740" dirty="0"/>
          </a:p>
          <a:p>
            <a:pPr indent="0" marL="0">
              <a:buNone/>
            </a:pP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source cards 15 + team features 48 docs</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market odds 7 + curated notes 3 docs</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a:r>
            <a:endParaRPr lang="en-US" sz="740" dirty="0"/>
          </a:p>
        </p:txBody>
      </p:sp>
      <p:sp>
        <p:nvSpPr>
          <p:cNvPr id="9" name="Shape 6"/>
          <p:cNvSpPr/>
          <p:nvPr/>
        </p:nvSpPr>
        <p:spPr>
          <a:xfrm>
            <a:off x="6172200" y="1325880"/>
            <a:ext cx="5257800" cy="1828800"/>
          </a:xfrm>
          <a:prstGeom prst="roundRect">
            <a:avLst>
              <a:gd name="adj" fmla="val 4000"/>
            </a:avLst>
          </a:prstGeom>
          <a:solidFill>
            <a:srgbClr val="FFFFFF">
              <a:alpha val="96000"/>
            </a:srgbClr>
          </a:solidFill>
          <a:ln w="12700">
            <a:solidFill>
              <a:srgbClr val="0F8D68">
                <a:alpha val="55000"/>
              </a:srgbClr>
            </a:solidFill>
            <a:prstDash val="solid"/>
          </a:ln>
        </p:spPr>
      </p:sp>
      <p:sp>
        <p:nvSpPr>
          <p:cNvPr id="10" name="Text 7"/>
          <p:cNvSpPr/>
          <p:nvPr/>
        </p:nvSpPr>
        <p:spPr>
          <a:xfrm>
            <a:off x="6318504" y="1444752"/>
            <a:ext cx="496519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Adapter slots</a:t>
            </a:r>
            <a:endParaRPr lang="en-US" sz="1200" dirty="0"/>
          </a:p>
        </p:txBody>
      </p:sp>
      <p:sp>
        <p:nvSpPr>
          <p:cNvPr id="11" name="Text 8"/>
          <p:cNvSpPr/>
          <p:nvPr/>
        </p:nvSpPr>
        <p:spPr>
          <a:xfrm>
            <a:off x="6318504" y="1764792"/>
            <a:ext cx="4965192" cy="126187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 API-Football: fixtures, odds, injuries, lineups</a:t>
            </a:r>
            <a:endParaRPr lang="en-US" sz="880" dirty="0"/>
          </a:p>
          <a:p>
            <a:pPr indent="0" marL="0">
              <a:buNone/>
            </a:pPr>
            <a:r>
              <a:rPr lang="en-US" sz="880" dirty="0">
                <a:solidFill>
                  <a:srgbClr val="213547"/>
                </a:solidFill>
              </a:rPr>
              <a:t>• football-data.org: matches, squads, standings</a:t>
            </a:r>
            <a:endParaRPr lang="en-US" sz="880" dirty="0"/>
          </a:p>
          <a:p>
            <a:pPr indent="0" marL="0">
              <a:buNone/>
            </a:pPr>
            <a:r>
              <a:rPr lang="en-US" sz="880" dirty="0">
                <a:solidFill>
                  <a:srgbClr val="213547"/>
                </a:solidFill>
              </a:rPr>
              <a:t>• TheSportsDB: fallback events/lineups</a:t>
            </a:r>
            <a:endParaRPr lang="en-US" sz="880" dirty="0"/>
          </a:p>
          <a:p>
            <a:pPr indent="0" marL="0">
              <a:buNone/>
            </a:pPr>
            <a:r>
              <a:rPr lang="en-US" sz="880" dirty="0">
                <a:solidFill>
                  <a:srgbClr val="213547"/>
                </a:solidFill>
              </a:rPr>
              <a:t>• StatsBomb: historical calibration</a:t>
            </a:r>
            <a:endParaRPr lang="en-US" sz="880" dirty="0"/>
          </a:p>
          <a:p>
            <a:pPr indent="0" marL="0">
              <a:buNone/>
            </a:pPr>
            <a:r>
              <a:rPr lang="en-US" sz="880" dirty="0">
                <a:solidFill>
                  <a:srgbClr val="213547"/>
                </a:solidFill>
              </a:rPr>
              <a:t>• Curated notes: manual high-signal context</a:t>
            </a:r>
            <a:endParaRPr lang="en-US" sz="880" dirty="0"/>
          </a:p>
        </p:txBody>
      </p:sp>
      <p:sp>
        <p:nvSpPr>
          <p:cNvPr id="12" name="Shape 9"/>
          <p:cNvSpPr/>
          <p:nvPr/>
        </p:nvSpPr>
        <p:spPr>
          <a:xfrm>
            <a:off x="594360" y="3429000"/>
            <a:ext cx="5303520" cy="2057400"/>
          </a:xfrm>
          <a:prstGeom prst="roundRect">
            <a:avLst>
              <a:gd name="adj" fmla="val 3556"/>
            </a:avLst>
          </a:prstGeom>
          <a:solidFill>
            <a:srgbClr val="071B36"/>
          </a:solidFill>
          <a:ln w="12700">
            <a:solidFill>
              <a:srgbClr val="1D5872">
                <a:alpha val="80000"/>
              </a:srgbClr>
            </a:solidFill>
            <a:prstDash val="solid"/>
          </a:ln>
        </p:spPr>
      </p:sp>
      <p:pic>
        <p:nvPicPr>
          <p:cNvPr id="13" name="Image 1" descr="/mnt/data/wc26_slide_work/wc26-forecast-var-agent-episode2-source-aware-gpt54nano/figures/source_coverage_status.png">    </p:cNvPr>
          <p:cNvPicPr>
            <a:picLocks noChangeAspect="1"/>
          </p:cNvPicPr>
          <p:nvPr/>
        </p:nvPicPr>
        <p:blipFill>
          <a:blip r:embed="rId2"/>
          <a:stretch>
            <a:fillRect/>
          </a:stretch>
        </p:blipFill>
        <p:spPr>
          <a:xfrm>
            <a:off x="1298448" y="3483864"/>
            <a:ext cx="3895344" cy="1947672"/>
          </a:xfrm>
          <a:prstGeom prst="rect">
            <a:avLst/>
          </a:prstGeom>
        </p:spPr>
      </p:pic>
      <p:sp>
        <p:nvSpPr>
          <p:cNvPr id="14" name="Shape 10"/>
          <p:cNvSpPr/>
          <p:nvPr/>
        </p:nvSpPr>
        <p:spPr>
          <a:xfrm>
            <a:off x="6172200" y="3429000"/>
            <a:ext cx="5257800" cy="2057400"/>
          </a:xfrm>
          <a:prstGeom prst="roundRect">
            <a:avLst>
              <a:gd name="adj" fmla="val 3556"/>
            </a:avLst>
          </a:prstGeom>
          <a:solidFill>
            <a:srgbClr val="FFFFFF">
              <a:alpha val="96000"/>
            </a:srgbClr>
          </a:solidFill>
          <a:ln w="12700">
            <a:solidFill>
              <a:srgbClr val="D7B65D">
                <a:alpha val="55000"/>
              </a:srgbClr>
            </a:solidFill>
            <a:prstDash val="solid"/>
          </a:ln>
        </p:spPr>
      </p:sp>
      <p:sp>
        <p:nvSpPr>
          <p:cNvPr id="15" name="Text 11"/>
          <p:cNvSpPr/>
          <p:nvPr/>
        </p:nvSpPr>
        <p:spPr>
          <a:xfrm>
            <a:off x="6318504" y="3547872"/>
            <a:ext cx="496519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Agent concept: freshness and coverage</a:t>
            </a:r>
            <a:endParaRPr lang="en-US" sz="1200" dirty="0"/>
          </a:p>
        </p:txBody>
      </p:sp>
      <p:sp>
        <p:nvSpPr>
          <p:cNvPr id="16" name="Text 12"/>
          <p:cNvSpPr/>
          <p:nvPr/>
        </p:nvSpPr>
        <p:spPr>
          <a:xfrm>
            <a:off x="6318504" y="3867912"/>
            <a:ext cx="4965192" cy="149047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Forecasts should carry data coverage metadata. A source-aware answer says what was used, what was missing, and whether the forecast is ready for public-facing use.</a:t>
            </a:r>
            <a:endParaRPr lang="en-US" sz="880" dirty="0"/>
          </a:p>
        </p:txBody>
      </p:sp>
      <p:sp>
        <p:nvSpPr>
          <p:cNvPr id="17" name="Text 13"/>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Demo priors, educational simulator — not betting advice</a:t>
            </a:r>
            <a:endParaRPr lang="en-US" sz="680" dirty="0"/>
          </a:p>
        </p:txBody>
      </p:sp>
      <p:sp>
        <p:nvSpPr>
          <p:cNvPr id="18" name="Text 14"/>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6142B"/>
        </a:solidFill>
      </p:bgPr>
    </p:bg>
    <p:spTree>
      <p:nvGrpSpPr>
        <p:cNvPr id="1" name=""/>
        <p:cNvGrpSpPr/>
        <p:nvPr/>
      </p:nvGrpSpPr>
      <p:grpSpPr>
        <a:xfrm>
          <a:off x="0" y="0"/>
          <a:ext cx="0" cy="0"/>
          <a:chOff x="0" y="0"/>
          <a:chExt cx="0" cy="0"/>
        </a:xfrm>
      </p:grpSpPr>
      <p:sp>
        <p:nvSpPr>
          <p:cNvPr id="2"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FORECAST VAR</a:t>
            </a:r>
            <a:endParaRPr lang="en-US" sz="850" dirty="0"/>
          </a:p>
        </p:txBody>
      </p:sp>
      <p:sp>
        <p:nvSpPr>
          <p:cNvPr id="3"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Step 13 — Evaluation harness: the VAR room for agent behaviour</a:t>
            </a:r>
            <a:endParaRPr lang="en-US" sz="2400" dirty="0"/>
          </a:p>
        </p:txBody>
      </p:sp>
      <p:sp>
        <p:nvSpPr>
          <p:cNvPr id="4" name="Shape 2"/>
          <p:cNvSpPr/>
          <p:nvPr/>
        </p:nvSpPr>
        <p:spPr>
          <a:xfrm>
            <a:off x="502920" y="1170432"/>
            <a:ext cx="11155680" cy="0"/>
          </a:xfrm>
          <a:prstGeom prst="line">
            <a:avLst/>
          </a:prstGeom>
          <a:noFill/>
          <a:ln w="13970">
            <a:solidFill>
              <a:srgbClr val="0F8D68">
                <a:alpha val="80000"/>
              </a:srgbClr>
            </a:solidFill>
            <a:prstDash val="solid"/>
          </a:ln>
        </p:spPr>
      </p:sp>
      <p:sp>
        <p:nvSpPr>
          <p:cNvPr id="5" name="Shape 3"/>
          <p:cNvSpPr/>
          <p:nvPr/>
        </p:nvSpPr>
        <p:spPr>
          <a:xfrm>
            <a:off x="594360" y="1325880"/>
            <a:ext cx="5897880" cy="3566160"/>
          </a:xfrm>
          <a:prstGeom prst="roundRect">
            <a:avLst>
              <a:gd name="adj" fmla="val 2051"/>
            </a:avLst>
          </a:prstGeom>
          <a:solidFill>
            <a:srgbClr val="071B36"/>
          </a:solidFill>
          <a:ln w="12700">
            <a:solidFill>
              <a:srgbClr val="1D5872">
                <a:alpha val="80000"/>
              </a:srgbClr>
            </a:solidFill>
            <a:prstDash val="solid"/>
          </a:ln>
        </p:spPr>
      </p:sp>
      <p:pic>
        <p:nvPicPr>
          <p:cNvPr id="6" name="Image 0" descr="/mnt/data/wc26_slide_work/deck_figures/eval_metrics_comparison.png">    </p:cNvPr>
          <p:cNvPicPr>
            <a:picLocks noChangeAspect="1"/>
          </p:cNvPicPr>
          <p:nvPr/>
        </p:nvPicPr>
        <p:blipFill>
          <a:blip r:embed="rId1"/>
          <a:stretch>
            <a:fillRect/>
          </a:stretch>
        </p:blipFill>
        <p:spPr>
          <a:xfrm>
            <a:off x="649224" y="1710324"/>
            <a:ext cx="5788152" cy="2797273"/>
          </a:xfrm>
          <a:prstGeom prst="rect">
            <a:avLst/>
          </a:prstGeom>
        </p:spPr>
      </p:pic>
      <p:sp>
        <p:nvSpPr>
          <p:cNvPr id="7" name="Shape 4"/>
          <p:cNvSpPr/>
          <p:nvPr/>
        </p:nvSpPr>
        <p:spPr>
          <a:xfrm>
            <a:off x="6766560" y="1325880"/>
            <a:ext cx="4617720" cy="3566160"/>
          </a:xfrm>
          <a:prstGeom prst="roundRect">
            <a:avLst>
              <a:gd name="adj" fmla="val 2051"/>
            </a:avLst>
          </a:prstGeom>
          <a:solidFill>
            <a:srgbClr val="FFFFFF">
              <a:alpha val="96000"/>
            </a:srgbClr>
          </a:solidFill>
          <a:ln w="12700">
            <a:solidFill>
              <a:srgbClr val="D7B65D">
                <a:alpha val="55000"/>
              </a:srgbClr>
            </a:solidFill>
            <a:prstDash val="solid"/>
          </a:ln>
        </p:spPr>
      </p:sp>
      <p:sp>
        <p:nvSpPr>
          <p:cNvPr id="8" name="Text 5"/>
          <p:cNvSpPr/>
          <p:nvPr/>
        </p:nvSpPr>
        <p:spPr>
          <a:xfrm>
            <a:off x="6912864" y="1444752"/>
            <a:ext cx="43251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What the harness checks</a:t>
            </a:r>
            <a:endParaRPr lang="en-US" sz="1200" dirty="0"/>
          </a:p>
        </p:txBody>
      </p:sp>
      <p:sp>
        <p:nvSpPr>
          <p:cNvPr id="9" name="Text 6"/>
          <p:cNvSpPr/>
          <p:nvPr/>
        </p:nvSpPr>
        <p:spPr>
          <a:xfrm>
            <a:off x="6912864" y="1764792"/>
            <a:ext cx="4325112" cy="299923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 tool_recall</a:t>
            </a:r>
            <a:endParaRPr lang="en-US" sz="880" dirty="0"/>
          </a:p>
          <a:p>
            <a:pPr indent="0" marL="0">
              <a:buNone/>
            </a:pPr>
            <a:r>
              <a:rPr lang="en-US" sz="880" dirty="0">
                <a:solidFill>
                  <a:srgbClr val="213547"/>
                </a:solidFill>
              </a:rPr>
              <a:t>• skill_recall</a:t>
            </a:r>
            <a:endParaRPr lang="en-US" sz="880" dirty="0"/>
          </a:p>
          <a:p>
            <a:pPr indent="0" marL="0">
              <a:buNone/>
            </a:pPr>
            <a:r>
              <a:rPr lang="en-US" sz="880" dirty="0">
                <a:solidFill>
                  <a:srgbClr val="213547"/>
                </a:solidFill>
              </a:rPr>
              <a:t>• preflight_recall</a:t>
            </a:r>
            <a:endParaRPr lang="en-US" sz="880" dirty="0"/>
          </a:p>
          <a:p>
            <a:pPr indent="0" marL="0">
              <a:buNone/>
            </a:pPr>
            <a:r>
              <a:rPr lang="en-US" sz="880" dirty="0">
                <a:solidFill>
                  <a:srgbClr val="213547"/>
                </a:solidFill>
              </a:rPr>
              <a:t>• citation_recall</a:t>
            </a:r>
            <a:endParaRPr lang="en-US" sz="880" dirty="0"/>
          </a:p>
          <a:p>
            <a:pPr indent="0" marL="0">
              <a:buNone/>
            </a:pPr>
            <a:r>
              <a:rPr lang="en-US" sz="880" dirty="0">
                <a:solidFill>
                  <a:srgbClr val="213547"/>
                </a:solidFill>
              </a:rPr>
              <a:t>• source_support_precision</a:t>
            </a:r>
            <a:endParaRPr lang="en-US" sz="880" dirty="0"/>
          </a:p>
          <a:p>
            <a:pPr indent="0" marL="0">
              <a:buNone/>
            </a:pPr>
            <a:r>
              <a:rPr lang="en-US" sz="880" dirty="0">
                <a:solidFill>
                  <a:srgbClr val="213547"/>
                </a:solidFill>
              </a:rPr>
              <a:t>• unsupported_claim_rate</a:t>
            </a:r>
            <a:endParaRPr lang="en-US" sz="880" dirty="0"/>
          </a:p>
          <a:p>
            <a:pPr indent="0" marL="0">
              <a:buNone/>
            </a:pPr>
            <a:r>
              <a:rPr lang="en-US" sz="880" dirty="0">
                <a:solidFill>
                  <a:srgbClr val="213547"/>
                </a:solidFill>
              </a:rPr>
              <a:t>• abstention_accuracy</a:t>
            </a:r>
            <a:endParaRPr lang="en-US" sz="880" dirty="0"/>
          </a:p>
          <a:p>
            <a:pPr indent="0" marL="0">
              <a:buNone/>
            </a:pPr>
            <a:r>
              <a:rPr lang="en-US" sz="880" dirty="0">
                <a:solidFill>
                  <a:srgbClr val="213547"/>
                </a:solidFill>
              </a:rPr>
              <a:t>• probability_sanity_rate</a:t>
            </a:r>
            <a:endParaRPr lang="en-US" sz="880" dirty="0"/>
          </a:p>
        </p:txBody>
      </p:sp>
      <p:sp>
        <p:nvSpPr>
          <p:cNvPr id="10" name="Shape 7"/>
          <p:cNvSpPr/>
          <p:nvPr/>
        </p:nvSpPr>
        <p:spPr>
          <a:xfrm>
            <a:off x="594360" y="5230368"/>
            <a:ext cx="10744200" cy="594360"/>
          </a:xfrm>
          <a:prstGeom prst="roundRect">
            <a:avLst>
              <a:gd name="adj" fmla="val 12308"/>
            </a:avLst>
          </a:prstGeom>
          <a:solidFill>
            <a:srgbClr val="061222"/>
          </a:solidFill>
          <a:ln w="12700">
            <a:solidFill>
              <a:srgbClr val="1E4F72">
                <a:alpha val="90000"/>
              </a:srgbClr>
            </a:solidFill>
            <a:prstDash val="solid"/>
          </a:ln>
        </p:spPr>
      </p:sp>
      <p:sp>
        <p:nvSpPr>
          <p:cNvPr id="11" name="Text 8"/>
          <p:cNvSpPr/>
          <p:nvPr/>
        </p:nvSpPr>
        <p:spPr>
          <a:xfrm>
            <a:off x="713232" y="5321808"/>
            <a:ext cx="10506456" cy="164592"/>
          </a:xfrm>
          <a:prstGeom prst="rect">
            <a:avLst/>
          </a:prstGeom>
          <a:noFill/>
          <a:ln/>
        </p:spPr>
        <p:txBody>
          <a:bodyPr wrap="square" lIns="0" tIns="0" rIns="0" bIns="0" rtlCol="0" anchor="ctr"/>
          <a:lstStyle/>
          <a:p>
            <a:pPr indent="0" marL="0">
              <a:buNone/>
            </a:pPr>
            <a:r>
              <a:rPr lang="en-US" sz="750" b="1" dirty="0">
                <a:solidFill>
                  <a:srgbClr val="63D6C6"/>
                </a:solidFill>
              </a:rPr>
              <a:t>Eval command</a:t>
            </a:r>
            <a:endParaRPr lang="en-US" sz="750" dirty="0"/>
          </a:p>
        </p:txBody>
      </p:sp>
      <p:sp>
        <p:nvSpPr>
          <p:cNvPr id="12" name="Text 9"/>
          <p:cNvSpPr/>
          <p:nvPr/>
        </p:nvSpPr>
        <p:spPr>
          <a:xfrm>
            <a:off x="713232" y="5614416"/>
            <a:ext cx="10506456" cy="13716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PYTHONPATH=src python scripts/evaluate.py --mode grounded_mock  → reports/summary_grounded_mock.json</a:t>
            </a:r>
            <a:endParaRPr lang="en-US" sz="740" dirty="0"/>
          </a:p>
        </p:txBody>
      </p:sp>
      <p:sp>
        <p:nvSpPr>
          <p:cNvPr id="13" name="Text 10"/>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Demo priors, educational simulator — not betting advice</a:t>
            </a:r>
            <a:endParaRPr lang="en-US" sz="680" dirty="0"/>
          </a:p>
        </p:txBody>
      </p:sp>
      <p:sp>
        <p:nvSpPr>
          <p:cNvPr id="14" name="Text 11"/>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6142B"/>
        </a:solidFill>
      </p:bgPr>
    </p:bg>
    <p:spTree>
      <p:nvGrpSpPr>
        <p:cNvPr id="1" name=""/>
        <p:cNvGrpSpPr/>
        <p:nvPr/>
      </p:nvGrpSpPr>
      <p:grpSpPr>
        <a:xfrm>
          <a:off x="0" y="0"/>
          <a:ext cx="0" cy="0"/>
          <a:chOff x="0" y="0"/>
          <a:chExt cx="0" cy="0"/>
        </a:xfrm>
      </p:grpSpPr>
      <p:pic>
        <p:nvPicPr>
          <p:cNvPr id="2" name="Image 0" descr="/mnt/data/wc26_slide_work/assets/forecast_var_room_dark70.png">    </p:cNvPr>
          <p:cNvPicPr>
            <a:picLocks noChangeAspect="1"/>
          </p:cNvPicPr>
          <p:nvPr/>
        </p:nvPicPr>
        <p:blipFill>
          <a:blip r:embed="rId1"/>
          <a:srcRect l="1" r="1" t="0" b="0"/>
          <a:stretch/>
        </p:blipFill>
        <p:spPr>
          <a:xfrm>
            <a:off x="0" y="0"/>
            <a:ext cx="12191695" cy="6858000"/>
          </a:xfrm>
          <a:prstGeom prst="rect">
            <a:avLst/>
          </a:prstGeom>
        </p:spPr>
      </p:pic>
      <p:sp>
        <p:nvSpPr>
          <p:cNvPr id="3"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FORECAST VAR</a:t>
            </a:r>
            <a:endParaRPr lang="en-US" sz="850" dirty="0"/>
          </a:p>
        </p:txBody>
      </p:sp>
      <p:sp>
        <p:nvSpPr>
          <p:cNvPr id="4"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Step 12 — Structured output: make the answer machine-checkable</a:t>
            </a:r>
            <a:endParaRPr lang="en-US" sz="2400" dirty="0"/>
          </a:p>
        </p:txBody>
      </p:sp>
      <p:sp>
        <p:nvSpPr>
          <p:cNvPr id="5" name="Shape 2"/>
          <p:cNvSpPr/>
          <p:nvPr/>
        </p:nvSpPr>
        <p:spPr>
          <a:xfrm>
            <a:off x="502920" y="1170432"/>
            <a:ext cx="11155680" cy="0"/>
          </a:xfrm>
          <a:prstGeom prst="line">
            <a:avLst/>
          </a:prstGeom>
          <a:noFill/>
          <a:ln w="13970">
            <a:solidFill>
              <a:srgbClr val="0F8D68">
                <a:alpha val="80000"/>
              </a:srgbClr>
            </a:solidFill>
            <a:prstDash val="solid"/>
          </a:ln>
        </p:spPr>
      </p:sp>
      <p:sp>
        <p:nvSpPr>
          <p:cNvPr id="6" name="Shape 3"/>
          <p:cNvSpPr/>
          <p:nvPr/>
        </p:nvSpPr>
        <p:spPr>
          <a:xfrm>
            <a:off x="594360" y="1325880"/>
            <a:ext cx="5257800" cy="2743200"/>
          </a:xfrm>
          <a:prstGeom prst="roundRect">
            <a:avLst>
              <a:gd name="adj" fmla="val 2667"/>
            </a:avLst>
          </a:prstGeom>
          <a:solidFill>
            <a:srgbClr val="061222"/>
          </a:solidFill>
          <a:ln w="12700">
            <a:solidFill>
              <a:srgbClr val="1E4F72">
                <a:alpha val="90000"/>
              </a:srgbClr>
            </a:solidFill>
            <a:prstDash val="solid"/>
          </a:ln>
        </p:spPr>
      </p:sp>
      <p:sp>
        <p:nvSpPr>
          <p:cNvPr id="7" name="Text 4"/>
          <p:cNvSpPr/>
          <p:nvPr/>
        </p:nvSpPr>
        <p:spPr>
          <a:xfrm>
            <a:off x="713232" y="1417320"/>
            <a:ext cx="5020056" cy="164592"/>
          </a:xfrm>
          <a:prstGeom prst="rect">
            <a:avLst/>
          </a:prstGeom>
          <a:noFill/>
          <a:ln/>
        </p:spPr>
        <p:txBody>
          <a:bodyPr wrap="square" lIns="0" tIns="0" rIns="0" bIns="0" rtlCol="0" anchor="ctr"/>
          <a:lstStyle/>
          <a:p>
            <a:pPr indent="0" marL="0">
              <a:buNone/>
            </a:pPr>
            <a:r>
              <a:rPr lang="en-US" sz="750" b="1" dirty="0">
                <a:solidFill>
                  <a:srgbClr val="63D6C6"/>
                </a:solidFill>
              </a:rPr>
              <a:t>schemas.py</a:t>
            </a:r>
            <a:endParaRPr lang="en-US" sz="750" dirty="0"/>
          </a:p>
        </p:txBody>
      </p:sp>
      <p:sp>
        <p:nvSpPr>
          <p:cNvPr id="8" name="Text 5"/>
          <p:cNvSpPr/>
          <p:nvPr/>
        </p:nvSpPr>
        <p:spPr>
          <a:xfrm>
            <a:off x="713232" y="1709928"/>
            <a:ext cx="5020056" cy="228600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class AgentAnswer(BaseModel):</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answer: str</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claims: list[ForecastClaim]</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citations: list[Citation]</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tools_used: list[str]</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skills_used: list[str]</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probabilities: dict[str, float]</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abstained: bool = False</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warnings: list[str]</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metadata: dict[str, Any]</a:t>
            </a:r>
            <a:endParaRPr lang="en-US" sz="740" dirty="0"/>
          </a:p>
        </p:txBody>
      </p:sp>
      <p:sp>
        <p:nvSpPr>
          <p:cNvPr id="9" name="Shape 6"/>
          <p:cNvSpPr/>
          <p:nvPr/>
        </p:nvSpPr>
        <p:spPr>
          <a:xfrm>
            <a:off x="6172200" y="1325880"/>
            <a:ext cx="5257800" cy="2743200"/>
          </a:xfrm>
          <a:prstGeom prst="roundRect">
            <a:avLst>
              <a:gd name="adj" fmla="val 2667"/>
            </a:avLst>
          </a:prstGeom>
          <a:solidFill>
            <a:srgbClr val="061222"/>
          </a:solidFill>
          <a:ln w="12700">
            <a:solidFill>
              <a:srgbClr val="1E4F72">
                <a:alpha val="90000"/>
              </a:srgbClr>
            </a:solidFill>
            <a:prstDash val="solid"/>
          </a:ln>
        </p:spPr>
      </p:sp>
      <p:sp>
        <p:nvSpPr>
          <p:cNvPr id="10" name="Text 7"/>
          <p:cNvSpPr/>
          <p:nvPr/>
        </p:nvSpPr>
        <p:spPr>
          <a:xfrm>
            <a:off x="6291072" y="1417320"/>
            <a:ext cx="5020056" cy="164592"/>
          </a:xfrm>
          <a:prstGeom prst="rect">
            <a:avLst/>
          </a:prstGeom>
          <a:noFill/>
          <a:ln/>
        </p:spPr>
        <p:txBody>
          <a:bodyPr wrap="square" lIns="0" tIns="0" rIns="0" bIns="0" rtlCol="0" anchor="ctr"/>
          <a:lstStyle/>
          <a:p>
            <a:pPr indent="0" marL="0">
              <a:buNone/>
            </a:pPr>
            <a:r>
              <a:rPr lang="en-US" sz="750" b="1" dirty="0">
                <a:solidFill>
                  <a:srgbClr val="63D6C6"/>
                </a:solidFill>
              </a:rPr>
              <a:t>claim schema</a:t>
            </a:r>
            <a:endParaRPr lang="en-US" sz="750" dirty="0"/>
          </a:p>
        </p:txBody>
      </p:sp>
      <p:sp>
        <p:nvSpPr>
          <p:cNvPr id="11" name="Text 8"/>
          <p:cNvSpPr/>
          <p:nvPr/>
        </p:nvSpPr>
        <p:spPr>
          <a:xfrm>
            <a:off x="6291072" y="1709928"/>
            <a:ext cx="5020056" cy="228600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class ForecastClaim(BaseModel):</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text: str</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claim_type: ClaimType</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xml:space="preserve">    citation_ids: list[str]</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ClaimType includes field_fact, model_input,</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model_output, market_baseline,</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source_coverage, evidence_retrieval,</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simulation_output, rolling_state,</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scenario_assumption, uncertainty,</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guardrail, source_policy, general.</a:t>
            </a:r>
            <a:endParaRPr lang="en-US" sz="740" dirty="0"/>
          </a:p>
        </p:txBody>
      </p:sp>
      <p:sp>
        <p:nvSpPr>
          <p:cNvPr id="12" name="Shape 9"/>
          <p:cNvSpPr/>
          <p:nvPr/>
        </p:nvSpPr>
        <p:spPr>
          <a:xfrm>
            <a:off x="777240" y="4617720"/>
            <a:ext cx="10378440" cy="914400"/>
          </a:xfrm>
          <a:prstGeom prst="roundRect">
            <a:avLst>
              <a:gd name="adj" fmla="val 8000"/>
            </a:avLst>
          </a:prstGeom>
          <a:solidFill>
            <a:srgbClr val="FFFFFF">
              <a:alpha val="96000"/>
            </a:srgbClr>
          </a:solidFill>
          <a:ln w="12700">
            <a:solidFill>
              <a:srgbClr val="0F8D68">
                <a:alpha val="55000"/>
              </a:srgbClr>
            </a:solidFill>
            <a:prstDash val="solid"/>
          </a:ln>
        </p:spPr>
      </p:sp>
      <p:sp>
        <p:nvSpPr>
          <p:cNvPr id="13" name="Text 10"/>
          <p:cNvSpPr/>
          <p:nvPr/>
        </p:nvSpPr>
        <p:spPr>
          <a:xfrm>
            <a:off x="923544" y="4736592"/>
            <a:ext cx="1008583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Agent concept</a:t>
            </a:r>
            <a:endParaRPr lang="en-US" sz="1200" dirty="0"/>
          </a:p>
        </p:txBody>
      </p:sp>
      <p:sp>
        <p:nvSpPr>
          <p:cNvPr id="14" name="Text 11"/>
          <p:cNvSpPr/>
          <p:nvPr/>
        </p:nvSpPr>
        <p:spPr>
          <a:xfrm>
            <a:off x="923544" y="5056632"/>
            <a:ext cx="10085832" cy="34747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The output schema is the bridge between natural language and evaluation. Without typed claims and citations, the evaluator can only judge the final text superficially.</a:t>
            </a:r>
            <a:endParaRPr lang="en-US" sz="880" dirty="0"/>
          </a:p>
        </p:txBody>
      </p:sp>
      <p:sp>
        <p:nvSpPr>
          <p:cNvPr id="15" name="Text 12"/>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Demo priors, educational simulator — not betting advice</a:t>
            </a:r>
            <a:endParaRPr lang="en-US" sz="680" dirty="0"/>
          </a:p>
        </p:txBody>
      </p:sp>
      <p:sp>
        <p:nvSpPr>
          <p:cNvPr id="16" name="Text 13"/>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6142B"/>
        </a:solidFill>
      </p:bgPr>
    </p:bg>
    <p:spTree>
      <p:nvGrpSpPr>
        <p:cNvPr id="1" name=""/>
        <p:cNvGrpSpPr/>
        <p:nvPr/>
      </p:nvGrpSpPr>
      <p:grpSpPr>
        <a:xfrm>
          <a:off x="0" y="0"/>
          <a:ext cx="0" cy="0"/>
          <a:chOff x="0" y="0"/>
          <a:chExt cx="0" cy="0"/>
        </a:xfrm>
      </p:grpSpPr>
      <p:sp>
        <p:nvSpPr>
          <p:cNvPr id="2"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FORECAST VAR</a:t>
            </a:r>
            <a:endParaRPr lang="en-US" sz="850" dirty="0"/>
          </a:p>
        </p:txBody>
      </p:sp>
      <p:sp>
        <p:nvSpPr>
          <p:cNvPr id="3"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Step 14 — Live OpenAI path: same contract, real agent model</a:t>
            </a:r>
            <a:endParaRPr lang="en-US" sz="2400" dirty="0"/>
          </a:p>
        </p:txBody>
      </p:sp>
      <p:sp>
        <p:nvSpPr>
          <p:cNvPr id="4" name="Shape 2"/>
          <p:cNvSpPr/>
          <p:nvPr/>
        </p:nvSpPr>
        <p:spPr>
          <a:xfrm>
            <a:off x="502920" y="1170432"/>
            <a:ext cx="11155680" cy="0"/>
          </a:xfrm>
          <a:prstGeom prst="line">
            <a:avLst/>
          </a:prstGeom>
          <a:noFill/>
          <a:ln w="13970">
            <a:solidFill>
              <a:srgbClr val="0F8D68">
                <a:alpha val="80000"/>
              </a:srgbClr>
            </a:solidFill>
            <a:prstDash val="solid"/>
          </a:ln>
        </p:spPr>
      </p:sp>
      <p:sp>
        <p:nvSpPr>
          <p:cNvPr id="5" name="Shape 3"/>
          <p:cNvSpPr/>
          <p:nvPr/>
        </p:nvSpPr>
        <p:spPr>
          <a:xfrm>
            <a:off x="594360" y="1325880"/>
            <a:ext cx="5394960" cy="2788920"/>
          </a:xfrm>
          <a:prstGeom prst="roundRect">
            <a:avLst>
              <a:gd name="adj" fmla="val 2623"/>
            </a:avLst>
          </a:prstGeom>
          <a:solidFill>
            <a:srgbClr val="061222"/>
          </a:solidFill>
          <a:ln w="12700">
            <a:solidFill>
              <a:srgbClr val="1E4F72">
                <a:alpha val="90000"/>
              </a:srgbClr>
            </a:solidFill>
            <a:prstDash val="solid"/>
          </a:ln>
        </p:spPr>
      </p:sp>
      <p:sp>
        <p:nvSpPr>
          <p:cNvPr id="6" name="Text 4"/>
          <p:cNvSpPr/>
          <p:nvPr/>
        </p:nvSpPr>
        <p:spPr>
          <a:xfrm>
            <a:off x="713232" y="1417320"/>
            <a:ext cx="5157216" cy="164592"/>
          </a:xfrm>
          <a:prstGeom prst="rect">
            <a:avLst/>
          </a:prstGeom>
          <a:noFill/>
          <a:ln/>
        </p:spPr>
        <p:txBody>
          <a:bodyPr wrap="square" lIns="0" tIns="0" rIns="0" bIns="0" rtlCol="0" anchor="ctr"/>
          <a:lstStyle/>
          <a:p>
            <a:pPr indent="0" marL="0">
              <a:buNone/>
            </a:pPr>
            <a:r>
              <a:rPr lang="en-US" sz="750" b="1" dirty="0">
                <a:solidFill>
                  <a:srgbClr val="63D6C6"/>
                </a:solidFill>
              </a:rPr>
              <a:t>Live example</a:t>
            </a:r>
            <a:endParaRPr lang="en-US" sz="750" dirty="0"/>
          </a:p>
        </p:txBody>
      </p:sp>
      <p:sp>
        <p:nvSpPr>
          <p:cNvPr id="7" name="Text 5"/>
          <p:cNvSpPr/>
          <p:nvPr/>
        </p:nvSpPr>
        <p:spPr>
          <a:xfrm>
            <a:off x="713232" y="1709928"/>
            <a:ext cx="5157216" cy="233172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 src/forecast_var/config.py</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DEFAULT_OPENAI_MODEL = "gpt-5.4-nano"</a:t>
            </a:r>
            <a:endParaRPr lang="en-US" sz="740" dirty="0"/>
          </a:p>
          <a:p>
            <a:pPr indent="0" marL="0">
              <a:buNone/>
            </a:pP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Run live mode</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export OPENAI_API_KEY="..."</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PYTHONPATH=src python scripts/run_agent.py   "Run a Monte Carlo tournament simulation"   --mode openai</a:t>
            </a:r>
            <a:endParaRPr lang="en-US" sz="740" dirty="0"/>
          </a:p>
        </p:txBody>
      </p:sp>
      <p:sp>
        <p:nvSpPr>
          <p:cNvPr id="8" name="Shape 6"/>
          <p:cNvSpPr/>
          <p:nvPr/>
        </p:nvSpPr>
        <p:spPr>
          <a:xfrm>
            <a:off x="6263640" y="1325880"/>
            <a:ext cx="5120640" cy="2788920"/>
          </a:xfrm>
          <a:prstGeom prst="roundRect">
            <a:avLst>
              <a:gd name="adj" fmla="val 2623"/>
            </a:avLst>
          </a:prstGeom>
          <a:solidFill>
            <a:srgbClr val="FFFFFF">
              <a:alpha val="96000"/>
            </a:srgbClr>
          </a:solidFill>
          <a:ln w="12700">
            <a:solidFill>
              <a:srgbClr val="D7B65D">
                <a:alpha val="55000"/>
              </a:srgbClr>
            </a:solidFill>
            <a:prstDash val="solid"/>
          </a:ln>
        </p:spPr>
      </p:sp>
      <p:sp>
        <p:nvSpPr>
          <p:cNvPr id="9" name="Text 7"/>
          <p:cNvSpPr/>
          <p:nvPr/>
        </p:nvSpPr>
        <p:spPr>
          <a:xfrm>
            <a:off x="6409944" y="1444752"/>
            <a:ext cx="482803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What changes in live mode?</a:t>
            </a:r>
            <a:endParaRPr lang="en-US" sz="1200" dirty="0"/>
          </a:p>
        </p:txBody>
      </p:sp>
      <p:sp>
        <p:nvSpPr>
          <p:cNvPr id="10" name="Text 8"/>
          <p:cNvSpPr/>
          <p:nvPr/>
        </p:nvSpPr>
        <p:spPr>
          <a:xfrm>
            <a:off x="6409944" y="1764792"/>
            <a:ext cx="4828032" cy="222199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The agent model becomes gpt-5.4-nano.</a:t>
            </a:r>
            <a:endParaRPr lang="en-US" sz="880" dirty="0"/>
          </a:p>
          <a:p>
            <a:pPr indent="0" marL="0">
              <a:buNone/>
            </a:pPr>
            <a:endParaRPr lang="en-US" sz="880" dirty="0"/>
            <a:r>
              <a:t/>
            </a:r>
          </a:p>
          <a:p>
            <a:pPr indent="0" marL="0">
              <a:buNone/>
            </a:pPr>
            <a:r>
              <a:rPr lang="en-US" sz="880" dirty="0">
                <a:solidFill>
                  <a:srgbClr val="213547"/>
                </a:solidFill>
              </a:rPr>
              <a:t>Same sources, pre-flight, RAG, MCP tools, simulator, schema, and verifier.</a:t>
            </a:r>
            <a:endParaRPr lang="en-US" sz="880" dirty="0"/>
          </a:p>
          <a:p>
            <a:pPr indent="0" marL="0">
              <a:buNone/>
            </a:pPr>
            <a:endParaRPr lang="en-US" sz="880" dirty="0"/>
            <a:r>
              <a:t/>
            </a:r>
          </a:p>
          <a:p>
            <a:pPr indent="0" marL="0">
              <a:buNone/>
            </a:pPr>
            <a:r>
              <a:rPr lang="en-US" sz="880" dirty="0">
                <a:solidFill>
                  <a:srgbClr val="213547"/>
                </a:solidFill>
              </a:rPr>
              <a:t/>
            </a:r>
            <a:endParaRPr lang="en-US" sz="880" dirty="0"/>
          </a:p>
        </p:txBody>
      </p:sp>
      <p:sp>
        <p:nvSpPr>
          <p:cNvPr id="11" name="Shape 9"/>
          <p:cNvSpPr/>
          <p:nvPr/>
        </p:nvSpPr>
        <p:spPr>
          <a:xfrm>
            <a:off x="640080" y="4709160"/>
            <a:ext cx="2021373" cy="777240"/>
          </a:xfrm>
          <a:prstGeom prst="roundRect">
            <a:avLst>
              <a:gd name="adj" fmla="val 9412"/>
            </a:avLst>
          </a:prstGeom>
          <a:solidFill>
            <a:srgbClr val="08213D"/>
          </a:solidFill>
          <a:ln w="12700">
            <a:solidFill>
              <a:srgbClr val="0F8D68">
                <a:alpha val="90000"/>
              </a:srgbClr>
            </a:solidFill>
            <a:prstDash val="solid"/>
          </a:ln>
        </p:spPr>
      </p:sp>
      <p:sp>
        <p:nvSpPr>
          <p:cNvPr id="12" name="Text 10"/>
          <p:cNvSpPr/>
          <p:nvPr/>
        </p:nvSpPr>
        <p:spPr>
          <a:xfrm>
            <a:off x="713232" y="4828032"/>
            <a:ext cx="1875069"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same</a:t>
            </a:r>
            <a:endParaRPr lang="en-US" sz="750" dirty="0"/>
          </a:p>
        </p:txBody>
      </p:sp>
      <p:sp>
        <p:nvSpPr>
          <p:cNvPr id="13" name="Text 11"/>
          <p:cNvSpPr/>
          <p:nvPr/>
        </p:nvSpPr>
        <p:spPr>
          <a:xfrm>
            <a:off x="713232" y="5065776"/>
            <a:ext cx="1875069"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sources</a:t>
            </a:r>
            <a:endParaRPr lang="en-US" sz="900" dirty="0"/>
          </a:p>
        </p:txBody>
      </p:sp>
      <p:sp>
        <p:nvSpPr>
          <p:cNvPr id="14" name="Shape 12"/>
          <p:cNvSpPr/>
          <p:nvPr/>
        </p:nvSpPr>
        <p:spPr>
          <a:xfrm>
            <a:off x="2688885" y="5102352"/>
            <a:ext cx="146304" cy="0"/>
          </a:xfrm>
          <a:prstGeom prst="line">
            <a:avLst/>
          </a:prstGeom>
          <a:noFill/>
          <a:ln w="17780">
            <a:solidFill>
              <a:srgbClr val="D7B65D"/>
            </a:solidFill>
            <a:prstDash val="solid"/>
            <a:headEnd type="none"/>
            <a:tailEnd type="triangle"/>
          </a:ln>
        </p:spPr>
      </p:sp>
      <p:sp>
        <p:nvSpPr>
          <p:cNvPr id="15" name="Shape 13"/>
          <p:cNvSpPr/>
          <p:nvPr/>
        </p:nvSpPr>
        <p:spPr>
          <a:xfrm>
            <a:off x="2862621" y="4709160"/>
            <a:ext cx="2021373" cy="777240"/>
          </a:xfrm>
          <a:prstGeom prst="roundRect">
            <a:avLst>
              <a:gd name="adj" fmla="val 9412"/>
            </a:avLst>
          </a:prstGeom>
          <a:solidFill>
            <a:srgbClr val="08213D"/>
          </a:solidFill>
          <a:ln w="12700">
            <a:solidFill>
              <a:srgbClr val="0F8D68">
                <a:alpha val="90000"/>
              </a:srgbClr>
            </a:solidFill>
            <a:prstDash val="solid"/>
          </a:ln>
        </p:spPr>
      </p:sp>
      <p:sp>
        <p:nvSpPr>
          <p:cNvPr id="16" name="Text 14"/>
          <p:cNvSpPr/>
          <p:nvPr/>
        </p:nvSpPr>
        <p:spPr>
          <a:xfrm>
            <a:off x="2935773" y="4828032"/>
            <a:ext cx="1875069"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same</a:t>
            </a:r>
            <a:endParaRPr lang="en-US" sz="750" dirty="0"/>
          </a:p>
        </p:txBody>
      </p:sp>
      <p:sp>
        <p:nvSpPr>
          <p:cNvPr id="17" name="Text 15"/>
          <p:cNvSpPr/>
          <p:nvPr/>
        </p:nvSpPr>
        <p:spPr>
          <a:xfrm>
            <a:off x="2935773" y="5065776"/>
            <a:ext cx="1875069"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pre-flight + RAG</a:t>
            </a:r>
            <a:endParaRPr lang="en-US" sz="900" dirty="0"/>
          </a:p>
        </p:txBody>
      </p:sp>
      <p:sp>
        <p:nvSpPr>
          <p:cNvPr id="18" name="Shape 16"/>
          <p:cNvSpPr/>
          <p:nvPr/>
        </p:nvSpPr>
        <p:spPr>
          <a:xfrm>
            <a:off x="4911425" y="5102352"/>
            <a:ext cx="146304" cy="0"/>
          </a:xfrm>
          <a:prstGeom prst="line">
            <a:avLst/>
          </a:prstGeom>
          <a:noFill/>
          <a:ln w="17780">
            <a:solidFill>
              <a:srgbClr val="D7B65D"/>
            </a:solidFill>
            <a:prstDash val="solid"/>
            <a:headEnd type="none"/>
            <a:tailEnd type="triangle"/>
          </a:ln>
        </p:spPr>
      </p:sp>
      <p:sp>
        <p:nvSpPr>
          <p:cNvPr id="19" name="Shape 17"/>
          <p:cNvSpPr/>
          <p:nvPr/>
        </p:nvSpPr>
        <p:spPr>
          <a:xfrm>
            <a:off x="5085161" y="4709160"/>
            <a:ext cx="2021373" cy="777240"/>
          </a:xfrm>
          <a:prstGeom prst="roundRect">
            <a:avLst>
              <a:gd name="adj" fmla="val 9412"/>
            </a:avLst>
          </a:prstGeom>
          <a:solidFill>
            <a:srgbClr val="08213D"/>
          </a:solidFill>
          <a:ln w="12700">
            <a:solidFill>
              <a:srgbClr val="0F8D68">
                <a:alpha val="90000"/>
              </a:srgbClr>
            </a:solidFill>
            <a:prstDash val="solid"/>
          </a:ln>
        </p:spPr>
      </p:sp>
      <p:sp>
        <p:nvSpPr>
          <p:cNvPr id="20" name="Text 18"/>
          <p:cNvSpPr/>
          <p:nvPr/>
        </p:nvSpPr>
        <p:spPr>
          <a:xfrm>
            <a:off x="5158313" y="4828032"/>
            <a:ext cx="1875069"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same</a:t>
            </a:r>
            <a:endParaRPr lang="en-US" sz="750" dirty="0"/>
          </a:p>
        </p:txBody>
      </p:sp>
      <p:sp>
        <p:nvSpPr>
          <p:cNvPr id="21" name="Text 19"/>
          <p:cNvSpPr/>
          <p:nvPr/>
        </p:nvSpPr>
        <p:spPr>
          <a:xfrm>
            <a:off x="5158313" y="5065776"/>
            <a:ext cx="1875069"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MCP tools</a:t>
            </a:r>
            <a:endParaRPr lang="en-US" sz="900" dirty="0"/>
          </a:p>
        </p:txBody>
      </p:sp>
      <p:sp>
        <p:nvSpPr>
          <p:cNvPr id="22" name="Shape 20"/>
          <p:cNvSpPr/>
          <p:nvPr/>
        </p:nvSpPr>
        <p:spPr>
          <a:xfrm>
            <a:off x="7133966" y="5102352"/>
            <a:ext cx="146304" cy="0"/>
          </a:xfrm>
          <a:prstGeom prst="line">
            <a:avLst/>
          </a:prstGeom>
          <a:noFill/>
          <a:ln w="17780">
            <a:solidFill>
              <a:srgbClr val="D7B65D"/>
            </a:solidFill>
            <a:prstDash val="solid"/>
            <a:headEnd type="none"/>
            <a:tailEnd type="triangle"/>
          </a:ln>
        </p:spPr>
      </p:sp>
      <p:sp>
        <p:nvSpPr>
          <p:cNvPr id="23" name="Shape 21"/>
          <p:cNvSpPr/>
          <p:nvPr/>
        </p:nvSpPr>
        <p:spPr>
          <a:xfrm>
            <a:off x="7307702" y="4709160"/>
            <a:ext cx="2021373" cy="777240"/>
          </a:xfrm>
          <a:prstGeom prst="roundRect">
            <a:avLst>
              <a:gd name="adj" fmla="val 9412"/>
            </a:avLst>
          </a:prstGeom>
          <a:solidFill>
            <a:srgbClr val="08213D"/>
          </a:solidFill>
          <a:ln w="12700">
            <a:solidFill>
              <a:srgbClr val="0F8D68">
                <a:alpha val="90000"/>
              </a:srgbClr>
            </a:solidFill>
            <a:prstDash val="solid"/>
          </a:ln>
        </p:spPr>
      </p:sp>
      <p:sp>
        <p:nvSpPr>
          <p:cNvPr id="24" name="Text 22"/>
          <p:cNvSpPr/>
          <p:nvPr/>
        </p:nvSpPr>
        <p:spPr>
          <a:xfrm>
            <a:off x="7380854" y="4828032"/>
            <a:ext cx="1875069" cy="164592"/>
          </a:xfrm>
          <a:prstGeom prst="rect">
            <a:avLst/>
          </a:prstGeom>
          <a:noFill/>
          <a:ln/>
        </p:spPr>
        <p:txBody>
          <a:bodyPr wrap="square" lIns="0" tIns="0" rIns="0" bIns="0" rtlCol="0" anchor="ctr">
            <a:normAutofit/>
          </a:bodyPr>
          <a:lstStyle/>
          <a:p>
            <a:pPr algn="ctr" indent="0" marL="0">
              <a:buNone/>
            </a:pPr>
            <a:r>
              <a:rPr lang="en-US" sz="750" b="1" dirty="0">
                <a:solidFill>
                  <a:srgbClr val="63D6C6"/>
                </a:solidFill>
              </a:rPr>
              <a:t>new</a:t>
            </a:r>
            <a:endParaRPr lang="en-US" sz="750" dirty="0"/>
          </a:p>
        </p:txBody>
      </p:sp>
      <p:sp>
        <p:nvSpPr>
          <p:cNvPr id="25" name="Text 23"/>
          <p:cNvSpPr/>
          <p:nvPr/>
        </p:nvSpPr>
        <p:spPr>
          <a:xfrm>
            <a:off x="7380854" y="5065776"/>
            <a:ext cx="1875069"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gpt-5.4-nano</a:t>
            </a:r>
            <a:endParaRPr lang="en-US" sz="900" dirty="0"/>
          </a:p>
        </p:txBody>
      </p:sp>
      <p:sp>
        <p:nvSpPr>
          <p:cNvPr id="26" name="Shape 24"/>
          <p:cNvSpPr/>
          <p:nvPr/>
        </p:nvSpPr>
        <p:spPr>
          <a:xfrm>
            <a:off x="9356507" y="5102352"/>
            <a:ext cx="146304" cy="0"/>
          </a:xfrm>
          <a:prstGeom prst="line">
            <a:avLst/>
          </a:prstGeom>
          <a:noFill/>
          <a:ln w="17780">
            <a:solidFill>
              <a:srgbClr val="D7B65D"/>
            </a:solidFill>
            <a:prstDash val="solid"/>
            <a:headEnd type="none"/>
            <a:tailEnd type="triangle"/>
          </a:ln>
        </p:spPr>
      </p:sp>
      <p:sp>
        <p:nvSpPr>
          <p:cNvPr id="27" name="Shape 25"/>
          <p:cNvSpPr/>
          <p:nvPr/>
        </p:nvSpPr>
        <p:spPr>
          <a:xfrm>
            <a:off x="9530243" y="4709160"/>
            <a:ext cx="2021373" cy="777240"/>
          </a:xfrm>
          <a:prstGeom prst="roundRect">
            <a:avLst>
              <a:gd name="adj" fmla="val 9412"/>
            </a:avLst>
          </a:prstGeom>
          <a:solidFill>
            <a:srgbClr val="08213D"/>
          </a:solidFill>
          <a:ln w="12700">
            <a:solidFill>
              <a:srgbClr val="0F8D68">
                <a:alpha val="90000"/>
              </a:srgbClr>
            </a:solidFill>
            <a:prstDash val="solid"/>
          </a:ln>
        </p:spPr>
      </p:sp>
      <p:sp>
        <p:nvSpPr>
          <p:cNvPr id="28" name="Text 26"/>
          <p:cNvSpPr/>
          <p:nvPr/>
        </p:nvSpPr>
        <p:spPr>
          <a:xfrm>
            <a:off x="9603395" y="4828032"/>
            <a:ext cx="1875069" cy="164592"/>
          </a:xfrm>
          <a:prstGeom prst="rect">
            <a:avLst/>
          </a:prstGeom>
          <a:noFill/>
          <a:ln/>
        </p:spPr>
        <p:txBody>
          <a:bodyPr wrap="square" lIns="0" tIns="0" rIns="0" bIns="0" rtlCol="0" anchor="ctr">
            <a:normAutofit/>
          </a:bodyPr>
          <a:lstStyle/>
          <a:p>
            <a:pPr algn="ctr" indent="0" marL="0">
              <a:buNone/>
            </a:pPr>
            <a:r>
              <a:rPr lang="en-US" sz="750" b="1" dirty="0">
                <a:solidFill>
                  <a:srgbClr val="D7B65D"/>
                </a:solidFill>
              </a:rPr>
              <a:t>same</a:t>
            </a:r>
            <a:endParaRPr lang="en-US" sz="750" dirty="0"/>
          </a:p>
        </p:txBody>
      </p:sp>
      <p:sp>
        <p:nvSpPr>
          <p:cNvPr id="29" name="Text 27"/>
          <p:cNvSpPr/>
          <p:nvPr/>
        </p:nvSpPr>
        <p:spPr>
          <a:xfrm>
            <a:off x="9603395" y="5065776"/>
            <a:ext cx="1875069" cy="274320"/>
          </a:xfrm>
          <a:prstGeom prst="rect">
            <a:avLst/>
          </a:prstGeom>
          <a:noFill/>
          <a:ln/>
        </p:spPr>
        <p:txBody>
          <a:bodyPr wrap="square" lIns="0" tIns="0" rIns="0" bIns="0" rtlCol="0" anchor="ctr">
            <a:normAutofit/>
          </a:bodyPr>
          <a:lstStyle/>
          <a:p>
            <a:pPr algn="ctr" indent="0" marL="0">
              <a:buNone/>
            </a:pPr>
            <a:r>
              <a:rPr lang="en-US" sz="900" b="1" dirty="0">
                <a:solidFill>
                  <a:srgbClr val="F7FAFC"/>
                </a:solidFill>
              </a:rPr>
              <a:t>schema + verifier</a:t>
            </a:r>
            <a:endParaRPr lang="en-US" sz="900" dirty="0"/>
          </a:p>
        </p:txBody>
      </p:sp>
      <p:sp>
        <p:nvSpPr>
          <p:cNvPr id="30" name="Text 28"/>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Model capability details should be checked against the current OpenAI model docs before public release.</a:t>
            </a:r>
            <a:endParaRPr lang="en-US" sz="680" dirty="0"/>
          </a:p>
        </p:txBody>
      </p:sp>
      <p:sp>
        <p:nvSpPr>
          <p:cNvPr id="31" name="Text 29"/>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6142B"/>
        </a:solidFill>
      </p:bgPr>
    </p:bg>
    <p:spTree>
      <p:nvGrpSpPr>
        <p:cNvPr id="1" name=""/>
        <p:cNvGrpSpPr/>
        <p:nvPr/>
      </p:nvGrpSpPr>
      <p:grpSpPr>
        <a:xfrm>
          <a:off x="0" y="0"/>
          <a:ext cx="0" cy="0"/>
          <a:chOff x="0" y="0"/>
          <a:chExt cx="0" cy="0"/>
        </a:xfrm>
      </p:grpSpPr>
      <p:pic>
        <p:nvPicPr>
          <p:cNvPr id="2" name="Image 0" descr="/mnt/data/wc26_slide_work/assets/football_ball_closeup_dark75.png">    </p:cNvPr>
          <p:cNvPicPr>
            <a:picLocks noChangeAspect="1"/>
          </p:cNvPicPr>
          <p:nvPr/>
        </p:nvPicPr>
        <p:blipFill>
          <a:blip r:embed="rId1"/>
          <a:srcRect l="1" r="1" t="0" b="0"/>
          <a:stretch/>
        </p:blipFill>
        <p:spPr>
          <a:xfrm>
            <a:off x="0" y="0"/>
            <a:ext cx="12191695" cy="6858000"/>
          </a:xfrm>
          <a:prstGeom prst="rect">
            <a:avLst/>
          </a:prstGeom>
        </p:spPr>
      </p:pic>
      <p:sp>
        <p:nvSpPr>
          <p:cNvPr id="3"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FORECAST VAR</a:t>
            </a:r>
            <a:endParaRPr lang="en-US" sz="850" dirty="0"/>
          </a:p>
        </p:txBody>
      </p:sp>
      <p:sp>
        <p:nvSpPr>
          <p:cNvPr id="4"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Reproducibility: every slide is backed by a notebook and project scripts</a:t>
            </a:r>
            <a:endParaRPr lang="en-US" sz="2400" dirty="0"/>
          </a:p>
        </p:txBody>
      </p:sp>
      <p:sp>
        <p:nvSpPr>
          <p:cNvPr id="5" name="Shape 2"/>
          <p:cNvSpPr/>
          <p:nvPr/>
        </p:nvSpPr>
        <p:spPr>
          <a:xfrm>
            <a:off x="502920" y="1170432"/>
            <a:ext cx="11155680" cy="0"/>
          </a:xfrm>
          <a:prstGeom prst="line">
            <a:avLst/>
          </a:prstGeom>
          <a:noFill/>
          <a:ln w="13970">
            <a:solidFill>
              <a:srgbClr val="0F8D68">
                <a:alpha val="80000"/>
              </a:srgbClr>
            </a:solidFill>
            <a:prstDash val="solid"/>
          </a:ln>
        </p:spPr>
      </p:sp>
      <p:sp>
        <p:nvSpPr>
          <p:cNvPr id="6" name="Shape 3"/>
          <p:cNvSpPr/>
          <p:nvPr/>
        </p:nvSpPr>
        <p:spPr>
          <a:xfrm>
            <a:off x="594360" y="1325880"/>
            <a:ext cx="5440680" cy="2468880"/>
          </a:xfrm>
          <a:prstGeom prst="roundRect">
            <a:avLst>
              <a:gd name="adj" fmla="val 2963"/>
            </a:avLst>
          </a:prstGeom>
          <a:solidFill>
            <a:srgbClr val="061222"/>
          </a:solidFill>
          <a:ln w="12700">
            <a:solidFill>
              <a:srgbClr val="1E4F72">
                <a:alpha val="90000"/>
              </a:srgbClr>
            </a:solidFill>
            <a:prstDash val="solid"/>
          </a:ln>
        </p:spPr>
      </p:sp>
      <p:sp>
        <p:nvSpPr>
          <p:cNvPr id="7" name="Text 4"/>
          <p:cNvSpPr/>
          <p:nvPr/>
        </p:nvSpPr>
        <p:spPr>
          <a:xfrm>
            <a:off x="713232" y="1417320"/>
            <a:ext cx="5202936" cy="164592"/>
          </a:xfrm>
          <a:prstGeom prst="rect">
            <a:avLst/>
          </a:prstGeom>
          <a:noFill/>
          <a:ln/>
        </p:spPr>
        <p:txBody>
          <a:bodyPr wrap="square" lIns="0" tIns="0" rIns="0" bIns="0" rtlCol="0" anchor="ctr"/>
          <a:lstStyle/>
          <a:p>
            <a:pPr indent="0" marL="0">
              <a:buNone/>
            </a:pPr>
            <a:r>
              <a:rPr lang="en-US" sz="750" b="1" dirty="0">
                <a:solidFill>
                  <a:srgbClr val="63D6C6"/>
                </a:solidFill>
              </a:rPr>
              <a:t>Commands</a:t>
            </a:r>
            <a:endParaRPr lang="en-US" sz="750" dirty="0"/>
          </a:p>
        </p:txBody>
      </p:sp>
      <p:sp>
        <p:nvSpPr>
          <p:cNvPr id="8" name="Text 5"/>
          <p:cNvSpPr/>
          <p:nvPr/>
        </p:nvSpPr>
        <p:spPr>
          <a:xfrm>
            <a:off x="713232" y="1709928"/>
            <a:ext cx="5202936" cy="2011680"/>
          </a:xfrm>
          <a:prstGeom prst="rect">
            <a:avLst/>
          </a:prstGeom>
          <a:noFill/>
          <a:ln/>
        </p:spPr>
        <p:txBody>
          <a:bodyPr wrap="square" lIns="254" tIns="254" rIns="254" bIns="254" rtlCol="0" anchor="ctr">
            <a:normAutofit/>
          </a:bodyPr>
          <a:lstStyle/>
          <a:p>
            <a:pPr indent="0" marL="0">
              <a:buNone/>
            </a:pPr>
            <a:r>
              <a:rPr lang="en-US" sz="740" dirty="0">
                <a:solidFill>
                  <a:srgbClr val="DDEBFF"/>
                </a:solidFill>
                <a:latin typeface="Courier New" pitchFamily="34" charset="0"/>
                <a:ea typeface="Courier New" pitchFamily="34" charset="-122"/>
                <a:cs typeface="Courier New" pitchFamily="34" charset="-120"/>
              </a:rPr>
              <a:t>PYTHONPATH=src python scripts/validate_data.py</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PYTHONPATH=src python scripts/refresh_sources.py</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PYTHONPATH=src python scripts/generate_figures.py</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PYTHONPATH=src python scripts/evaluate.py --mode grounded_mock</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PYTHONPATH=src pytest -q</a:t>
            </a:r>
            <a:endParaRPr lang="en-US" sz="740" dirty="0"/>
          </a:p>
          <a:p>
            <a:pPr indent="0" marL="0">
              <a:buNone/>
            </a:pP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forecast_var_deck_experiments.executed.ipynb</a:t>
            </a:r>
            <a:endParaRPr lang="en-US" sz="740" dirty="0"/>
          </a:p>
          <a:p>
            <a:pPr indent="0" marL="0">
              <a:buNone/>
            </a:pPr>
            <a:r>
              <a:rPr lang="en-US" sz="740" dirty="0">
                <a:solidFill>
                  <a:srgbClr val="DDEBFF"/>
                </a:solidFill>
                <a:latin typeface="Courier New" pitchFamily="34" charset="0"/>
                <a:ea typeface="Courier New" pitchFamily="34" charset="-122"/>
                <a:cs typeface="Courier New" pitchFamily="34" charset="-120"/>
              </a:rPr>
              <a:t/>
            </a:r>
            <a:endParaRPr lang="en-US" sz="740" dirty="0"/>
          </a:p>
        </p:txBody>
      </p:sp>
      <p:sp>
        <p:nvSpPr>
          <p:cNvPr id="9" name="Shape 6"/>
          <p:cNvSpPr/>
          <p:nvPr/>
        </p:nvSpPr>
        <p:spPr>
          <a:xfrm>
            <a:off x="6355080" y="1325880"/>
            <a:ext cx="4983480" cy="2468880"/>
          </a:xfrm>
          <a:prstGeom prst="roundRect">
            <a:avLst>
              <a:gd name="adj" fmla="val 2963"/>
            </a:avLst>
          </a:prstGeom>
          <a:solidFill>
            <a:srgbClr val="FFFFFF">
              <a:alpha val="96000"/>
            </a:srgbClr>
          </a:solidFill>
          <a:ln w="12700">
            <a:solidFill>
              <a:srgbClr val="0F8D68">
                <a:alpha val="55000"/>
              </a:srgbClr>
            </a:solidFill>
            <a:prstDash val="solid"/>
          </a:ln>
        </p:spPr>
      </p:sp>
      <p:sp>
        <p:nvSpPr>
          <p:cNvPr id="10" name="Text 7"/>
          <p:cNvSpPr/>
          <p:nvPr/>
        </p:nvSpPr>
        <p:spPr>
          <a:xfrm>
            <a:off x="6501384" y="1444752"/>
            <a:ext cx="469087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What the notebook contains</a:t>
            </a:r>
            <a:endParaRPr lang="en-US" sz="1200" dirty="0"/>
          </a:p>
        </p:txBody>
      </p:sp>
      <p:sp>
        <p:nvSpPr>
          <p:cNvPr id="11" name="Text 8"/>
          <p:cNvSpPr/>
          <p:nvPr/>
        </p:nvSpPr>
        <p:spPr>
          <a:xfrm>
            <a:off x="6501384" y="1764792"/>
            <a:ext cx="4690872" cy="190195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 prediction tables</a:t>
            </a:r>
            <a:endParaRPr lang="en-US" sz="880" dirty="0"/>
          </a:p>
          <a:p>
            <a:pPr indent="0" marL="0">
              <a:buNone/>
            </a:pPr>
            <a:r>
              <a:rPr lang="en-US" sz="880" dirty="0">
                <a:solidFill>
                  <a:srgbClr val="213547"/>
                </a:solidFill>
              </a:rPr>
              <a:t>• group winners</a:t>
            </a:r>
            <a:endParaRPr lang="en-US" sz="880" dirty="0"/>
          </a:p>
          <a:p>
            <a:pPr indent="0" marL="0">
              <a:buNone/>
            </a:pPr>
            <a:r>
              <a:rPr lang="en-US" sz="880" dirty="0">
                <a:solidFill>
                  <a:srgbClr val="213547"/>
                </a:solidFill>
              </a:rPr>
              <a:t>• knockout probabilities</a:t>
            </a:r>
            <a:endParaRPr lang="en-US" sz="880" dirty="0"/>
          </a:p>
          <a:p>
            <a:pPr indent="0" marL="0">
              <a:buNone/>
            </a:pPr>
            <a:r>
              <a:rPr lang="en-US" sz="880" dirty="0">
                <a:solidFill>
                  <a:srgbClr val="213547"/>
                </a:solidFill>
              </a:rPr>
              <a:t>• match + market example</a:t>
            </a:r>
            <a:endParaRPr lang="en-US" sz="880" dirty="0"/>
          </a:p>
          <a:p>
            <a:pPr indent="0" marL="0">
              <a:buNone/>
            </a:pPr>
            <a:r>
              <a:rPr lang="en-US" sz="880" dirty="0">
                <a:solidFill>
                  <a:srgbClr val="213547"/>
                </a:solidFill>
              </a:rPr>
              <a:t>• rolling forecast state update</a:t>
            </a:r>
            <a:endParaRPr lang="en-US" sz="880" dirty="0"/>
          </a:p>
          <a:p>
            <a:pPr indent="0" marL="0">
              <a:buNone/>
            </a:pPr>
            <a:r>
              <a:rPr lang="en-US" sz="880" dirty="0">
                <a:solidFill>
                  <a:srgbClr val="213547"/>
                </a:solidFill>
              </a:rPr>
              <a:t>• source coverage</a:t>
            </a:r>
            <a:endParaRPr lang="en-US" sz="880" dirty="0"/>
          </a:p>
          <a:p>
            <a:pPr indent="0" marL="0">
              <a:buNone/>
            </a:pPr>
            <a:r>
              <a:rPr lang="en-US" sz="880" dirty="0">
                <a:solidFill>
                  <a:srgbClr val="213547"/>
                </a:solidFill>
              </a:rPr>
              <a:t>• eval metrics</a:t>
            </a:r>
            <a:endParaRPr lang="en-US" sz="880" dirty="0"/>
          </a:p>
          <a:p>
            <a:pPr indent="0" marL="0">
              <a:buNone/>
            </a:pPr>
            <a:r>
              <a:rPr lang="en-US" sz="880" dirty="0">
                <a:solidFill>
                  <a:srgbClr val="213547"/>
                </a:solidFill>
              </a:rPr>
              <a:t>• figures used in the deck</a:t>
            </a:r>
            <a:endParaRPr lang="en-US" sz="880" dirty="0"/>
          </a:p>
        </p:txBody>
      </p:sp>
      <p:sp>
        <p:nvSpPr>
          <p:cNvPr id="12" name="Shape 9"/>
          <p:cNvSpPr/>
          <p:nvPr/>
        </p:nvSpPr>
        <p:spPr>
          <a:xfrm>
            <a:off x="594360" y="4297680"/>
            <a:ext cx="5440680" cy="1417320"/>
          </a:xfrm>
          <a:prstGeom prst="roundRect">
            <a:avLst>
              <a:gd name="adj" fmla="val 5161"/>
            </a:avLst>
          </a:prstGeom>
          <a:solidFill>
            <a:srgbClr val="071B36"/>
          </a:solidFill>
          <a:ln w="12700">
            <a:solidFill>
              <a:srgbClr val="1D5872">
                <a:alpha val="80000"/>
              </a:srgbClr>
            </a:solidFill>
            <a:prstDash val="solid"/>
          </a:ln>
        </p:spPr>
      </p:sp>
      <p:pic>
        <p:nvPicPr>
          <p:cNvPr id="13" name="Image 1" descr="/mnt/data/wc26_slide_work/wc26-forecast-var-agent-episode2-source-aware-gpt54nano/figures/eval_summary.png">    </p:cNvPr>
          <p:cNvPicPr>
            <a:picLocks noChangeAspect="1"/>
          </p:cNvPicPr>
          <p:nvPr/>
        </p:nvPicPr>
        <p:blipFill>
          <a:blip r:embed="rId2"/>
          <a:stretch>
            <a:fillRect/>
          </a:stretch>
        </p:blipFill>
        <p:spPr>
          <a:xfrm>
            <a:off x="1952625" y="4352544"/>
            <a:ext cx="2724150" cy="1307592"/>
          </a:xfrm>
          <a:prstGeom prst="rect">
            <a:avLst/>
          </a:prstGeom>
        </p:spPr>
      </p:pic>
      <p:sp>
        <p:nvSpPr>
          <p:cNvPr id="14" name="Shape 10"/>
          <p:cNvSpPr/>
          <p:nvPr/>
        </p:nvSpPr>
        <p:spPr>
          <a:xfrm>
            <a:off x="6355080" y="4297680"/>
            <a:ext cx="4983480" cy="1417320"/>
          </a:xfrm>
          <a:prstGeom prst="roundRect">
            <a:avLst>
              <a:gd name="adj" fmla="val 5161"/>
            </a:avLst>
          </a:prstGeom>
          <a:solidFill>
            <a:srgbClr val="FFFFFF">
              <a:alpha val="96000"/>
            </a:srgbClr>
          </a:solidFill>
          <a:ln w="12700">
            <a:solidFill>
              <a:srgbClr val="D7B65D">
                <a:alpha val="55000"/>
              </a:srgbClr>
            </a:solidFill>
            <a:prstDash val="solid"/>
          </a:ln>
        </p:spPr>
      </p:sp>
      <p:sp>
        <p:nvSpPr>
          <p:cNvPr id="15" name="Text 11"/>
          <p:cNvSpPr/>
          <p:nvPr/>
        </p:nvSpPr>
        <p:spPr>
          <a:xfrm>
            <a:off x="6501384" y="4416552"/>
            <a:ext cx="469087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Deck principle</a:t>
            </a:r>
            <a:endParaRPr lang="en-US" sz="1200" dirty="0"/>
          </a:p>
        </p:txBody>
      </p:sp>
      <p:sp>
        <p:nvSpPr>
          <p:cNvPr id="16" name="Text 12"/>
          <p:cNvSpPr/>
          <p:nvPr/>
        </p:nvSpPr>
        <p:spPr>
          <a:xfrm>
            <a:off x="6501384" y="4736592"/>
            <a:ext cx="4690872" cy="85039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Use the slides for storytelling; use the notebook for traceability. The audience should see both the sport drama and the engineering audit trail.</a:t>
            </a:r>
            <a:endParaRPr lang="en-US" sz="880" dirty="0"/>
          </a:p>
        </p:txBody>
      </p:sp>
      <p:sp>
        <p:nvSpPr>
          <p:cNvPr id="17" name="Text 13"/>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Demo priors, educational simulator — not betting advice</a:t>
            </a:r>
            <a:endParaRPr lang="en-US" sz="680" dirty="0"/>
          </a:p>
        </p:txBody>
      </p:sp>
      <p:sp>
        <p:nvSpPr>
          <p:cNvPr id="18" name="Text 14"/>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6142B"/>
        </a:solidFill>
      </p:bgPr>
    </p:bg>
    <p:spTree>
      <p:nvGrpSpPr>
        <p:cNvPr id="1" name=""/>
        <p:cNvGrpSpPr/>
        <p:nvPr/>
      </p:nvGrpSpPr>
      <p:grpSpPr>
        <a:xfrm>
          <a:off x="0" y="0"/>
          <a:ext cx="0" cy="0"/>
          <a:chOff x="0" y="0"/>
          <a:chExt cx="0" cy="0"/>
        </a:xfrm>
      </p:grpSpPr>
      <p:pic>
        <p:nvPicPr>
          <p:cNvPr id="2" name="Image 0" descr="/mnt/data/wc26_slide_work/assets/trophy_stage_dark60.png">    </p:cNvPr>
          <p:cNvPicPr>
            <a:picLocks noChangeAspect="1"/>
          </p:cNvPicPr>
          <p:nvPr/>
        </p:nvPicPr>
        <p:blipFill>
          <a:blip r:embed="rId1"/>
          <a:srcRect l="1" r="1" t="0" b="0"/>
          <a:stretch/>
        </p:blipFill>
        <p:spPr>
          <a:xfrm>
            <a:off x="0" y="0"/>
            <a:ext cx="12191695" cy="6858000"/>
          </a:xfrm>
          <a:prstGeom prst="rect">
            <a:avLst/>
          </a:prstGeom>
        </p:spPr>
      </p:pic>
      <p:sp>
        <p:nvSpPr>
          <p:cNvPr id="3"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FORECAST VAR</a:t>
            </a:r>
            <a:endParaRPr lang="en-US" sz="850" dirty="0"/>
          </a:p>
        </p:txBody>
      </p:sp>
      <p:sp>
        <p:nvSpPr>
          <p:cNvPr id="4"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YouTube session arc: football drama first, agent engineering second</a:t>
            </a:r>
            <a:endParaRPr lang="en-US" sz="2400" dirty="0"/>
          </a:p>
        </p:txBody>
      </p:sp>
      <p:sp>
        <p:nvSpPr>
          <p:cNvPr id="5" name="Shape 2"/>
          <p:cNvSpPr/>
          <p:nvPr/>
        </p:nvSpPr>
        <p:spPr>
          <a:xfrm>
            <a:off x="502920" y="1170432"/>
            <a:ext cx="11155680" cy="0"/>
          </a:xfrm>
          <a:prstGeom prst="line">
            <a:avLst/>
          </a:prstGeom>
          <a:noFill/>
          <a:ln w="13970">
            <a:solidFill>
              <a:srgbClr val="0F8D68">
                <a:alpha val="80000"/>
              </a:srgbClr>
            </a:solidFill>
            <a:prstDash val="solid"/>
          </a:ln>
        </p:spPr>
      </p:sp>
      <p:sp>
        <p:nvSpPr>
          <p:cNvPr id="6" name="Shape 3"/>
          <p:cNvSpPr/>
          <p:nvPr/>
        </p:nvSpPr>
        <p:spPr>
          <a:xfrm>
            <a:off x="777240" y="1234440"/>
            <a:ext cx="10561320" cy="566928"/>
          </a:xfrm>
          <a:prstGeom prst="roundRect">
            <a:avLst>
              <a:gd name="adj" fmla="val 12903"/>
            </a:avLst>
          </a:prstGeom>
          <a:solidFill>
            <a:srgbClr val="FFFFFF">
              <a:alpha val="96000"/>
            </a:srgbClr>
          </a:solidFill>
          <a:ln w="12700">
            <a:solidFill>
              <a:srgbClr val="D7B65D">
                <a:alpha val="55000"/>
              </a:srgbClr>
            </a:solidFill>
            <a:prstDash val="solid"/>
          </a:ln>
        </p:spPr>
      </p:sp>
      <p:sp>
        <p:nvSpPr>
          <p:cNvPr id="7" name="Text 4"/>
          <p:cNvSpPr/>
          <p:nvPr/>
        </p:nvSpPr>
        <p:spPr>
          <a:xfrm>
            <a:off x="923544" y="1353312"/>
            <a:ext cx="102687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Hook</a:t>
            </a:r>
            <a:endParaRPr lang="en-US" sz="1200" dirty="0"/>
          </a:p>
        </p:txBody>
      </p:sp>
      <p:sp>
        <p:nvSpPr>
          <p:cNvPr id="8" name="Text 5"/>
          <p:cNvSpPr/>
          <p:nvPr/>
        </p:nvSpPr>
        <p:spPr>
          <a:xfrm>
            <a:off x="923544" y="1673352"/>
            <a:ext cx="10268712" cy="0"/>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“Can an AI predict the World Cup without lying about its sources?”</a:t>
            </a:r>
            <a:endParaRPr lang="en-US" sz="880" dirty="0"/>
          </a:p>
        </p:txBody>
      </p:sp>
      <p:sp>
        <p:nvSpPr>
          <p:cNvPr id="9" name="Shape 6"/>
          <p:cNvSpPr/>
          <p:nvPr/>
        </p:nvSpPr>
        <p:spPr>
          <a:xfrm>
            <a:off x="777240" y="1984248"/>
            <a:ext cx="10561320" cy="566928"/>
          </a:xfrm>
          <a:prstGeom prst="roundRect">
            <a:avLst>
              <a:gd name="adj" fmla="val 12903"/>
            </a:avLst>
          </a:prstGeom>
          <a:solidFill>
            <a:srgbClr val="FFFFFF">
              <a:alpha val="96000"/>
            </a:srgbClr>
          </a:solidFill>
          <a:ln w="12700">
            <a:solidFill>
              <a:srgbClr val="0F8D68">
                <a:alpha val="55000"/>
              </a:srgbClr>
            </a:solidFill>
            <a:prstDash val="solid"/>
          </a:ln>
        </p:spPr>
      </p:sp>
      <p:sp>
        <p:nvSpPr>
          <p:cNvPr id="10" name="Text 7"/>
          <p:cNvSpPr/>
          <p:nvPr/>
        </p:nvSpPr>
        <p:spPr>
          <a:xfrm>
            <a:off x="923544" y="2103120"/>
            <a:ext cx="102687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Act 1</a:t>
            </a:r>
            <a:endParaRPr lang="en-US" sz="1200" dirty="0"/>
          </a:p>
        </p:txBody>
      </p:sp>
      <p:sp>
        <p:nvSpPr>
          <p:cNvPr id="11" name="Text 8"/>
          <p:cNvSpPr/>
          <p:nvPr/>
        </p:nvSpPr>
        <p:spPr>
          <a:xfrm>
            <a:off x="923544" y="2423160"/>
            <a:ext cx="10268712" cy="0"/>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Show champion odds, group winners, knockout path.</a:t>
            </a:r>
            <a:endParaRPr lang="en-US" sz="880" dirty="0"/>
          </a:p>
        </p:txBody>
      </p:sp>
      <p:sp>
        <p:nvSpPr>
          <p:cNvPr id="12" name="Shape 9"/>
          <p:cNvSpPr/>
          <p:nvPr/>
        </p:nvSpPr>
        <p:spPr>
          <a:xfrm>
            <a:off x="777240" y="2734056"/>
            <a:ext cx="10561320" cy="566928"/>
          </a:xfrm>
          <a:prstGeom prst="roundRect">
            <a:avLst>
              <a:gd name="adj" fmla="val 12903"/>
            </a:avLst>
          </a:prstGeom>
          <a:solidFill>
            <a:srgbClr val="FFFFFF">
              <a:alpha val="96000"/>
            </a:srgbClr>
          </a:solidFill>
          <a:ln w="12700">
            <a:solidFill>
              <a:srgbClr val="D7B65D">
                <a:alpha val="55000"/>
              </a:srgbClr>
            </a:solidFill>
            <a:prstDash val="solid"/>
          </a:ln>
        </p:spPr>
      </p:sp>
      <p:sp>
        <p:nvSpPr>
          <p:cNvPr id="13" name="Text 10"/>
          <p:cNvSpPr/>
          <p:nvPr/>
        </p:nvSpPr>
        <p:spPr>
          <a:xfrm>
            <a:off x="923544" y="2852928"/>
            <a:ext cx="102687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Act 2</a:t>
            </a:r>
            <a:endParaRPr lang="en-US" sz="1200" dirty="0"/>
          </a:p>
        </p:txBody>
      </p:sp>
      <p:sp>
        <p:nvSpPr>
          <p:cNvPr id="14" name="Text 11"/>
          <p:cNvSpPr/>
          <p:nvPr/>
        </p:nvSpPr>
        <p:spPr>
          <a:xfrm>
            <a:off x="923544" y="3172968"/>
            <a:ext cx="10268712" cy="0"/>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Reveal that gpt-5.4-nano is not the predictor — it calls tools.</a:t>
            </a:r>
            <a:endParaRPr lang="en-US" sz="880" dirty="0"/>
          </a:p>
        </p:txBody>
      </p:sp>
      <p:sp>
        <p:nvSpPr>
          <p:cNvPr id="15" name="Shape 12"/>
          <p:cNvSpPr/>
          <p:nvPr/>
        </p:nvSpPr>
        <p:spPr>
          <a:xfrm>
            <a:off x="777240" y="3483864"/>
            <a:ext cx="10561320" cy="566928"/>
          </a:xfrm>
          <a:prstGeom prst="roundRect">
            <a:avLst>
              <a:gd name="adj" fmla="val 12903"/>
            </a:avLst>
          </a:prstGeom>
          <a:solidFill>
            <a:srgbClr val="FFFFFF">
              <a:alpha val="96000"/>
            </a:srgbClr>
          </a:solidFill>
          <a:ln w="12700">
            <a:solidFill>
              <a:srgbClr val="0F8D68">
                <a:alpha val="55000"/>
              </a:srgbClr>
            </a:solidFill>
            <a:prstDash val="solid"/>
          </a:ln>
        </p:spPr>
      </p:sp>
      <p:sp>
        <p:nvSpPr>
          <p:cNvPr id="16" name="Text 13"/>
          <p:cNvSpPr/>
          <p:nvPr/>
        </p:nvSpPr>
        <p:spPr>
          <a:xfrm>
            <a:off x="923544" y="3602736"/>
            <a:ext cx="102687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Act 3</a:t>
            </a:r>
            <a:endParaRPr lang="en-US" sz="1200" dirty="0"/>
          </a:p>
        </p:txBody>
      </p:sp>
      <p:sp>
        <p:nvSpPr>
          <p:cNvPr id="17" name="Text 14"/>
          <p:cNvSpPr/>
          <p:nvPr/>
        </p:nvSpPr>
        <p:spPr>
          <a:xfrm>
            <a:off x="923544" y="3922776"/>
            <a:ext cx="10268712" cy="0"/>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Walk through sources, pre-flight, RAG, skills, MCP, simulation, structured claims, verification.</a:t>
            </a:r>
            <a:endParaRPr lang="en-US" sz="880" dirty="0"/>
          </a:p>
        </p:txBody>
      </p:sp>
      <p:sp>
        <p:nvSpPr>
          <p:cNvPr id="18" name="Shape 15"/>
          <p:cNvSpPr/>
          <p:nvPr/>
        </p:nvSpPr>
        <p:spPr>
          <a:xfrm>
            <a:off x="777240" y="4233672"/>
            <a:ext cx="10561320" cy="566928"/>
          </a:xfrm>
          <a:prstGeom prst="roundRect">
            <a:avLst>
              <a:gd name="adj" fmla="val 12903"/>
            </a:avLst>
          </a:prstGeom>
          <a:solidFill>
            <a:srgbClr val="FFFFFF">
              <a:alpha val="96000"/>
            </a:srgbClr>
          </a:solidFill>
          <a:ln w="12700">
            <a:solidFill>
              <a:srgbClr val="D7B65D">
                <a:alpha val="55000"/>
              </a:srgbClr>
            </a:solidFill>
            <a:prstDash val="solid"/>
          </a:ln>
        </p:spPr>
      </p:sp>
      <p:sp>
        <p:nvSpPr>
          <p:cNvPr id="19" name="Text 16"/>
          <p:cNvSpPr/>
          <p:nvPr/>
        </p:nvSpPr>
        <p:spPr>
          <a:xfrm>
            <a:off x="923544" y="4352544"/>
            <a:ext cx="102687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Act 4</a:t>
            </a:r>
            <a:endParaRPr lang="en-US" sz="1200" dirty="0"/>
          </a:p>
        </p:txBody>
      </p:sp>
      <p:sp>
        <p:nvSpPr>
          <p:cNvPr id="20" name="Text 17"/>
          <p:cNvSpPr/>
          <p:nvPr/>
        </p:nvSpPr>
        <p:spPr>
          <a:xfrm>
            <a:off x="923544" y="4672584"/>
            <a:ext cx="10268712" cy="0"/>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Run the eval harness and compare against the naive baseline.</a:t>
            </a:r>
            <a:endParaRPr lang="en-US" sz="880" dirty="0"/>
          </a:p>
        </p:txBody>
      </p:sp>
      <p:sp>
        <p:nvSpPr>
          <p:cNvPr id="21" name="Shape 18"/>
          <p:cNvSpPr/>
          <p:nvPr/>
        </p:nvSpPr>
        <p:spPr>
          <a:xfrm>
            <a:off x="777240" y="4983480"/>
            <a:ext cx="10561320" cy="566928"/>
          </a:xfrm>
          <a:prstGeom prst="roundRect">
            <a:avLst>
              <a:gd name="adj" fmla="val 12903"/>
            </a:avLst>
          </a:prstGeom>
          <a:solidFill>
            <a:srgbClr val="FFFFFF">
              <a:alpha val="96000"/>
            </a:srgbClr>
          </a:solidFill>
          <a:ln w="12700">
            <a:solidFill>
              <a:srgbClr val="0F8D68">
                <a:alpha val="55000"/>
              </a:srgbClr>
            </a:solidFill>
            <a:prstDash val="solid"/>
          </a:ln>
        </p:spPr>
      </p:sp>
      <p:sp>
        <p:nvSpPr>
          <p:cNvPr id="22" name="Text 19"/>
          <p:cNvSpPr/>
          <p:nvPr/>
        </p:nvSpPr>
        <p:spPr>
          <a:xfrm>
            <a:off x="923544" y="5102352"/>
            <a:ext cx="1026871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Payoff</a:t>
            </a:r>
            <a:endParaRPr lang="en-US" sz="1200" dirty="0"/>
          </a:p>
        </p:txBody>
      </p:sp>
      <p:sp>
        <p:nvSpPr>
          <p:cNvPr id="23" name="Text 20"/>
          <p:cNvSpPr/>
          <p:nvPr/>
        </p:nvSpPr>
        <p:spPr>
          <a:xfrm>
            <a:off x="923544" y="5422392"/>
            <a:ext cx="10268712" cy="0"/>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A prediction agent is only useful when it can show what it knows, what it assumes, and what it refuses to claim.</a:t>
            </a:r>
            <a:endParaRPr lang="en-US" sz="880" dirty="0"/>
          </a:p>
        </p:txBody>
      </p:sp>
      <p:sp>
        <p:nvSpPr>
          <p:cNvPr id="24" name="Text 21"/>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Demo priors, educational simulator — not betting advice</a:t>
            </a:r>
            <a:endParaRPr lang="en-US" sz="680" dirty="0"/>
          </a:p>
        </p:txBody>
      </p:sp>
      <p:sp>
        <p:nvSpPr>
          <p:cNvPr id="25" name="Text 22"/>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6142B"/>
        </a:solidFill>
      </p:bgPr>
    </p:bg>
    <p:spTree>
      <p:nvGrpSpPr>
        <p:cNvPr id="1" name=""/>
        <p:cNvGrpSpPr/>
        <p:nvPr/>
      </p:nvGrpSpPr>
      <p:grpSpPr>
        <a:xfrm>
          <a:off x="0" y="0"/>
          <a:ext cx="0" cy="0"/>
          <a:chOff x="0" y="0"/>
          <a:chExt cx="0" cy="0"/>
        </a:xfrm>
      </p:grpSpPr>
      <p:sp>
        <p:nvSpPr>
          <p:cNvPr id="2" name="Text 0"/>
          <p:cNvSpPr/>
          <p:nvPr/>
        </p:nvSpPr>
        <p:spPr>
          <a:xfrm>
            <a:off x="502920" y="256032"/>
            <a:ext cx="2926080" cy="237744"/>
          </a:xfrm>
          <a:prstGeom prst="rect">
            <a:avLst/>
          </a:prstGeom>
          <a:noFill/>
          <a:ln/>
        </p:spPr>
        <p:txBody>
          <a:bodyPr wrap="square" lIns="0" tIns="0" rIns="0" bIns="0" rtlCol="0" anchor="ctr"/>
          <a:lstStyle/>
          <a:p>
            <a:pPr indent="0" marL="0">
              <a:buNone/>
            </a:pPr>
            <a:r>
              <a:rPr lang="en-US" sz="850" b="1" dirty="0">
                <a:solidFill>
                  <a:srgbClr val="D7B65D"/>
                </a:solidFill>
                <a:latin typeface="Aptos" pitchFamily="34" charset="0"/>
                <a:ea typeface="Aptos" pitchFamily="34" charset="-122"/>
                <a:cs typeface="Aptos" pitchFamily="34" charset="-120"/>
              </a:rPr>
              <a:t>FORECAST VAR</a:t>
            </a:r>
            <a:endParaRPr lang="en-US" sz="850" dirty="0"/>
          </a:p>
        </p:txBody>
      </p:sp>
      <p:sp>
        <p:nvSpPr>
          <p:cNvPr id="3" name="Text 1"/>
          <p:cNvSpPr/>
          <p:nvPr/>
        </p:nvSpPr>
        <p:spPr>
          <a:xfrm>
            <a:off x="502920" y="512064"/>
            <a:ext cx="10698480" cy="530352"/>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Appendix: project map for viewers who want to run it themselves</a:t>
            </a:r>
            <a:endParaRPr lang="en-US" sz="2400" dirty="0"/>
          </a:p>
        </p:txBody>
      </p:sp>
      <p:sp>
        <p:nvSpPr>
          <p:cNvPr id="4" name="Shape 2"/>
          <p:cNvSpPr/>
          <p:nvPr/>
        </p:nvSpPr>
        <p:spPr>
          <a:xfrm>
            <a:off x="502920" y="1170432"/>
            <a:ext cx="11155680" cy="0"/>
          </a:xfrm>
          <a:prstGeom prst="line">
            <a:avLst/>
          </a:prstGeom>
          <a:noFill/>
          <a:ln w="13970">
            <a:solidFill>
              <a:srgbClr val="0F8D68">
                <a:alpha val="80000"/>
              </a:srgbClr>
            </a:solidFill>
            <a:prstDash val="solid"/>
          </a:ln>
        </p:spPr>
      </p:sp>
      <p:sp>
        <p:nvSpPr>
          <p:cNvPr id="5" name="Shape 3"/>
          <p:cNvSpPr/>
          <p:nvPr/>
        </p:nvSpPr>
        <p:spPr>
          <a:xfrm>
            <a:off x="640080" y="1280160"/>
            <a:ext cx="5029200" cy="749808"/>
          </a:xfrm>
          <a:prstGeom prst="roundRect">
            <a:avLst>
              <a:gd name="adj" fmla="val 9756"/>
            </a:avLst>
          </a:prstGeom>
          <a:solidFill>
            <a:srgbClr val="FFFFFF">
              <a:alpha val="96000"/>
            </a:srgbClr>
          </a:solidFill>
          <a:ln w="12700">
            <a:solidFill>
              <a:srgbClr val="D7B65D">
                <a:alpha val="55000"/>
              </a:srgbClr>
            </a:solidFill>
            <a:prstDash val="solid"/>
          </a:ln>
        </p:spPr>
      </p:sp>
      <p:sp>
        <p:nvSpPr>
          <p:cNvPr id="6" name="Text 4"/>
          <p:cNvSpPr/>
          <p:nvPr/>
        </p:nvSpPr>
        <p:spPr>
          <a:xfrm>
            <a:off x="786384" y="1399032"/>
            <a:ext cx="473659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data/facts/world_cup_2026_groups.json</a:t>
            </a:r>
            <a:endParaRPr lang="en-US" sz="1200" dirty="0"/>
          </a:p>
        </p:txBody>
      </p:sp>
      <p:sp>
        <p:nvSpPr>
          <p:cNvPr id="7" name="Text 5"/>
          <p:cNvSpPr/>
          <p:nvPr/>
        </p:nvSpPr>
        <p:spPr>
          <a:xfrm>
            <a:off x="786384" y="1719072"/>
            <a:ext cx="4736592" cy="182880"/>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canonical 48-team field and groups</a:t>
            </a:r>
            <a:endParaRPr lang="en-US" sz="880" dirty="0"/>
          </a:p>
        </p:txBody>
      </p:sp>
      <p:sp>
        <p:nvSpPr>
          <p:cNvPr id="8" name="Shape 6"/>
          <p:cNvSpPr/>
          <p:nvPr/>
        </p:nvSpPr>
        <p:spPr>
          <a:xfrm>
            <a:off x="640080" y="2240280"/>
            <a:ext cx="5029200" cy="749808"/>
          </a:xfrm>
          <a:prstGeom prst="roundRect">
            <a:avLst>
              <a:gd name="adj" fmla="val 9756"/>
            </a:avLst>
          </a:prstGeom>
          <a:solidFill>
            <a:srgbClr val="FFFFFF">
              <a:alpha val="96000"/>
            </a:srgbClr>
          </a:solidFill>
          <a:ln w="12700">
            <a:solidFill>
              <a:srgbClr val="0F8D68">
                <a:alpha val="55000"/>
              </a:srgbClr>
            </a:solidFill>
            <a:prstDash val="solid"/>
          </a:ln>
        </p:spPr>
      </p:sp>
      <p:sp>
        <p:nvSpPr>
          <p:cNvPr id="9" name="Text 7"/>
          <p:cNvSpPr/>
          <p:nvPr/>
        </p:nvSpPr>
        <p:spPr>
          <a:xfrm>
            <a:off x="786384" y="2359152"/>
            <a:ext cx="473659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data/facts/source_cards.jsonl</a:t>
            </a:r>
            <a:endParaRPr lang="en-US" sz="1200" dirty="0"/>
          </a:p>
        </p:txBody>
      </p:sp>
      <p:sp>
        <p:nvSpPr>
          <p:cNvPr id="10" name="Text 8"/>
          <p:cNvSpPr/>
          <p:nvPr/>
        </p:nvSpPr>
        <p:spPr>
          <a:xfrm>
            <a:off x="786384" y="2679192"/>
            <a:ext cx="4736592" cy="182880"/>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lightweight RAG corpus with support labels</a:t>
            </a:r>
            <a:endParaRPr lang="en-US" sz="880" dirty="0"/>
          </a:p>
        </p:txBody>
      </p:sp>
      <p:sp>
        <p:nvSpPr>
          <p:cNvPr id="11" name="Shape 9"/>
          <p:cNvSpPr/>
          <p:nvPr/>
        </p:nvSpPr>
        <p:spPr>
          <a:xfrm>
            <a:off x="640080" y="3200400"/>
            <a:ext cx="5029200" cy="749808"/>
          </a:xfrm>
          <a:prstGeom prst="roundRect">
            <a:avLst>
              <a:gd name="adj" fmla="val 9756"/>
            </a:avLst>
          </a:prstGeom>
          <a:solidFill>
            <a:srgbClr val="FFFFFF">
              <a:alpha val="96000"/>
            </a:srgbClr>
          </a:solidFill>
          <a:ln w="12700">
            <a:solidFill>
              <a:srgbClr val="D7B65D">
                <a:alpha val="55000"/>
              </a:srgbClr>
            </a:solidFill>
            <a:prstDash val="solid"/>
          </a:ln>
        </p:spPr>
      </p:sp>
      <p:sp>
        <p:nvSpPr>
          <p:cNvPr id="12" name="Text 10"/>
          <p:cNvSpPr/>
          <p:nvPr/>
        </p:nvSpPr>
        <p:spPr>
          <a:xfrm>
            <a:off x="786384" y="3319272"/>
            <a:ext cx="473659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data/sources/sample_team_features.csv</a:t>
            </a:r>
            <a:endParaRPr lang="en-US" sz="1200" dirty="0"/>
          </a:p>
        </p:txBody>
      </p:sp>
      <p:sp>
        <p:nvSpPr>
          <p:cNvPr id="13" name="Text 11"/>
          <p:cNvSpPr/>
          <p:nvPr/>
        </p:nvSpPr>
        <p:spPr>
          <a:xfrm>
            <a:off x="786384" y="3639312"/>
            <a:ext cx="4736592" cy="182880"/>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demo team priors for the model</a:t>
            </a:r>
            <a:endParaRPr lang="en-US" sz="880" dirty="0"/>
          </a:p>
        </p:txBody>
      </p:sp>
      <p:sp>
        <p:nvSpPr>
          <p:cNvPr id="14" name="Shape 12"/>
          <p:cNvSpPr/>
          <p:nvPr/>
        </p:nvSpPr>
        <p:spPr>
          <a:xfrm>
            <a:off x="640080" y="4160520"/>
            <a:ext cx="5029200" cy="749808"/>
          </a:xfrm>
          <a:prstGeom prst="roundRect">
            <a:avLst>
              <a:gd name="adj" fmla="val 9756"/>
            </a:avLst>
          </a:prstGeom>
          <a:solidFill>
            <a:srgbClr val="FFFFFF">
              <a:alpha val="96000"/>
            </a:srgbClr>
          </a:solidFill>
          <a:ln w="12700">
            <a:solidFill>
              <a:srgbClr val="0F8D68">
                <a:alpha val="55000"/>
              </a:srgbClr>
            </a:solidFill>
            <a:prstDash val="solid"/>
          </a:ln>
        </p:spPr>
      </p:sp>
      <p:sp>
        <p:nvSpPr>
          <p:cNvPr id="15" name="Text 13"/>
          <p:cNvSpPr/>
          <p:nvPr/>
        </p:nvSpPr>
        <p:spPr>
          <a:xfrm>
            <a:off x="786384" y="4279392"/>
            <a:ext cx="473659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data/generated/evidence_index.jsonl</a:t>
            </a:r>
            <a:endParaRPr lang="en-US" sz="1200" dirty="0"/>
          </a:p>
        </p:txBody>
      </p:sp>
      <p:sp>
        <p:nvSpPr>
          <p:cNvPr id="16" name="Text 14"/>
          <p:cNvSpPr/>
          <p:nvPr/>
        </p:nvSpPr>
        <p:spPr>
          <a:xfrm>
            <a:off x="786384" y="4599432"/>
            <a:ext cx="4736592" cy="182880"/>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generated evidence index</a:t>
            </a:r>
            <a:endParaRPr lang="en-US" sz="880" dirty="0"/>
          </a:p>
        </p:txBody>
      </p:sp>
      <p:sp>
        <p:nvSpPr>
          <p:cNvPr id="17" name="Shape 15"/>
          <p:cNvSpPr/>
          <p:nvPr/>
        </p:nvSpPr>
        <p:spPr>
          <a:xfrm>
            <a:off x="640080" y="5120640"/>
            <a:ext cx="5029200" cy="749808"/>
          </a:xfrm>
          <a:prstGeom prst="roundRect">
            <a:avLst>
              <a:gd name="adj" fmla="val 9756"/>
            </a:avLst>
          </a:prstGeom>
          <a:solidFill>
            <a:srgbClr val="FFFFFF">
              <a:alpha val="96000"/>
            </a:srgbClr>
          </a:solidFill>
          <a:ln w="12700">
            <a:solidFill>
              <a:srgbClr val="D7B65D">
                <a:alpha val="55000"/>
              </a:srgbClr>
            </a:solidFill>
            <a:prstDash val="solid"/>
          </a:ln>
        </p:spPr>
      </p:sp>
      <p:sp>
        <p:nvSpPr>
          <p:cNvPr id="18" name="Text 16"/>
          <p:cNvSpPr/>
          <p:nvPr/>
        </p:nvSpPr>
        <p:spPr>
          <a:xfrm>
            <a:off x="786384" y="5239512"/>
            <a:ext cx="473659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.agents/skills/*/SKILL.md</a:t>
            </a:r>
            <a:endParaRPr lang="en-US" sz="1200" dirty="0"/>
          </a:p>
        </p:txBody>
      </p:sp>
      <p:sp>
        <p:nvSpPr>
          <p:cNvPr id="19" name="Text 17"/>
          <p:cNvSpPr/>
          <p:nvPr/>
        </p:nvSpPr>
        <p:spPr>
          <a:xfrm>
            <a:off x="786384" y="5559552"/>
            <a:ext cx="4736592" cy="182880"/>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procedural agent skills</a:t>
            </a:r>
            <a:endParaRPr lang="en-US" sz="880" dirty="0"/>
          </a:p>
        </p:txBody>
      </p:sp>
      <p:sp>
        <p:nvSpPr>
          <p:cNvPr id="20" name="Shape 18"/>
          <p:cNvSpPr/>
          <p:nvPr/>
        </p:nvSpPr>
        <p:spPr>
          <a:xfrm>
            <a:off x="6309360" y="1280160"/>
            <a:ext cx="5029200" cy="749808"/>
          </a:xfrm>
          <a:prstGeom prst="roundRect">
            <a:avLst>
              <a:gd name="adj" fmla="val 9756"/>
            </a:avLst>
          </a:prstGeom>
          <a:solidFill>
            <a:srgbClr val="FFFFFF">
              <a:alpha val="96000"/>
            </a:srgbClr>
          </a:solidFill>
          <a:ln w="12700">
            <a:solidFill>
              <a:srgbClr val="0F8D68">
                <a:alpha val="55000"/>
              </a:srgbClr>
            </a:solidFill>
            <a:prstDash val="solid"/>
          </a:ln>
        </p:spPr>
      </p:sp>
      <p:sp>
        <p:nvSpPr>
          <p:cNvPr id="21" name="Text 19"/>
          <p:cNvSpPr/>
          <p:nvPr/>
        </p:nvSpPr>
        <p:spPr>
          <a:xfrm>
            <a:off x="6455664" y="1399032"/>
            <a:ext cx="473659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mcp_servers/worldcup_forecast/server.py</a:t>
            </a:r>
            <a:endParaRPr lang="en-US" sz="1200" dirty="0"/>
          </a:p>
        </p:txBody>
      </p:sp>
      <p:sp>
        <p:nvSpPr>
          <p:cNvPr id="22" name="Text 20"/>
          <p:cNvSpPr/>
          <p:nvPr/>
        </p:nvSpPr>
        <p:spPr>
          <a:xfrm>
            <a:off x="6455664" y="1719072"/>
            <a:ext cx="4736592" cy="182880"/>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local MCP stdio server</a:t>
            </a:r>
            <a:endParaRPr lang="en-US" sz="880" dirty="0"/>
          </a:p>
        </p:txBody>
      </p:sp>
      <p:sp>
        <p:nvSpPr>
          <p:cNvPr id="23" name="Shape 21"/>
          <p:cNvSpPr/>
          <p:nvPr/>
        </p:nvSpPr>
        <p:spPr>
          <a:xfrm>
            <a:off x="6309360" y="2240280"/>
            <a:ext cx="5029200" cy="749808"/>
          </a:xfrm>
          <a:prstGeom prst="roundRect">
            <a:avLst>
              <a:gd name="adj" fmla="val 9756"/>
            </a:avLst>
          </a:prstGeom>
          <a:solidFill>
            <a:srgbClr val="FFFFFF">
              <a:alpha val="96000"/>
            </a:srgbClr>
          </a:solidFill>
          <a:ln w="12700">
            <a:solidFill>
              <a:srgbClr val="D7B65D">
                <a:alpha val="55000"/>
              </a:srgbClr>
            </a:solidFill>
            <a:prstDash val="solid"/>
          </a:ln>
        </p:spPr>
      </p:sp>
      <p:sp>
        <p:nvSpPr>
          <p:cNvPr id="24" name="Text 22"/>
          <p:cNvSpPr/>
          <p:nvPr/>
        </p:nvSpPr>
        <p:spPr>
          <a:xfrm>
            <a:off x="6455664" y="2359152"/>
            <a:ext cx="473659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src/forecast_var/forecast_model.py</a:t>
            </a:r>
            <a:endParaRPr lang="en-US" sz="1200" dirty="0"/>
          </a:p>
        </p:txBody>
      </p:sp>
      <p:sp>
        <p:nvSpPr>
          <p:cNvPr id="25" name="Text 23"/>
          <p:cNvSpPr/>
          <p:nvPr/>
        </p:nvSpPr>
        <p:spPr>
          <a:xfrm>
            <a:off x="6455664" y="2679192"/>
            <a:ext cx="4736592" cy="182880"/>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match and group probability model</a:t>
            </a:r>
            <a:endParaRPr lang="en-US" sz="880" dirty="0"/>
          </a:p>
        </p:txBody>
      </p:sp>
      <p:sp>
        <p:nvSpPr>
          <p:cNvPr id="26" name="Shape 24"/>
          <p:cNvSpPr/>
          <p:nvPr/>
        </p:nvSpPr>
        <p:spPr>
          <a:xfrm>
            <a:off x="6309360" y="3200400"/>
            <a:ext cx="5029200" cy="749808"/>
          </a:xfrm>
          <a:prstGeom prst="roundRect">
            <a:avLst>
              <a:gd name="adj" fmla="val 9756"/>
            </a:avLst>
          </a:prstGeom>
          <a:solidFill>
            <a:srgbClr val="FFFFFF">
              <a:alpha val="96000"/>
            </a:srgbClr>
          </a:solidFill>
          <a:ln w="12700">
            <a:solidFill>
              <a:srgbClr val="0F8D68">
                <a:alpha val="55000"/>
              </a:srgbClr>
            </a:solidFill>
            <a:prstDash val="solid"/>
          </a:ln>
        </p:spPr>
      </p:sp>
      <p:sp>
        <p:nvSpPr>
          <p:cNvPr id="27" name="Text 25"/>
          <p:cNvSpPr/>
          <p:nvPr/>
        </p:nvSpPr>
        <p:spPr>
          <a:xfrm>
            <a:off x="6455664" y="3319272"/>
            <a:ext cx="473659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src/forecast_var/tournament_sim.py</a:t>
            </a:r>
            <a:endParaRPr lang="en-US" sz="1200" dirty="0"/>
          </a:p>
        </p:txBody>
      </p:sp>
      <p:sp>
        <p:nvSpPr>
          <p:cNvPr id="28" name="Text 26"/>
          <p:cNvSpPr/>
          <p:nvPr/>
        </p:nvSpPr>
        <p:spPr>
          <a:xfrm>
            <a:off x="6455664" y="3639312"/>
            <a:ext cx="4736592" cy="182880"/>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Monte Carlo and rolling simulations</a:t>
            </a:r>
            <a:endParaRPr lang="en-US" sz="880" dirty="0"/>
          </a:p>
        </p:txBody>
      </p:sp>
      <p:sp>
        <p:nvSpPr>
          <p:cNvPr id="29" name="Shape 27"/>
          <p:cNvSpPr/>
          <p:nvPr/>
        </p:nvSpPr>
        <p:spPr>
          <a:xfrm>
            <a:off x="6309360" y="4160520"/>
            <a:ext cx="5029200" cy="749808"/>
          </a:xfrm>
          <a:prstGeom prst="roundRect">
            <a:avLst>
              <a:gd name="adj" fmla="val 9756"/>
            </a:avLst>
          </a:prstGeom>
          <a:solidFill>
            <a:srgbClr val="FFFFFF">
              <a:alpha val="96000"/>
            </a:srgbClr>
          </a:solidFill>
          <a:ln w="12700">
            <a:solidFill>
              <a:srgbClr val="D7B65D">
                <a:alpha val="55000"/>
              </a:srgbClr>
            </a:solidFill>
            <a:prstDash val="solid"/>
          </a:ln>
        </p:spPr>
      </p:sp>
      <p:sp>
        <p:nvSpPr>
          <p:cNvPr id="30" name="Text 28"/>
          <p:cNvSpPr/>
          <p:nvPr/>
        </p:nvSpPr>
        <p:spPr>
          <a:xfrm>
            <a:off x="6455664" y="4279392"/>
            <a:ext cx="473659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src/forecast_var/openai_agent.py</a:t>
            </a:r>
            <a:endParaRPr lang="en-US" sz="1200" dirty="0"/>
          </a:p>
        </p:txBody>
      </p:sp>
      <p:sp>
        <p:nvSpPr>
          <p:cNvPr id="31" name="Text 29"/>
          <p:cNvSpPr/>
          <p:nvPr/>
        </p:nvSpPr>
        <p:spPr>
          <a:xfrm>
            <a:off x="6455664" y="4599432"/>
            <a:ext cx="4736592" cy="182880"/>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live OpenAI Agents SDK path</a:t>
            </a:r>
            <a:endParaRPr lang="en-US" sz="880" dirty="0"/>
          </a:p>
        </p:txBody>
      </p:sp>
      <p:sp>
        <p:nvSpPr>
          <p:cNvPr id="32" name="Shape 30"/>
          <p:cNvSpPr/>
          <p:nvPr/>
        </p:nvSpPr>
        <p:spPr>
          <a:xfrm>
            <a:off x="6309360" y="5120640"/>
            <a:ext cx="5029200" cy="749808"/>
          </a:xfrm>
          <a:prstGeom prst="roundRect">
            <a:avLst>
              <a:gd name="adj" fmla="val 9756"/>
            </a:avLst>
          </a:prstGeom>
          <a:solidFill>
            <a:srgbClr val="FFFFFF">
              <a:alpha val="96000"/>
            </a:srgbClr>
          </a:solidFill>
          <a:ln w="12700">
            <a:solidFill>
              <a:srgbClr val="0F8D68">
                <a:alpha val="55000"/>
              </a:srgbClr>
            </a:solidFill>
            <a:prstDash val="solid"/>
          </a:ln>
        </p:spPr>
      </p:sp>
      <p:sp>
        <p:nvSpPr>
          <p:cNvPr id="33" name="Text 31"/>
          <p:cNvSpPr/>
          <p:nvPr/>
        </p:nvSpPr>
        <p:spPr>
          <a:xfrm>
            <a:off x="6455664" y="5239512"/>
            <a:ext cx="473659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src/forecast_var/eval_harness.py</a:t>
            </a:r>
            <a:endParaRPr lang="en-US" sz="1200" dirty="0"/>
          </a:p>
        </p:txBody>
      </p:sp>
      <p:sp>
        <p:nvSpPr>
          <p:cNvPr id="34" name="Text 32"/>
          <p:cNvSpPr/>
          <p:nvPr/>
        </p:nvSpPr>
        <p:spPr>
          <a:xfrm>
            <a:off x="6455664" y="5559552"/>
            <a:ext cx="4736592" cy="182880"/>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agent evaluation metrics</a:t>
            </a:r>
            <a:endParaRPr lang="en-US" sz="880" dirty="0"/>
          </a:p>
        </p:txBody>
      </p:sp>
      <p:sp>
        <p:nvSpPr>
          <p:cNvPr id="35" name="Text 33"/>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Demo priors, educational simulator — not betting advice</a:t>
            </a:r>
            <a:endParaRPr lang="en-US" sz="680" dirty="0"/>
          </a:p>
        </p:txBody>
      </p:sp>
      <p:sp>
        <p:nvSpPr>
          <p:cNvPr id="36" name="Text 34"/>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6142B"/>
        </a:solidFill>
      </p:bgPr>
    </p:bg>
    <p:spTree>
      <p:nvGrpSpPr>
        <p:cNvPr id="1" name=""/>
        <p:cNvGrpSpPr/>
        <p:nvPr/>
      </p:nvGrpSpPr>
      <p:grpSpPr>
        <a:xfrm>
          <a:off x="0" y="0"/>
          <a:ext cx="0" cy="0"/>
          <a:chOff x="0" y="0"/>
          <a:chExt cx="0" cy="0"/>
        </a:xfrm>
      </p:grpSpPr>
      <p:pic>
        <p:nvPicPr>
          <p:cNvPr id="2" name="Image 0" descr="/mnt/data/wc26_slide_work/assets/stadium_hero_dark45.png">    </p:cNvPr>
          <p:cNvPicPr>
            <a:picLocks noChangeAspect="1"/>
          </p:cNvPicPr>
          <p:nvPr/>
        </p:nvPicPr>
        <p:blipFill>
          <a:blip r:embed="rId1"/>
          <a:srcRect l="1" r="1" t="0" b="0"/>
          <a:stretch/>
        </p:blipFill>
        <p:spPr>
          <a:xfrm>
            <a:off x="0" y="0"/>
            <a:ext cx="12191695" cy="6858000"/>
          </a:xfrm>
          <a:prstGeom prst="rect">
            <a:avLst/>
          </a:prstGeom>
        </p:spPr>
      </p:pic>
      <p:sp>
        <p:nvSpPr>
          <p:cNvPr id="3" name="Text 0"/>
          <p:cNvSpPr/>
          <p:nvPr/>
        </p:nvSpPr>
        <p:spPr>
          <a:xfrm>
            <a:off x="594360" y="685800"/>
            <a:ext cx="6583680" cy="640080"/>
          </a:xfrm>
          <a:prstGeom prst="rect">
            <a:avLst/>
          </a:prstGeom>
          <a:noFill/>
          <a:ln/>
        </p:spPr>
        <p:txBody>
          <a:bodyPr wrap="square" lIns="0" tIns="0" rIns="0" bIns="0" rtlCol="0" anchor="ctr"/>
          <a:lstStyle/>
          <a:p>
            <a:pPr indent="0" marL="0">
              <a:buNone/>
            </a:pPr>
            <a:r>
              <a:rPr lang="en-US" sz="4000" b="1" dirty="0">
                <a:solidFill>
                  <a:srgbClr val="F7FAFC"/>
                </a:solidFill>
                <a:latin typeface="Aptos Display" pitchFamily="34" charset="0"/>
                <a:ea typeface="Aptos Display" pitchFamily="34" charset="-122"/>
                <a:cs typeface="Aptos Display" pitchFamily="34" charset="-120"/>
              </a:rPr>
              <a:t>Forecast VAR</a:t>
            </a:r>
            <a:endParaRPr lang="en-US" sz="4000" dirty="0"/>
          </a:p>
        </p:txBody>
      </p:sp>
      <p:sp>
        <p:nvSpPr>
          <p:cNvPr id="4" name="Text 1"/>
          <p:cNvSpPr/>
          <p:nvPr/>
        </p:nvSpPr>
        <p:spPr>
          <a:xfrm>
            <a:off x="621792" y="1463040"/>
            <a:ext cx="7955280" cy="658368"/>
          </a:xfrm>
          <a:prstGeom prst="rect">
            <a:avLst/>
          </a:prstGeom>
          <a:noFill/>
          <a:ln/>
        </p:spPr>
        <p:txBody>
          <a:bodyPr wrap="square" lIns="0" tIns="0" rIns="0" bIns="0" rtlCol="0" anchor="ctr">
            <a:normAutofit/>
          </a:bodyPr>
          <a:lstStyle/>
          <a:p>
            <a:pPr indent="0" marL="0">
              <a:buNone/>
            </a:pPr>
            <a:r>
              <a:rPr lang="en-US" sz="1900" b="1" dirty="0">
                <a:solidFill>
                  <a:srgbClr val="E7EEF6"/>
                </a:solidFill>
              </a:rPr>
              <a:t>The World Cup forecast is the bait. The real lesson is how to engineer prediction agents that can be audited.</a:t>
            </a:r>
            <a:endParaRPr lang="en-US" sz="1900" dirty="0"/>
          </a:p>
        </p:txBody>
      </p:sp>
      <p:sp>
        <p:nvSpPr>
          <p:cNvPr id="5" name="Shape 2"/>
          <p:cNvSpPr/>
          <p:nvPr/>
        </p:nvSpPr>
        <p:spPr>
          <a:xfrm>
            <a:off x="685800" y="2743200"/>
            <a:ext cx="3383280" cy="1463040"/>
          </a:xfrm>
          <a:prstGeom prst="roundRect">
            <a:avLst>
              <a:gd name="adj" fmla="val 5000"/>
            </a:avLst>
          </a:prstGeom>
          <a:solidFill>
            <a:srgbClr val="FFFFFF">
              <a:alpha val="96000"/>
            </a:srgbClr>
          </a:solidFill>
          <a:ln w="12700">
            <a:solidFill>
              <a:srgbClr val="D7B65D">
                <a:alpha val="55000"/>
              </a:srgbClr>
            </a:solidFill>
            <a:prstDash val="solid"/>
          </a:ln>
        </p:spPr>
      </p:sp>
      <p:sp>
        <p:nvSpPr>
          <p:cNvPr id="6" name="Text 3"/>
          <p:cNvSpPr/>
          <p:nvPr/>
        </p:nvSpPr>
        <p:spPr>
          <a:xfrm>
            <a:off x="832104" y="2862072"/>
            <a:ext cx="309067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Sport drama</a:t>
            </a:r>
            <a:endParaRPr lang="en-US" sz="1200" dirty="0"/>
          </a:p>
        </p:txBody>
      </p:sp>
      <p:sp>
        <p:nvSpPr>
          <p:cNvPr id="7" name="Text 4"/>
          <p:cNvSpPr/>
          <p:nvPr/>
        </p:nvSpPr>
        <p:spPr>
          <a:xfrm>
            <a:off x="832104" y="3182112"/>
            <a:ext cx="3090672" cy="89611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Group winners, knockout paths, champion probabilities.</a:t>
            </a:r>
            <a:endParaRPr lang="en-US" sz="880" dirty="0"/>
          </a:p>
        </p:txBody>
      </p:sp>
      <p:sp>
        <p:nvSpPr>
          <p:cNvPr id="8" name="Shape 5"/>
          <p:cNvSpPr/>
          <p:nvPr/>
        </p:nvSpPr>
        <p:spPr>
          <a:xfrm>
            <a:off x="4407408" y="2743200"/>
            <a:ext cx="3383280" cy="1463040"/>
          </a:xfrm>
          <a:prstGeom prst="roundRect">
            <a:avLst>
              <a:gd name="adj" fmla="val 5000"/>
            </a:avLst>
          </a:prstGeom>
          <a:solidFill>
            <a:srgbClr val="FFFFFF">
              <a:alpha val="96000"/>
            </a:srgbClr>
          </a:solidFill>
          <a:ln w="12700">
            <a:solidFill>
              <a:srgbClr val="0F8D68">
                <a:alpha val="55000"/>
              </a:srgbClr>
            </a:solidFill>
            <a:prstDash val="solid"/>
          </a:ln>
        </p:spPr>
      </p:sp>
      <p:sp>
        <p:nvSpPr>
          <p:cNvPr id="9" name="Text 6"/>
          <p:cNvSpPr/>
          <p:nvPr/>
        </p:nvSpPr>
        <p:spPr>
          <a:xfrm>
            <a:off x="4553712" y="2862072"/>
            <a:ext cx="309067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Agent engineering</a:t>
            </a:r>
            <a:endParaRPr lang="en-US" sz="1200" dirty="0"/>
          </a:p>
        </p:txBody>
      </p:sp>
      <p:sp>
        <p:nvSpPr>
          <p:cNvPr id="10" name="Text 7"/>
          <p:cNvSpPr/>
          <p:nvPr/>
        </p:nvSpPr>
        <p:spPr>
          <a:xfrm>
            <a:off x="4553712" y="3182112"/>
            <a:ext cx="3090672" cy="89611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Source registry, pre-flight, RAG, skills, MCP, deterministic tools.</a:t>
            </a:r>
            <a:endParaRPr lang="en-US" sz="880" dirty="0"/>
          </a:p>
        </p:txBody>
      </p:sp>
      <p:sp>
        <p:nvSpPr>
          <p:cNvPr id="11" name="Shape 8"/>
          <p:cNvSpPr/>
          <p:nvPr/>
        </p:nvSpPr>
        <p:spPr>
          <a:xfrm>
            <a:off x="8138160" y="2743200"/>
            <a:ext cx="3383280" cy="1463040"/>
          </a:xfrm>
          <a:prstGeom prst="roundRect">
            <a:avLst>
              <a:gd name="adj" fmla="val 5000"/>
            </a:avLst>
          </a:prstGeom>
          <a:solidFill>
            <a:srgbClr val="FFFFFF">
              <a:alpha val="96000"/>
            </a:srgbClr>
          </a:solidFill>
          <a:ln w="12700">
            <a:solidFill>
              <a:srgbClr val="63D6C6">
                <a:alpha val="55000"/>
              </a:srgbClr>
            </a:solidFill>
            <a:prstDash val="solid"/>
          </a:ln>
        </p:spPr>
      </p:sp>
      <p:sp>
        <p:nvSpPr>
          <p:cNvPr id="12" name="Text 9"/>
          <p:cNvSpPr/>
          <p:nvPr/>
        </p:nvSpPr>
        <p:spPr>
          <a:xfrm>
            <a:off x="8284464" y="2862072"/>
            <a:ext cx="3090672" cy="228600"/>
          </a:xfrm>
          <a:prstGeom prst="rect">
            <a:avLst/>
          </a:prstGeom>
          <a:noFill/>
          <a:ln/>
        </p:spPr>
        <p:txBody>
          <a:bodyPr wrap="square" lIns="0" tIns="0" rIns="0" bIns="0" rtlCol="0" anchor="ctr">
            <a:normAutofit/>
          </a:bodyPr>
          <a:lstStyle/>
          <a:p>
            <a:pPr indent="0" marL="0">
              <a:buNone/>
            </a:pPr>
            <a:r>
              <a:rPr lang="en-US" sz="1200" b="1" dirty="0">
                <a:solidFill>
                  <a:srgbClr val="06142B"/>
                </a:solidFill>
              </a:rPr>
              <a:t>Trust layer</a:t>
            </a:r>
            <a:endParaRPr lang="en-US" sz="1200" dirty="0"/>
          </a:p>
        </p:txBody>
      </p:sp>
      <p:sp>
        <p:nvSpPr>
          <p:cNvPr id="13" name="Text 10"/>
          <p:cNvSpPr/>
          <p:nvPr/>
        </p:nvSpPr>
        <p:spPr>
          <a:xfrm>
            <a:off x="8284464" y="3182112"/>
            <a:ext cx="3090672" cy="896112"/>
          </a:xfrm>
          <a:prstGeom prst="rect">
            <a:avLst/>
          </a:prstGeom>
          <a:noFill/>
          <a:ln/>
        </p:spPr>
        <p:txBody>
          <a:bodyPr wrap="square" lIns="254" tIns="254" rIns="254" bIns="254" rtlCol="0" anchor="t">
            <a:normAutofit/>
          </a:bodyPr>
          <a:lstStyle/>
          <a:p>
            <a:pPr indent="0" marL="0">
              <a:buNone/>
            </a:pPr>
            <a:r>
              <a:rPr lang="en-US" sz="880" dirty="0">
                <a:solidFill>
                  <a:srgbClr val="213547"/>
                </a:solidFill>
              </a:rPr>
              <a:t>Claim verification, eval harness, uncertainty and abstention.</a:t>
            </a:r>
            <a:endParaRPr lang="en-US" sz="880" dirty="0"/>
          </a:p>
        </p:txBody>
      </p:sp>
      <p:sp>
        <p:nvSpPr>
          <p:cNvPr id="14" name="Text 11"/>
          <p:cNvSpPr/>
          <p:nvPr/>
        </p:nvSpPr>
        <p:spPr>
          <a:xfrm>
            <a:off x="1005840" y="4892040"/>
            <a:ext cx="10149840" cy="365760"/>
          </a:xfrm>
          <a:prstGeom prst="rect">
            <a:avLst/>
          </a:prstGeom>
          <a:noFill/>
          <a:ln/>
        </p:spPr>
        <p:txBody>
          <a:bodyPr wrap="square" lIns="0" tIns="0" rIns="0" bIns="0" rtlCol="0" anchor="ctr"/>
          <a:lstStyle/>
          <a:p>
            <a:pPr algn="ctr" indent="0" marL="0">
              <a:buNone/>
            </a:pPr>
            <a:r>
              <a:rPr lang="en-US" sz="2200" b="1" dirty="0">
                <a:solidFill>
                  <a:srgbClr val="D7B65D"/>
                </a:solidFill>
              </a:rPr>
              <a:t>No fake certainty. No hidden sources. No vibes-based champion.</a:t>
            </a:r>
            <a:endParaRPr lang="en-US" sz="2200" dirty="0"/>
          </a:p>
        </p:txBody>
      </p:sp>
      <p:sp>
        <p:nvSpPr>
          <p:cNvPr id="15" name="Text 12"/>
          <p:cNvSpPr/>
          <p:nvPr/>
        </p:nvSpPr>
        <p:spPr>
          <a:xfrm>
            <a:off x="502920" y="6556248"/>
            <a:ext cx="8732520" cy="182880"/>
          </a:xfrm>
          <a:prstGeom prst="rect">
            <a:avLst/>
          </a:prstGeom>
          <a:noFill/>
          <a:ln/>
        </p:spPr>
        <p:txBody>
          <a:bodyPr wrap="square" lIns="0" tIns="0" rIns="0" bIns="0" rtlCol="0" anchor="ctr"/>
          <a:lstStyle/>
          <a:p>
            <a:pPr indent="0" marL="0">
              <a:buNone/>
            </a:pPr>
            <a:r>
              <a:rPr lang="en-US" sz="680" dirty="0">
                <a:solidFill>
                  <a:srgbClr val="9CB3C9"/>
                </a:solidFill>
              </a:rPr>
              <a:t>Demo priors, educational simulator — not betting advice</a:t>
            </a:r>
            <a:endParaRPr lang="en-US" sz="680" dirty="0"/>
          </a:p>
        </p:txBody>
      </p:sp>
      <p:sp>
        <p:nvSpPr>
          <p:cNvPr id="16" name="Text 13"/>
          <p:cNvSpPr/>
          <p:nvPr/>
        </p:nvSpPr>
        <p:spPr>
          <a:xfrm>
            <a:off x="9857232" y="6556248"/>
            <a:ext cx="1783080" cy="182880"/>
          </a:xfrm>
          <a:prstGeom prst="rect">
            <a:avLst/>
          </a:prstGeom>
          <a:noFill/>
          <a:ln/>
        </p:spPr>
        <p:txBody>
          <a:bodyPr wrap="square" lIns="0" tIns="0" rIns="0" bIns="0" rtlCol="0" anchor="ctr"/>
          <a:lstStyle/>
          <a:p>
            <a:pPr algn="r" indent="0" marL="0">
              <a:buNone/>
            </a:pPr>
            <a:r>
              <a:rPr lang="en-US" sz="680" dirty="0">
                <a:solidFill>
                  <a:srgbClr val="9CB3C9"/>
                </a:solidFill>
              </a:rPr>
              <a:t>AI Reality Lab · Forecast VAR</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AI Reality 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Forecast VAR — Agent Engineering for World Cup Forecasting</dc:title>
  <dc:subject>Forecast VAR: Agent Engineering for World Cup forecasting</dc:subject>
  <dc:creator>AI Reality Lab</dc:creator>
  <cp:lastModifiedBy>AI Reality Lab</cp:lastModifiedBy>
  <cp:revision>1</cp:revision>
  <dcterms:created xsi:type="dcterms:W3CDTF">2026-05-18T13:16:16Z</dcterms:created>
  <dcterms:modified xsi:type="dcterms:W3CDTF">2026-05-18T13:16:16Z</dcterms:modified>
</cp:coreProperties>
</file>